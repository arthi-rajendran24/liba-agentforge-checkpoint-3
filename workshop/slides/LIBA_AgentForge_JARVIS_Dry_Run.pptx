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4f3bed356e4527" /><Relationship Type="http://schemas.openxmlformats.org/officeDocument/2006/relationships/extended-properties" Target="/docProps/app.xml" Id="R83bab43f927842fa" /><Relationship Type="http://schemas.openxmlformats.org/officeDocument/2006/relationships/officeDocument" Target="/ppt/presentation.xml" Id="R4734792224444426" /></Relationships>
</file>

<file path=ppt/presentation.xml><?xml version="1.0" encoding="utf-8"?>
<p:presentation xmlns:p="http://schemas.openxmlformats.org/presentationml/2006/main">
  <p:sldMasterIdLst>
    <p:sldMasterId xmlns:r="http://schemas.openxmlformats.org/officeDocument/2006/relationships" id="2147483648" r:id="R9bbab16728844649"/>
  </p:sldMasterIdLst>
  <p:notesMasterIdLst>
    <p:notesMasterId xmlns:r="http://schemas.openxmlformats.org/officeDocument/2006/relationships" r:id="Rbadf1de99eba48c7"/>
  </p:notesMasterIdLst>
  <p:sldIdLst>
    <p:sldId xmlns:r="http://schemas.openxmlformats.org/officeDocument/2006/relationships" id="256" r:id="Rca1703923c8a44bb"/>
    <p:sldId xmlns:r="http://schemas.openxmlformats.org/officeDocument/2006/relationships" id="257" r:id="R7f09874b33854f50"/>
    <p:sldId xmlns:r="http://schemas.openxmlformats.org/officeDocument/2006/relationships" id="258" r:id="R425dd1ece0e24a80"/>
    <p:sldId xmlns:r="http://schemas.openxmlformats.org/officeDocument/2006/relationships" id="259" r:id="R35f135f2907548d5"/>
    <p:sldId xmlns:r="http://schemas.openxmlformats.org/officeDocument/2006/relationships" id="260" r:id="Rf38639a584864ba2"/>
    <p:sldId xmlns:r="http://schemas.openxmlformats.org/officeDocument/2006/relationships" id="261" r:id="Ra63df73a23334844"/>
    <p:sldId xmlns:r="http://schemas.openxmlformats.org/officeDocument/2006/relationships" id="262" r:id="Rbd47655577914420"/>
    <p:sldId xmlns:r="http://schemas.openxmlformats.org/officeDocument/2006/relationships" id="263" r:id="Rc05d8ec57a0e4944"/>
    <p:sldId xmlns:r="http://schemas.openxmlformats.org/officeDocument/2006/relationships" id="264" r:id="R3d1461e2ca564729"/>
    <p:sldId xmlns:r="http://schemas.openxmlformats.org/officeDocument/2006/relationships" id="265" r:id="R0729528305384717"/>
    <p:sldId xmlns:r="http://schemas.openxmlformats.org/officeDocument/2006/relationships" id="266" r:id="Rdba0b8c18e8d42ba"/>
    <p:sldId xmlns:r="http://schemas.openxmlformats.org/officeDocument/2006/relationships" id="267" r:id="R873349d21e7c4b53"/>
    <p:sldId xmlns:r="http://schemas.openxmlformats.org/officeDocument/2006/relationships" id="268" r:id="R6d867a89e6e3493b"/>
    <p:sldId xmlns:r="http://schemas.openxmlformats.org/officeDocument/2006/relationships" id="269" r:id="R7793cc18d276407a"/>
    <p:sldId xmlns:r="http://schemas.openxmlformats.org/officeDocument/2006/relationships" id="270" r:id="R218f74e517b04ca3"/>
    <p:sldId xmlns:r="http://schemas.openxmlformats.org/officeDocument/2006/relationships" id="271" r:id="R19673376e0104d85"/>
    <p:sldId xmlns:r="http://schemas.openxmlformats.org/officeDocument/2006/relationships" id="272" r:id="Ra2f13e2d32e1463c"/>
    <p:sldId xmlns:r="http://schemas.openxmlformats.org/officeDocument/2006/relationships" id="273" r:id="R86bf6b00d7424978"/>
    <p:sldId xmlns:r="http://schemas.openxmlformats.org/officeDocument/2006/relationships" id="274" r:id="R5052dfcf15604c81"/>
    <p:sldId xmlns:r="http://schemas.openxmlformats.org/officeDocument/2006/relationships" id="275" r:id="Re2c8e7f546394de0"/>
    <p:sldId xmlns:r="http://schemas.openxmlformats.org/officeDocument/2006/relationships" id="276" r:id="Rcb76dbe4da8c4dc6"/>
    <p:sldId xmlns:r="http://schemas.openxmlformats.org/officeDocument/2006/relationships" id="277" r:id="R95b45d11b4ae4c77"/>
    <p:sldId xmlns:r="http://schemas.openxmlformats.org/officeDocument/2006/relationships" id="278" r:id="R3b0b7696d1e74815"/>
    <p:sldId xmlns:r="http://schemas.openxmlformats.org/officeDocument/2006/relationships" id="279" r:id="Rac1f8c37651c48fc"/>
    <p:sldId xmlns:r="http://schemas.openxmlformats.org/officeDocument/2006/relationships" id="280" r:id="R25f7b169b92f469c"/>
    <p:sldId xmlns:r="http://schemas.openxmlformats.org/officeDocument/2006/relationships" id="281" r:id="R0b45c12a709c4ec0"/>
    <p:sldId xmlns:r="http://schemas.openxmlformats.org/officeDocument/2006/relationships" id="282" r:id="R2f09e6a0103f48f6"/>
    <p:sldId xmlns:r="http://schemas.openxmlformats.org/officeDocument/2006/relationships" id="283" r:id="R931c9d0aaf5c4845"/>
    <p:sldId xmlns:r="http://schemas.openxmlformats.org/officeDocument/2006/relationships" id="284" r:id="Rcee13d491b2f44b0"/>
    <p:sldId xmlns:r="http://schemas.openxmlformats.org/officeDocument/2006/relationships" id="285" r:id="R9e9b95341a6a4aa5"/>
    <p:sldId xmlns:r="http://schemas.openxmlformats.org/officeDocument/2006/relationships" id="286" r:id="R99cf4285752a42fe"/>
    <p:sldId xmlns:r="http://schemas.openxmlformats.org/officeDocument/2006/relationships" id="287" r:id="R343e0d861a104ead"/>
    <p:sldId xmlns:r="http://schemas.openxmlformats.org/officeDocument/2006/relationships" id="288" r:id="Rc5865839041f40d2"/>
    <p:sldId xmlns:r="http://schemas.openxmlformats.org/officeDocument/2006/relationships" id="289" r:id="R4a335ff93e674d2c"/>
    <p:sldId xmlns:r="http://schemas.openxmlformats.org/officeDocument/2006/relationships" id="290" r:id="R09f3c79b3b7e42d5"/>
    <p:sldId xmlns:r="http://schemas.openxmlformats.org/officeDocument/2006/relationships" id="291" r:id="R6d6334d1689445b5"/>
    <p:sldId xmlns:r="http://schemas.openxmlformats.org/officeDocument/2006/relationships" id="292" r:id="Rb5692ca6fa364c8b"/>
    <p:sldId xmlns:r="http://schemas.openxmlformats.org/officeDocument/2006/relationships" id="293" r:id="R92856e69f397458a"/>
    <p:sldId xmlns:r="http://schemas.openxmlformats.org/officeDocument/2006/relationships" id="294" r:id="R4a9c910af7654200"/>
    <p:sldId xmlns:r="http://schemas.openxmlformats.org/officeDocument/2006/relationships" id="295" r:id="R2de3c5bb48914657"/>
    <p:sldId xmlns:r="http://schemas.openxmlformats.org/officeDocument/2006/relationships" id="296" r:id="Re98a820d385b48dd"/>
    <p:sldId xmlns:r="http://schemas.openxmlformats.org/officeDocument/2006/relationships" id="297" r:id="Rf1e195c616a04d02"/>
    <p:sldId xmlns:r="http://schemas.openxmlformats.org/officeDocument/2006/relationships" id="298" r:id="Rd3d54f4ee6044f63"/>
    <p:sldId xmlns:r="http://schemas.openxmlformats.org/officeDocument/2006/relationships" id="299" r:id="R5399947775ee4264"/>
    <p:sldId xmlns:r="http://schemas.openxmlformats.org/officeDocument/2006/relationships" id="300" r:id="Rc93f5f96c51c4e21"/>
    <p:sldId xmlns:r="http://schemas.openxmlformats.org/officeDocument/2006/relationships" id="301" r:id="Rf2c342eecffe4f03"/>
    <p:sldId xmlns:r="http://schemas.openxmlformats.org/officeDocument/2006/relationships" id="302" r:id="R9ad4fd7892334110"/>
    <p:sldId xmlns:r="http://schemas.openxmlformats.org/officeDocument/2006/relationships" id="303" r:id="R84ce103be9704eba"/>
    <p:sldId xmlns:r="http://schemas.openxmlformats.org/officeDocument/2006/relationships" id="304" r:id="Rc18cf3502db6471b"/>
    <p:sldId xmlns:r="http://schemas.openxmlformats.org/officeDocument/2006/relationships" id="305" r:id="Rc6b52d2ac33844e1"/>
    <p:sldId xmlns:r="http://schemas.openxmlformats.org/officeDocument/2006/relationships" id="306" r:id="Rb48bf3e8e5f846e4"/>
    <p:sldId xmlns:r="http://schemas.openxmlformats.org/officeDocument/2006/relationships" id="307" r:id="R12af46937ea84f8c"/>
    <p:sldId xmlns:r="http://schemas.openxmlformats.org/officeDocument/2006/relationships" id="308" r:id="R5c02a9b29c534fb4"/>
    <p:sldId xmlns:r="http://schemas.openxmlformats.org/officeDocument/2006/relationships" id="309" r:id="Ra959ed48994445df"/>
    <p:sldId xmlns:r="http://schemas.openxmlformats.org/officeDocument/2006/relationships" id="310" r:id="R48207fc49658401d"/>
    <p:sldId xmlns:r="http://schemas.openxmlformats.org/officeDocument/2006/relationships" id="311" r:id="Rc8d9212525974478"/>
    <p:sldId xmlns:r="http://schemas.openxmlformats.org/officeDocument/2006/relationships" id="312" r:id="R063cd15bc80f4403"/>
    <p:sldId xmlns:r="http://schemas.openxmlformats.org/officeDocument/2006/relationships" id="313" r:id="Rdfc306b328404986"/>
    <p:sldId xmlns:r="http://schemas.openxmlformats.org/officeDocument/2006/relationships" id="314" r:id="Rcf48854ef8214651"/>
    <p:sldId xmlns:r="http://schemas.openxmlformats.org/officeDocument/2006/relationships" id="315" r:id="R2d144a0a6098445d"/>
    <p:sldId xmlns:r="http://schemas.openxmlformats.org/officeDocument/2006/relationships" id="316" r:id="Rf95a1b6fe9e0478d"/>
    <p:sldId xmlns:r="http://schemas.openxmlformats.org/officeDocument/2006/relationships" id="317" r:id="R1f10da3968664b92"/>
    <p:sldId xmlns:r="http://schemas.openxmlformats.org/officeDocument/2006/relationships" id="318" r:id="R3cbb77f116004793"/>
    <p:sldId xmlns:r="http://schemas.openxmlformats.org/officeDocument/2006/relationships" id="319" r:id="R562514217e714f22"/>
    <p:sldId xmlns:r="http://schemas.openxmlformats.org/officeDocument/2006/relationships" id="320" r:id="R990ff35e7a444e33"/>
    <p:sldId xmlns:r="http://schemas.openxmlformats.org/officeDocument/2006/relationships" id="321" r:id="R875e308605cd451a"/>
    <p:sldId xmlns:r="http://schemas.openxmlformats.org/officeDocument/2006/relationships" id="322" r:id="R6d458e0c54334962"/>
    <p:sldId xmlns:r="http://schemas.openxmlformats.org/officeDocument/2006/relationships" id="323" r:id="Rfe868e5f051948d5"/>
    <p:sldId xmlns:r="http://schemas.openxmlformats.org/officeDocument/2006/relationships" id="324" r:id="R3e1c8810953a418f"/>
    <p:sldId xmlns:r="http://schemas.openxmlformats.org/officeDocument/2006/relationships" id="325" r:id="R7a228abb8faa4785"/>
    <p:sldId xmlns:r="http://schemas.openxmlformats.org/officeDocument/2006/relationships" id="326" r:id="R813dd23059fd450d"/>
    <p:sldId xmlns:r="http://schemas.openxmlformats.org/officeDocument/2006/relationships" id="327" r:id="R26e10e782e9749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8753825fdf49eb" /><Relationship Type="http://schemas.openxmlformats.org/officeDocument/2006/relationships/slideMaster" Target="/ppt/slideMasters/slideMaster1.xml" Id="R9bbab16728844649" /><Relationship Type="http://schemas.openxmlformats.org/officeDocument/2006/relationships/notesMaster" Target="/ppt/notesMasters/notesMaster1.xml" Id="Rbadf1de99eba48c7" /><Relationship Type="http://schemas.openxmlformats.org/officeDocument/2006/relationships/presProps" Target="/ppt/presProps.xml" Id="Re34de9651d624ca2" /><Relationship Type="http://schemas.openxmlformats.org/officeDocument/2006/relationships/tableStyles" Target="/ppt/tableStyles.xml" Id="R1fb55d2370b74e30" /><Relationship Type="http://schemas.openxmlformats.org/officeDocument/2006/relationships/slide" Target="/ppt/slides/slide1.xml" Id="Rca1703923c8a44bb" /><Relationship Type="http://schemas.openxmlformats.org/officeDocument/2006/relationships/slide" Target="/ppt/slides/slide2.xml" Id="R7f09874b33854f50" /><Relationship Type="http://schemas.openxmlformats.org/officeDocument/2006/relationships/slide" Target="/ppt/slides/slide3.xml" Id="R425dd1ece0e24a80" /><Relationship Type="http://schemas.openxmlformats.org/officeDocument/2006/relationships/slide" Target="/ppt/slides/slide4.xml" Id="R35f135f2907548d5" /><Relationship Type="http://schemas.openxmlformats.org/officeDocument/2006/relationships/slide" Target="/ppt/slides/slide5.xml" Id="Rf38639a584864ba2" /><Relationship Type="http://schemas.openxmlformats.org/officeDocument/2006/relationships/slide" Target="/ppt/slides/slide6.xml" Id="Ra63df73a23334844" /><Relationship Type="http://schemas.openxmlformats.org/officeDocument/2006/relationships/slide" Target="/ppt/slides/slide7.xml" Id="Rbd47655577914420" /><Relationship Type="http://schemas.openxmlformats.org/officeDocument/2006/relationships/slide" Target="/ppt/slides/slide8.xml" Id="Rc05d8ec57a0e4944" /><Relationship Type="http://schemas.openxmlformats.org/officeDocument/2006/relationships/slide" Target="/ppt/slides/slide9.xml" Id="R3d1461e2ca564729" /><Relationship Type="http://schemas.openxmlformats.org/officeDocument/2006/relationships/slide" Target="/ppt/slides/slide10.xml" Id="R0729528305384717" /><Relationship Type="http://schemas.openxmlformats.org/officeDocument/2006/relationships/slide" Target="/ppt/slides/slide11.xml" Id="Rdba0b8c18e8d42ba" /><Relationship Type="http://schemas.openxmlformats.org/officeDocument/2006/relationships/slide" Target="/ppt/slides/slide12.xml" Id="R873349d21e7c4b53" /><Relationship Type="http://schemas.openxmlformats.org/officeDocument/2006/relationships/slide" Target="/ppt/slides/slide13.xml" Id="R6d867a89e6e3493b" /><Relationship Type="http://schemas.openxmlformats.org/officeDocument/2006/relationships/slide" Target="/ppt/slides/slide14.xml" Id="R7793cc18d276407a" /><Relationship Type="http://schemas.openxmlformats.org/officeDocument/2006/relationships/slide" Target="/ppt/slides/slide15.xml" Id="R218f74e517b04ca3" /><Relationship Type="http://schemas.openxmlformats.org/officeDocument/2006/relationships/slide" Target="/ppt/slides/slide16.xml" Id="R19673376e0104d85" /><Relationship Type="http://schemas.openxmlformats.org/officeDocument/2006/relationships/slide" Target="/ppt/slides/slide17.xml" Id="Ra2f13e2d32e1463c" /><Relationship Type="http://schemas.openxmlformats.org/officeDocument/2006/relationships/slide" Target="/ppt/slides/slide18.xml" Id="R86bf6b00d7424978" /><Relationship Type="http://schemas.openxmlformats.org/officeDocument/2006/relationships/slide" Target="/ppt/slides/slide19.xml" Id="R5052dfcf15604c81" /><Relationship Type="http://schemas.openxmlformats.org/officeDocument/2006/relationships/slide" Target="/ppt/slides/slide20.xml" Id="Re2c8e7f546394de0" /><Relationship Type="http://schemas.openxmlformats.org/officeDocument/2006/relationships/slide" Target="/ppt/slides/slide21.xml" Id="Rcb76dbe4da8c4dc6" /><Relationship Type="http://schemas.openxmlformats.org/officeDocument/2006/relationships/slide" Target="/ppt/slides/slide22.xml" Id="R95b45d11b4ae4c77" /><Relationship Type="http://schemas.openxmlformats.org/officeDocument/2006/relationships/slide" Target="/ppt/slides/slide23.xml" Id="R3b0b7696d1e74815" /><Relationship Type="http://schemas.openxmlformats.org/officeDocument/2006/relationships/slide" Target="/ppt/slides/slide24.xml" Id="Rac1f8c37651c48fc" /><Relationship Type="http://schemas.openxmlformats.org/officeDocument/2006/relationships/slide" Target="/ppt/slides/slide25.xml" Id="R25f7b169b92f469c" /><Relationship Type="http://schemas.openxmlformats.org/officeDocument/2006/relationships/slide" Target="/ppt/slides/slide26.xml" Id="R0b45c12a709c4ec0" /><Relationship Type="http://schemas.openxmlformats.org/officeDocument/2006/relationships/slide" Target="/ppt/slides/slide27.xml" Id="R2f09e6a0103f48f6" /><Relationship Type="http://schemas.openxmlformats.org/officeDocument/2006/relationships/slide" Target="/ppt/slides/slide28.xml" Id="R931c9d0aaf5c4845" /><Relationship Type="http://schemas.openxmlformats.org/officeDocument/2006/relationships/slide" Target="/ppt/slides/slide29.xml" Id="Rcee13d491b2f44b0" /><Relationship Type="http://schemas.openxmlformats.org/officeDocument/2006/relationships/slide" Target="/ppt/slides/slide30.xml" Id="R9e9b95341a6a4aa5" /><Relationship Type="http://schemas.openxmlformats.org/officeDocument/2006/relationships/slide" Target="/ppt/slides/slide31.xml" Id="R99cf4285752a42fe" /><Relationship Type="http://schemas.openxmlformats.org/officeDocument/2006/relationships/slide" Target="/ppt/slides/slide32.xml" Id="R343e0d861a104ead" /><Relationship Type="http://schemas.openxmlformats.org/officeDocument/2006/relationships/slide" Target="/ppt/slides/slide33.xml" Id="Rc5865839041f40d2" /><Relationship Type="http://schemas.openxmlformats.org/officeDocument/2006/relationships/slide" Target="/ppt/slides/slide34.xml" Id="R4a335ff93e674d2c" /><Relationship Type="http://schemas.openxmlformats.org/officeDocument/2006/relationships/slide" Target="/ppt/slides/slide35.xml" Id="R09f3c79b3b7e42d5" /><Relationship Type="http://schemas.openxmlformats.org/officeDocument/2006/relationships/slide" Target="/ppt/slides/slide36.xml" Id="R6d6334d1689445b5" /><Relationship Type="http://schemas.openxmlformats.org/officeDocument/2006/relationships/slide" Target="/ppt/slides/slide37.xml" Id="Rb5692ca6fa364c8b" /><Relationship Type="http://schemas.openxmlformats.org/officeDocument/2006/relationships/slide" Target="/ppt/slides/slide38.xml" Id="R92856e69f397458a" /><Relationship Type="http://schemas.openxmlformats.org/officeDocument/2006/relationships/slide" Target="/ppt/slides/slide39.xml" Id="R4a9c910af7654200" /><Relationship Type="http://schemas.openxmlformats.org/officeDocument/2006/relationships/slide" Target="/ppt/slides/slide40.xml" Id="R2de3c5bb48914657" /><Relationship Type="http://schemas.openxmlformats.org/officeDocument/2006/relationships/slide" Target="/ppt/slides/slide41.xml" Id="Re98a820d385b48dd" /><Relationship Type="http://schemas.openxmlformats.org/officeDocument/2006/relationships/slide" Target="/ppt/slides/slide42.xml" Id="Rf1e195c616a04d02" /><Relationship Type="http://schemas.openxmlformats.org/officeDocument/2006/relationships/slide" Target="/ppt/slides/slide43.xml" Id="Rd3d54f4ee6044f63" /><Relationship Type="http://schemas.openxmlformats.org/officeDocument/2006/relationships/slide" Target="/ppt/slides/slide44.xml" Id="R5399947775ee4264" /><Relationship Type="http://schemas.openxmlformats.org/officeDocument/2006/relationships/slide" Target="/ppt/slides/slide45.xml" Id="Rc93f5f96c51c4e21" /><Relationship Type="http://schemas.openxmlformats.org/officeDocument/2006/relationships/slide" Target="/ppt/slides/slide46.xml" Id="Rf2c342eecffe4f03" /><Relationship Type="http://schemas.openxmlformats.org/officeDocument/2006/relationships/slide" Target="/ppt/slides/slide47.xml" Id="R9ad4fd7892334110" /><Relationship Type="http://schemas.openxmlformats.org/officeDocument/2006/relationships/slide" Target="/ppt/slides/slide48.xml" Id="R84ce103be9704eba" /><Relationship Type="http://schemas.openxmlformats.org/officeDocument/2006/relationships/slide" Target="/ppt/slides/slide49.xml" Id="Rc18cf3502db6471b" /><Relationship Type="http://schemas.openxmlformats.org/officeDocument/2006/relationships/slide" Target="/ppt/slides/slide50.xml" Id="Rc6b52d2ac33844e1" /><Relationship Type="http://schemas.openxmlformats.org/officeDocument/2006/relationships/slide" Target="/ppt/slides/slide51.xml" Id="Rb48bf3e8e5f846e4" /><Relationship Type="http://schemas.openxmlformats.org/officeDocument/2006/relationships/slide" Target="/ppt/slides/slide52.xml" Id="R12af46937ea84f8c" /><Relationship Type="http://schemas.openxmlformats.org/officeDocument/2006/relationships/slide" Target="/ppt/slides/slide53.xml" Id="R5c02a9b29c534fb4" /><Relationship Type="http://schemas.openxmlformats.org/officeDocument/2006/relationships/slide" Target="/ppt/slides/slide54.xml" Id="Ra959ed48994445df" /><Relationship Type="http://schemas.openxmlformats.org/officeDocument/2006/relationships/slide" Target="/ppt/slides/slide55.xml" Id="R48207fc49658401d" /><Relationship Type="http://schemas.openxmlformats.org/officeDocument/2006/relationships/slide" Target="/ppt/slides/slide56.xml" Id="Rc8d9212525974478" /><Relationship Type="http://schemas.openxmlformats.org/officeDocument/2006/relationships/slide" Target="/ppt/slides/slide57.xml" Id="R063cd15bc80f4403" /><Relationship Type="http://schemas.openxmlformats.org/officeDocument/2006/relationships/slide" Target="/ppt/slides/slide58.xml" Id="Rdfc306b328404986" /><Relationship Type="http://schemas.openxmlformats.org/officeDocument/2006/relationships/slide" Target="/ppt/slides/slide59.xml" Id="Rcf48854ef8214651" /><Relationship Type="http://schemas.openxmlformats.org/officeDocument/2006/relationships/slide" Target="/ppt/slides/slide60.xml" Id="R2d144a0a6098445d" /><Relationship Type="http://schemas.openxmlformats.org/officeDocument/2006/relationships/slide" Target="/ppt/slides/slide61.xml" Id="Rf95a1b6fe9e0478d" /><Relationship Type="http://schemas.openxmlformats.org/officeDocument/2006/relationships/slide" Target="/ppt/slides/slide62.xml" Id="R1f10da3968664b92" /><Relationship Type="http://schemas.openxmlformats.org/officeDocument/2006/relationships/slide" Target="/ppt/slides/slide63.xml" Id="R3cbb77f116004793" /><Relationship Type="http://schemas.openxmlformats.org/officeDocument/2006/relationships/slide" Target="/ppt/slides/slide64.xml" Id="R562514217e714f22" /><Relationship Type="http://schemas.openxmlformats.org/officeDocument/2006/relationships/slide" Target="/ppt/slides/slide65.xml" Id="R990ff35e7a444e33" /><Relationship Type="http://schemas.openxmlformats.org/officeDocument/2006/relationships/slide" Target="/ppt/slides/slide66.xml" Id="R875e308605cd451a" /><Relationship Type="http://schemas.openxmlformats.org/officeDocument/2006/relationships/slide" Target="/ppt/slides/slide67.xml" Id="R6d458e0c54334962" /><Relationship Type="http://schemas.openxmlformats.org/officeDocument/2006/relationships/slide" Target="/ppt/slides/slide68.xml" Id="Rfe868e5f051948d5" /><Relationship Type="http://schemas.openxmlformats.org/officeDocument/2006/relationships/slide" Target="/ppt/slides/slide69.xml" Id="R3e1c8810953a418f" /><Relationship Type="http://schemas.openxmlformats.org/officeDocument/2006/relationships/slide" Target="/ppt/slides/slide70.xml" Id="R7a228abb8faa4785" /><Relationship Type="http://schemas.openxmlformats.org/officeDocument/2006/relationships/slide" Target="/ppt/slides/slide71.xml" Id="R813dd23059fd450d" /><Relationship Type="http://schemas.openxmlformats.org/officeDocument/2006/relationships/slide" Target="/ppt/slides/slide72.xml" Id="R26e10e782e9749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1400143a1d43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f85d3b407f4504" /><Relationship Type="http://schemas.openxmlformats.org/officeDocument/2006/relationships/notesMaster" Target="/ppt/notesMasters/notesMaster1.xml" Id="R0d4b90275ae44f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a2d8cf2b464926" /><Relationship Type="http://schemas.openxmlformats.org/officeDocument/2006/relationships/notesMaster" Target="/ppt/notesMasters/notesMaster1.xml" Id="Rf8ab5b8eb78148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a14f347a944d15" /><Relationship Type="http://schemas.openxmlformats.org/officeDocument/2006/relationships/notesMaster" Target="/ppt/notesMasters/notesMaster1.xml" Id="Rbc7cb74c25884e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3b496f4efa4414" /><Relationship Type="http://schemas.openxmlformats.org/officeDocument/2006/relationships/notesMaster" Target="/ppt/notesMasters/notesMaster1.xml" Id="R6ad6ae9f02b241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5edeb20d2d4072" /><Relationship Type="http://schemas.openxmlformats.org/officeDocument/2006/relationships/notesMaster" Target="/ppt/notesMasters/notesMaster1.xml" Id="Re7f09e03567448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199d70f8464f66" /><Relationship Type="http://schemas.openxmlformats.org/officeDocument/2006/relationships/notesMaster" Target="/ppt/notesMasters/notesMaster1.xml" Id="R4dbdbd0df42642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ff519a61db4522" /><Relationship Type="http://schemas.openxmlformats.org/officeDocument/2006/relationships/notesMaster" Target="/ppt/notesMasters/notesMaster1.xml" Id="R0609eeb81a5a45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9e8b1a239b45fd" /><Relationship Type="http://schemas.openxmlformats.org/officeDocument/2006/relationships/notesMaster" Target="/ppt/notesMasters/notesMaster1.xml" Id="Raf9ed5760e6640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760aa65c144778" /><Relationship Type="http://schemas.openxmlformats.org/officeDocument/2006/relationships/notesMaster" Target="/ppt/notesMasters/notesMaster1.xml" Id="Rc84ece4b391d4f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f0ddcc61e54d02" /><Relationship Type="http://schemas.openxmlformats.org/officeDocument/2006/relationships/notesMaster" Target="/ppt/notesMasters/notesMaster1.xml" Id="Raa0e48874c5e42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3d225e79e9434d" /><Relationship Type="http://schemas.openxmlformats.org/officeDocument/2006/relationships/notesMaster" Target="/ppt/notesMasters/notesMaster1.xml" Id="R1235fe746ce147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85aab7bb714968" /><Relationship Type="http://schemas.openxmlformats.org/officeDocument/2006/relationships/notesMaster" Target="/ppt/notesMasters/notesMaster1.xml" Id="Rf92d24dc2cba46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f5946baa9347ec" /><Relationship Type="http://schemas.openxmlformats.org/officeDocument/2006/relationships/notesMaster" Target="/ppt/notesMasters/notesMaster1.xml" Id="R56ef6f95e9d841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27805da20743ad" /><Relationship Type="http://schemas.openxmlformats.org/officeDocument/2006/relationships/notesMaster" Target="/ppt/notesMasters/notesMaster1.xml" Id="R625d55dff5454f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4d10a43ba24d79" /><Relationship Type="http://schemas.openxmlformats.org/officeDocument/2006/relationships/notesMaster" Target="/ppt/notesMasters/notesMaster1.xml" Id="R381cf66a926640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0708bbd858447e" /><Relationship Type="http://schemas.openxmlformats.org/officeDocument/2006/relationships/notesMaster" Target="/ppt/notesMasters/notesMaster1.xml" Id="R8fb0dec74ec343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ac35f38fc74be2" /><Relationship Type="http://schemas.openxmlformats.org/officeDocument/2006/relationships/notesMaster" Target="/ppt/notesMasters/notesMaster1.xml" Id="R5437bd3f35fe4f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afe50429a94def" /><Relationship Type="http://schemas.openxmlformats.org/officeDocument/2006/relationships/notesMaster" Target="/ppt/notesMasters/notesMaster1.xml" Id="Rc78ec200003c49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7a102e848b4690" /><Relationship Type="http://schemas.openxmlformats.org/officeDocument/2006/relationships/notesMaster" Target="/ppt/notesMasters/notesMaster1.xml" Id="R8ad37dd56a3a4a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334298f19d437e" /><Relationship Type="http://schemas.openxmlformats.org/officeDocument/2006/relationships/notesMaster" Target="/ppt/notesMasters/notesMaster1.xml" Id="Rbd58dcf08ad94ea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94ddfd7acb49d2" /><Relationship Type="http://schemas.openxmlformats.org/officeDocument/2006/relationships/notesMaster" Target="/ppt/notesMasters/notesMaster1.xml" Id="Radef79c8ee4a41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215b47a47a4d77" /><Relationship Type="http://schemas.openxmlformats.org/officeDocument/2006/relationships/notesMaster" Target="/ppt/notesMasters/notesMaster1.xml" Id="R78f49897b71546c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9a5720cd424a8d" /><Relationship Type="http://schemas.openxmlformats.org/officeDocument/2006/relationships/notesMaster" Target="/ppt/notesMasters/notesMaster1.xml" Id="R5a331395beea42e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72d4f661bcc4794" /><Relationship Type="http://schemas.openxmlformats.org/officeDocument/2006/relationships/notesMaster" Target="/ppt/notesMasters/notesMaster1.xml" Id="R9fe69013127f40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237e98bc9b4470" /><Relationship Type="http://schemas.openxmlformats.org/officeDocument/2006/relationships/notesMaster" Target="/ppt/notesMasters/notesMaster1.xml" Id="R20fd9338b931463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cee763181ee4210" /><Relationship Type="http://schemas.openxmlformats.org/officeDocument/2006/relationships/notesMaster" Target="/ppt/notesMasters/notesMaster1.xml" Id="R45e2c4eab6274e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fef2519f4c84306" /><Relationship Type="http://schemas.openxmlformats.org/officeDocument/2006/relationships/notesMaster" Target="/ppt/notesMasters/notesMaster1.xml" Id="R9f0582eafe6b485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5d37ce8d5b4e8e" /><Relationship Type="http://schemas.openxmlformats.org/officeDocument/2006/relationships/notesMaster" Target="/ppt/notesMasters/notesMaster1.xml" Id="Rabd1b257c0a142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6755d4eb7d74e15" /><Relationship Type="http://schemas.openxmlformats.org/officeDocument/2006/relationships/notesMaster" Target="/ppt/notesMasters/notesMaster1.xml" Id="R87962aae45fd40b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d15395338724bba" /><Relationship Type="http://schemas.openxmlformats.org/officeDocument/2006/relationships/notesMaster" Target="/ppt/notesMasters/notesMaster1.xml" Id="Rd013d6373f3e404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47e54bdc98a445b" /><Relationship Type="http://schemas.openxmlformats.org/officeDocument/2006/relationships/notesMaster" Target="/ppt/notesMasters/notesMaster1.xml" Id="Ref7d4ac3aff443f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2681baffc354c33" /><Relationship Type="http://schemas.openxmlformats.org/officeDocument/2006/relationships/notesMaster" Target="/ppt/notesMasters/notesMaster1.xml" Id="Ra7b9124f6276413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99be89c8bd24f22" /><Relationship Type="http://schemas.openxmlformats.org/officeDocument/2006/relationships/notesMaster" Target="/ppt/notesMasters/notesMaster1.xml" Id="R2d5ddfea5c40464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269c9968cd4f7a" /><Relationship Type="http://schemas.openxmlformats.org/officeDocument/2006/relationships/notesMaster" Target="/ppt/notesMasters/notesMaster1.xml" Id="R1090ebfbd0f948d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1d882e500ae4854" /><Relationship Type="http://schemas.openxmlformats.org/officeDocument/2006/relationships/notesMaster" Target="/ppt/notesMasters/notesMaster1.xml" Id="R556431731abd435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c5545a0575b4fde" /><Relationship Type="http://schemas.openxmlformats.org/officeDocument/2006/relationships/notesMaster" Target="/ppt/notesMasters/notesMaster1.xml" Id="Rf7d7e50cf7784ca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f181417fdc943d8" /><Relationship Type="http://schemas.openxmlformats.org/officeDocument/2006/relationships/notesMaster" Target="/ppt/notesMasters/notesMaster1.xml" Id="R874b87d3b7e14b4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fb3d788e4dd4238" /><Relationship Type="http://schemas.openxmlformats.org/officeDocument/2006/relationships/notesMaster" Target="/ppt/notesMasters/notesMaster1.xml" Id="R5090a9f46d33455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ee028d7bae84aea" /><Relationship Type="http://schemas.openxmlformats.org/officeDocument/2006/relationships/notesMaster" Target="/ppt/notesMasters/notesMaster1.xml" Id="Re701aa4a4f77402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501073ffc1c47f4" /><Relationship Type="http://schemas.openxmlformats.org/officeDocument/2006/relationships/notesMaster" Target="/ppt/notesMasters/notesMaster1.xml" Id="Rde044869f6e44e2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b0dc6f6055f497e" /><Relationship Type="http://schemas.openxmlformats.org/officeDocument/2006/relationships/notesMaster" Target="/ppt/notesMasters/notesMaster1.xml" Id="R6e576a12c84d4f8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56114677d6c48ea" /><Relationship Type="http://schemas.openxmlformats.org/officeDocument/2006/relationships/notesMaster" Target="/ppt/notesMasters/notesMaster1.xml" Id="Rf0c433fbf284476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b6ca7b9359d4a2f" /><Relationship Type="http://schemas.openxmlformats.org/officeDocument/2006/relationships/notesMaster" Target="/ppt/notesMasters/notesMaster1.xml" Id="R4c7501feac414b9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2e8c05b9d744a6f" /><Relationship Type="http://schemas.openxmlformats.org/officeDocument/2006/relationships/notesMaster" Target="/ppt/notesMasters/notesMaster1.xml" Id="R5a54d5f47079428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91a5c4e79b24ab8" /><Relationship Type="http://schemas.openxmlformats.org/officeDocument/2006/relationships/notesMaster" Target="/ppt/notesMasters/notesMaster1.xml" Id="R4fc20011020a49c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aa05e8bbe7a4595" /><Relationship Type="http://schemas.openxmlformats.org/officeDocument/2006/relationships/notesMaster" Target="/ppt/notesMasters/notesMaster1.xml" Id="R686ed3a1c56f4ae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202322c51964184" /><Relationship Type="http://schemas.openxmlformats.org/officeDocument/2006/relationships/notesMaster" Target="/ppt/notesMasters/notesMaster1.xml" Id="R893802b9019f49b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90ce0eac5a94d69" /><Relationship Type="http://schemas.openxmlformats.org/officeDocument/2006/relationships/notesMaster" Target="/ppt/notesMasters/notesMaster1.xml" Id="R4359153dab1b405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4a10b538482477e" /><Relationship Type="http://schemas.openxmlformats.org/officeDocument/2006/relationships/notesMaster" Target="/ppt/notesMasters/notesMaster1.xml" Id="R3f66da2245974ed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6b5a575d33e42ee" /><Relationship Type="http://schemas.openxmlformats.org/officeDocument/2006/relationships/notesMaster" Target="/ppt/notesMasters/notesMaster1.xml" Id="R50059b8cc9ae4c0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045843de2374ee3" /><Relationship Type="http://schemas.openxmlformats.org/officeDocument/2006/relationships/notesMaster" Target="/ppt/notesMasters/notesMaster1.xml" Id="Re5bfd13b045b425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4722633e5324764" /><Relationship Type="http://schemas.openxmlformats.org/officeDocument/2006/relationships/notesMaster" Target="/ppt/notesMasters/notesMaster1.xml" Id="R5f11bea152a1488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dfe586d26db49b5" /><Relationship Type="http://schemas.openxmlformats.org/officeDocument/2006/relationships/notesMaster" Target="/ppt/notesMasters/notesMaster1.xml" Id="R9d6d23410d6a476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b3a96d631304314" /><Relationship Type="http://schemas.openxmlformats.org/officeDocument/2006/relationships/notesMaster" Target="/ppt/notesMasters/notesMaster1.xml" Id="Rdca1266ac35f4bb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6f6e814c0ff4828" /><Relationship Type="http://schemas.openxmlformats.org/officeDocument/2006/relationships/notesMaster" Target="/ppt/notesMasters/notesMaster1.xml" Id="Rff56ef86f63441f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f68cc53ede14f57" /><Relationship Type="http://schemas.openxmlformats.org/officeDocument/2006/relationships/notesMaster" Target="/ppt/notesMasters/notesMaster1.xml" Id="R24e9f615da61424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c5a3b4c04c843ec" /><Relationship Type="http://schemas.openxmlformats.org/officeDocument/2006/relationships/notesMaster" Target="/ppt/notesMasters/notesMaster1.xml" Id="R715b5a1da3a84b9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ec30205bc464912" /><Relationship Type="http://schemas.openxmlformats.org/officeDocument/2006/relationships/notesMaster" Target="/ppt/notesMasters/notesMaster1.xml" Id="Rfba4fbf5286b4b4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495d4a6593a466c" /><Relationship Type="http://schemas.openxmlformats.org/officeDocument/2006/relationships/notesMaster" Target="/ppt/notesMasters/notesMaster1.xml" Id="R7f1e25e0066a4be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8c19a92eae5417b" /><Relationship Type="http://schemas.openxmlformats.org/officeDocument/2006/relationships/notesMaster" Target="/ppt/notesMasters/notesMaster1.xml" Id="R80828c012f734d1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7ac47b8b1db4d2d" /><Relationship Type="http://schemas.openxmlformats.org/officeDocument/2006/relationships/notesMaster" Target="/ppt/notesMasters/notesMaster1.xml" Id="R56e0b8582b0f4d3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5030ea2bb854005" /><Relationship Type="http://schemas.openxmlformats.org/officeDocument/2006/relationships/notesMaster" Target="/ppt/notesMasters/notesMaster1.xml" Id="Ra206e0b313fb49c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dddab0149ba4673" /><Relationship Type="http://schemas.openxmlformats.org/officeDocument/2006/relationships/notesMaster" Target="/ppt/notesMasters/notesMaster1.xml" Id="Rc336b73fcdb6496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a2c68f56833436d" /><Relationship Type="http://schemas.openxmlformats.org/officeDocument/2006/relationships/notesMaster" Target="/ppt/notesMasters/notesMaster1.xml" Id="R7dcfe71c441f42a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2a9541014004e15" /><Relationship Type="http://schemas.openxmlformats.org/officeDocument/2006/relationships/notesMaster" Target="/ppt/notesMasters/notesMaster1.xml" Id="Rf07695c866b5486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f910bb64a524e4b" /><Relationship Type="http://schemas.openxmlformats.org/officeDocument/2006/relationships/notesMaster" Target="/ppt/notesMasters/notesMaster1.xml" Id="Re057ed2086334e34"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931ba389f9a4b1d" /><Relationship Type="http://schemas.openxmlformats.org/officeDocument/2006/relationships/notesMaster" Target="/ppt/notesMasters/notesMaster1.xml" Id="R8e4b45cd43b149d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3b4cbe6e6684766" /><Relationship Type="http://schemas.openxmlformats.org/officeDocument/2006/relationships/notesMaster" Target="/ppt/notesMasters/notesMaster1.xml" Id="R8efa58c650d7495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b7342f43fc3487d" /><Relationship Type="http://schemas.openxmlformats.org/officeDocument/2006/relationships/notesMaster" Target="/ppt/notesMasters/notesMaster1.xml" Id="R0a281ed727ee4d5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c55345990e034459" /><Relationship Type="http://schemas.openxmlformats.org/officeDocument/2006/relationships/notesMaster" Target="/ppt/notesMasters/notesMaster1.xml" Id="R5b65f56988e548d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d5b9d288eb174163" /><Relationship Type="http://schemas.openxmlformats.org/officeDocument/2006/relationships/notesMaster" Target="/ppt/notesMasters/notesMaster1.xml" Id="R1ad21e0be13a45e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4b936113f46415a" /><Relationship Type="http://schemas.openxmlformats.org/officeDocument/2006/relationships/notesMaster" Target="/ppt/notesMasters/notesMaster1.xml" Id="Rcf6f1665c8974f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Today we will assemble a working AI-agent workflow from a prepared repository. We will use simple business examples and check what actually happened.</a:t>
            </a:r>
          </a:p>
          <a:p xmlns:a="http://schemas.openxmlformats.org/drawingml/2006/main">
            <a:r>
              <a:t/>
            </a:r>
          </a:p>
          <a:p xmlns:a="http://schemas.openxmlformats.org/drawingml/2006/main">
            <a:r>
              <a:t>DEMONSTRATE / DO TOGETHER</a:t>
            </a:r>
          </a:p>
          <a:p xmlns:a="http://schemas.openxmlformats.org/drawingml/2006/main">
            <a:r>
              <a:t>Open Presenter View so these notes remain private. Keep the app and a terminal ready in separate windows. Share the actual GitHub repository link only after publishing and testing it.</a:t>
            </a:r>
          </a:p>
          <a:p xmlns:a="http://schemas.openxmlformats.org/drawingml/2006/main">
            <a:r>
              <a:t/>
            </a:r>
          </a:p>
          <a:p xmlns:a="http://schemas.openxmlformats.org/drawingml/2006/main">
            <a:r>
              <a:t>ASK THE ROOM</a:t>
            </a:r>
          </a:p>
          <a:p xmlns:a="http://schemas.openxmlformats.org/drawingml/2006/main">
            <a:r>
              <a:t>Who has used a chatbot? Who has opened a terminal?</a:t>
            </a:r>
          </a:p>
          <a:p xmlns:a="http://schemas.openxmlformats.org/drawingml/2006/main">
            <a:r>
              <a:t/>
            </a:r>
          </a:p>
          <a:p xmlns:a="http://schemas.openxmlformats.org/drawingml/2006/main">
            <a:r>
              <a:t>EXPECTED EVIDENCE</a:t>
            </a:r>
          </a:p>
          <a:p xmlns:a="http://schemas.openxmlformats.org/drawingml/2006/main">
            <a:r>
              <a:t>A show of hands tells you which pairs need setup support.</a:t>
            </a:r>
          </a:p>
          <a:p xmlns:a="http://schemas.openxmlformats.org/drawingml/2006/main">
            <a:r>
              <a:t/>
            </a:r>
          </a:p>
          <a:p xmlns:a="http://schemas.openxmlformats.org/drawingml/2006/main">
            <a:r>
              <a:t>IF SOMEONE IS STUCK</a:t>
            </a:r>
          </a:p>
          <a:p xmlns:a="http://schemas.openxmlformats.org/drawingml/2006/main">
            <a:r>
              <a:t>Pair a confident terminal user with someone new. This is a rehearsal, not a coding-speed competition.</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Original illustration generated with the built-in image_gen tool, 3 September 2026. Asset: workshop/assets/command-core.png.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successful session ends with something you can show, not just a list of AI words. We will use templates, complete a small piece of code, and then inspect a six-agent system.</a:t>
            </a:r>
          </a:p>
          <a:p xmlns:a="http://schemas.openxmlformats.org/drawingml/2006/main">
            <a:r>
              <a:t/>
            </a:r>
          </a:p>
          <a:p xmlns:a="http://schemas.openxmlformats.org/drawingml/2006/main">
            <a:r>
              <a:t>DEMONSTRATE / DO TOGETHER</a:t>
            </a:r>
          </a:p>
          <a:p xmlns:a="http://schemas.openxmlformats.org/drawingml/2006/main">
            <a:r>
              <a:t>Point to the four outcomes. Tell participants they should keep their terminal output, one changed report and one export.</a:t>
            </a:r>
          </a:p>
          <a:p xmlns:a="http://schemas.openxmlformats.org/drawingml/2006/main">
            <a:r>
              <a:t/>
            </a:r>
          </a:p>
          <a:p xmlns:a="http://schemas.openxmlformats.org/drawingml/2006/main">
            <a:r>
              <a:t>ASK THE ROOM</a:t>
            </a:r>
          </a:p>
          <a:p xmlns:a="http://schemas.openxmlformats.org/drawingml/2006/main">
            <a:r>
              <a:t>What would count as proof that your agent worked?</a:t>
            </a:r>
          </a:p>
          <a:p xmlns:a="http://schemas.openxmlformats.org/drawingml/2006/main">
            <a:r>
              <a:t/>
            </a:r>
          </a:p>
          <a:p xmlns:a="http://schemas.openxmlformats.org/drawingml/2006/main">
            <a:r>
              <a:t>EXPECTED EVIDENCE</a:t>
            </a:r>
          </a:p>
          <a:p xmlns:a="http://schemas.openxmlformats.org/drawingml/2006/main">
            <a:r>
              <a:t>They name a tool result or a saved package, not just an attractive screen.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flight simulator uses a real control system with a simulated flight. Our rehearsal adapter follows a fixed script; the tools still run and produce real calculations. It does not understand arbitrary language like a live model.</a:t>
            </a:r>
          </a:p>
          <a:p xmlns:a="http://schemas.openxmlformats.org/drawingml/2006/main">
            <a:r>
              <a:t/>
            </a:r>
          </a:p>
          <a:p xmlns:a="http://schemas.openxmlformats.org/drawingml/2006/main">
            <a:r>
              <a:t>DEMONSTRATE / DO TOGETHER</a:t>
            </a:r>
          </a:p>
          <a:p xmlns:a="http://schemas.openxmlformats.org/drawingml/2006/main">
            <a:r>
              <a:t>Show the REHEARSAL MODE badge. Mention that initial installation still needs internet; offline operation comes after dependencies are installed.</a:t>
            </a:r>
          </a:p>
          <a:p xmlns:a="http://schemas.openxmlformats.org/drawingml/2006/main">
            <a:r>
              <a:t/>
            </a:r>
          </a:p>
          <a:p xmlns:a="http://schemas.openxmlformats.org/drawingml/2006/main">
            <a:r>
              <a:t>ASK THE ROOM</a:t>
            </a:r>
          </a:p>
          <a:p xmlns:a="http://schemas.openxmlformats.org/drawingml/2006/main">
            <a:r>
              <a:t>If I rewrite a blueprint prompt, will the rehearsal answer become more creative?</a:t>
            </a:r>
          </a:p>
          <a:p xmlns:a="http://schemas.openxmlformats.org/drawingml/2006/main">
            <a:r>
              <a:t/>
            </a:r>
          </a:p>
          <a:p xmlns:a="http://schemas.openxmlformats.org/drawingml/2006/main">
            <a:r>
              <a:t>EXPECTED EVIDENCE</a:t>
            </a:r>
          </a:p>
          <a:p xmlns:a="http://schemas.openxmlformats.org/drawingml/2006/main">
            <a:r>
              <a:t>No. Rehearsal wording is scripted. Input changes affect calculations; live models can interpret narrative preferences.</a:t>
            </a:r>
          </a:p>
          <a:p xmlns:a="http://schemas.openxmlformats.org/drawingml/2006/main">
            <a:r>
              <a:t/>
            </a:r>
          </a:p>
          <a:p xmlns:a="http://schemas.openxmlformats.org/drawingml/2006/main">
            <a:r>
              <a:t>IF SOMEONE IS STUCK</a:t>
            </a:r>
          </a:p>
          <a:p xmlns:a="http://schemas.openxmlformats.org/drawingml/2006/main">
            <a:r>
              <a:t>Repeat this distinction whenever someone expects a creative response. Never present the rehearsal as a verified live Gemini call.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 will demonstrate one small action, then everyone repeats it. Please avoid racing through later steps: the checkpoint is how we know the room is ready.</a:t>
            </a:r>
          </a:p>
          <a:p xmlns:a="http://schemas.openxmlformats.org/drawingml/2006/main">
            <a:r>
              <a:t/>
            </a:r>
          </a:p>
          <a:p xmlns:a="http://schemas.openxmlformats.org/drawingml/2006/main">
            <a:r>
              <a:t>DEMONSTRATE / DO TOGETHER</a:t>
            </a:r>
          </a:p>
          <a:p xmlns:a="http://schemas.openxmlformats.org/drawingml/2006/main">
            <a:r>
              <a:t>Assign driver and navigator in each pair. Driver types; navigator reads the instruction and checks the output. Ask pairs to signal green when ready, amber when blocked.</a:t>
            </a:r>
          </a:p>
          <a:p xmlns:a="http://schemas.openxmlformats.org/drawingml/2006/main">
            <a:r>
              <a:t/>
            </a:r>
          </a:p>
          <a:p xmlns:a="http://schemas.openxmlformats.org/drawingml/2006/main">
            <a:r>
              <a:t>ASK THE ROOM</a:t>
            </a:r>
          </a:p>
          <a:p xmlns:a="http://schemas.openxmlformats.org/drawingml/2006/main">
            <a:r>
              <a:t>What should the navigator check before we run a command?</a:t>
            </a:r>
          </a:p>
          <a:p xmlns:a="http://schemas.openxmlformats.org/drawingml/2006/main">
            <a:r>
              <a:t/>
            </a:r>
          </a:p>
          <a:p xmlns:a="http://schemas.openxmlformats.org/drawingml/2006/main">
            <a:r>
              <a:t>EXPECTED EVIDENCE</a:t>
            </a:r>
          </a:p>
          <a:p xmlns:a="http://schemas.openxmlformats.org/drawingml/2006/main">
            <a:r>
              <a:t>Correct folder, exact command, and the expected output.</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deck supports a three-hour build-along. If today is only ninety minutes, use the fast-path slide list in the facilitator guide and assume Git and uv are already installed.</a:t>
            </a:r>
          </a:p>
          <a:p xmlns:a="http://schemas.openxmlformats.org/drawingml/2006/main">
            <a:r>
              <a:t/>
            </a:r>
          </a:p>
          <a:p xmlns:a="http://schemas.openxmlformats.org/drawingml/2006/main">
            <a:r>
              <a:t>DEMONSTRATE / DO TOGETHER</a:t>
            </a:r>
          </a:p>
          <a:p xmlns:a="http://schemas.openxmlformats.org/drawingml/2006/main">
            <a:r>
              <a:t>Choose the route before teaching. Keep technical appendices for troubleshooting rather than reading every slide aloud.</a:t>
            </a:r>
          </a:p>
          <a:p xmlns:a="http://schemas.openxmlformats.org/drawingml/2006/main">
            <a:r>
              <a:t/>
            </a:r>
          </a:p>
          <a:p xmlns:a="http://schemas.openxmlformats.org/drawingml/2006/main">
            <a:r>
              <a:t>ASK THE ROOM</a:t>
            </a:r>
          </a:p>
          <a:p xmlns:a="http://schemas.openxmlformats.org/drawingml/2006/main">
            <a:r>
              <a:t>Can we agree to stop and check at each checkpoint?</a:t>
            </a:r>
          </a:p>
          <a:p xmlns:a="http://schemas.openxmlformats.org/drawingml/2006/main">
            <a:r>
              <a:t/>
            </a:r>
          </a:p>
          <a:p xmlns:a="http://schemas.openxmlformats.org/drawingml/2006/main">
            <a:r>
              <a:t>EXPECTED EVIDENCE</a:t>
            </a:r>
          </a:p>
          <a:p xmlns:a="http://schemas.openxmlformats.org/drawingml/2006/main">
            <a:r>
              <a:t>The room understands the cadence.</a:t>
            </a:r>
          </a:p>
          <a:p xmlns:a="http://schemas.openxmlformats.org/drawingml/2006/main">
            <a:r>
              <a:t/>
            </a:r>
          </a:p>
          <a:p xmlns:a="http://schemas.openxmlformats.org/drawingml/2006/main">
            <a:r>
              <a:t>IF SOMEONE IS STUCK</a:t>
            </a:r>
          </a:p>
          <a:p xmlns:a="http://schemas.openxmlformats.org/drawingml/2006/main">
            <a:r>
              <a:t>If installation consumes the first block, pair affected learners or use the prepared ZIP. Do not promise that a first-time dependency installation works offline.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restaurant works because different specialists share an order and use the right equipment. One person does not have to do everything. Our business agents are software roles, not employees with judgment or accountability.</a:t>
            </a:r>
          </a:p>
          <a:p xmlns:a="http://schemas.openxmlformats.org/drawingml/2006/main">
            <a:r>
              <a:t/>
            </a:r>
          </a:p>
          <a:p xmlns:a="http://schemas.openxmlformats.org/drawingml/2006/main">
            <a:r>
              <a:t>DEMONSTRATE / DO TOGETHER</a:t>
            </a:r>
          </a:p>
          <a:p xmlns:a="http://schemas.openxmlformats.org/drawingml/2006/main">
            <a:r>
              <a:t>Use the illustration to point out the order rail, specialists and head chef. Map Finance to checking costs, Operations to timing, and General Management to coordinating the final decision.</a:t>
            </a:r>
          </a:p>
          <a:p xmlns:a="http://schemas.openxmlformats.org/drawingml/2006/main">
            <a:r>
              <a:t/>
            </a:r>
          </a:p>
          <a:p xmlns:a="http://schemas.openxmlformats.org/drawingml/2006/main">
            <a:r>
              <a:t>ASK THE ROOM</a:t>
            </a:r>
          </a:p>
          <a:p xmlns:a="http://schemas.openxmlformats.org/drawingml/2006/main">
            <a:r>
              <a:t>What happens if each chef works from a different order?</a:t>
            </a:r>
          </a:p>
          <a:p xmlns:a="http://schemas.openxmlformats.org/drawingml/2006/main">
            <a:r>
              <a:t/>
            </a:r>
          </a:p>
          <a:p xmlns:a="http://schemas.openxmlformats.org/drawingml/2006/main">
            <a:r>
              <a:t>EXPECTED EVIDENCE</a:t>
            </a:r>
          </a:p>
          <a:p xmlns:a="http://schemas.openxmlformats.org/drawingml/2006/main">
            <a:r>
              <a:t>The outputs conflict. That is why our agents receive shared facts.</a:t>
            </a:r>
          </a:p>
          <a:p xmlns:a="http://schemas.openxmlformats.org/drawingml/2006/main">
            <a:r>
              <a:t/>
            </a:r>
          </a:p>
          <a:p xmlns:a="http://schemas.openxmlformats.org/drawingml/2006/main">
            <a:r>
              <a:t>IF SOMEONE IS STUCK</a:t>
            </a:r>
          </a:p>
          <a:p xmlns:a="http://schemas.openxmlformats.org/drawingml/2006/main">
            <a:r>
              <a:t>Keep the analogy short. A software agent has no human intention, common sense or responsibility.</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Original kitchen-team illustration generated with built-in image_gen, 3 September 2026. Asset: workshop/assets/kitchen-team.png.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chatbot can explain a formula. An agent workflow can call a calculator-like function, read its result, and then respond. Tool use is an observable action; it is not a magical guarantee of correctness.</a:t>
            </a:r>
          </a:p>
          <a:p xmlns:a="http://schemas.openxmlformats.org/drawingml/2006/main">
            <a:r>
              <a:t/>
            </a:r>
          </a:p>
          <a:p xmlns:a="http://schemas.openxmlformats.org/drawingml/2006/main">
            <a:r>
              <a:t>DEMONSTRATE / DO TOGETHER</a:t>
            </a:r>
          </a:p>
          <a:p xmlns:a="http://schemas.openxmlformats.org/drawingml/2006/main">
            <a:r>
              <a:t>Read each arrow aloud. Use “calculate launch cash” as the concrete example.</a:t>
            </a:r>
          </a:p>
          <a:p xmlns:a="http://schemas.openxmlformats.org/drawingml/2006/main">
            <a:r>
              <a:t/>
            </a:r>
          </a:p>
          <a:p xmlns:a="http://schemas.openxmlformats.org/drawingml/2006/main">
            <a:r>
              <a:t>ASK THE ROOM</a:t>
            </a:r>
          </a:p>
          <a:p xmlns:a="http://schemas.openxmlformats.org/drawingml/2006/main">
            <a:r>
              <a:t>Which path gives us an arithmetic result we can inspect?</a:t>
            </a:r>
          </a:p>
          <a:p xmlns:a="http://schemas.openxmlformats.org/drawingml/2006/main">
            <a:r>
              <a:t/>
            </a:r>
          </a:p>
          <a:p xmlns:a="http://schemas.openxmlformats.org/drawingml/2006/main">
            <a:r>
              <a:t>EXPECTED EVIDENCE</a:t>
            </a:r>
          </a:p>
          <a:p xmlns:a="http://schemas.openxmlformats.org/drawingml/2006/main">
            <a:r>
              <a:t>The tool path. The tool and its inputs must still be checked.</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Imagine onboarding a new assistant. “Help with business” is vague. “Compare launch cash against the approved budget and show the arithmetic” is testable.</a:t>
            </a:r>
          </a:p>
          <a:p xmlns:a="http://schemas.openxmlformats.org/drawingml/2006/main">
            <a:r>
              <a:t/>
            </a:r>
          </a:p>
          <a:p xmlns:a="http://schemas.openxmlformats.org/drawingml/2006/main">
            <a:r>
              <a:t>DEMONSTRATE / DO TOGETHER</a:t>
            </a:r>
          </a:p>
          <a:p xmlns:a="http://schemas.openxmlformats.org/drawingml/2006/main">
            <a:r>
              <a:t>Ask participants to draft one sentence for a Finance assistant. Keep the output specific: cash needed, gap and human review.</a:t>
            </a:r>
          </a:p>
          <a:p xmlns:a="http://schemas.openxmlformats.org/drawingml/2006/main">
            <a:r>
              <a:t/>
            </a:r>
          </a:p>
          <a:p xmlns:a="http://schemas.openxmlformats.org/drawingml/2006/main">
            <a:r>
              <a:t>ASK THE ROOM</a:t>
            </a:r>
          </a:p>
          <a:p xmlns:a="http://schemas.openxmlformats.org/drawingml/2006/main">
            <a:r>
              <a:t>What is missing from “be a helpful Finance agent”?</a:t>
            </a:r>
          </a:p>
          <a:p xmlns:a="http://schemas.openxmlformats.org/drawingml/2006/main">
            <a:r>
              <a:t/>
            </a:r>
          </a:p>
          <a:p xmlns:a="http://schemas.openxmlformats.org/drawingml/2006/main">
            <a:r>
              <a:t>EXPECTED EVIDENCE</a:t>
            </a:r>
          </a:p>
          <a:p xmlns:a="http://schemas.openxmlformats.org/drawingml/2006/main">
            <a:r>
              <a:t>A clear goal, defined inputs, permitted tools, constraints and success criteria.</a:t>
            </a:r>
          </a:p>
          <a:p xmlns:a="http://schemas.openxmlformats.org/drawingml/2006/main">
            <a:r>
              <a:t/>
            </a:r>
          </a:p>
          <a:p xmlns:a="http://schemas.openxmlformats.org/drawingml/2006/main">
            <a:r>
              <a:t>IF SOMEONE IS STUCK</a:t>
            </a:r>
          </a:p>
          <a:p xmlns:a="http://schemas.openxmlformats.org/drawingml/2006/main">
            <a:r>
              <a:t>Use the completed agent blueprint in the app as a template; do not ask beginners to invent a system from a blank page.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model requests an action. LangChain executes the permitted tool and returns its output. The agent can then continue or finish. The rehearsal adapter chooses the next action using fixed rules.</a:t>
            </a:r>
          </a:p>
          <a:p xmlns:a="http://schemas.openxmlformats.org/drawingml/2006/main">
            <a:r>
              <a:t/>
            </a:r>
          </a:p>
          <a:p xmlns:a="http://schemas.openxmlformats.org/drawingml/2006/main">
            <a:r>
              <a:t>DEMONSTRATE / DO TOGETHER</a:t>
            </a:r>
          </a:p>
          <a:p xmlns:a="http://schemas.openxmlformats.org/drawingml/2006/main">
            <a:r>
              <a:t>Trace one Finance request from a user message to model_finances to the final report. Explain that the activity log is visible behavior, not hidden model reasoning.</a:t>
            </a:r>
          </a:p>
          <a:p xmlns:a="http://schemas.openxmlformats.org/drawingml/2006/main">
            <a:r>
              <a:t/>
            </a:r>
          </a:p>
          <a:p xmlns:a="http://schemas.openxmlformats.org/drawingml/2006/main">
            <a:r>
              <a:t>ASK THE ROOM</a:t>
            </a:r>
          </a:p>
          <a:p xmlns:a="http://schemas.openxmlformats.org/drawingml/2006/main">
            <a:r>
              <a:t>Does seeing a tool call mean the answer is automatically trustworthy?</a:t>
            </a:r>
          </a:p>
          <a:p xmlns:a="http://schemas.openxmlformats.org/drawingml/2006/main">
            <a:r>
              <a:t/>
            </a:r>
          </a:p>
          <a:p xmlns:a="http://schemas.openxmlformats.org/drawingml/2006/main">
            <a:r>
              <a:t>EXPECTED EVIDENCE</a:t>
            </a:r>
          </a:p>
          <a:p xmlns:a="http://schemas.openxmlformats.org/drawingml/2006/main">
            <a:r>
              <a:t>No. We need valid inputs, correct tools and a reviewable final claim.</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Think of LangChain as connectors and wiring, not as the intelligence itself. We provide the model and tools. create_agent assembles them into a runnable agent.</a:t>
            </a:r>
          </a:p>
          <a:p xmlns:a="http://schemas.openxmlformats.org/drawingml/2006/main">
            <a:r>
              <a:t/>
            </a:r>
          </a:p>
          <a:p xmlns:a="http://schemas.openxmlformats.org/drawingml/2006/main">
            <a:r>
              <a:t>DEMONSTRATE / DO TOGETHER</a:t>
            </a:r>
          </a:p>
          <a:p xmlns:a="http://schemas.openxmlformats.org/drawingml/2006/main">
            <a:r>
              <a:t>Explain each word without diving into package internals. The model is the response engine; the adapter is the plug that lets the framework talk to it.</a:t>
            </a:r>
          </a:p>
          <a:p xmlns:a="http://schemas.openxmlformats.org/drawingml/2006/main">
            <a:r>
              <a:t/>
            </a:r>
          </a:p>
          <a:p xmlns:a="http://schemas.openxmlformats.org/drawingml/2006/main">
            <a:r>
              <a:t>ASK THE ROOM</a:t>
            </a:r>
          </a:p>
          <a:p xmlns:a="http://schemas.openxmlformats.org/drawingml/2006/main">
            <a:r>
              <a:t>Where does our business arithmetic live?</a:t>
            </a:r>
          </a:p>
          <a:p xmlns:a="http://schemas.openxmlformats.org/drawingml/2006/main">
            <a:r>
              <a:t/>
            </a:r>
          </a:p>
          <a:p xmlns:a="http://schemas.openxmlformats.org/drawingml/2006/main">
            <a:r>
              <a:t>EXPECTED EVIDENCE</a:t>
            </a:r>
          </a:p>
          <a:p xmlns:a="http://schemas.openxmlformats.org/drawingml/2006/main">
            <a:r>
              <a:t>In Python tools, not inside the LangChain package or a guessed model answer.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LangChain helps us create an individual agent. LangGraph helps us define what happens next and what information travels between steps. In this app the outer workflow runs agents in a predictable sequence.</a:t>
            </a:r>
          </a:p>
          <a:p xmlns:a="http://schemas.openxmlformats.org/drawingml/2006/main">
            <a:r>
              <a:t/>
            </a:r>
          </a:p>
          <a:p xmlns:a="http://schemas.openxmlformats.org/drawingml/2006/main">
            <a:r>
              <a:t>DEMONSTRATE / DO TOGETHER</a:t>
            </a:r>
          </a:p>
          <a:p xmlns:a="http://schemas.openxmlformats.org/drawingml/2006/main">
            <a:r>
              <a:t>Draw an everyday approval route: analyst → manager → decision. Explain nodes as steps, edges as routes and state as shared information.</a:t>
            </a:r>
          </a:p>
          <a:p xmlns:a="http://schemas.openxmlformats.org/drawingml/2006/main">
            <a:r>
              <a:t/>
            </a:r>
          </a:p>
          <a:p xmlns:a="http://schemas.openxmlformats.org/drawingml/2006/main">
            <a:r>
              <a:t>ASK THE ROOM</a:t>
            </a:r>
          </a:p>
          <a:p xmlns:a="http://schemas.openxmlformats.org/drawingml/2006/main">
            <a:r>
              <a:t>Why should Finance see delivery capacity before estimating sales?</a:t>
            </a:r>
          </a:p>
          <a:p xmlns:a="http://schemas.openxmlformats.org/drawingml/2006/main">
            <a:r>
              <a:t/>
            </a:r>
          </a:p>
          <a:p xmlns:a="http://schemas.openxmlformats.org/drawingml/2006/main">
            <a:r>
              <a:t>EXPECTED EVIDENCE</a:t>
            </a:r>
          </a:p>
          <a:p xmlns:a="http://schemas.openxmlformats.org/drawingml/2006/main">
            <a:r>
              <a:t>It should not count units Operations cannot deliver.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https://docs.langchain.com/oss/python/langgraph/overview</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clipboard travels with this job. It starts with scenario facts and collects reports. Memory is different: it is a saved filing cabinet that survives a restart.</a:t>
            </a:r>
          </a:p>
          <a:p xmlns:a="http://schemas.openxmlformats.org/drawingml/2006/main">
            <a:r>
              <a:t/>
            </a:r>
          </a:p>
          <a:p xmlns:a="http://schemas.openxmlformats.org/drawingml/2006/main">
            <a:r>
              <a:t>DEMONSTRATE / DO TOGETHER</a:t>
            </a:r>
          </a:p>
          <a:p xmlns:a="http://schemas.openxmlformats.org/drawingml/2006/main">
            <a:r>
              <a:t>Use one example: the current budget goes on the clipboard; a packaging-review note goes in Memory Vault.</a:t>
            </a:r>
          </a:p>
          <a:p xmlns:a="http://schemas.openxmlformats.org/drawingml/2006/main">
            <a:r>
              <a:t/>
            </a:r>
          </a:p>
          <a:p xmlns:a="http://schemas.openxmlformats.org/drawingml/2006/main">
            <a:r>
              <a:t>ASK THE ROOM</a:t>
            </a:r>
          </a:p>
          <a:p xmlns:a="http://schemas.openxmlformats.org/drawingml/2006/main">
            <a:r>
              <a:t>Will the same team ID on two laptops share a clipboard?</a:t>
            </a:r>
          </a:p>
          <a:p xmlns:a="http://schemas.openxmlformats.org/drawingml/2006/main">
            <a:r>
              <a:t/>
            </a:r>
          </a:p>
          <a:p xmlns:a="http://schemas.openxmlformats.org/drawingml/2006/main">
            <a:r>
              <a:t>EXPECTED EVIDENCE</a:t>
            </a:r>
          </a:p>
          <a:p xmlns:a="http://schemas.openxmlformats.org/drawingml/2006/main">
            <a:r>
              <a:t>No. Each local app has its own database. IDs label local workspaces; they do not create network synchronization.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These are the six specialization roles in the proposal. JARVIS also names the chat interface, but the command assistant and the General Management synthesis agent are separate agent instances.</a:t>
            </a:r>
          </a:p>
          <a:p xmlns:a="http://schemas.openxmlformats.org/drawingml/2006/main">
            <a:r>
              <a:t/>
            </a:r>
          </a:p>
          <a:p xmlns:a="http://schemas.openxmlformats.org/drawingml/2006/main">
            <a:r>
              <a:t>DEMONSTRATE / DO TOGETHER</a:t>
            </a:r>
          </a:p>
          <a:p xmlns:a="http://schemas.openxmlformats.org/drawingml/2006/main">
            <a:r>
              <a:t>Ask each pair to pick a specialist to explain later. Everyone clones the whole app; they do not need six separate installations.</a:t>
            </a:r>
          </a:p>
          <a:p xmlns:a="http://schemas.openxmlformats.org/drawingml/2006/main">
            <a:r>
              <a:t/>
            </a:r>
          </a:p>
          <a:p xmlns:a="http://schemas.openxmlformats.org/drawingml/2006/main">
            <a:r>
              <a:t>ASK THE ROOM</a:t>
            </a:r>
          </a:p>
          <a:p xmlns:a="http://schemas.openxmlformats.org/drawingml/2006/main">
            <a:r>
              <a:t>Which role should own the final human launch approval?</a:t>
            </a:r>
          </a:p>
          <a:p xmlns:a="http://schemas.openxmlformats.org/drawingml/2006/main">
            <a:r>
              <a:t/>
            </a:r>
          </a:p>
          <a:p xmlns:a="http://schemas.openxmlformats.org/drawingml/2006/main">
            <a:r>
              <a:t>EXPECTED EVIDENCE</a:t>
            </a:r>
          </a:p>
          <a:p xmlns:a="http://schemas.openxmlformats.org/drawingml/2006/main">
            <a:r>
              <a:t>A person. JARVIS proposes a recommendation; it cannot approve spending or launch the company.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are launching a shelf-stable millet snack in Chennai and Bengaluru. Every number is fictional. The point is to learn how different functions reason from the same facts.</a:t>
            </a:r>
          </a:p>
          <a:p xmlns:a="http://schemas.openxmlformats.org/drawingml/2006/main">
            <a:r>
              <a:t/>
            </a:r>
          </a:p>
          <a:p xmlns:a="http://schemas.openxmlformats.org/drawingml/2006/main">
            <a:r>
              <a:t>DEMONSTRATE / DO TOGETHER</a:t>
            </a:r>
          </a:p>
          <a:p xmlns:a="http://schemas.openxmlformats.org/drawingml/2006/main">
            <a:r>
              <a:t>Open the scenario briefly and show the budget, units, price and unit cost. Mention that additional launch costs total ₹4.5 lakh under the default assumptions.</a:t>
            </a:r>
          </a:p>
          <a:p xmlns:a="http://schemas.openxmlformats.org/drawingml/2006/main">
            <a:r>
              <a:t/>
            </a:r>
          </a:p>
          <a:p xmlns:a="http://schemas.openxmlformats.org/drawingml/2006/main">
            <a:r>
              <a:t>ASK THE ROOM</a:t>
            </a:r>
          </a:p>
          <a:p xmlns:a="http://schemas.openxmlformats.org/drawingml/2006/main">
            <a:r>
              <a:t>What could go wrong if Marketing promises more than Operations can produce?</a:t>
            </a:r>
          </a:p>
          <a:p xmlns:a="http://schemas.openxmlformats.org/drawingml/2006/main">
            <a:r>
              <a:t/>
            </a:r>
          </a:p>
          <a:p xmlns:a="http://schemas.openxmlformats.org/drawingml/2006/main">
            <a:r>
              <a:t>EXPECTED EVIDENCE</a:t>
            </a:r>
          </a:p>
          <a:p xmlns:a="http://schemas.openxmlformats.org/drawingml/2006/main">
            <a:r>
              <a:t>The campaign, capacity plan and revenue forecast would contradict each other.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initial plan uses the full budget. Other launch costs combine ₹2.5 lakh fixed costs, ₹1.8 lakh marketing and ₹20,000 staffing allowance. No cash headroom is left under these simplified assumptions.</a:t>
            </a:r>
          </a:p>
          <a:p xmlns:a="http://schemas.openxmlformats.org/drawingml/2006/main">
            <a:r>
              <a:t/>
            </a:r>
          </a:p>
          <a:p xmlns:a="http://schemas.openxmlformats.org/drawingml/2006/main">
            <a:r>
              <a:t>DEMONSTRATE / DO TOGETHER</a:t>
            </a:r>
          </a:p>
          <a:p xmlns:a="http://schemas.openxmlformats.org/drawingml/2006/main">
            <a:r>
              <a:t>Ask someone to calculate 30,000 times 65. Then add the other costs. This gives the class an independent expected result before running any code.</a:t>
            </a:r>
          </a:p>
          <a:p xmlns:a="http://schemas.openxmlformats.org/drawingml/2006/main">
            <a:r>
              <a:t/>
            </a:r>
          </a:p>
          <a:p xmlns:a="http://schemas.openxmlformats.org/drawingml/2006/main">
            <a:r>
              <a:t>ASK THE ROOM</a:t>
            </a:r>
          </a:p>
          <a:p xmlns:a="http://schemas.openxmlformats.org/drawingml/2006/main">
            <a:r>
              <a:t>Does “fits the budget” mean “safe to launch”?</a:t>
            </a:r>
          </a:p>
          <a:p xmlns:a="http://schemas.openxmlformats.org/drawingml/2006/main">
            <a:r>
              <a:t/>
            </a:r>
          </a:p>
          <a:p xmlns:a="http://schemas.openxmlformats.org/drawingml/2006/main">
            <a:r>
              <a:t>EXPECTED EVIDENCE</a:t>
            </a:r>
          </a:p>
          <a:p xmlns:a="http://schemas.openxmlformats.org/drawingml/2006/main">
            <a:r>
              <a:t>No. Supply, margin, customer trust and human sign-off still matter.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need a small local development setup. An editor can be VS Code or another editor you already have. Rehearsal needs no model API key, paid subscription, GPU or Docker.</a:t>
            </a:r>
          </a:p>
          <a:p xmlns:a="http://schemas.openxmlformats.org/drawingml/2006/main">
            <a:r>
              <a:t/>
            </a:r>
          </a:p>
          <a:p xmlns:a="http://schemas.openxmlformats.org/drawingml/2006/main">
            <a:r>
              <a:t>DEMONSTRATE / DO TOGETHER</a:t>
            </a:r>
          </a:p>
          <a:p xmlns:a="http://schemas.openxmlformats.org/drawingml/2006/main">
            <a:r>
              <a:t>Check Git and uv versions first. Ask the room to keep a terminal open and connect power. Use the existing workshop device baseline: recent laptop, around 8 GB RAM minimum for this lab.</a:t>
            </a:r>
          </a:p>
          <a:p xmlns:a="http://schemas.openxmlformats.org/drawingml/2006/main">
            <a:r>
              <a:t/>
            </a:r>
          </a:p>
          <a:p xmlns:a="http://schemas.openxmlformats.org/drawingml/2006/main">
            <a:r>
              <a:t>ASK THE ROOM</a:t>
            </a:r>
          </a:p>
          <a:p xmlns:a="http://schemas.openxmlformats.org/drawingml/2006/main">
            <a:r>
              <a:t>Which step may still need internet even though today’s model is offline?</a:t>
            </a:r>
          </a:p>
          <a:p xmlns:a="http://schemas.openxmlformats.org/drawingml/2006/main">
            <a:r>
              <a:t/>
            </a:r>
          </a:p>
          <a:p xmlns:a="http://schemas.openxmlformats.org/drawingml/2006/main">
            <a:r>
              <a:t>EXPECTED EVIDENCE</a:t>
            </a:r>
          </a:p>
          <a:p xmlns:a="http://schemas.openxmlformats.org/drawingml/2006/main">
            <a:r>
              <a:t>Downloading Python and packages during setup.</a:t>
            </a:r>
          </a:p>
          <a:p xmlns:a="http://schemas.openxmlformats.org/drawingml/2006/main">
            <a:r>
              <a:t/>
            </a:r>
          </a:p>
          <a:p xmlns:a="http://schemas.openxmlformats.org/drawingml/2006/main">
            <a:r>
              <a:t>IF SOMEONE IS STUCK</a:t>
            </a:r>
          </a:p>
          <a:p xmlns:a="http://schemas.openxmlformats.org/drawingml/2006/main">
            <a:r>
              <a:t>Use institution-approved installation methods. If software installation is blocked, pair the learner with a ready machine; do not bypass IT controls.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Git is the change-tracking tool. GitHub hosts a repository online. Cloning makes a local copy that you can run and edit. Cloning does not change Arthi’s copy.</a:t>
            </a:r>
          </a:p>
          <a:p xmlns:a="http://schemas.openxmlformats.org/drawingml/2006/main">
            <a:r>
              <a:t/>
            </a:r>
          </a:p>
          <a:p xmlns:a="http://schemas.openxmlformats.org/drawingml/2006/main">
            <a:r>
              <a:t>DEMONSTRATE / DO TOGETHER</a:t>
            </a:r>
          </a:p>
          <a:p xmlns:a="http://schemas.openxmlformats.org/drawingml/2006/main">
            <a:r>
              <a:t>Show a repository’s green Code menu and the HTTPS copy option after the final repository is published. If private, confirm each participant has access before the session.</a:t>
            </a:r>
          </a:p>
          <a:p xmlns:a="http://schemas.openxmlformats.org/drawingml/2006/main">
            <a:r>
              <a:t/>
            </a:r>
          </a:p>
          <a:p xmlns:a="http://schemas.openxmlformats.org/drawingml/2006/main">
            <a:r>
              <a:t>ASK THE ROOM</a:t>
            </a:r>
          </a:p>
          <a:p xmlns:a="http://schemas.openxmlformats.org/drawingml/2006/main">
            <a:r>
              <a:t>Do your experimental edits automatically change the shared repository?</a:t>
            </a:r>
          </a:p>
          <a:p xmlns:a="http://schemas.openxmlformats.org/drawingml/2006/main">
            <a:r>
              <a:t/>
            </a:r>
          </a:p>
          <a:p xmlns:a="http://schemas.openxmlformats.org/drawingml/2006/main">
            <a:r>
              <a:t>EXPECTED EVIDENCE</a:t>
            </a:r>
          </a:p>
          <a:p xmlns:a="http://schemas.openxmlformats.org/drawingml/2006/main">
            <a:r>
              <a:t>No. A push or other deliberate sharing action is required.</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https://docs.github.com/en/repositories/creating-and-managing-repositories/cloning-a-repository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Version checks tell us whether installation is needed. Do not reinstall tools that already work. The Git installer may open a macOS dialog; finish that normally.</a:t>
            </a:r>
          </a:p>
          <a:p xmlns:a="http://schemas.openxmlformats.org/drawingml/2006/main">
            <a:r>
              <a:t/>
            </a:r>
          </a:p>
          <a:p xmlns:a="http://schemas.openxmlformats.org/drawingml/2006/main">
            <a:r>
              <a:t>DEMONSTRATE / DO TOGETHER</a:t>
            </a:r>
          </a:p>
          <a:p xmlns:a="http://schemas.openxmlformats.org/drawingml/2006/main">
            <a:r>
              <a:t>Demonstrate the two version checks. For missing Git use the Apple command-line-tools route documented by Git. For uv use the official installer or the institution’s approved package manager.</a:t>
            </a:r>
          </a:p>
          <a:p xmlns:a="http://schemas.openxmlformats.org/drawingml/2006/main">
            <a:r>
              <a:t/>
            </a:r>
          </a:p>
          <a:p xmlns:a="http://schemas.openxmlformats.org/drawingml/2006/main">
            <a:r>
              <a:t>ASK THE ROOM</a:t>
            </a:r>
          </a:p>
          <a:p xmlns:a="http://schemas.openxmlformats.org/drawingml/2006/main">
            <a:r>
              <a:t>What should you do if uv is installed but the terminal cannot find it?</a:t>
            </a:r>
          </a:p>
          <a:p xmlns:a="http://schemas.openxmlformats.org/drawingml/2006/main">
            <a:r>
              <a:t/>
            </a:r>
          </a:p>
          <a:p xmlns:a="http://schemas.openxmlformats.org/drawingml/2006/main">
            <a:r>
              <a:t>EXPECTED EVIDENCE</a:t>
            </a:r>
          </a:p>
          <a:p xmlns:a="http://schemas.openxmlformats.org/drawingml/2006/main">
            <a:r>
              <a:t>Open a fresh terminal and check again.</a:t>
            </a:r>
          </a:p>
          <a:p xmlns:a="http://schemas.openxmlformats.org/drawingml/2006/main">
            <a:r>
              <a:t/>
            </a:r>
          </a:p>
          <a:p xmlns:a="http://schemas.openxmlformats.org/drawingml/2006/main">
            <a:r>
              <a:t>IF SOMEONE IS STUCK</a:t>
            </a:r>
          </a:p>
          <a:p xmlns:a="http://schemas.openxmlformats.org/drawingml/2006/main">
            <a:r>
              <a:t>Do not change system policy to work around managed-device restrictions. Use a prepared partner machine if necessary.</a:t>
            </a:r>
          </a:p>
          <a:p xmlns:a="http://schemas.openxmlformats.org/drawingml/2006/main">
            <a:r>
              <a:t/>
            </a:r>
          </a:p>
          <a:p xmlns:a="http://schemas.openxmlformats.org/drawingml/2006/main">
            <a:r>
              <a:t>[Sources]</a:t>
            </a:r>
          </a:p>
          <a:p xmlns:a="http://schemas.openxmlformats.org/drawingml/2006/main">
            <a:r>
              <a:t>https://git-scm.com/install/mac</a:t>
            </a:r>
          </a:p>
          <a:p xmlns:a="http://schemas.openxmlformats.org/drawingml/2006/main">
            <a:r>
              <a:t>https://docs.astral.sh/uv/getting-started/installation/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PowerShell is the Windows command window used in this deck. The commands begin with the tool name; do not copy a prompt symbol such as a dollar sign from a website.</a:t>
            </a:r>
          </a:p>
          <a:p xmlns:a="http://schemas.openxmlformats.org/drawingml/2006/main">
            <a:r>
              <a:t/>
            </a:r>
          </a:p>
          <a:p xmlns:a="http://schemas.openxmlformats.org/drawingml/2006/main">
            <a:r>
              <a:t>DEMONSTRATE / DO TOGETHER</a:t>
            </a:r>
          </a:p>
          <a:p xmlns:a="http://schemas.openxmlformats.org/drawingml/2006/main">
            <a:r>
              <a:t>Check versions, then install only missing tools. If winget is unavailable, use the official Git and uv installation pages linked in these notes and ask IT for the approved route.</a:t>
            </a:r>
          </a:p>
          <a:p xmlns:a="http://schemas.openxmlformats.org/drawingml/2006/main">
            <a:r>
              <a:t/>
            </a:r>
          </a:p>
          <a:p xmlns:a="http://schemas.openxmlformats.org/drawingml/2006/main">
            <a:r>
              <a:t>ASK THE ROOM</a:t>
            </a:r>
          </a:p>
          <a:p xmlns:a="http://schemas.openxmlformats.org/drawingml/2006/main">
            <a:r>
              <a:t>Why do we open a fresh terminal after installation?</a:t>
            </a:r>
          </a:p>
          <a:p xmlns:a="http://schemas.openxmlformats.org/drawingml/2006/main">
            <a:r>
              <a:t/>
            </a:r>
          </a:p>
          <a:p xmlns:a="http://schemas.openxmlformats.org/drawingml/2006/main">
            <a:r>
              <a:t>EXPECTED EVIDENCE</a:t>
            </a:r>
          </a:p>
          <a:p xmlns:a="http://schemas.openxmlformats.org/drawingml/2006/main">
            <a:r>
              <a:t>The new terminal picks up the updated command search path.</a:t>
            </a:r>
          </a:p>
          <a:p xmlns:a="http://schemas.openxmlformats.org/drawingml/2006/main">
            <a:r>
              <a:t/>
            </a:r>
          </a:p>
          <a:p xmlns:a="http://schemas.openxmlformats.org/drawingml/2006/main">
            <a:r>
              <a:t>IF SOMEONE IS STUCK</a:t>
            </a:r>
          </a:p>
          <a:p xmlns:a="http://schemas.openxmlformats.org/drawingml/2006/main">
            <a:r>
              <a:t>Do not paste macOS shell commands into PowerShell. Use the Windows-specific instructions.</a:t>
            </a:r>
          </a:p>
          <a:p xmlns:a="http://schemas.openxmlformats.org/drawingml/2006/main">
            <a:r>
              <a:t/>
            </a:r>
          </a:p>
          <a:p xmlns:a="http://schemas.openxmlformats.org/drawingml/2006/main">
            <a:r>
              <a:t>[Sources]</a:t>
            </a:r>
          </a:p>
          <a:p xmlns:a="http://schemas.openxmlformats.org/drawingml/2006/main">
            <a:r>
              <a:t>https://git-scm.com/install/windows</a:t>
            </a:r>
          </a:p>
          <a:p xmlns:a="http://schemas.openxmlformats.org/drawingml/2006/main">
            <a:r>
              <a:t>https://docs.astral.sh/uv/getting-started/installation/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have not assumed a public repository URL. I will share the tested HTTPS URL. Build one command containing git clone, that URL and the destination folder name agentforge-jarvis.</a:t>
            </a:r>
          </a:p>
          <a:p xmlns:a="http://schemas.openxmlformats.org/drawingml/2006/main">
            <a:r>
              <a:t/>
            </a:r>
          </a:p>
          <a:p xmlns:a="http://schemas.openxmlformats.org/drawingml/2006/main">
            <a:r>
              <a:t>DEMONSTRATE / DO TOGETHER</a:t>
            </a:r>
          </a:p>
          <a:p xmlns:a="http://schemas.openxmlformats.org/drawingml/2006/main">
            <a:r>
              <a:t>Type git clone followed by a space, paste the real URL, add a space and agentforge-jarvis, then press Enter. Next run cd agentforge-jarvis and list the files. PowerShell also supports ls.</a:t>
            </a:r>
          </a:p>
          <a:p xmlns:a="http://schemas.openxmlformats.org/drawingml/2006/main">
            <a:r>
              <a:t/>
            </a:r>
          </a:p>
          <a:p xmlns:a="http://schemas.openxmlformats.org/drawingml/2006/main">
            <a:r>
              <a:t>ASK THE ROOM</a:t>
            </a:r>
          </a:p>
          <a:p xmlns:a="http://schemas.openxmlformats.org/drawingml/2006/main">
            <a:r>
              <a:t>What file confirms we are in the project root?</a:t>
            </a:r>
          </a:p>
          <a:p xmlns:a="http://schemas.openxmlformats.org/drawingml/2006/main">
            <a:r>
              <a:t/>
            </a:r>
          </a:p>
          <a:p xmlns:a="http://schemas.openxmlformats.org/drawingml/2006/main">
            <a:r>
              <a:t>EXPECTED EVIDENCE</a:t>
            </a:r>
          </a:p>
          <a:p xmlns:a="http://schemas.openxmlformats.org/drawingml/2006/main">
            <a:r>
              <a:t>pyproject.toml. uv.lock, README.md and src should also be visible.</a:t>
            </a:r>
          </a:p>
          <a:p xmlns:a="http://schemas.openxmlformats.org/drawingml/2006/main">
            <a:r>
              <a:t/>
            </a:r>
          </a:p>
          <a:p xmlns:a="http://schemas.openxmlformats.org/drawingml/2006/main">
            <a:r>
              <a:t>IF SOMEONE IS STUCK</a:t>
            </a:r>
          </a:p>
          <a:p xmlns:a="http://schemas.openxmlformats.org/drawingml/2006/main">
            <a:r>
              <a:t>If the directory already exists, use it only if it is the intended clone; otherwise choose a fresh folder. A 404 for a private repository may be an access problem.</a:t>
            </a:r>
          </a:p>
          <a:p xmlns:a="http://schemas.openxmlformats.org/drawingml/2006/main">
            <a:r>
              <a:t/>
            </a:r>
          </a:p>
          <a:p xmlns:a="http://schemas.openxmlformats.org/drawingml/2006/main">
            <a:r>
              <a:t>[Sources]</a:t>
            </a:r>
          </a:p>
          <a:p xmlns:a="http://schemas.openxmlformats.org/drawingml/2006/main">
            <a:r>
              <a:t>https://docs.github.com/en/repositories/creating-and-managing-repositories/cloning-a-repository</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repository can look intimidating. We will use only a few files. The workshop folder is our small coding lab; the main source folder contains the complete app.</a:t>
            </a:r>
          </a:p>
          <a:p xmlns:a="http://schemas.openxmlformats.org/drawingml/2006/main">
            <a:r>
              <a:t/>
            </a:r>
          </a:p>
          <a:p xmlns:a="http://schemas.openxmlformats.org/drawingml/2006/main">
            <a:r>
              <a:t>DEMONSTRATE / DO TOGETHER</a:t>
            </a:r>
          </a:p>
          <a:p xmlns:a="http://schemas.openxmlformats.org/drawingml/2006/main">
            <a:r>
              <a:t>Open the project in the editor. Show the folder tree without reading every file. Explain that .agentforge is created locally when the application stores data and is ignored by Git.</a:t>
            </a:r>
          </a:p>
          <a:p xmlns:a="http://schemas.openxmlformats.org/drawingml/2006/main">
            <a:r>
              <a:t/>
            </a:r>
          </a:p>
          <a:p xmlns:a="http://schemas.openxmlformats.org/drawingml/2006/main">
            <a:r>
              <a:t>ASK THE ROOM</a:t>
            </a:r>
          </a:p>
          <a:p xmlns:a="http://schemas.openxmlformats.org/drawingml/2006/main">
            <a:r>
              <a:t>Which file should we avoid uploading if it contains a key?</a:t>
            </a:r>
          </a:p>
          <a:p xmlns:a="http://schemas.openxmlformats.org/drawingml/2006/main">
            <a:r>
              <a:t/>
            </a:r>
          </a:p>
          <a:p xmlns:a="http://schemas.openxmlformats.org/drawingml/2006/main">
            <a:r>
              <a:t>EXPECTED EVIDENCE</a:t>
            </a:r>
          </a:p>
          <a:p xmlns:a="http://schemas.openxmlformats.org/drawingml/2006/main">
            <a:r>
              <a:t>The local .env file. It is ignored by Git; never put keys into notes or screenshots either.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Think of .venv as a toolbox reserved for this project. uv reads what the project needs and installs matching versions. The lockfile keeps classmates on the same tested dependency set.</a:t>
            </a:r>
          </a:p>
          <a:p xmlns:a="http://schemas.openxmlformats.org/drawingml/2006/main">
            <a:r>
              <a:t/>
            </a:r>
          </a:p>
          <a:p xmlns:a="http://schemas.openxmlformats.org/drawingml/2006/main">
            <a:r>
              <a:t>DEMONSTRATE / DO TOGETHER</a:t>
            </a:r>
          </a:p>
          <a:p xmlns:a="http://schemas.openxmlformats.org/drawingml/2006/main">
            <a:r>
              <a:t>Explain --frozen as “use the existing lockfile; do not resolve a different set of versions.” Do not describe it as a guarantee that network access is unnecessary.</a:t>
            </a:r>
          </a:p>
          <a:p xmlns:a="http://schemas.openxmlformats.org/drawingml/2006/main">
            <a:r>
              <a:t/>
            </a:r>
          </a:p>
          <a:p xmlns:a="http://schemas.openxmlformats.org/drawingml/2006/main">
            <a:r>
              <a:t>ASK THE ROOM</a:t>
            </a:r>
          </a:p>
          <a:p xmlns:a="http://schemas.openxmlformats.org/drawingml/2006/main">
            <a:r>
              <a:t>Why not install random package versions by hand during the session?</a:t>
            </a:r>
          </a:p>
          <a:p xmlns:a="http://schemas.openxmlformats.org/drawingml/2006/main">
            <a:r>
              <a:t/>
            </a:r>
          </a:p>
          <a:p xmlns:a="http://schemas.openxmlformats.org/drawingml/2006/main">
            <a:r>
              <a:t>EXPECTED EVIDENCE</a:t>
            </a:r>
          </a:p>
          <a:p xmlns:a="http://schemas.openxmlformats.org/drawingml/2006/main">
            <a:r>
              <a:t>Different versions create different behavior and make group debugging harder.</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https://docs.astral.sh/uv/getting-started/installation/</a:t>
            </a:r>
          </a:p>
          <a:p xmlns:a="http://schemas.openxmlformats.org/drawingml/2006/main">
            <a:r>
              <a:t>https://docs.astral.sh/uv/concepts/projects/sync/</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Run these commands from the folder containing pyproject.toml. The first may download Python and packages. The second runs the app’s existing automated checks.</a:t>
            </a:r>
          </a:p>
          <a:p xmlns:a="http://schemas.openxmlformats.org/drawingml/2006/main">
            <a:r>
              <a:t/>
            </a:r>
          </a:p>
          <a:p xmlns:a="http://schemas.openxmlformats.org/drawingml/2006/main">
            <a:r>
              <a:t>DEMONSTRATE / DO TOGETHER</a:t>
            </a:r>
          </a:p>
          <a:p xmlns:a="http://schemas.openxmlformats.org/drawingml/2006/main">
            <a:r>
              <a:t>Wait for sync to finish. Then run pytest. The prepared app currently reports 19 tests; if we later add a test, the count may grow. Success means tests pass, not that the count must stay fixed forever.</a:t>
            </a:r>
          </a:p>
          <a:p xmlns:a="http://schemas.openxmlformats.org/drawingml/2006/main">
            <a:r>
              <a:t/>
            </a:r>
          </a:p>
          <a:p xmlns:a="http://schemas.openxmlformats.org/drawingml/2006/main">
            <a:r>
              <a:t>ASK THE ROOM</a:t>
            </a:r>
          </a:p>
          <a:p xmlns:a="http://schemas.openxmlformats.org/drawingml/2006/main">
            <a:r>
              <a:t>What does a green test suite prove, and what does it not prove?</a:t>
            </a:r>
          </a:p>
          <a:p xmlns:a="http://schemas.openxmlformats.org/drawingml/2006/main">
            <a:r>
              <a:t/>
            </a:r>
          </a:p>
          <a:p xmlns:a="http://schemas.openxmlformats.org/drawingml/2006/main">
            <a:r>
              <a:t>EXPECTED EVIDENCE</a:t>
            </a:r>
          </a:p>
          <a:p xmlns:a="http://schemas.openxmlformats.org/drawingml/2006/main">
            <a:r>
              <a:t>It checks the defined rehearsal behavior. It does not prove live Gemini access, microphone support or production readiness.</a:t>
            </a:r>
          </a:p>
          <a:p xmlns:a="http://schemas.openxmlformats.org/drawingml/2006/main">
            <a:r>
              <a:t/>
            </a:r>
          </a:p>
          <a:p xmlns:a="http://schemas.openxmlformats.org/drawingml/2006/main">
            <a:r>
              <a:t>IF SOMEONE IS STUCK</a:t>
            </a:r>
          </a:p>
          <a:p xmlns:a="http://schemas.openxmlformats.org/drawingml/2006/main">
            <a:r>
              <a:t>A “no pyproject.toml found” error means the terminal is in the wrong folder. Stop and use cd; do not reinstall Python.</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app defaults to rehearsal, but an old environment setting could select a different provider. We explicitly choose rehearsal in the terminal that will start the server.</a:t>
            </a:r>
          </a:p>
          <a:p xmlns:a="http://schemas.openxmlformats.org/drawingml/2006/main">
            <a:r>
              <a:t/>
            </a:r>
          </a:p>
          <a:p xmlns:a="http://schemas.openxmlformats.org/drawingml/2006/main">
            <a:r>
              <a:t>DEMONSTRATE / DO TOGETHER</a:t>
            </a:r>
          </a:p>
          <a:p xmlns:a="http://schemas.openxmlformats.org/drawingml/2006/main">
            <a:r>
              <a:t>Use the command for the operating system, then run doctor. Explain that live_verified remains false because a configuration check is not a live provider call.</a:t>
            </a:r>
          </a:p>
          <a:p xmlns:a="http://schemas.openxmlformats.org/drawingml/2006/main">
            <a:r>
              <a:t/>
            </a:r>
          </a:p>
          <a:p xmlns:a="http://schemas.openxmlformats.org/drawingml/2006/main">
            <a:r>
              <a:t>ASK THE ROOM</a:t>
            </a:r>
          </a:p>
          <a:p xmlns:a="http://schemas.openxmlformats.org/drawingml/2006/main">
            <a:r>
              <a:t>Should we enter a Gemini key to complete today’s rehearsal?</a:t>
            </a:r>
          </a:p>
          <a:p xmlns:a="http://schemas.openxmlformats.org/drawingml/2006/main">
            <a:r>
              <a:t/>
            </a:r>
          </a:p>
          <a:p xmlns:a="http://schemas.openxmlformats.org/drawingml/2006/main">
            <a:r>
              <a:t>EXPECTED EVIDENCE</a:t>
            </a:r>
          </a:p>
          <a:p xmlns:a="http://schemas.openxmlformats.org/drawingml/2006/main">
            <a:r>
              <a:t>No. We do not need one.</a:t>
            </a:r>
          </a:p>
          <a:p xmlns:a="http://schemas.openxmlformats.org/drawingml/2006/main">
            <a:r>
              <a:t/>
            </a:r>
          </a:p>
          <a:p xmlns:a="http://schemas.openxmlformats.org/drawingml/2006/main">
            <a:r>
              <a:t>IF SOMEONE IS STUCK</a:t>
            </a:r>
          </a:p>
          <a:p xmlns:a="http://schemas.openxmlformats.org/drawingml/2006/main">
            <a:r>
              <a:t>If doctor reports Gemini, verify the environment variable in the same terminal. Editing .env does not override a provider variable already set in the shell.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terminal is now running the local web server. The URL belongs in the browser address bar, not in the terminal. Keep the server running while you use the app.</a:t>
            </a:r>
          </a:p>
          <a:p xmlns:a="http://schemas.openxmlformats.org/drawingml/2006/main">
            <a:r>
              <a:t/>
            </a:r>
          </a:p>
          <a:p xmlns:a="http://schemas.openxmlformats.org/drawingml/2006/main">
            <a:r>
              <a:t>DEMONSTRATE / DO TOGETHER</a:t>
            </a:r>
          </a:p>
          <a:p xmlns:a="http://schemas.openxmlformats.org/drawingml/2006/main">
            <a:r>
              <a:t>Start the server, wait for the Uvicorn startup line, then open the URL. Explain localhost as “this computer” and port 8787 as its application door number.</a:t>
            </a:r>
          </a:p>
          <a:p xmlns:a="http://schemas.openxmlformats.org/drawingml/2006/main">
            <a:r>
              <a:t/>
            </a:r>
          </a:p>
          <a:p xmlns:a="http://schemas.openxmlformats.org/drawingml/2006/main">
            <a:r>
              <a:t>ASK THE ROOM</a:t>
            </a:r>
          </a:p>
          <a:p xmlns:a="http://schemas.openxmlformats.org/drawingml/2006/main">
            <a:r>
              <a:t>Can another laptop use your 127.0.0.1 address to reach this app?</a:t>
            </a:r>
          </a:p>
          <a:p xmlns:a="http://schemas.openxmlformats.org/drawingml/2006/main">
            <a:r>
              <a:t/>
            </a:r>
          </a:p>
          <a:p xmlns:a="http://schemas.openxmlformats.org/drawingml/2006/main">
            <a:r>
              <a:t>EXPECTED EVIDENCE</a:t>
            </a:r>
          </a:p>
          <a:p xmlns:a="http://schemas.openxmlformats.org/drawingml/2006/main">
            <a:r>
              <a:t>No. On their laptop it refers to their own computer.</a:t>
            </a:r>
          </a:p>
          <a:p xmlns:a="http://schemas.openxmlformats.org/drawingml/2006/main">
            <a:r>
              <a:t/>
            </a:r>
          </a:p>
          <a:p xmlns:a="http://schemas.openxmlformats.org/drawingml/2006/main">
            <a:r>
              <a:t>IF SOMEONE IS STUCK</a:t>
            </a:r>
          </a:p>
          <a:p xmlns:a="http://schemas.openxmlformats.org/drawingml/2006/main">
            <a:r>
              <a:t>If the port is busy, start with --port 8788 and open that port in the browser. Do not assume a browser reload can restart a stopped server.</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Before we build further, we need the whole room at the same starting line. “It installed” is not enough; the app must open.</a:t>
            </a:r>
          </a:p>
          <a:p xmlns:a="http://schemas.openxmlformats.org/drawingml/2006/main">
            <a:r>
              <a:t/>
            </a:r>
          </a:p>
          <a:p xmlns:a="http://schemas.openxmlformats.org/drawingml/2006/main">
            <a:r>
              <a:t>DEMONSTRATE / DO TOGETHER</a:t>
            </a:r>
          </a:p>
          <a:p xmlns:a="http://schemas.openxmlformats.org/drawingml/2006/main">
            <a:r>
              <a:t>Ask pairs to show their page or signal green. Resolve amber pairs now. Set a simple local team ID such as liba-team-01; choose a different ID if useful on a shared machine.</a:t>
            </a:r>
          </a:p>
          <a:p xmlns:a="http://schemas.openxmlformats.org/drawingml/2006/main">
            <a:r>
              <a:t/>
            </a:r>
          </a:p>
          <a:p xmlns:a="http://schemas.openxmlformats.org/drawingml/2006/main">
            <a:r>
              <a:t>ASK THE ROOM</a:t>
            </a:r>
          </a:p>
          <a:p xmlns:a="http://schemas.openxmlformats.org/drawingml/2006/main">
            <a:r>
              <a:t>Does using the same team ID connect different laptops?</a:t>
            </a:r>
          </a:p>
          <a:p xmlns:a="http://schemas.openxmlformats.org/drawingml/2006/main">
            <a:r>
              <a:t/>
            </a:r>
          </a:p>
          <a:p xmlns:a="http://schemas.openxmlformats.org/drawingml/2006/main">
            <a:r>
              <a:t>EXPECTED EVIDENCE</a:t>
            </a:r>
          </a:p>
          <a:p xmlns:a="http://schemas.openxmlformats.org/drawingml/2006/main">
            <a:r>
              <a:t>No. This is local workspace separation, not shared networking.</a:t>
            </a:r>
          </a:p>
          <a:p xmlns:a="http://schemas.openxmlformats.org/drawingml/2006/main">
            <a:r>
              <a:t/>
            </a:r>
          </a:p>
          <a:p xmlns:a="http://schemas.openxmlformats.org/drawingml/2006/main">
            <a:r>
              <a:t>IF SOMEONE IS STUCK</a:t>
            </a:r>
          </a:p>
          <a:p xmlns:a="http://schemas.openxmlformats.org/drawingml/2006/main">
            <a:r>
              <a:t>Use the setup-rescue appendix. If a pair cannot install today, let them drive the facilitator’s demo or work with a ready partner.</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baseline gives us something fair to compare against. If we change three settings first, we cannot tell what caused a difference.</a:t>
            </a:r>
          </a:p>
          <a:p xmlns:a="http://schemas.openxmlformats.org/drawingml/2006/main">
            <a:r>
              <a:t/>
            </a:r>
          </a:p>
          <a:p xmlns:a="http://schemas.openxmlformats.org/drawingml/2006/main">
            <a:r>
              <a:t>DEMONSTRATE / DO TOGETHER</a:t>
            </a:r>
          </a:p>
          <a:p xmlns:a="http://schemas.openxmlformats.org/drawingml/2006/main">
            <a:r>
              <a:t>Click Baseline launch and Run launch swarm. Rehearsal is fast; use the saved reports and event list to inspect afterward. Show 6/6 complete and the final recommendation.</a:t>
            </a:r>
          </a:p>
          <a:p xmlns:a="http://schemas.openxmlformats.org/drawingml/2006/main">
            <a:r>
              <a:t/>
            </a:r>
          </a:p>
          <a:p xmlns:a="http://schemas.openxmlformats.org/drawingml/2006/main">
            <a:r>
              <a:t>ASK THE ROOM</a:t>
            </a:r>
          </a:p>
          <a:p xmlns:a="http://schemas.openxmlformats.org/drawingml/2006/main">
            <a:r>
              <a:t>Why does the baseline say conditional rather than approved?</a:t>
            </a:r>
          </a:p>
          <a:p xmlns:a="http://schemas.openxmlformats.org/drawingml/2006/main">
            <a:r>
              <a:t/>
            </a:r>
          </a:p>
          <a:p xmlns:a="http://schemas.openxmlformats.org/drawingml/2006/main">
            <a:r>
              <a:t>EXPECTED EVIDENCE</a:t>
            </a:r>
          </a:p>
          <a:p xmlns:a="http://schemas.openxmlformats.org/drawingml/2006/main">
            <a:r>
              <a:t>It is decision support. Supply, people, customer claims and human authorization still need review.</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trace tells us which functions executed. It does not show private thoughts or prove every statement is true. Started and completed events are separate; do not confuse event count with tool-completion count.</a:t>
            </a:r>
          </a:p>
          <a:p xmlns:a="http://schemas.openxmlformats.org/drawingml/2006/main">
            <a:r>
              <a:t/>
            </a:r>
          </a:p>
          <a:p xmlns:a="http://schemas.openxmlformats.org/drawingml/2006/main">
            <a:r>
              <a:t>DEMONSTRATE / DO TOGETHER</a:t>
            </a:r>
          </a:p>
          <a:p xmlns:a="http://schemas.openxmlformats.org/drawingml/2006/main">
            <a:r>
              <a:t>Open the telemetry and point to read_brief, the domain tool and search_memory for one specialist. The full run has 18 tool completions but additional start/end events.</a:t>
            </a:r>
          </a:p>
          <a:p xmlns:a="http://schemas.openxmlformats.org/drawingml/2006/main">
            <a:r>
              <a:t/>
            </a:r>
          </a:p>
          <a:p xmlns:a="http://schemas.openxmlformats.org/drawingml/2006/main">
            <a:r>
              <a:t>ASK THE ROOM</a:t>
            </a:r>
          </a:p>
          <a:p xmlns:a="http://schemas.openxmlformats.org/drawingml/2006/main">
            <a:r>
              <a:t>Where do we look for the actual arithmetic?</a:t>
            </a:r>
          </a:p>
          <a:p xmlns:a="http://schemas.openxmlformats.org/drawingml/2006/main">
            <a:r>
              <a:t/>
            </a:r>
          </a:p>
          <a:p xmlns:a="http://schemas.openxmlformats.org/drawingml/2006/main">
            <a:r>
              <a:t>EXPECTED EVIDENCE</a:t>
            </a:r>
          </a:p>
          <a:p xmlns:a="http://schemas.openxmlformats.org/drawingml/2006/main">
            <a:r>
              <a:t>The agent’s report under source evidence and calculated metrics.</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confident paragraph is hard to audit. A report with evidence and explicit assumptions is easier to question. The narrative is displayed separately from calculated facts.</a:t>
            </a:r>
          </a:p>
          <a:p xmlns:a="http://schemas.openxmlformats.org/drawingml/2006/main">
            <a:r>
              <a:t/>
            </a:r>
          </a:p>
          <a:p xmlns:a="http://schemas.openxmlformats.org/drawingml/2006/main">
            <a:r>
              <a:t>DEMONSTRATE / DO TOGETHER</a:t>
            </a:r>
          </a:p>
          <a:p xmlns:a="http://schemas.openxmlformats.org/drawingml/2006/main">
            <a:r>
              <a:t>Open LEDGER’s report. Show cash required, funding gap, source arithmetic, assumptions and the named Finance action.</a:t>
            </a:r>
          </a:p>
          <a:p xmlns:a="http://schemas.openxmlformats.org/drawingml/2006/main">
            <a:r>
              <a:t/>
            </a:r>
          </a:p>
          <a:p xmlns:a="http://schemas.openxmlformats.org/drawingml/2006/main">
            <a:r>
              <a:t>ASK THE ROOM</a:t>
            </a:r>
          </a:p>
          <a:p xmlns:a="http://schemas.openxmlformats.org/drawingml/2006/main">
            <a:r>
              <a:t>Which assumption would matter in a real launch?</a:t>
            </a:r>
          </a:p>
          <a:p xmlns:a="http://schemas.openxmlformats.org/drawingml/2006/main">
            <a:r>
              <a:t/>
            </a:r>
          </a:p>
          <a:p xmlns:a="http://schemas.openxmlformats.org/drawingml/2006/main">
            <a:r>
              <a:t>EXPECTED EVIDENCE</a:t>
            </a:r>
          </a:p>
          <a:p xmlns:a="http://schemas.openxmlformats.org/drawingml/2006/main">
            <a:r>
              <a:t>Examples include delayed customer payments, returns, taxes or supplier downtime. Those are not modelled in the default exercise.</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full application is already assembled from working templates. Now we will create a smaller agent so you can recognize its parts without reading the whole application.</a:t>
            </a:r>
          </a:p>
          <a:p xmlns:a="http://schemas.openxmlformats.org/drawingml/2006/main">
            <a:r>
              <a:t/>
            </a:r>
          </a:p>
          <a:p xmlns:a="http://schemas.openxmlformats.org/drawingml/2006/main">
            <a:r>
              <a:t>DEMONSTRATE / DO TOGETHER</a:t>
            </a:r>
          </a:p>
          <a:p xmlns:a="http://schemas.openxmlformats.org/drawingml/2006/main">
            <a:r>
              <a:t>Keep the app open. In the editor, open workshop/first_agent_starter.py. Use a second terminal in the project root for the lab.</a:t>
            </a:r>
          </a:p>
          <a:p xmlns:a="http://schemas.openxmlformats.org/drawingml/2006/main">
            <a:r>
              <a:t/>
            </a:r>
          </a:p>
          <a:p xmlns:a="http://schemas.openxmlformats.org/drawingml/2006/main">
            <a:r>
              <a:t>ASK THE ROOM</a:t>
            </a:r>
          </a:p>
          <a:p xmlns:a="http://schemas.openxmlformats.org/drawingml/2006/main">
            <a:r>
              <a:t>What are the three pieces we expect to see?</a:t>
            </a:r>
          </a:p>
          <a:p xmlns:a="http://schemas.openxmlformats.org/drawingml/2006/main">
            <a:r>
              <a:t/>
            </a:r>
          </a:p>
          <a:p xmlns:a="http://schemas.openxmlformats.org/drawingml/2006/main">
            <a:r>
              <a:t>EXPECTED EVIDENCE</a:t>
            </a:r>
          </a:p>
          <a:p xmlns:a="http://schemas.openxmlformats.org/drawingml/2006/main">
            <a:r>
              <a:t>A model, a tool, and create_agent connecting them.</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starter has two incomplete calculation lines. The rest of the framework code is provided. You do not need to type every import or understand the model adapter internals today.</a:t>
            </a:r>
          </a:p>
          <a:p xmlns:a="http://schemas.openxmlformats.org/drawingml/2006/main">
            <a:r>
              <a:t/>
            </a:r>
          </a:p>
          <a:p xmlns:a="http://schemas.openxmlformats.org/drawingml/2006/main">
            <a:r>
              <a:t>DEMONSTRATE / DO TOGETHER</a:t>
            </a:r>
          </a:p>
          <a:p xmlns:a="http://schemas.openxmlformats.org/drawingml/2006/main">
            <a:r>
              <a:t>Open the file in an editor. Locate cash_needed = None and funding_gap = None. Explain None as a deliberately empty value. Do not run this incomplete starter as a successful agent.</a:t>
            </a:r>
          </a:p>
          <a:p xmlns:a="http://schemas.openxmlformats.org/drawingml/2006/main">
            <a:r>
              <a:t/>
            </a:r>
          </a:p>
          <a:p xmlns:a="http://schemas.openxmlformats.org/drawingml/2006/main">
            <a:r>
              <a:t>ASK THE ROOM</a:t>
            </a:r>
          </a:p>
          <a:p xmlns:a="http://schemas.openxmlformats.org/drawingml/2006/main">
            <a:r>
              <a:t>Which inputs should produce the same ₹24 lakh baseline we checked earlier?</a:t>
            </a:r>
          </a:p>
          <a:p xmlns:a="http://schemas.openxmlformats.org/drawingml/2006/main">
            <a:r>
              <a:t/>
            </a:r>
          </a:p>
          <a:p xmlns:a="http://schemas.openxmlformats.org/drawingml/2006/main">
            <a:r>
              <a:t>EXPECTED EVIDENCE</a:t>
            </a:r>
          </a:p>
          <a:p xmlns:a="http://schemas.openxmlformats.org/drawingml/2006/main">
            <a:r>
              <a:t>30,000 units at ₹65 plus ₹4.5 lakh other costs.</a:t>
            </a:r>
          </a:p>
          <a:p xmlns:a="http://schemas.openxmlformats.org/drawingml/2006/main">
            <a:r>
              <a:t/>
            </a:r>
          </a:p>
          <a:p xmlns:a="http://schemas.openxmlformats.org/drawingml/2006/main">
            <a:r>
              <a:t>IF SOMEONE IS STUCK</a:t>
            </a:r>
          </a:p>
          <a:p xmlns:a="http://schemas.openxmlformats.org/drawingml/2006/main">
            <a:r>
              <a:t>The completed reference is workshop/first_agent.py. Let learners compare it after making their own attempt.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first line calculates all the upfront cash. The second reports a gap only if the requirement exceeds the budget. These are ordinary Python calculations.</a:t>
            </a:r>
          </a:p>
          <a:p xmlns:a="http://schemas.openxmlformats.org/drawingml/2006/main">
            <a:r>
              <a:t/>
            </a:r>
          </a:p>
          <a:p xmlns:a="http://schemas.openxmlformats.org/drawingml/2006/main">
            <a:r>
              <a:t>DEMONSTRATE / DO TOGETHER</a:t>
            </a:r>
          </a:p>
          <a:p xmlns:a="http://schemas.openxmlformats.org/drawingml/2006/main">
            <a:r>
              <a:t>Replace only the two None values in the starter and save. Keep the indentation already present. Explain multiplication and subtraction using the earlier handwritten calculation.</a:t>
            </a:r>
          </a:p>
          <a:p xmlns:a="http://schemas.openxmlformats.org/drawingml/2006/main">
            <a:r>
              <a:t/>
            </a:r>
          </a:p>
          <a:p xmlns:a="http://schemas.openxmlformats.org/drawingml/2006/main">
            <a:r>
              <a:t>ASK THE ROOM</a:t>
            </a:r>
          </a:p>
          <a:p xmlns:a="http://schemas.openxmlformats.org/drawingml/2006/main">
            <a:r>
              <a:t>If cash needed is ₹24 lakh and budget is ₹18 lakh, what is funding_gap?</a:t>
            </a:r>
          </a:p>
          <a:p xmlns:a="http://schemas.openxmlformats.org/drawingml/2006/main">
            <a:r>
              <a:t/>
            </a:r>
          </a:p>
          <a:p xmlns:a="http://schemas.openxmlformats.org/drawingml/2006/main">
            <a:r>
              <a:t>EXPECTED EVIDENCE</a:t>
            </a:r>
          </a:p>
          <a:p xmlns:a="http://schemas.openxmlformats.org/drawingml/2006/main">
            <a:r>
              <a:t>₹6 lakh, stored as 600000.</a:t>
            </a:r>
          </a:p>
          <a:p xmlns:a="http://schemas.openxmlformats.org/drawingml/2006/main">
            <a:r>
              <a:t/>
            </a:r>
          </a:p>
          <a:p xmlns:a="http://schemas.openxmlformats.org/drawingml/2006/main">
            <a:r>
              <a:t>IF SOMEONE IS STUCK</a:t>
            </a:r>
          </a:p>
          <a:p xmlns:a="http://schemas.openxmlformats.org/drawingml/2006/main">
            <a:r>
              <a:t>Check spelling, uppercase variable names and indentation. Do not paste smart quotation marks from a messaging app.</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decorator is like attaching a label and instruction card to a machine. LangChain can discover the tool’s name and description. The docstring explains what the tool does.</a:t>
            </a:r>
          </a:p>
          <a:p xmlns:a="http://schemas.openxmlformats.org/drawingml/2006/main">
            <a:r>
              <a:t/>
            </a:r>
          </a:p>
          <a:p xmlns:a="http://schemas.openxmlformats.org/drawingml/2006/main">
            <a:r>
              <a:t>DEMONSTRATE / DO TOGETHER</a:t>
            </a:r>
          </a:p>
          <a:p xmlns:a="http://schemas.openxmlformats.org/drawingml/2006/main">
            <a:r>
              <a:t>Point to @tool, the function name, the description and the arithmetic. Explain dict as a small labelled result, like a form with named fields.</a:t>
            </a:r>
          </a:p>
          <a:p xmlns:a="http://schemas.openxmlformats.org/drawingml/2006/main">
            <a:r>
              <a:t/>
            </a:r>
          </a:p>
          <a:p xmlns:a="http://schemas.openxmlformats.org/drawingml/2006/main">
            <a:r>
              <a:t>ASK THE ROOM</a:t>
            </a:r>
          </a:p>
          <a:p xmlns:a="http://schemas.openxmlformats.org/drawingml/2006/main">
            <a:r>
              <a:t>Does @tool automatically verify our formula?</a:t>
            </a:r>
          </a:p>
          <a:p xmlns:a="http://schemas.openxmlformats.org/drawingml/2006/main">
            <a:r>
              <a:t/>
            </a:r>
          </a:p>
          <a:p xmlns:a="http://schemas.openxmlformats.org/drawingml/2006/main">
            <a:r>
              <a:t>EXPECTED EVIDENCE</a:t>
            </a:r>
          </a:p>
          <a:p xmlns:a="http://schemas.openxmlformats.org/drawingml/2006/main">
            <a:r>
              <a:t>No. It exposes the function as a tool. We still write and test the function correctly.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Local teaching source: workshop/first_agent_starter.py and workshop/first_agent.py.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Read the code as a sentence: create an agent using this rehearsal model, allowing this cash tool, and giving it a role instruction. Square brackets mean a list of allowed tools.</a:t>
            </a:r>
          </a:p>
          <a:p xmlns:a="http://schemas.openxmlformats.org/drawingml/2006/main">
            <a:r>
              <a:t/>
            </a:r>
          </a:p>
          <a:p xmlns:a="http://schemas.openxmlformats.org/drawingml/2006/main">
            <a:r>
              <a:t>DEMONSTRATE / DO TOGETHER</a:t>
            </a:r>
          </a:p>
          <a:p xmlns:a="http://schemas.openxmlformats.org/drawingml/2006/main">
            <a:r>
              <a:t>Point out that WorkshopModel is a supplied helper in workshop/rehearsal_model.py. Its fixed action is to call estimate_launch_cash. This simple lab is separate from the app’s richer RehearsalModel.</a:t>
            </a:r>
          </a:p>
          <a:p xmlns:a="http://schemas.openxmlformats.org/drawingml/2006/main">
            <a:r>
              <a:t/>
            </a:r>
          </a:p>
          <a:p xmlns:a="http://schemas.openxmlformats.org/drawingml/2006/main">
            <a:r>
              <a:t>ASK THE ROOM</a:t>
            </a:r>
          </a:p>
          <a:p xmlns:a="http://schemas.openxmlformats.org/drawingml/2006/main">
            <a:r>
              <a:t>What happens if we remove the tool from the allowed tool list?</a:t>
            </a:r>
          </a:p>
          <a:p xmlns:a="http://schemas.openxmlformats.org/drawingml/2006/main">
            <a:r>
              <a:t/>
            </a:r>
          </a:p>
          <a:p xmlns:a="http://schemas.openxmlformats.org/drawingml/2006/main">
            <a:r>
              <a:t>EXPECTED EVIDENCE</a:t>
            </a:r>
          </a:p>
          <a:p xmlns:a="http://schemas.openxmlformats.org/drawingml/2006/main">
            <a:r>
              <a:t>The model cannot successfully execute that named capability through this agent.</a:t>
            </a:r>
          </a:p>
          <a:p xmlns:a="http://schemas.openxmlformats.org/drawingml/2006/main">
            <a:r>
              <a:t/>
            </a:r>
          </a:p>
          <a:p xmlns:a="http://schemas.openxmlformats.org/drawingml/2006/main">
            <a:r>
              <a:t>IF SOMEONE IS STUCK</a:t>
            </a:r>
          </a:p>
          <a:p xmlns:a="http://schemas.openxmlformats.org/drawingml/2006/main">
            <a:r>
              <a:t>Do not spend the session reading the model class. Keep attention on the model/tool/prompt interface.</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teaching source: workshop/first_agent.py; workshop/rehearsal_model.py.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Invoke simply means “run this agent with these inputs.” We send one user message and print the final response after the tool call finishes.</a:t>
            </a:r>
          </a:p>
          <a:p xmlns:a="http://schemas.openxmlformats.org/drawingml/2006/main">
            <a:r>
              <a:t/>
            </a:r>
          </a:p>
          <a:p xmlns:a="http://schemas.openxmlformats.org/drawingml/2006/main">
            <a:r>
              <a:t>DEMONSTRATE / DO TOGETHER</a:t>
            </a:r>
          </a:p>
          <a:p xmlns:a="http://schemas.openxmlformats.org/drawingml/2006/main">
            <a:r>
              <a:t>Read the braces as a labelled input object. Point out role and content. Avoid introducing every Python collection concept at once.</a:t>
            </a:r>
          </a:p>
          <a:p xmlns:a="http://schemas.openxmlformats.org/drawingml/2006/main">
            <a:r>
              <a:t/>
            </a:r>
          </a:p>
          <a:p xmlns:a="http://schemas.openxmlformats.org/drawingml/2006/main">
            <a:r>
              <a:t>ASK THE ROOM</a:t>
            </a:r>
          </a:p>
          <a:p xmlns:a="http://schemas.openxmlformats.org/drawingml/2006/main">
            <a:r>
              <a:t>Which result do we print: the first instruction or the final answer?</a:t>
            </a:r>
          </a:p>
          <a:p xmlns:a="http://schemas.openxmlformats.org/drawingml/2006/main">
            <a:r>
              <a:t/>
            </a:r>
          </a:p>
          <a:p xmlns:a="http://schemas.openxmlformats.org/drawingml/2006/main">
            <a:r>
              <a:t>EXPECTED EVIDENCE</a:t>
            </a:r>
          </a:p>
          <a:p xmlns:a="http://schemas.openxmlformats.org/drawingml/2006/main">
            <a:r>
              <a:t>The final message, selected with -1.</a:t>
            </a:r>
          </a:p>
          <a:p xmlns:a="http://schemas.openxmlformats.org/drawingml/2006/main">
            <a:r>
              <a:t/>
            </a:r>
          </a:p>
          <a:p xmlns:a="http://schemas.openxmlformats.org/drawingml/2006/main">
            <a:r>
              <a:t>IF SOMEONE IS STUCK</a:t>
            </a:r>
          </a:p>
          <a:p xmlns:a="http://schemas.openxmlformats.org/drawingml/2006/main">
            <a:r>
              <a:t>The starter already contains this code. Ask learners to inspect it; do not require manual retyping.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Local teaching source: workshop/first_agent.py.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working result should agree with our manual calculation. This proves that your tool ran through LangChain’s agent loop. It does not prove open-ended reasoning.</a:t>
            </a:r>
          </a:p>
          <a:p xmlns:a="http://schemas.openxmlformats.org/drawingml/2006/main">
            <a:r>
              <a:t/>
            </a:r>
          </a:p>
          <a:p xmlns:a="http://schemas.openxmlformats.org/drawingml/2006/main">
            <a:r>
              <a:t>DEMONSTRATE / DO TOGETHER</a:t>
            </a:r>
          </a:p>
          <a:p xmlns:a="http://schemas.openxmlformats.org/drawingml/2006/main">
            <a:r>
              <a:t>Run the completed starter in the second terminal. Ask each pair to show the three output fields. The reference file can be run with uv run python workshop/first_agent.py if needed.</a:t>
            </a:r>
          </a:p>
          <a:p xmlns:a="http://schemas.openxmlformats.org/drawingml/2006/main">
            <a:r>
              <a:t/>
            </a:r>
          </a:p>
          <a:p xmlns:a="http://schemas.openxmlformats.org/drawingml/2006/main">
            <a:r>
              <a:t>ASK THE ROOM</a:t>
            </a:r>
          </a:p>
          <a:p xmlns:a="http://schemas.openxmlformats.org/drawingml/2006/main">
            <a:r>
              <a:t>Why is the recommendation still a human review even with zero funding gap?</a:t>
            </a:r>
          </a:p>
          <a:p xmlns:a="http://schemas.openxmlformats.org/drawingml/2006/main">
            <a:r>
              <a:t/>
            </a:r>
          </a:p>
          <a:p xmlns:a="http://schemas.openxmlformats.org/drawingml/2006/main">
            <a:r>
              <a:t>EXPECTED EVIDENCE</a:t>
            </a:r>
          </a:p>
          <a:p xmlns:a="http://schemas.openxmlformats.org/drawingml/2006/main">
            <a:r>
              <a:t>The tool only checked cash; it cannot authorize a business decision.</a:t>
            </a:r>
          </a:p>
          <a:p xmlns:a="http://schemas.openxmlformats.org/drawingml/2006/main">
            <a:r>
              <a:t/>
            </a:r>
          </a:p>
          <a:p xmlns:a="http://schemas.openxmlformats.org/drawingml/2006/main">
            <a:r>
              <a:t>IF SOMEONE IS STUCK</a:t>
            </a:r>
          </a:p>
          <a:p xmlns:a="http://schemas.openxmlformats.org/drawingml/2006/main">
            <a:r>
              <a:t>If the response mentions an unfinished build step, one None remains. If import fails, verify that uv sync completed and the command runs from the project root.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is the scientific habit we want: make a prediction, change one input, run the system, and compare actual evidence.</a:t>
            </a:r>
          </a:p>
          <a:p xmlns:a="http://schemas.openxmlformats.org/drawingml/2006/main">
            <a:r>
              <a:t/>
            </a:r>
          </a:p>
          <a:p xmlns:a="http://schemas.openxmlformats.org/drawingml/2006/main">
            <a:r>
              <a:t>DEMONSTRATE / DO TOGETHER</a:t>
            </a:r>
          </a:p>
          <a:p xmlns:a="http://schemas.openxmlformats.org/drawingml/2006/main">
            <a:r>
              <a:t>Have learners change BUDGET from 2_400_000 to 1_800_000 in their starter. Ask them to say the expected gap before executing. Then restore the starter budget or keep a named copy of the experiment.</a:t>
            </a:r>
          </a:p>
          <a:p xmlns:a="http://schemas.openxmlformats.org/drawingml/2006/main">
            <a:r>
              <a:t/>
            </a:r>
          </a:p>
          <a:p xmlns:a="http://schemas.openxmlformats.org/drawingml/2006/main">
            <a:r>
              <a:t>ASK THE ROOM</a:t>
            </a:r>
          </a:p>
          <a:p xmlns:a="http://schemas.openxmlformats.org/drawingml/2006/main">
            <a:r>
              <a:t>Did the model invent the ₹6 lakh gap?</a:t>
            </a:r>
          </a:p>
          <a:p xmlns:a="http://schemas.openxmlformats.org/drawingml/2006/main">
            <a:r>
              <a:t/>
            </a:r>
          </a:p>
          <a:p xmlns:a="http://schemas.openxmlformats.org/drawingml/2006/main">
            <a:r>
              <a:t>EXPECTED EVIDENCE</a:t>
            </a:r>
          </a:p>
          <a:p xmlns:a="http://schemas.openxmlformats.org/drawingml/2006/main">
            <a:r>
              <a:t>No. Python calculated it. The rehearsal model returned the tool’s result.</a:t>
            </a:r>
          </a:p>
          <a:p xmlns:a="http://schemas.openxmlformats.org/drawingml/2006/main">
            <a:r>
              <a:t/>
            </a:r>
          </a:p>
          <a:p xmlns:a="http://schemas.openxmlformats.org/drawingml/2006/main">
            <a:r>
              <a:t>IF SOMEONE IS STUCK</a:t>
            </a:r>
          </a:p>
          <a:p xmlns:a="http://schemas.openxmlformats.org/drawingml/2006/main">
            <a:r>
              <a:t>Remember that editing this small lab does not change the web app’s scenario. The next activity modifies the application separately.</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used a miniature to understand the pieces. The full app extends the same pattern with schemas, memory, graph orchestration, persistence and a browser interface.</a:t>
            </a:r>
          </a:p>
          <a:p xmlns:a="http://schemas.openxmlformats.org/drawingml/2006/main">
            <a:r>
              <a:t/>
            </a:r>
          </a:p>
          <a:p xmlns:a="http://schemas.openxmlformats.org/drawingml/2006/main">
            <a:r>
              <a:t>DEMONSTRATE / DO TOGETHER</a:t>
            </a:r>
          </a:p>
          <a:p xmlns:a="http://schemas.openxmlformats.org/drawingml/2006/main">
            <a:r>
              <a:t>Point to the two folders. Make sure nobody expects their starter’s BUDGET edit to change the command center automatically.</a:t>
            </a:r>
          </a:p>
          <a:p xmlns:a="http://schemas.openxmlformats.org/drawingml/2006/main">
            <a:r>
              <a:t/>
            </a:r>
          </a:p>
          <a:p xmlns:a="http://schemas.openxmlformats.org/drawingml/2006/main">
            <a:r>
              <a:t>ASK THE ROOM</a:t>
            </a:r>
          </a:p>
          <a:p xmlns:a="http://schemas.openxmlformats.org/drawingml/2006/main">
            <a:r>
              <a:t>Where do we change the full app’s budget?</a:t>
            </a:r>
          </a:p>
          <a:p xmlns:a="http://schemas.openxmlformats.org/drawingml/2006/main">
            <a:r>
              <a:t/>
            </a:r>
          </a:p>
          <a:p xmlns:a="http://schemas.openxmlformats.org/drawingml/2006/main">
            <a:r>
              <a:t>EXPECTED EVIDENCE</a:t>
            </a:r>
          </a:p>
          <a:p xmlns:a="http://schemas.openxmlformats.org/drawingml/2006/main">
            <a:r>
              <a:t>In Edit brief, or by selecting the budget-cut challenge.</a:t>
            </a:r>
          </a:p>
          <a:p xmlns:a="http://schemas.openxmlformats.org/drawingml/2006/main">
            <a:r>
              <a:t/>
            </a:r>
          </a:p>
          <a:p xmlns:a="http://schemas.openxmlformats.org/drawingml/2006/main">
            <a:r>
              <a:t>IF SOMEONE IS STUCK</a:t>
            </a:r>
          </a:p>
          <a:p xmlns:a="http://schemas.openxmlformats.org/drawingml/2006/main">
            <a:r>
              <a:t>If the app seems unchanged after a starter edit, that is expected. These are separate runnable examples.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blueprint is the agent’s contract: goal, inputs, tools, dependencies and constraints. The app lets each local team save extra instructions. In rehearsal those instructions do not alter the scripted wording or arithmetic.</a:t>
            </a:r>
          </a:p>
          <a:p xmlns:a="http://schemas.openxmlformats.org/drawingml/2006/main">
            <a:r>
              <a:t/>
            </a:r>
          </a:p>
          <a:p xmlns:a="http://schemas.openxmlformats.org/drawingml/2006/main">
            <a:r>
              <a:t>DEMONSTRATE / DO TOGETHER</a:t>
            </a:r>
          </a:p>
          <a:p xmlns:a="http://schemas.openxmlformats.org/drawingml/2006/main">
            <a:r>
              <a:t>Open PRISM’s blueprint, read the goal and dependencies, and save a simple instruction such as “Explain the biggest limitation in one sentence.” Explain that its narrative effect needs a live model later.</a:t>
            </a:r>
          </a:p>
          <a:p xmlns:a="http://schemas.openxmlformats.org/drawingml/2006/main">
            <a:r>
              <a:t/>
            </a:r>
          </a:p>
          <a:p xmlns:a="http://schemas.openxmlformats.org/drawingml/2006/main">
            <a:r>
              <a:t>ASK THE ROOM</a:t>
            </a:r>
          </a:p>
          <a:p xmlns:a="http://schemas.openxmlformats.org/drawingml/2006/main">
            <a:r>
              <a:t>How can we change behavior today in a measurable way?</a:t>
            </a:r>
          </a:p>
          <a:p xmlns:a="http://schemas.openxmlformats.org/drawingml/2006/main">
            <a:r>
              <a:t/>
            </a:r>
          </a:p>
          <a:p xmlns:a="http://schemas.openxmlformats.org/drawingml/2006/main">
            <a:r>
              <a:t>EXPECTED EVIDENCE</a:t>
            </a:r>
          </a:p>
          <a:p xmlns:a="http://schemas.openxmlformats.org/drawingml/2006/main">
            <a:r>
              <a:t>Change scenario inputs, or edit and test an underlying Python tool.</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Scenario changes and challenge chips combine. To understand one effect, choose Baseline, change only the intended field, and restore the default JSON afterward.</a:t>
            </a:r>
          </a:p>
          <a:p xmlns:a="http://schemas.openxmlformats.org/drawingml/2006/main">
            <a:r>
              <a:t/>
            </a:r>
          </a:p>
          <a:p xmlns:a="http://schemas.openxmlformats.org/drawingml/2006/main">
            <a:r>
              <a:t>DEMONSTRATE / DO TOGETHER</a:t>
            </a:r>
          </a:p>
          <a:p xmlns:a="http://schemas.openxmlformats.org/drawingml/2006/main">
            <a:r>
              <a:t>Open Edit brief. Download the scenario template or use examples/project-monsoon.json. Show that Apply validates the structure before accepting it. Click a specialist, open its blueprint and use Run specialist + dependencies.</a:t>
            </a:r>
          </a:p>
          <a:p xmlns:a="http://schemas.openxmlformats.org/drawingml/2006/main">
            <a:r>
              <a:t/>
            </a:r>
          </a:p>
          <a:p xmlns:a="http://schemas.openxmlformats.org/drawingml/2006/main">
            <a:r>
              <a:t>ASK THE ROOM</a:t>
            </a:r>
          </a:p>
          <a:p xmlns:a="http://schemas.openxmlformats.org/drawingml/2006/main">
            <a:r>
              <a:t>Why might a second experiment produce unexpected results?</a:t>
            </a:r>
          </a:p>
          <a:p xmlns:a="http://schemas.openxmlformats.org/drawingml/2006/main">
            <a:r>
              <a:t/>
            </a:r>
          </a:p>
          <a:p xmlns:a="http://schemas.openxmlformats.org/drawingml/2006/main">
            <a:r>
              <a:t>EXPECTED EVIDENCE</a:t>
            </a:r>
          </a:p>
          <a:p xmlns:a="http://schemas.openxmlformats.org/drawingml/2006/main">
            <a:r>
              <a:t>A previous edit or challenge may still be active.</a:t>
            </a:r>
          </a:p>
          <a:p xmlns:a="http://schemas.openxmlformats.org/drawingml/2006/main">
            <a:r>
              <a:t/>
            </a:r>
          </a:p>
          <a:p xmlns:a="http://schemas.openxmlformats.org/drawingml/2006/main">
            <a:r>
              <a:t>IF SOMEONE IS STUCK</a:t>
            </a:r>
          </a:p>
          <a:p xmlns:a="http://schemas.openxmlformats.org/drawingml/2006/main">
            <a:r>
              <a:t>Do not upload real candidate or customer data. Use the fictional scenario file.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PRISM adds positive responses and divides by total responses. It also compares supplied prior rates and reports a descriptive uncertainty interval. We do not need interval mathematics to understand that sample evidence has limits.</a:t>
            </a:r>
          </a:p>
          <a:p xmlns:a="http://schemas.openxmlformats.org/drawingml/2006/main">
            <a:r>
              <a:t/>
            </a:r>
          </a:p>
          <a:p xmlns:a="http://schemas.openxmlformats.org/drawingml/2006/main">
            <a:r>
              <a:t>DEMONSTRATE / DO TOGETHER</a:t>
            </a:r>
          </a:p>
          <a:p xmlns:a="http://schemas.openxmlformats.org/drawingml/2006/main">
            <a:r>
              <a:t>Restore the default JSON, choose Baseline, change the first positive count to 60, and run PRISM. Check 229 positives out of 360 responses.</a:t>
            </a:r>
          </a:p>
          <a:p xmlns:a="http://schemas.openxmlformats.org/drawingml/2006/main">
            <a:r>
              <a:t/>
            </a:r>
          </a:p>
          <a:p xmlns:a="http://schemas.openxmlformats.org/drawingml/2006/main">
            <a:r>
              <a:t>ASK THE ROOM</a:t>
            </a:r>
          </a:p>
          <a:p xmlns:a="http://schemas.openxmlformats.org/drawingml/2006/main">
            <a:r>
              <a:t>Can we say 63.6% of the whole city will buy?</a:t>
            </a:r>
          </a:p>
          <a:p xmlns:a="http://schemas.openxmlformats.org/drawingml/2006/main">
            <a:r>
              <a:t/>
            </a:r>
          </a:p>
          <a:p xmlns:a="http://schemas.openxmlformats.org/drawingml/2006/main">
            <a:r>
              <a:t>EXPECTED EVIDENCE</a:t>
            </a:r>
          </a:p>
          <a:p xmlns:a="http://schemas.openxmlformats.org/drawingml/2006/main">
            <a:r>
              <a:t>No. These are fictional survey responses from a convenience sample, not a representative sales forecast.</a:t>
            </a:r>
          </a:p>
          <a:p xmlns:a="http://schemas.openxmlformats.org/drawingml/2006/main">
            <a:r>
              <a:t/>
            </a:r>
          </a:p>
          <a:p xmlns:a="http://schemas.openxmlformats.org/drawingml/2006/main">
            <a:r>
              <a:t>IF SOMEONE IS STUCK</a:t>
            </a:r>
          </a:p>
          <a:p xmlns:a="http://schemas.openxmlformats.org/drawingml/2006/main">
            <a:r>
              <a:t>The value must not exceed the response count. Validation rejects impossible counts.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PULSE uses the supplied channel signals to allocate an experimental budget and prepare draft messaging. It does not prove which channel causes sales.</a:t>
            </a:r>
          </a:p>
          <a:p xmlns:a="http://schemas.openxmlformats.org/drawingml/2006/main">
            <a:r>
              <a:t/>
            </a:r>
          </a:p>
          <a:p xmlns:a="http://schemas.openxmlformats.org/drawingml/2006/main">
            <a:r>
              <a:t>DEMONSTRATE / DO TOGETHER</a:t>
            </a:r>
          </a:p>
          <a:p xmlns:a="http://schemas.openxmlformats.org/drawingml/2006/main">
            <a:r>
              <a:t>Inspect the channel rows and add the allocated amounts. Point to the draft label and customer-claim review gate. Restore defaults after the exercise.</a:t>
            </a:r>
          </a:p>
          <a:p xmlns:a="http://schemas.openxmlformats.org/drawingml/2006/main">
            <a:r>
              <a:t/>
            </a:r>
          </a:p>
          <a:p xmlns:a="http://schemas.openxmlformats.org/drawingml/2006/main">
            <a:r>
              <a:t>ASK THE ROOM</a:t>
            </a:r>
          </a:p>
          <a:p xmlns:a="http://schemas.openxmlformats.org/drawingml/2006/main">
            <a:r>
              <a:t>What should we measure before scaling the campaign?</a:t>
            </a:r>
          </a:p>
          <a:p xmlns:a="http://schemas.openxmlformats.org/drawingml/2006/main">
            <a:r>
              <a:t/>
            </a:r>
          </a:p>
          <a:p xmlns:a="http://schemas.openxmlformats.org/drawingml/2006/main">
            <a:r>
              <a:t>EXPECTED EVIDENCE</a:t>
            </a:r>
          </a:p>
          <a:p xmlns:a="http://schemas.openxmlformats.org/drawingml/2006/main">
            <a:r>
              <a:t>Actual conversion with denominators, customer feedback and credible cost information.</a:t>
            </a:r>
          </a:p>
          <a:p xmlns:a="http://schemas.openxmlformats.org/drawingml/2006/main">
            <a:r>
              <a:t/>
            </a:r>
          </a:p>
          <a:p xmlns:a="http://schemas.openxmlformats.org/drawingml/2006/main">
            <a:r>
              <a:t>IF SOMEONE IS STUCK</a:t>
            </a:r>
          </a:p>
          <a:p xmlns:a="http://schemas.openxmlformats.org/drawingml/2006/main">
            <a:r>
              <a:t>Do not treat a survey’s positive count as observed revenue. The tool explicitly labels this as a heuristic.</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FTE means full-time-equivalent capacity: two half-time contributions can count as one FTE. NOVA also shows a worksheet using job skills and work samples. Excluding demographic fields does not establish fairness.</a:t>
            </a:r>
          </a:p>
          <a:p xmlns:a="http://schemas.openxmlformats.org/drawingml/2006/main">
            <a:r>
              <a:t/>
            </a:r>
          </a:p>
          <a:p xmlns:a="http://schemas.openxmlformats.org/drawingml/2006/main">
            <a:r>
              <a:t>DEMONSTRATE / DO TOGETHER</a:t>
            </a:r>
          </a:p>
          <a:p xmlns:a="http://schemas.openxmlformats.org/drawingml/2006/main">
            <a:r>
              <a:t>Change required_fte to 12. Show the four-FTE gap and the simple one-time allowance of ₹10,000 per gap FTE. It is not a salary estimate. Read the human-review label for every candidate.</a:t>
            </a:r>
          </a:p>
          <a:p xmlns:a="http://schemas.openxmlformats.org/drawingml/2006/main">
            <a:r>
              <a:t/>
            </a:r>
          </a:p>
          <a:p xmlns:a="http://schemas.openxmlformats.org/drawingml/2006/main">
            <a:r>
              <a:t>ASK THE ROOM</a:t>
            </a:r>
          </a:p>
          <a:p xmlns:a="http://schemas.openxmlformats.org/drawingml/2006/main">
            <a:r>
              <a:t>Can we automatically reject the lowest worksheet score?</a:t>
            </a:r>
          </a:p>
          <a:p xmlns:a="http://schemas.openxmlformats.org/drawingml/2006/main">
            <a:r>
              <a:t/>
            </a:r>
          </a:p>
          <a:p xmlns:a="http://schemas.openxmlformats.org/drawingml/2006/main">
            <a:r>
              <a:t>EXPECTED EVIDENCE</a:t>
            </a:r>
          </a:p>
          <a:p xmlns:a="http://schemas.openxmlformats.org/drawingml/2006/main">
            <a:r>
              <a:t>No. The workflow requires contextual human review, calibration and accessibility checks.</a:t>
            </a:r>
          </a:p>
          <a:p xmlns:a="http://schemas.openxmlformats.org/drawingml/2006/main">
            <a:r>
              <a:t/>
            </a:r>
          </a:p>
          <a:p xmlns:a="http://schemas.openxmlformats.org/drawingml/2006/main">
            <a:r>
              <a:t>IF SOMEONE IS STUCK</a:t>
            </a:r>
          </a:p>
          <a:p xmlns:a="http://schemas.openxmlformats.org/drawingml/2006/main">
            <a:r>
              <a:t>Do not add age, gender or other protected attributes. The scenario schema rejects unrecognized candidate fields.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At 400 units per day, producing 30,000 units takes 75 days. With 21 supplier days, completion takes 96 days. Only 63 production days fit inside the 84-day launch window, giving 25,200 units.</a:t>
            </a:r>
          </a:p>
          <a:p xmlns:a="http://schemas.openxmlformats.org/drawingml/2006/main">
            <a:r>
              <a:t/>
            </a:r>
          </a:p>
          <a:p xmlns:a="http://schemas.openxmlformats.org/drawingml/2006/main">
            <a:r>
              <a:t>DEMONSTRATE / DO TOGETHER</a:t>
            </a:r>
          </a:p>
          <a:p xmlns:a="http://schemas.openxmlformats.org/drawingml/2006/main">
            <a:r>
              <a:t>Ask learners to calculate 84 minus 21, then multiply by 400. Show the 4,800-unit difference and the fallback action.</a:t>
            </a:r>
          </a:p>
          <a:p xmlns:a="http://schemas.openxmlformats.org/drawingml/2006/main">
            <a:r>
              <a:t/>
            </a:r>
          </a:p>
          <a:p xmlns:a="http://schemas.openxmlformats.org/drawingml/2006/main">
            <a:r>
              <a:t>ASK THE ROOM</a:t>
            </a:r>
          </a:p>
          <a:p xmlns:a="http://schemas.openxmlformats.org/drawingml/2006/main">
            <a:r>
              <a:t>Should Marketing still promise all 30,000 units by day 84?</a:t>
            </a:r>
          </a:p>
          <a:p xmlns:a="http://schemas.openxmlformats.org/drawingml/2006/main">
            <a:r>
              <a:t/>
            </a:r>
          </a:p>
          <a:p xmlns:a="http://schemas.openxmlformats.org/drawingml/2006/main">
            <a:r>
              <a:t>EXPECTED EVIDENCE</a:t>
            </a:r>
          </a:p>
          <a:p xmlns:a="http://schemas.openxmlformats.org/drawingml/2006/main">
            <a:r>
              <a:t>No. Adjust scope, time or credible capacity before making the promise.</a:t>
            </a:r>
          </a:p>
          <a:p xmlns:a="http://schemas.openxmlformats.org/drawingml/2006/main">
            <a:r>
              <a:t/>
            </a:r>
          </a:p>
          <a:p xmlns:a="http://schemas.openxmlformats.org/drawingml/2006/main">
            <a:r>
              <a:t>IF SOMEONE IS STUCK</a:t>
            </a:r>
          </a:p>
          <a:p xmlns:a="http://schemas.openxmlformats.org/drawingml/2006/main">
            <a:r>
              <a:t>We assume constant capacity and sequential supply/production phases. Real delivery plans need more detail.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Gross margin is the share of selling price left after unit production cost. With price 90 and cost 65, the difference is 25; 25 divided by 90 is about 27.8%. The target is 38%.</a:t>
            </a:r>
          </a:p>
          <a:p xmlns:a="http://schemas.openxmlformats.org/drawingml/2006/main">
            <a:r>
              <a:t/>
            </a:r>
          </a:p>
          <a:p xmlns:a="http://schemas.openxmlformats.org/drawingml/2006/main">
            <a:r>
              <a:t>DEMONSTRATE / DO TOGETHER</a:t>
            </a:r>
          </a:p>
          <a:p xmlns:a="http://schemas.openxmlformats.org/drawingml/2006/main">
            <a:r>
              <a:t>Show cash and margin side by side. The price edit does not change upfront production cost, but it weakens unit economics.</a:t>
            </a:r>
          </a:p>
          <a:p xmlns:a="http://schemas.openxmlformats.org/drawingml/2006/main">
            <a:r>
              <a:t/>
            </a:r>
          </a:p>
          <a:p xmlns:a="http://schemas.openxmlformats.org/drawingml/2006/main">
            <a:r>
              <a:t>ASK THE ROOM</a:t>
            </a:r>
          </a:p>
          <a:p xmlns:a="http://schemas.openxmlformats.org/drawingml/2006/main">
            <a:r>
              <a:t>Why can LEDGER return HOLD with no funding gap?</a:t>
            </a:r>
          </a:p>
          <a:p xmlns:a="http://schemas.openxmlformats.org/drawingml/2006/main">
            <a:r>
              <a:t/>
            </a:r>
          </a:p>
          <a:p xmlns:a="http://schemas.openxmlformats.org/drawingml/2006/main">
            <a:r>
              <a:t>EXPECTED EVIDENCE</a:t>
            </a:r>
          </a:p>
          <a:p xmlns:a="http://schemas.openxmlformats.org/drawingml/2006/main">
            <a:r>
              <a:t>Because a different financial gate, the margin target, failed.</a:t>
            </a:r>
          </a:p>
          <a:p xmlns:a="http://schemas.openxmlformats.org/drawingml/2006/main">
            <a:r>
              <a:t/>
            </a:r>
          </a:p>
          <a:p xmlns:a="http://schemas.openxmlformats.org/drawingml/2006/main">
            <a:r>
              <a:t>IF SOMEONE IS STUCK</a:t>
            </a:r>
          </a:p>
          <a:p xmlns:a="http://schemas.openxmlformats.org/drawingml/2006/main">
            <a:r>
              <a:t>This is a fictional business exercise, not investment advice or a complete accounting model.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General Management does not average away a serious blocker. It identifies the conflict and names what must be resolved. The current tool cannot override a failed specialist gate with an optimistic paragraph.</a:t>
            </a:r>
          </a:p>
          <a:p xmlns:a="http://schemas.openxmlformats.org/drawingml/2006/main">
            <a:r>
              <a:t/>
            </a:r>
          </a:p>
          <a:p xmlns:a="http://schemas.openxmlformats.org/drawingml/2006/main">
            <a:r>
              <a:t>DEMONSTRATE / DO TOGETHER</a:t>
            </a:r>
          </a:p>
          <a:p xmlns:a="http://schemas.openxmlformats.org/drawingml/2006/main">
            <a:r>
              <a:t>Use one held scenario from the previous exercises and run the full swarm. Show which specialist caused the executive hold and who owns the next action.</a:t>
            </a:r>
          </a:p>
          <a:p xmlns:a="http://schemas.openxmlformats.org/drawingml/2006/main">
            <a:r>
              <a:t/>
            </a:r>
          </a:p>
          <a:p xmlns:a="http://schemas.openxmlformats.org/drawingml/2006/main">
            <a:r>
              <a:t>ASK THE ROOM</a:t>
            </a:r>
          </a:p>
          <a:p xmlns:a="http://schemas.openxmlformats.org/drawingml/2006/main">
            <a:r>
              <a:t>Is JARVIS the chief executive who can approve launch?</a:t>
            </a:r>
          </a:p>
          <a:p xmlns:a="http://schemas.openxmlformats.org/drawingml/2006/main">
            <a:r>
              <a:t/>
            </a:r>
          </a:p>
          <a:p xmlns:a="http://schemas.openxmlformats.org/drawingml/2006/main">
            <a:r>
              <a:t>EXPECTED EVIDENCE</a:t>
            </a:r>
          </a:p>
          <a:p xmlns:a="http://schemas.openxmlformats.org/drawingml/2006/main">
            <a:r>
              <a:t>No. It is a synthesis agent. A human remains accountable.</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Each pair will now explain one specialist in plain English. You do not need to describe every class or library. Show one input, one calculation and one consequence.</a:t>
            </a:r>
          </a:p>
          <a:p xmlns:a="http://schemas.openxmlformats.org/drawingml/2006/main">
            <a:r>
              <a:t/>
            </a:r>
          </a:p>
          <a:p xmlns:a="http://schemas.openxmlformats.org/drawingml/2006/main">
            <a:r>
              <a:t>DEMONSTRATE / DO TOGETHER</a:t>
            </a:r>
          </a:p>
          <a:p xmlns:a="http://schemas.openxmlformats.org/drawingml/2006/main">
            <a:r>
              <a:t>Give pairs two minutes to prepare and invite several brief reports. Ensure all six roles are covered across the room; rotate which pair speaks.</a:t>
            </a:r>
          </a:p>
          <a:p xmlns:a="http://schemas.openxmlformats.org/drawingml/2006/main">
            <a:r>
              <a:t/>
            </a:r>
          </a:p>
          <a:p xmlns:a="http://schemas.openxmlformats.org/drawingml/2006/main">
            <a:r>
              <a:t>ASK THE ROOM</a:t>
            </a:r>
          </a:p>
          <a:p xmlns:a="http://schemas.openxmlformats.org/drawingml/2006/main">
            <a:r>
              <a:t>Can your partner explain the result without reading the code?</a:t>
            </a:r>
          </a:p>
          <a:p xmlns:a="http://schemas.openxmlformats.org/drawingml/2006/main">
            <a:r>
              <a:t/>
            </a:r>
          </a:p>
          <a:p xmlns:a="http://schemas.openxmlformats.org/drawingml/2006/main">
            <a:r>
              <a:t>EXPECTED EVIDENCE</a:t>
            </a:r>
          </a:p>
          <a:p xmlns:a="http://schemas.openxmlformats.org/drawingml/2006/main">
            <a:r>
              <a:t>The explanation names a concrete change, evidence and business implication.</a:t>
            </a:r>
          </a:p>
          <a:p xmlns:a="http://schemas.openxmlformats.org/drawingml/2006/main">
            <a:r>
              <a:t/>
            </a:r>
          </a:p>
          <a:p xmlns:a="http://schemas.openxmlformats.org/drawingml/2006/main">
            <a:r>
              <a:t>IF SOMEONE IS STUCK</a:t>
            </a:r>
          </a:p>
          <a:p xmlns:a="http://schemas.openxmlformats.org/drawingml/2006/main">
            <a:r>
              <a:t>If a pair changed several values, restore the example JSON and rerun with only one edit.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vault stores text so agents can retrieve it later. Retrieval is a way to supply evidence, not proof that the source is true. Our implementation uses keyword overlap and bounded excerpts.</a:t>
            </a:r>
          </a:p>
          <a:p xmlns:a="http://schemas.openxmlformats.org/drawingml/2006/main">
            <a:r>
              <a:t/>
            </a:r>
          </a:p>
          <a:p xmlns:a="http://schemas.openxmlformats.org/drawingml/2006/main">
            <a:r>
              <a:t>DEMONSTRATE / DO TOGETHER</a:t>
            </a:r>
          </a:p>
          <a:p xmlns:a="http://schemas.openxmlformats.org/drawingml/2006/main">
            <a:r>
              <a:t>Explain RAG in simple terms: find relevant material, then give it to the answering system. Avoid claiming this app uses embeddings or semantic vector search.</a:t>
            </a:r>
          </a:p>
          <a:p xmlns:a="http://schemas.openxmlformats.org/drawingml/2006/main">
            <a:r>
              <a:t/>
            </a:r>
          </a:p>
          <a:p xmlns:a="http://schemas.openxmlformats.org/drawingml/2006/main">
            <a:r>
              <a:t>ASK THE ROOM</a:t>
            </a:r>
          </a:p>
          <a:p xmlns:a="http://schemas.openxmlformats.org/drawingml/2006/main">
            <a:r>
              <a:t>Can a saved note be wrong?</a:t>
            </a:r>
          </a:p>
          <a:p xmlns:a="http://schemas.openxmlformats.org/drawingml/2006/main">
            <a:r>
              <a:t/>
            </a:r>
          </a:p>
          <a:p xmlns:a="http://schemas.openxmlformats.org/drawingml/2006/main">
            <a:r>
              <a:t>EXPECTED EVIDENCE</a:t>
            </a:r>
          </a:p>
          <a:p xmlns:a="http://schemas.openxmlformats.org/drawingml/2006/main">
            <a:r>
              <a:t>Yes. We still need to inspect its origin and treat it as evidence, not authority.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will ask a question whose answer is in our own evidence. The owner is fictional and is deliberately included in the note.</a:t>
            </a:r>
          </a:p>
          <a:p xmlns:a="http://schemas.openxmlformats.org/drawingml/2006/main">
            <a:r>
              <a:t/>
            </a:r>
          </a:p>
          <a:p xmlns:a="http://schemas.openxmlformats.org/drawingml/2006/main">
            <a:r>
              <a:t>DEMONSTRATE / DO TOGETHER</a:t>
            </a:r>
          </a:p>
          <a:p xmlns:a="http://schemas.openxmlformats.org/drawingml/2006/main">
            <a:r>
              <a:t>Open Memory Vault, enter the title and text, and save. Then ask the exact question in the JARVIS command channel. It includes “memory notes” so rehearsal’s simple routing chooses search_memory.</a:t>
            </a:r>
          </a:p>
          <a:p xmlns:a="http://schemas.openxmlformats.org/drawingml/2006/main">
            <a:r>
              <a:t/>
            </a:r>
          </a:p>
          <a:p xmlns:a="http://schemas.openxmlformats.org/drawingml/2006/main">
            <a:r>
              <a:t>ASK THE ROOM</a:t>
            </a:r>
          </a:p>
          <a:p xmlns:a="http://schemas.openxmlformats.org/drawingml/2006/main">
            <a:r>
              <a:t>What source should appear with the answer?</a:t>
            </a:r>
          </a:p>
          <a:p xmlns:a="http://schemas.openxmlformats.org/drawingml/2006/main">
            <a:r>
              <a:t/>
            </a:r>
          </a:p>
          <a:p xmlns:a="http://schemas.openxmlformats.org/drawingml/2006/main">
            <a:r>
              <a:t>EXPECTED EVIDENCE</a:t>
            </a:r>
          </a:p>
          <a:p xmlns:a="http://schemas.openxmlformats.org/drawingml/2006/main">
            <a:r>
              <a:t>Packaging review, with an excerpt naming Mira.</a:t>
            </a:r>
          </a:p>
          <a:p xmlns:a="http://schemas.openxmlformats.org/drawingml/2006/main">
            <a:r>
              <a:t/>
            </a:r>
          </a:p>
          <a:p xmlns:a="http://schemas.openxmlformats.org/drawingml/2006/main">
            <a:r>
              <a:t>IF SOMEONE IS STUCK</a:t>
            </a:r>
          </a:p>
          <a:p xmlns:a="http://schemas.openxmlformats.org/drawingml/2006/main">
            <a:r>
              <a:t>An unrelated prompt may route differently in rehearsal. Use a memory keyword and the same topic words. Never describe this as unrestricted natural-language understanding.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These stores have different jobs. Current state coordinates this run; notes provide source evidence; conversation history carries recent discussion. A label does not create an authenticated user account.</a:t>
            </a:r>
          </a:p>
          <a:p xmlns:a="http://schemas.openxmlformats.org/drawingml/2006/main">
            <a:r>
              <a:t/>
            </a:r>
          </a:p>
          <a:p xmlns:a="http://schemas.openxmlformats.org/drawingml/2006/main">
            <a:r>
              <a:t>DEMONSTRATE / DO TOGETHER</a:t>
            </a:r>
          </a:p>
          <a:p xmlns:a="http://schemas.openxmlformats.org/drawingml/2006/main">
            <a:r>
              <a:t>Reload the page to show saved notes and runs survive. Explain that opening an archived run restores its saved scenario snapshot; a new run uses the current selected inputs.</a:t>
            </a:r>
          </a:p>
          <a:p xmlns:a="http://schemas.openxmlformats.org/drawingml/2006/main">
            <a:r>
              <a:t/>
            </a:r>
          </a:p>
          <a:p xmlns:a="http://schemas.openxmlformats.org/drawingml/2006/main">
            <a:r>
              <a:t>ASK THE ROOM</a:t>
            </a:r>
          </a:p>
          <a:p xmlns:a="http://schemas.openxmlformats.org/drawingml/2006/main">
            <a:r>
              <a:t>Would deleting a source note erase all earlier report citations?</a:t>
            </a:r>
          </a:p>
          <a:p xmlns:a="http://schemas.openxmlformats.org/drawingml/2006/main">
            <a:r>
              <a:t/>
            </a:r>
          </a:p>
          <a:p xmlns:a="http://schemas.openxmlformats.org/drawingml/2006/main">
            <a:r>
              <a:t>EXPECTED EVIDENCE</a:t>
            </a:r>
          </a:p>
          <a:p xmlns:a="http://schemas.openxmlformats.org/drawingml/2006/main">
            <a:r>
              <a:t>No. Earlier reports and conversations can retain snapshots.</a:t>
            </a:r>
          </a:p>
          <a:p xmlns:a="http://schemas.openxmlformats.org/drawingml/2006/main">
            <a:r>
              <a:t/>
            </a:r>
          </a:p>
          <a:p xmlns:a="http://schemas.openxmlformats.org/drawingml/2006/main">
            <a:r>
              <a:t>IF SOMEONE IS STUCK</a:t>
            </a:r>
          </a:p>
          <a:p xmlns:a="http://schemas.openxmlformats.org/drawingml/2006/main">
            <a:r>
              <a:t>Keep only fictional content during the workshop. The local team-ID boundary is not production multi-user security.</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Arrows mean “needs information from,” not “these agents are chatting freely.” PRISM feeds the three specialists. Finance consumes Marketing, HR and Operations. General Management receives all five reports.</a:t>
            </a:r>
          </a:p>
          <a:p xmlns:a="http://schemas.openxmlformats.org/drawingml/2006/main">
            <a:r>
              <a:t/>
            </a:r>
          </a:p>
          <a:p xmlns:a="http://schemas.openxmlformats.org/drawingml/2006/main">
            <a:r>
              <a:t>DEMONSTRATE / DO TOGETHER</a:t>
            </a:r>
          </a:p>
          <a:p xmlns:a="http://schemas.openxmlformats.org/drawingml/2006/main">
            <a:r>
              <a:t>Trace a supplier risk into Operations, then Finance’s deliverable-sales cap, then General Management. Explain that the app runs this dependency order sequentially even though some roles are conceptually independent.</a:t>
            </a:r>
          </a:p>
          <a:p xmlns:a="http://schemas.openxmlformats.org/drawingml/2006/main">
            <a:r>
              <a:t/>
            </a:r>
          </a:p>
          <a:p xmlns:a="http://schemas.openxmlformats.org/drawingml/2006/main">
            <a:r>
              <a:t>ASK THE ROOM</a:t>
            </a:r>
          </a:p>
          <a:p xmlns:a="http://schemas.openxmlformats.org/drawingml/2006/main">
            <a:r>
              <a:t>Why do we not run General Management first?</a:t>
            </a:r>
          </a:p>
          <a:p xmlns:a="http://schemas.openxmlformats.org/drawingml/2006/main">
            <a:r>
              <a:t/>
            </a:r>
          </a:p>
          <a:p xmlns:a="http://schemas.openxmlformats.org/drawingml/2006/main">
            <a:r>
              <a:t>EXPECTED EVIDENCE</a:t>
            </a:r>
          </a:p>
          <a:p xmlns:a="http://schemas.openxmlformats.org/drawingml/2006/main">
            <a:r>
              <a:t>It would lack the specialist evidence needed to synthesize a decision.</a:t>
            </a:r>
          </a:p>
          <a:p xmlns:a="http://schemas.openxmlformats.org/drawingml/2006/main">
            <a:r>
              <a:t/>
            </a:r>
          </a:p>
          <a:p xmlns:a="http://schemas.openxmlformats.org/drawingml/2006/main">
            <a:r>
              <a:t>IF SOMEONE IS STUCK</a:t>
            </a:r>
          </a:p>
          <a:p xmlns:a="http://schemas.openxmlformats.org/drawingml/2006/main">
            <a:r>
              <a:t>Do not claim six autonomous computers or independent VMs. The app runs in one local Python process.</a:t>
            </a:r>
          </a:p>
          <a:p xmlns:a="http://schemas.openxmlformats.org/drawingml/2006/main">
            <a:r>
              <a:t/>
            </a:r>
          </a:p>
          <a:p xmlns:a="http://schemas.openxmlformats.org/drawingml/2006/main">
            <a:r>
              <a:t>[Sources]</a:t>
            </a:r>
          </a:p>
          <a:p xmlns:a="http://schemas.openxmlformats.org/drawingml/2006/main">
            <a:r>
              <a:t>https://docs.langchain.com/oss/python/langgraph/overview</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Finance cannot make a coherent plan from budget alone. It needs the campaign spend, staffing allowance and actual deliverable units. These reports become tool inputs.</a:t>
            </a:r>
          </a:p>
          <a:p xmlns:a="http://schemas.openxmlformats.org/drawingml/2006/main">
            <a:r>
              <a:t/>
            </a:r>
          </a:p>
          <a:p xmlns:a="http://schemas.openxmlformats.org/drawingml/2006/main">
            <a:r>
              <a:t>DEMONSTRATE / DO TOGETHER</a:t>
            </a:r>
          </a:p>
          <a:p xmlns:a="http://schemas.openxmlformats.org/drawingml/2006/main">
            <a:r>
              <a:t>Inspect source evidence in LEDGER: campaign allowance, staffing and the Operations delivery cap. Explain why a large demand number cannot automatically become revenue.</a:t>
            </a:r>
          </a:p>
          <a:p xmlns:a="http://schemas.openxmlformats.org/drawingml/2006/main">
            <a:r>
              <a:t/>
            </a:r>
          </a:p>
          <a:p xmlns:a="http://schemas.openxmlformats.org/drawingml/2006/main">
            <a:r>
              <a:t>ASK THE ROOM</a:t>
            </a:r>
          </a:p>
          <a:p xmlns:a="http://schemas.openxmlformats.org/drawingml/2006/main">
            <a:r>
              <a:t>Which is the upper bound for sales in these scenarios: demand or deliverable units?</a:t>
            </a:r>
          </a:p>
          <a:p xmlns:a="http://schemas.openxmlformats.org/drawingml/2006/main">
            <a:r>
              <a:t/>
            </a:r>
          </a:p>
          <a:p xmlns:a="http://schemas.openxmlformats.org/drawingml/2006/main">
            <a:r>
              <a:t>EXPECTED EVIDENCE</a:t>
            </a:r>
          </a:p>
          <a:p xmlns:a="http://schemas.openxmlformats.org/drawingml/2006/main">
            <a:r>
              <a:t>Sales cannot exceed either. The simplified model caps sold units at deliverable capacity.</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challenge chip transforms the base scenario once. The underlying launch plan still needs ₹24 lakh, so the budget cut creates a ₹6 lakh gap.</a:t>
            </a:r>
          </a:p>
          <a:p xmlns:a="http://schemas.openxmlformats.org/drawingml/2006/main">
            <a:r>
              <a:t/>
            </a:r>
          </a:p>
          <a:p xmlns:a="http://schemas.openxmlformats.org/drawingml/2006/main">
            <a:r>
              <a:t>DEMONSTRATE / DO TOGETHER</a:t>
            </a:r>
          </a:p>
          <a:p xmlns:a="http://schemas.openxmlformats.org/drawingml/2006/main">
            <a:r>
              <a:t>Restore default JSON, choose Budget −25%, run the swarm and inspect Finance. Ask learners to verify the base and effective budgets rather than assuming the chip edited the original file.</a:t>
            </a:r>
          </a:p>
          <a:p xmlns:a="http://schemas.openxmlformats.org/drawingml/2006/main">
            <a:r>
              <a:t/>
            </a:r>
          </a:p>
          <a:p xmlns:a="http://schemas.openxmlformats.org/drawingml/2006/main">
            <a:r>
              <a:t>ASK THE ROOM</a:t>
            </a:r>
          </a:p>
          <a:p xmlns:a="http://schemas.openxmlformats.org/drawingml/2006/main">
            <a:r>
              <a:t>If we already reduced the base budget and then apply this chip, what happens?</a:t>
            </a:r>
          </a:p>
          <a:p xmlns:a="http://schemas.openxmlformats.org/drawingml/2006/main">
            <a:r>
              <a:t/>
            </a:r>
          </a:p>
          <a:p xmlns:a="http://schemas.openxmlformats.org/drawingml/2006/main">
            <a:r>
              <a:t>EXPECTED EVIDENCE</a:t>
            </a:r>
          </a:p>
          <a:p xmlns:a="http://schemas.openxmlformats.org/drawingml/2006/main">
            <a:r>
              <a:t>The chip reduces the already edited budget again. Restore defaults for this comparison.</a:t>
            </a:r>
          </a:p>
          <a:p xmlns:a="http://schemas.openxmlformats.org/drawingml/2006/main">
            <a:r>
              <a:t/>
            </a:r>
          </a:p>
          <a:p xmlns:a="http://schemas.openxmlformats.org/drawingml/2006/main">
            <a:r>
              <a:t>IF SOMEONE IS STUCK</a:t>
            </a:r>
          </a:p>
          <a:p xmlns:a="http://schemas.openxmlformats.org/drawingml/2006/main">
            <a:r>
              <a:t>Do not compare experiments that changed multiple inputs unless you explicitly describe all those changes.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important change is not the colour of the badge. It is a mismatch between approved cash and planned spending that leads to a different recommendation.</a:t>
            </a:r>
          </a:p>
          <a:p xmlns:a="http://schemas.openxmlformats.org/drawingml/2006/main">
            <a:r>
              <a:t/>
            </a:r>
          </a:p>
          <a:p xmlns:a="http://schemas.openxmlformats.org/drawingml/2006/main">
            <a:r>
              <a:t>DEMONSTRATE / DO TOGETHER</a:t>
            </a:r>
          </a:p>
          <a:p xmlns:a="http://schemas.openxmlformats.org/drawingml/2006/main">
            <a:r>
              <a:t>Open Run Archive, select the baseline and budget-cut checkboxes, and read the comparison. Confirm both runs use the default base inputs.</a:t>
            </a:r>
          </a:p>
          <a:p xmlns:a="http://schemas.openxmlformats.org/drawingml/2006/main">
            <a:r>
              <a:t/>
            </a:r>
          </a:p>
          <a:p xmlns:a="http://schemas.openxmlformats.org/drawingml/2006/main">
            <a:r>
              <a:t>ASK THE ROOM</a:t>
            </a:r>
          </a:p>
          <a:p xmlns:a="http://schemas.openxmlformats.org/drawingml/2006/main">
            <a:r>
              <a:t>What must change to resolve the hold?</a:t>
            </a:r>
          </a:p>
          <a:p xmlns:a="http://schemas.openxmlformats.org/drawingml/2006/main">
            <a:r>
              <a:t/>
            </a:r>
          </a:p>
          <a:p xmlns:a="http://schemas.openxmlformats.org/drawingml/2006/main">
            <a:r>
              <a:t>EXPECTED EVIDENCE</a:t>
            </a:r>
          </a:p>
          <a:p xmlns:a="http://schemas.openxmlformats.org/drawingml/2006/main">
            <a:r>
              <a:t>A credible revision to launch scope, cost, funding or timing that passes the relevant gates; a more optimistic prompt is not enough.</a:t>
            </a:r>
          </a:p>
          <a:p xmlns:a="http://schemas.openxmlformats.org/drawingml/2006/main">
            <a:r>
              <a:t/>
            </a:r>
          </a:p>
          <a:p xmlns:a="http://schemas.openxmlformats.org/drawingml/2006/main">
            <a:r>
              <a:t>IF SOMEONE IS STUCK</a:t>
            </a:r>
          </a:p>
          <a:p xmlns:a="http://schemas.openxmlformats.org/drawingml/2006/main">
            <a:r>
              <a:t>If no comparison appears, select exactly two completed runs, not a failed run or three checkboxes.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Not every risk is financial. A customer-trust concern can stop promotion even when cash and capacity appear sufficient. A demand increase can expose both cash and capacity limits.</a:t>
            </a:r>
          </a:p>
          <a:p xmlns:a="http://schemas.openxmlformats.org/drawingml/2006/main">
            <a:r>
              <a:t/>
            </a:r>
          </a:p>
          <a:p xmlns:a="http://schemas.openxmlformats.org/drawingml/2006/main">
            <a:r>
              <a:t>DEMONSTRATE / DO TOGETHER</a:t>
            </a:r>
          </a:p>
          <a:p xmlns:a="http://schemas.openxmlformats.org/drawingml/2006/main">
            <a:r>
              <a:t>Assign a different shock to each group. Have them name the first specialist whose result changes and then inspect the executive gate.</a:t>
            </a:r>
          </a:p>
          <a:p xmlns:a="http://schemas.openxmlformats.org/drawingml/2006/main">
            <a:r>
              <a:t/>
            </a:r>
          </a:p>
          <a:p xmlns:a="http://schemas.openxmlformats.org/drawingml/2006/main">
            <a:r>
              <a:t>ASK THE ROOM</a:t>
            </a:r>
          </a:p>
          <a:p xmlns:a="http://schemas.openxmlformats.org/drawingml/2006/main">
            <a:r>
              <a:t>Which shock cannot be resolved by only increasing the budget?</a:t>
            </a:r>
          </a:p>
          <a:p xmlns:a="http://schemas.openxmlformats.org/drawingml/2006/main">
            <a:r>
              <a:t/>
            </a:r>
          </a:p>
          <a:p xmlns:a="http://schemas.openxmlformats.org/drawingml/2006/main">
            <a:r>
              <a:t>EXPECTED EVIDENCE</a:t>
            </a:r>
          </a:p>
          <a:p xmlns:a="http://schemas.openxmlformats.org/drawingml/2006/main">
            <a:r>
              <a:t>Examples include an unresolved labelling review or an impossible delivery window without credible capacity changes.</a:t>
            </a:r>
          </a:p>
          <a:p xmlns:a="http://schemas.openxmlformats.org/drawingml/2006/main">
            <a:r>
              <a:t/>
            </a:r>
          </a:p>
          <a:p xmlns:a="http://schemas.openxmlformats.org/drawingml/2006/main">
            <a:r>
              <a:t>IF SOMEONE IS STUCK</a:t>
            </a:r>
          </a:p>
          <a:p xmlns:a="http://schemas.openxmlformats.org/drawingml/2006/main">
            <a:r>
              <a:t>Use the default scenario for expected numbers. User-edited inputs will produce different results.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Human review is not a decorative disclaimer at the end. It is a decision step with a person who checks the evidence and owns the action.</a:t>
            </a:r>
          </a:p>
          <a:p xmlns:a="http://schemas.openxmlformats.org/drawingml/2006/main">
            <a:r>
              <a:t/>
            </a:r>
          </a:p>
          <a:p xmlns:a="http://schemas.openxmlformats.org/drawingml/2006/main">
            <a:r>
              <a:t>DEMONSTRATE / DO TOGETHER</a:t>
            </a:r>
          </a:p>
          <a:p xmlns:a="http://schemas.openxmlformats.org/drawingml/2006/main">
            <a:r>
              <a:t>Show the accountable actions in a report. Ask who will sign off on spending, people decisions and product claims in the fictional case.</a:t>
            </a:r>
          </a:p>
          <a:p xmlns:a="http://schemas.openxmlformats.org/drawingml/2006/main">
            <a:r>
              <a:t/>
            </a:r>
          </a:p>
          <a:p xmlns:a="http://schemas.openxmlformats.org/drawingml/2006/main">
            <a:r>
              <a:t>ASK THE ROOM</a:t>
            </a:r>
          </a:p>
          <a:p xmlns:a="http://schemas.openxmlformats.org/drawingml/2006/main">
            <a:r>
              <a:t>What would be a bad use of the candidate score?</a:t>
            </a:r>
          </a:p>
          <a:p xmlns:a="http://schemas.openxmlformats.org/drawingml/2006/main">
            <a:r>
              <a:t/>
            </a:r>
          </a:p>
          <a:p xmlns:a="http://schemas.openxmlformats.org/drawingml/2006/main">
            <a:r>
              <a:t>EXPECTED EVIDENCE</a:t>
            </a:r>
          </a:p>
          <a:p xmlns:a="http://schemas.openxmlformats.org/drawingml/2006/main">
            <a:r>
              <a:t>Treating it as an automatic hiring decision. The system deliberately provides a review worksheet, not an employment decision.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Original evidence-review illustration generated with built-in image_gen, 3 September 2026. Asset: workshop/assets/evidence-review.png.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Red-teaming means deliberately testing failure modes. It is not about proving the system is perfectly safe. The deterministic tool gates protect specific behavior; live model prose can still require further checks.</a:t>
            </a:r>
          </a:p>
          <a:p xmlns:a="http://schemas.openxmlformats.org/drawingml/2006/main">
            <a:r>
              <a:t/>
            </a:r>
          </a:p>
          <a:p xmlns:a="http://schemas.openxmlformats.org/drawingml/2006/main">
            <a:r>
              <a:t>DEMONSTRATE / DO TOGETHER</a:t>
            </a:r>
          </a:p>
          <a:p xmlns:a="http://schemas.openxmlformats.org/drawingml/2006/main">
            <a:r>
              <a:t>Give each pair one test. Record input, expected output, actual evidence and a fix or limitation. For prompt injection, treat the note as untrusted source text; do not act on its instruction.</a:t>
            </a:r>
          </a:p>
          <a:p xmlns:a="http://schemas.openxmlformats.org/drawingml/2006/main">
            <a:r>
              <a:t/>
            </a:r>
          </a:p>
          <a:p xmlns:a="http://schemas.openxmlformats.org/drawingml/2006/main">
            <a:r>
              <a:t>ASK THE ROOM</a:t>
            </a:r>
          </a:p>
          <a:p xmlns:a="http://schemas.openxmlformats.org/drawingml/2006/main">
            <a:r>
              <a:t>Does refusing an age field prove the entire HR workflow is fair?</a:t>
            </a:r>
          </a:p>
          <a:p xmlns:a="http://schemas.openxmlformats.org/drawingml/2006/main">
            <a:r>
              <a:t/>
            </a:r>
          </a:p>
          <a:p xmlns:a="http://schemas.openxmlformats.org/drawingml/2006/main">
            <a:r>
              <a:t>EXPECTED EVIDENCE</a:t>
            </a:r>
          </a:p>
          <a:p xmlns:a="http://schemas.openxmlformats.org/drawingml/2006/main">
            <a:r>
              <a:t>No. Work samples and skills can still be biased or inaccessible.</a:t>
            </a:r>
          </a:p>
          <a:p xmlns:a="http://schemas.openxmlformats.org/drawingml/2006/main">
            <a:r>
              <a:t/>
            </a:r>
          </a:p>
          <a:p xmlns:a="http://schemas.openxmlformats.org/drawingml/2006/main">
            <a:r>
              <a:t>IF SOMEONE IS STUCK</a:t>
            </a:r>
          </a:p>
          <a:p xmlns:a="http://schemas.openxmlformats.org/drawingml/2006/main">
            <a:r>
              <a:t>If testing a live model later, evaluate its narrative separately. Rehearsal does not establish resistance of a different model.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test has a specific claim. “Source evidence present” means the report names evidence; it is not a guarantee that the input data represents reality. A narrow honest test is more useful than an inflated safety score.</a:t>
            </a:r>
          </a:p>
          <a:p xmlns:a="http://schemas.openxmlformats.org/drawingml/2006/main">
            <a:r>
              <a:t/>
            </a:r>
          </a:p>
          <a:p xmlns:a="http://schemas.openxmlformats.org/drawingml/2006/main">
            <a:r>
              <a:t>DEMONSTRATE / DO TOGETHER</a:t>
            </a:r>
          </a:p>
          <a:p xmlns:a="http://schemas.openxmlformats.org/drawingml/2006/main">
            <a:r>
              <a:t>Open Workshop Lab and read one check name and detail. Ask learners to explain its boundary.</a:t>
            </a:r>
          </a:p>
          <a:p xmlns:a="http://schemas.openxmlformats.org/drawingml/2006/main">
            <a:r>
              <a:t/>
            </a:r>
          </a:p>
          <a:p xmlns:a="http://schemas.openxmlformats.org/drawingml/2006/main">
            <a:r>
              <a:t>ASK THE ROOM</a:t>
            </a:r>
          </a:p>
          <a:p xmlns:a="http://schemas.openxmlformats.org/drawingml/2006/main">
            <a:r>
              <a:t>What extra evidence would we need before real organizational use?</a:t>
            </a:r>
          </a:p>
          <a:p xmlns:a="http://schemas.openxmlformats.org/drawingml/2006/main">
            <a:r>
              <a:t/>
            </a:r>
          </a:p>
          <a:p xmlns:a="http://schemas.openxmlformats.org/drawingml/2006/main">
            <a:r>
              <a:t>EXPECTED EVIDENCE</a:t>
            </a:r>
          </a:p>
          <a:p xmlns:a="http://schemas.openxmlformats.org/drawingml/2006/main">
            <a:r>
              <a:t>Domain review, real-data validation, live-model evaluation, security/authentication and operational testing appropriate to the use case.</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screenshot can hide the inputs. The exported package includes the scenario and specialist detail so someone else can understand how the result was produced.</a:t>
            </a:r>
          </a:p>
          <a:p xmlns:a="http://schemas.openxmlformats.org/drawingml/2006/main">
            <a:r>
              <a:t/>
            </a:r>
          </a:p>
          <a:p xmlns:a="http://schemas.openxmlformats.org/drawingml/2006/main">
            <a:r>
              <a:t>DEMONSTRATE / DO TOGETHER</a:t>
            </a:r>
          </a:p>
          <a:p xmlns:a="http://schemas.openxmlformats.org/drawingml/2006/main">
            <a:r>
              <a:t>Use Export brief for Markdown and JSON for structured data. Save both with a meaningful team-and-challenge filename. Read one exported section before calling the activity complete.</a:t>
            </a:r>
          </a:p>
          <a:p xmlns:a="http://schemas.openxmlformats.org/drawingml/2006/main">
            <a:r>
              <a:t/>
            </a:r>
          </a:p>
          <a:p xmlns:a="http://schemas.openxmlformats.org/drawingml/2006/main">
            <a:r>
              <a:t>ASK THE ROOM</a:t>
            </a:r>
          </a:p>
          <a:p xmlns:a="http://schemas.openxmlformats.org/drawingml/2006/main">
            <a:r>
              <a:t>What makes this stronger evidence than a screenshot of HOLD?</a:t>
            </a:r>
          </a:p>
          <a:p xmlns:a="http://schemas.openxmlformats.org/drawingml/2006/main">
            <a:r>
              <a:t/>
            </a:r>
          </a:p>
          <a:p xmlns:a="http://schemas.openxmlformats.org/drawingml/2006/main">
            <a:r>
              <a:t>EXPECTED EVIDENCE</a:t>
            </a:r>
          </a:p>
          <a:p xmlns:a="http://schemas.openxmlformats.org/drawingml/2006/main">
            <a:r>
              <a:t>The reviewer can see the input snapshot and the arithmetic that caused the hold.</a:t>
            </a:r>
          </a:p>
          <a:p xmlns:a="http://schemas.openxmlformats.org/drawingml/2006/main">
            <a:r>
              <a:t/>
            </a:r>
          </a:p>
          <a:p xmlns:a="http://schemas.openxmlformats.org/drawingml/2006/main">
            <a:r>
              <a:t>IF SOMEONE IS STUCK</a:t>
            </a:r>
          </a:p>
          <a:p xmlns:a="http://schemas.openxmlformats.org/drawingml/2006/main">
            <a:r>
              <a:t>Only completed runs have executive exports. If a run failed, fix the cause and rerun instead of presenting it as a completed package.</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are assessing learning and evidence, not awarding points for jargon. Each criterion is scored by a person. The app only calculates the weighted total.</a:t>
            </a:r>
          </a:p>
          <a:p xmlns:a="http://schemas.openxmlformats.org/drawingml/2006/main">
            <a:r>
              <a:t/>
            </a:r>
          </a:p>
          <a:p xmlns:a="http://schemas.openxmlformats.org/drawingml/2006/main">
            <a:r>
              <a:t>DEMONSTRATE / DO TOGETHER</a:t>
            </a:r>
          </a:p>
          <a:p xmlns:a="http://schemas.openxmlformats.org/drawingml/2006/main">
            <a:r>
              <a:t>Open Workshop Lab after selecting a completed run. Explain total = sum(score/5 × criterion weight). Ask learners to include one concrete improvement in the reflection, then save.</a:t>
            </a:r>
          </a:p>
          <a:p xmlns:a="http://schemas.openxmlformats.org/drawingml/2006/main">
            <a:r>
              <a:t/>
            </a:r>
          </a:p>
          <a:p xmlns:a="http://schemas.openxmlformats.org/drawingml/2006/main">
            <a:r>
              <a:t>ASK THE ROOM</a:t>
            </a:r>
          </a:p>
          <a:p xmlns:a="http://schemas.openxmlformats.org/drawingml/2006/main">
            <a:r>
              <a:t>Would a high score prove the app is production-ready?</a:t>
            </a:r>
          </a:p>
          <a:p xmlns:a="http://schemas.openxmlformats.org/drawingml/2006/main">
            <a:r>
              <a:t/>
            </a:r>
          </a:p>
          <a:p xmlns:a="http://schemas.openxmlformats.org/drawingml/2006/main">
            <a:r>
              <a:t>EXPECTED EVIDENCE</a:t>
            </a:r>
          </a:p>
          <a:p xmlns:a="http://schemas.openxmlformats.org/drawingml/2006/main">
            <a:r>
              <a:t>No. This is a workshop outcome rubric, not certification.</a:t>
            </a:r>
          </a:p>
          <a:p xmlns:a="http://schemas.openxmlformats.org/drawingml/2006/main">
            <a:r>
              <a:t/>
            </a:r>
          </a:p>
          <a:p xmlns:a="http://schemas.openxmlformats.org/drawingml/2006/main">
            <a:r>
              <a:t>IF SOMEONE IS STUCK</a:t>
            </a:r>
          </a:p>
          <a:p xmlns:a="http://schemas.openxmlformats.org/drawingml/2006/main">
            <a:r>
              <a:t>If no run is selected, open a completed run from Run Archive first.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Local proposal: output/pdf/LIBA_AgentForgeWorkshop_Proposal_Revised_2-Day.pdf, Assessment Rubric.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clear demo is a small story. We started with this goal, changed this input, observed this evidence and reached this conditional conclusion. Avoid a tour of every button.</a:t>
            </a:r>
          </a:p>
          <a:p xmlns:a="http://schemas.openxmlformats.org/drawingml/2006/main">
            <a:r>
              <a:t/>
            </a:r>
          </a:p>
          <a:p xmlns:a="http://schemas.openxmlformats.org/drawingml/2006/main">
            <a:r>
              <a:t>DEMONSTRATE / DO TOGETHER</a:t>
            </a:r>
          </a:p>
          <a:p xmlns:a="http://schemas.openxmlformats.org/drawingml/2006/main">
            <a:r>
              <a:t>Give each pair thirty seconds for the goal, forty-five for the change, sixty for evidence and forty-five for the decision and limitation. Choose several representative teams to present.</a:t>
            </a:r>
          </a:p>
          <a:p xmlns:a="http://schemas.openxmlformats.org/drawingml/2006/main">
            <a:r>
              <a:t/>
            </a:r>
          </a:p>
          <a:p xmlns:a="http://schemas.openxmlformats.org/drawingml/2006/main">
            <a:r>
              <a:t>ASK THE ROOM</a:t>
            </a:r>
          </a:p>
          <a:p xmlns:a="http://schemas.openxmlformats.org/drawingml/2006/main">
            <a:r>
              <a:t>Could a business colleague understand your explanation without knowing Python?</a:t>
            </a:r>
          </a:p>
          <a:p xmlns:a="http://schemas.openxmlformats.org/drawingml/2006/main">
            <a:r>
              <a:t/>
            </a:r>
          </a:p>
          <a:p xmlns:a="http://schemas.openxmlformats.org/drawingml/2006/main">
            <a:r>
              <a:t>EXPECTED EVIDENCE</a:t>
            </a:r>
          </a:p>
          <a:p xmlns:a="http://schemas.openxmlformats.org/drawingml/2006/main">
            <a:r>
              <a:t>Yes. They should understand the decision, the evidence and the remaining uncertainty.</a:t>
            </a:r>
          </a:p>
          <a:p xmlns:a="http://schemas.openxmlformats.org/drawingml/2006/main">
            <a:r>
              <a:t/>
            </a:r>
          </a:p>
          <a:p xmlns:a="http://schemas.openxmlformats.org/drawingml/2006/main">
            <a:r>
              <a:t>IF SOMEONE IS STUCK</a:t>
            </a:r>
          </a:p>
          <a:p xmlns:a="http://schemas.openxmlformats.org/drawingml/2006/main">
            <a:r>
              <a:t>If time is short, ask every pair to submit its package and select two live demos.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Today’s rehearsal is also a test of our teaching flow. A technical success on my laptop is not enough if the room cannot follow it.</a:t>
            </a:r>
          </a:p>
          <a:p xmlns:a="http://schemas.openxmlformats.org/drawingml/2006/main">
            <a:r>
              <a:t/>
            </a:r>
          </a:p>
          <a:p xmlns:a="http://schemas.openxmlformats.org/drawingml/2006/main">
            <a:r>
              <a:t>DEMONSTRATE / DO TOGETHER</a:t>
            </a:r>
          </a:p>
          <a:p xmlns:a="http://schemas.openxmlformats.org/drawingml/2006/main">
            <a:r>
              <a:t>Collect a short issue log: symptom, machine/OS, exact step, effect, owner and next action. Decide Ready, Ready with conditions, or Not ready for the planned classroom setup.</a:t>
            </a:r>
          </a:p>
          <a:p xmlns:a="http://schemas.openxmlformats.org/drawingml/2006/main">
            <a:r>
              <a:t/>
            </a:r>
          </a:p>
          <a:p xmlns:a="http://schemas.openxmlformats.org/drawingml/2006/main">
            <a:r>
              <a:t>ASK THE ROOM</a:t>
            </a:r>
          </a:p>
          <a:p xmlns:a="http://schemas.openxmlformats.org/drawingml/2006/main">
            <a:r>
              <a:t>What is the highest-priority issue to fix before students arrive?</a:t>
            </a:r>
          </a:p>
          <a:p xmlns:a="http://schemas.openxmlformats.org/drawingml/2006/main">
            <a:r>
              <a:t/>
            </a:r>
          </a:p>
          <a:p xmlns:a="http://schemas.openxmlformats.org/drawingml/2006/main">
            <a:r>
              <a:t>EXPECTED EVIDENCE</a:t>
            </a:r>
          </a:p>
          <a:p xmlns:a="http://schemas.openxmlformats.org/drawingml/2006/main">
            <a:r>
              <a:t>A concrete issue tied to participation or correctness, with an owner.</a:t>
            </a:r>
          </a:p>
          <a:p xmlns:a="http://schemas.openxmlformats.org/drawingml/2006/main">
            <a:r>
              <a:t/>
            </a:r>
          </a:p>
          <a:p xmlns:a="http://schemas.openxmlformats.org/drawingml/2006/main">
            <a:r>
              <a:t>IF SOMEONE IS STUCK</a:t>
            </a:r>
          </a:p>
          <a:p xmlns:a="http://schemas.openxmlformats.org/drawingml/2006/main">
            <a:r>
              <a:t>Do not claim GitHub access, Windows execution, microphone support or live inference was verified unless the team actually exercised it.</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You now have a small agent you built and a complete workflow you can inspect. The most valuable habit is to predict, run, verify and explain.</a:t>
            </a:r>
          </a:p>
          <a:p xmlns:a="http://schemas.openxmlformats.org/drawingml/2006/main">
            <a:r>
              <a:t/>
            </a:r>
          </a:p>
          <a:p xmlns:a="http://schemas.openxmlformats.org/drawingml/2006/main">
            <a:r>
              <a:t>DEMONSTRATE / DO TOGETHER</a:t>
            </a:r>
          </a:p>
          <a:p xmlns:a="http://schemas.openxmlformats.org/drawingml/2006/main">
            <a:r>
              <a:t>Ask each participant to write one sentence: “I changed ___; the tool showed ___; we should ___; we still need to verify ___.” Save their outputs for the next workshop session.</a:t>
            </a:r>
          </a:p>
          <a:p xmlns:a="http://schemas.openxmlformats.org/drawingml/2006/main">
            <a:r>
              <a:t/>
            </a:r>
          </a:p>
          <a:p xmlns:a="http://schemas.openxmlformats.org/drawingml/2006/main">
            <a:r>
              <a:t>ASK THE ROOM</a:t>
            </a:r>
          </a:p>
          <a:p xmlns:a="http://schemas.openxmlformats.org/drawingml/2006/main">
            <a:r>
              <a:t>What will you be able to demonstrate without help next time?</a:t>
            </a:r>
          </a:p>
          <a:p xmlns:a="http://schemas.openxmlformats.org/drawingml/2006/main">
            <a:r>
              <a:t/>
            </a:r>
          </a:p>
          <a:p xmlns:a="http://schemas.openxmlformats.org/drawingml/2006/main">
            <a:r>
              <a:t>EXPECTED EVIDENCE</a:t>
            </a:r>
          </a:p>
          <a:p xmlns:a="http://schemas.openxmlformats.org/drawingml/2006/main">
            <a:r>
              <a:t>A clone-and-run path, one tool calculation and a source-backed before/after decision.</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is the abbreviated route. Use the FAST PATH markers and the exact slide list in the guide. Do not read the setup appendix if everyone is already prepared.</a:t>
            </a:r>
          </a:p>
          <a:p xmlns:a="http://schemas.openxmlformats.org/drawingml/2006/main">
            <a:r>
              <a:t/>
            </a:r>
          </a:p>
          <a:p xmlns:a="http://schemas.openxmlformats.org/drawingml/2006/main">
            <a:r>
              <a:t>DEMONSTRATE / DO TOGETHER</a:t>
            </a:r>
          </a:p>
          <a:p xmlns:a="http://schemas.openxmlformats.org/drawingml/2006/main">
            <a:r>
              <a:t>Allocate 10 minutes to purpose/concepts, 20 to clone and launch, 10 to the tiny-agent build, 20 to one domain plus the swarm, 20 to challenge/memory/export, and 10 to demos/sign-off.</a:t>
            </a:r>
          </a:p>
          <a:p xmlns:a="http://schemas.openxmlformats.org/drawingml/2006/main">
            <a:r>
              <a:t/>
            </a:r>
          </a:p>
          <a:p xmlns:a="http://schemas.openxmlformats.org/drawingml/2006/main">
            <a:r>
              <a:t>ASK THE ROOM</a:t>
            </a:r>
          </a:p>
          <a:p xmlns:a="http://schemas.openxmlformats.org/drawingml/2006/main">
            <a:r>
              <a:t>What can we defer if the room is behind?</a:t>
            </a:r>
          </a:p>
          <a:p xmlns:a="http://schemas.openxmlformats.org/drawingml/2006/main">
            <a:r>
              <a:t/>
            </a:r>
          </a:p>
          <a:p xmlns:a="http://schemas.openxmlformats.org/drawingml/2006/main">
            <a:r>
              <a:t>EXPECTED EVIDENCE</a:t>
            </a:r>
          </a:p>
          <a:p xmlns:a="http://schemas.openxmlformats.org/drawingml/2006/main">
            <a:r>
              <a:t>Detailed individual domain walkthroughs and optional voice; keep the first successful run, one real code change, a challenge and exported evidence.</a:t>
            </a:r>
          </a:p>
          <a:p xmlns:a="http://schemas.openxmlformats.org/drawingml/2006/main">
            <a:r>
              <a:t/>
            </a:r>
          </a:p>
          <a:p xmlns:a="http://schemas.openxmlformats.org/drawingml/2006/main">
            <a:r>
              <a:t>IF SOMEONE IS STUCK</a:t>
            </a:r>
          </a:p>
          <a:p xmlns:a="http://schemas.openxmlformats.org/drawingml/2006/main">
            <a:r>
              <a:t>If setup is not complete, ninety minutes may not fit the coding lab. Say what was deferred rather than claiming the whole build was completed.</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Treat errors like clues. Do not respond to every problem by reinstalling everything. The error’s layer tells us the smallest useful check.</a:t>
            </a:r>
          </a:p>
          <a:p xmlns:a="http://schemas.openxmlformats.org/drawingml/2006/main">
            <a:r>
              <a:t/>
            </a:r>
          </a:p>
          <a:p xmlns:a="http://schemas.openxmlformats.org/drawingml/2006/main">
            <a:r>
              <a:t>DEMONSTRATE / DO TOGETHER</a:t>
            </a:r>
          </a:p>
          <a:p xmlns:a="http://schemas.openxmlformats.org/drawingml/2006/main">
            <a:r>
              <a:t>Ask the learner to show the exact error and the current folder. Use the table to choose one action, then verify the expected result.</a:t>
            </a:r>
          </a:p>
          <a:p xmlns:a="http://schemas.openxmlformats.org/drawingml/2006/main">
            <a:r>
              <a:t/>
            </a:r>
          </a:p>
          <a:p xmlns:a="http://schemas.openxmlformats.org/drawingml/2006/main">
            <a:r>
              <a:t>ASK THE ROOM</a:t>
            </a:r>
          </a:p>
          <a:p xmlns:a="http://schemas.openxmlformats.org/drawingml/2006/main">
            <a:r>
              <a:t>If the browser cannot connect, will changing a model key help?</a:t>
            </a:r>
          </a:p>
          <a:p xmlns:a="http://schemas.openxmlformats.org/drawingml/2006/main">
            <a:r>
              <a:t/>
            </a:r>
          </a:p>
          <a:p xmlns:a="http://schemas.openxmlformats.org/drawingml/2006/main">
            <a:r>
              <a:t>EXPECTED EVIDENCE</a:t>
            </a:r>
          </a:p>
          <a:p xmlns:a="http://schemas.openxmlformats.org/drawingml/2006/main">
            <a:r>
              <a:t>No. First check that the local server is running and the address is correct.</a:t>
            </a:r>
          </a:p>
          <a:p xmlns:a="http://schemas.openxmlformats.org/drawingml/2006/main">
            <a:r>
              <a:t/>
            </a:r>
          </a:p>
          <a:p xmlns:a="http://schemas.openxmlformats.org/drawingml/2006/main">
            <a:r>
              <a:t>IF SOMEONE IS STUCK</a:t>
            </a:r>
          </a:p>
          <a:p xmlns:a="http://schemas.openxmlformats.org/drawingml/2006/main">
            <a:r>
              <a:t>Keep a prepared offline-capable machine or pair for continuity while one person resolves network or installation issues.</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Offline-first does not mean a fresh laptop can conjure its dependencies without a download. The first install needs cached packages or an approved network. The app then runs rehearsal locally.</a:t>
            </a:r>
          </a:p>
          <a:p xmlns:a="http://schemas.openxmlformats.org/drawingml/2006/main">
            <a:r>
              <a:t/>
            </a:r>
          </a:p>
          <a:p xmlns:a="http://schemas.openxmlformats.org/drawingml/2006/main">
            <a:r>
              <a:t>DEMONSTRATE / DO TOGETHER</a:t>
            </a:r>
          </a:p>
          <a:p xmlns:a="http://schemas.openxmlformats.org/drawingml/2006/main">
            <a:r>
              <a:t>Distinguish source ZIP, installed .venv and uv’s package cache. A source ZIP is a fallback for Git access; it is not a replacement for dependency installation.</a:t>
            </a:r>
          </a:p>
          <a:p xmlns:a="http://schemas.openxmlformats.org/drawingml/2006/main">
            <a:r>
              <a:t/>
            </a:r>
          </a:p>
          <a:p xmlns:a="http://schemas.openxmlformats.org/drawingml/2006/main">
            <a:r>
              <a:t>ASK THE ROOM</a:t>
            </a:r>
          </a:p>
          <a:p xmlns:a="http://schemas.openxmlformats.org/drawingml/2006/main">
            <a:r>
              <a:t>What should we prepare before entering an unreliable-network classroom?</a:t>
            </a:r>
          </a:p>
          <a:p xmlns:a="http://schemas.openxmlformats.org/drawingml/2006/main">
            <a:r>
              <a:t/>
            </a:r>
          </a:p>
          <a:p xmlns:a="http://schemas.openxmlformats.org/drawingml/2006/main">
            <a:r>
              <a:t>EXPECTED EVIDENCE</a:t>
            </a:r>
          </a:p>
          <a:p xmlns:a="http://schemas.openxmlformats.org/drawingml/2006/main">
            <a:r>
              <a:t>Install and test on the teaching devices or ready paired machines; keep the source and verified examples accessible.</a:t>
            </a:r>
          </a:p>
          <a:p xmlns:a="http://schemas.openxmlformats.org/drawingml/2006/main">
            <a:r>
              <a:t/>
            </a:r>
          </a:p>
          <a:p xmlns:a="http://schemas.openxmlformats.org/drawingml/2006/main">
            <a:r>
              <a:t>IF SOMEONE IS STUCK</a:t>
            </a:r>
          </a:p>
          <a:p xmlns:a="http://schemas.openxmlformats.org/drawingml/2006/main">
            <a:r>
              <a:t>Do not copy a macOS .venv to Windows and assume it is portable. Install on each target platform.</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database holds notes, runs, blueprints and conversations. The source files are not the whole working state. You can restart and return to the same local team.</a:t>
            </a:r>
          </a:p>
          <a:p xmlns:a="http://schemas.openxmlformats.org/drawingml/2006/main">
            <a:r>
              <a:t/>
            </a:r>
          </a:p>
          <a:p xmlns:a="http://schemas.openxmlformats.org/drawingml/2006/main">
            <a:r>
              <a:t>DEMONSTRATE / DO TOGETHER</a:t>
            </a:r>
          </a:p>
          <a:p xmlns:a="http://schemas.openxmlformats.org/drawingml/2006/main">
            <a:r>
              <a:t>Show how to stop the server with Control+C, then restart. Explain that a backup of the data directory should be taken with the app stopped. Do not add this local data to the shared GitHub repository.</a:t>
            </a:r>
          </a:p>
          <a:p xmlns:a="http://schemas.openxmlformats.org/drawingml/2006/main">
            <a:r>
              <a:t/>
            </a:r>
          </a:p>
          <a:p xmlns:a="http://schemas.openxmlformats.org/drawingml/2006/main">
            <a:r>
              <a:t>ASK THE ROOM</a:t>
            </a:r>
          </a:p>
          <a:p xmlns:a="http://schemas.openxmlformats.org/drawingml/2006/main">
            <a:r>
              <a:t>Which folder preserves saved runs on this machine?</a:t>
            </a:r>
          </a:p>
          <a:p xmlns:a="http://schemas.openxmlformats.org/drawingml/2006/main">
            <a:r>
              <a:t/>
            </a:r>
          </a:p>
          <a:p xmlns:a="http://schemas.openxmlformats.org/drawingml/2006/main">
            <a:r>
              <a:t>EXPECTED EVIDENCE</a:t>
            </a:r>
          </a:p>
          <a:p xmlns:a="http://schemas.openxmlformats.org/drawingml/2006/main">
            <a:r>
              <a:t>.agentforge, unless AGENTFORGE_DATA_DIR was deliberately changed.</a:t>
            </a:r>
          </a:p>
          <a:p xmlns:a="http://schemas.openxmlformats.org/drawingml/2006/main">
            <a:r>
              <a:t/>
            </a:r>
          </a:p>
          <a:p xmlns:a="http://schemas.openxmlformats.org/drawingml/2006/main">
            <a:r>
              <a:t>IF SOMEONE IS STUCK</a:t>
            </a:r>
          </a:p>
          <a:p xmlns:a="http://schemas.openxmlformats.org/drawingml/2006/main">
            <a:r>
              <a:t>Closing the browser is not the same as stopping the server. Stopping the server does not erase the stored data.</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clone link must point to a real, tested repository. The project folder is the repository root; do not accidentally upload the entire parent folder containing proposals or other applications.</a:t>
            </a:r>
          </a:p>
          <a:p xmlns:a="http://schemas.openxmlformats.org/drawingml/2006/main">
            <a:r>
              <a:t/>
            </a:r>
          </a:p>
          <a:p xmlns:a="http://schemas.openxmlformats.org/drawingml/2006/main">
            <a:r>
              <a:t>DEMONSTRATE / DO TOGETHER</a:t>
            </a:r>
          </a:p>
          <a:p xmlns:a="http://schemas.openxmlformats.org/drawingml/2006/main">
            <a:r>
              <a:t>Follow the included publishing handout. Review staged files and ensure .env, .venv and .agentforge are excluded. Create the GitHub repository with the intended visibility and grant participants access. Use the actual remote URL shown by GitHub.</a:t>
            </a:r>
          </a:p>
          <a:p xmlns:a="http://schemas.openxmlformats.org/drawingml/2006/main">
            <a:r>
              <a:t/>
            </a:r>
          </a:p>
          <a:p xmlns:a="http://schemas.openxmlformats.org/drawingml/2006/main">
            <a:r>
              <a:t>ASK THE ROOM</a:t>
            </a:r>
          </a:p>
          <a:p xmlns:a="http://schemas.openxmlformats.org/drawingml/2006/main">
            <a:r>
              <a:t>What must happen before sharing the clone command with the team?</a:t>
            </a:r>
          </a:p>
          <a:p xmlns:a="http://schemas.openxmlformats.org/drawingml/2006/main">
            <a:r>
              <a:t/>
            </a:r>
          </a:p>
          <a:p xmlns:a="http://schemas.openxmlformats.org/drawingml/2006/main">
            <a:r>
              <a:t>EXPECTED EVIDENCE</a:t>
            </a:r>
          </a:p>
          <a:p xmlns:a="http://schemas.openxmlformats.org/drawingml/2006/main">
            <a:r>
              <a:t>A push succeeds and a fresh clone can install, pass tests and launch.</a:t>
            </a:r>
          </a:p>
          <a:p xmlns:a="http://schemas.openxmlformats.org/drawingml/2006/main">
            <a:r>
              <a:t/>
            </a:r>
          </a:p>
          <a:p xmlns:a="http://schemas.openxmlformats.org/drawingml/2006/main">
            <a:r>
              <a:t>IF SOMEONE IS STUCK</a:t>
            </a:r>
          </a:p>
          <a:p xmlns:a="http://schemas.openxmlformats.org/drawingml/2006/main">
            <a:r>
              <a:t>If the remote already has commits, do not force-push. Use a fresh empty repository or integrate changes deliberately. No remote repository was published as part of creating this deck.</a:t>
            </a:r>
          </a:p>
          <a:p xmlns:a="http://schemas.openxmlformats.org/drawingml/2006/main">
            <a:r>
              <a:t/>
            </a:r>
          </a:p>
          <a:p xmlns:a="http://schemas.openxmlformats.org/drawingml/2006/main">
            <a:r>
              <a:t>[Sources]</a:t>
            </a:r>
          </a:p>
          <a:p xmlns:a="http://schemas.openxmlformats.org/drawingml/2006/main">
            <a:r>
              <a:t>https://docs.github.com/en/repositories/creating-and-managing-repositories/cloning-a-repository</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 working folder on the facilitator’s machine can hide missing files or dependencies. A fresh clone is the meaningful test of the instructions we are giving the team.</a:t>
            </a:r>
          </a:p>
          <a:p xmlns:a="http://schemas.openxmlformats.org/drawingml/2006/main">
            <a:r>
              <a:t/>
            </a:r>
          </a:p>
          <a:p xmlns:a="http://schemas.openxmlformats.org/drawingml/2006/main">
            <a:r>
              <a:t>DEMONSTRATE / DO TOGETHER</a:t>
            </a:r>
          </a:p>
          <a:p xmlns:a="http://schemas.openxmlformats.org/drawingml/2006/main">
            <a:r>
              <a:t>Use a different empty folder. Clone the actual published URL, run these checks, and visit the localhost page. Verify the workshop folder and deck/handouts are present in the repository if you intend to share them there.</a:t>
            </a:r>
          </a:p>
          <a:p xmlns:a="http://schemas.openxmlformats.org/drawingml/2006/main">
            <a:r>
              <a:t/>
            </a:r>
          </a:p>
          <a:p xmlns:a="http://schemas.openxmlformats.org/drawingml/2006/main">
            <a:r>
              <a:t>ASK THE ROOM</a:t>
            </a:r>
          </a:p>
          <a:p xmlns:a="http://schemas.openxmlformats.org/drawingml/2006/main">
            <a:r>
              <a:t>What does a successful local commit prove about participant access?</a:t>
            </a:r>
          </a:p>
          <a:p xmlns:a="http://schemas.openxmlformats.org/drawingml/2006/main">
            <a:r>
              <a:t/>
            </a:r>
          </a:p>
          <a:p xmlns:a="http://schemas.openxmlformats.org/drawingml/2006/main">
            <a:r>
              <a:t>EXPECTED EVIDENCE</a:t>
            </a:r>
          </a:p>
          <a:p xmlns:a="http://schemas.openxmlformats.org/drawingml/2006/main">
            <a:r>
              <a:t>Nothing about remote access. The push and participant clone must be verified separately.</a:t>
            </a:r>
          </a:p>
          <a:p xmlns:a="http://schemas.openxmlformats.org/drawingml/2006/main">
            <a:r>
              <a:t/>
            </a:r>
          </a:p>
          <a:p xmlns:a="http://schemas.openxmlformats.org/drawingml/2006/main">
            <a:r>
              <a:t>IF SOMEONE IS STUCK</a:t>
            </a:r>
          </a:p>
          <a:p xmlns:a="http://schemas.openxmlformats.org/drawingml/2006/main">
            <a:r>
              <a:t>Do not ask learners to clone an unverified guessed URL. Share the repository’s actual HTTPS clone link.</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Moving from a scripted adapter to a live model changes the behavior we must test. Provider availability, quota, privacy and tool support need a separate check. Keep today’s rehearsal key-free.</a:t>
            </a:r>
          </a:p>
          <a:p xmlns:a="http://schemas.openxmlformats.org/drawingml/2006/main">
            <a:r>
              <a:t/>
            </a:r>
          </a:p>
          <a:p xmlns:a="http://schemas.openxmlformats.org/drawingml/2006/main">
            <a:r>
              <a:t>DEMONSTRATE / DO TOGETHER</a:t>
            </a:r>
          </a:p>
          <a:p xmlns:a="http://schemas.openxmlformats.org/drawingml/2006/main">
            <a:r>
              <a:t>Point to the README’s Gemini and Ollama sections. Explain that live model IDs must be available in the chosen account or installed locally. Never paste keys into the deck, chat or Memory Vault.</a:t>
            </a:r>
          </a:p>
          <a:p xmlns:a="http://schemas.openxmlformats.org/drawingml/2006/main">
            <a:r>
              <a:t/>
            </a:r>
          </a:p>
          <a:p xmlns:a="http://schemas.openxmlformats.org/drawingml/2006/main">
            <a:r>
              <a:t>ASK THE ROOM</a:t>
            </a:r>
          </a:p>
          <a:p xmlns:a="http://schemas.openxmlformats.org/drawingml/2006/main">
            <a:r>
              <a:t>Which results need retesting with a live model?</a:t>
            </a:r>
          </a:p>
          <a:p xmlns:a="http://schemas.openxmlformats.org/drawingml/2006/main">
            <a:r>
              <a:t/>
            </a:r>
          </a:p>
          <a:p xmlns:a="http://schemas.openxmlformats.org/drawingml/2006/main">
            <a:r>
              <a:t>EXPECTED EVIDENCE</a:t>
            </a:r>
          </a:p>
          <a:p xmlns:a="http://schemas.openxmlformats.org/drawingml/2006/main">
            <a:r>
              <a:t>Tool use, source grounding, narrative quality, failure handling, latency and relevant safety boundaries.</a:t>
            </a:r>
          </a:p>
          <a:p xmlns:a="http://schemas.openxmlformats.org/drawingml/2006/main">
            <a:r>
              <a:t/>
            </a:r>
          </a:p>
          <a:p xmlns:a="http://schemas.openxmlformats.org/drawingml/2006/main">
            <a:r>
              <a:t>IF SOMEONE IS STUCK</a:t>
            </a:r>
          </a:p>
          <a:p xmlns:a="http://schemas.openxmlformats.org/drawingml/2006/main">
            <a:r>
              <a:t>A configured flag is not a successful inference. Use demo --live only when a model is actually configured and you intend to make the call.</a:t>
            </a:r>
          </a:p>
          <a:p xmlns:a="http://schemas.openxmlformats.org/drawingml/2006/main">
            <a:r>
              <a:t/>
            </a:r>
          </a:p>
          <a:p xmlns:a="http://schemas.openxmlformats.org/drawingml/2006/main">
            <a:r>
              <a:t>[Sources]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Use this as a quick reference if terms start to crowd out understanding. Plain language should remain accurate: software helpers are not people and a memory store is not a human mind.</a:t>
            </a:r>
          </a:p>
          <a:p xmlns:a="http://schemas.openxmlformats.org/drawingml/2006/main">
            <a:r>
              <a:t/>
            </a:r>
          </a:p>
          <a:p xmlns:a="http://schemas.openxmlformats.org/drawingml/2006/main">
            <a:r>
              <a:t>DEMONSTRATE / DO TOGETHER</a:t>
            </a:r>
          </a:p>
          <a:p xmlns:a="http://schemas.openxmlformats.org/drawingml/2006/main">
            <a:r>
              <a:t>Ask a learner to explain one term to a partner using the example column. Add an example from their own specialization only if the required facts are available.</a:t>
            </a:r>
          </a:p>
          <a:p xmlns:a="http://schemas.openxmlformats.org/drawingml/2006/main">
            <a:r>
              <a:t/>
            </a:r>
          </a:p>
          <a:p xmlns:a="http://schemas.openxmlformats.org/drawingml/2006/main">
            <a:r>
              <a:t>ASK THE ROOM</a:t>
            </a:r>
          </a:p>
          <a:p xmlns:a="http://schemas.openxmlformats.org/drawingml/2006/main">
            <a:r>
              <a:t>Can you explain orchestration without using the word orchestration?</a:t>
            </a:r>
          </a:p>
          <a:p xmlns:a="http://schemas.openxmlformats.org/drawingml/2006/main">
            <a:r>
              <a:t/>
            </a:r>
          </a:p>
          <a:p xmlns:a="http://schemas.openxmlformats.org/drawingml/2006/main">
            <a:r>
              <a:t>EXPECTED EVIDENCE</a:t>
            </a:r>
          </a:p>
          <a:p xmlns:a="http://schemas.openxmlformats.org/drawingml/2006/main">
            <a:r>
              <a:t>A planned order of work that passes the right information to the next step.</a:t>
            </a:r>
          </a:p>
          <a:p xmlns:a="http://schemas.openxmlformats.org/drawingml/2006/main">
            <a:r>
              <a:t/>
            </a:r>
          </a:p>
          <a:p xmlns:a="http://schemas.openxmlformats.org/drawingml/2006/main">
            <a:r>
              <a:t>IF SOMEONE IS STUCK</a:t>
            </a:r>
          </a:p>
          <a:p xmlns:a="http://schemas.openxmlformats.org/drawingml/2006/main">
            <a:r>
              <a:t>Pause for one pair to show the checkpoint before continuing.</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https://docs.langchain.com/oss/python/langgraph/overview</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All application claims in this deck are grounded in the local implementation. External sources are official documentation, cited in the relevant speaker notes. Generated illustrations are visual analogies, not factual diagrams.</a:t>
            </a:r>
          </a:p>
          <a:p xmlns:a="http://schemas.openxmlformats.org/drawingml/2006/main">
            <a:r>
              <a:t/>
            </a:r>
          </a:p>
          <a:p xmlns:a="http://schemas.openxmlformats.org/drawingml/2006/main">
            <a:r>
              <a:t>DEMONSTRATE / DO TOGETHER</a:t>
            </a:r>
          </a:p>
          <a:p xmlns:a="http://schemas.openxmlformats.org/drawingml/2006/main">
            <a:r>
              <a:t>Keep the quickstart and publishing handout available beside the deck. Use the source code and verified outputs when a question depends on exact behavior.</a:t>
            </a:r>
          </a:p>
          <a:p xmlns:a="http://schemas.openxmlformats.org/drawingml/2006/main">
            <a:r>
              <a:t/>
            </a:r>
          </a:p>
          <a:p xmlns:a="http://schemas.openxmlformats.org/drawingml/2006/main">
            <a:r>
              <a:t>ASK THE ROOM</a:t>
            </a:r>
          </a:p>
          <a:p xmlns:a="http://schemas.openxmlformats.org/drawingml/2006/main">
            <a:r>
              <a:t>Where should we look if the slide summary and current code ever diverge?</a:t>
            </a:r>
          </a:p>
          <a:p xmlns:a="http://schemas.openxmlformats.org/drawingml/2006/main">
            <a:r>
              <a:t/>
            </a:r>
          </a:p>
          <a:p xmlns:a="http://schemas.openxmlformats.org/drawingml/2006/main">
            <a:r>
              <a:t>EXPECTED EVIDENCE</a:t>
            </a:r>
          </a:p>
          <a:p xmlns:a="http://schemas.openxmlformats.org/drawingml/2006/main">
            <a:r>
              <a:t>Inspect and verify the current code and its tests, then update the deck.</a:t>
            </a:r>
          </a:p>
          <a:p xmlns:a="http://schemas.openxmlformats.org/drawingml/2006/main">
            <a:r>
              <a:t/>
            </a:r>
          </a:p>
          <a:p xmlns:a="http://schemas.openxmlformats.org/drawingml/2006/main">
            <a:r>
              <a:t>IF SOMEONE IS STUCK</a:t>
            </a:r>
          </a:p>
          <a:p xmlns:a="http://schemas.openxmlformats.org/drawingml/2006/main">
            <a:r>
              <a:t>Before a future session, rerun the setup and baseline checks. Dependency availability and provider behavior can change.</a:t>
            </a:r>
          </a:p>
          <a:p xmlns:a="http://schemas.openxmlformats.org/drawingml/2006/main">
            <a:r>
              <a:t/>
            </a:r>
          </a:p>
          <a:p xmlns:a="http://schemas.openxmlformats.org/drawingml/2006/main">
            <a:r>
              <a:t>[Sources]</a:t>
            </a:r>
          </a:p>
          <a:p xmlns:a="http://schemas.openxmlformats.org/drawingml/2006/main">
            <a:r>
              <a:t>https://docs.langchain.com/oss/python/langchain/agents</a:t>
            </a:r>
          </a:p>
          <a:p xmlns:a="http://schemas.openxmlformats.org/drawingml/2006/main">
            <a:r>
              <a:t>https://docs.langchain.com/oss/python/langgraph/overview</a:t>
            </a:r>
          </a:p>
          <a:p xmlns:a="http://schemas.openxmlformats.org/drawingml/2006/main">
            <a:r>
              <a:t>https://docs.astral.sh/uv/getting-started/installation/</a:t>
            </a:r>
          </a:p>
          <a:p xmlns:a="http://schemas.openxmlformats.org/drawingml/2006/main">
            <a:r>
              <a:t>https://docs.github.com/en/repositories/creating-and-managing-repositories/cloning-a-repository</a:t>
            </a:r>
          </a:p>
          <a:p xmlns:a="http://schemas.openxmlformats.org/drawingml/2006/main">
            <a:r>
              <a:t>https://git-scm.com/install/mac</a:t>
            </a:r>
          </a:p>
          <a:p xmlns:a="http://schemas.openxmlformats.org/drawingml/2006/main">
            <a:r>
              <a:t>https://git-scm.com/install/windows</a:t>
            </a:r>
          </a:p>
          <a:p xmlns:a="http://schemas.openxmlformats.org/drawingml/2006/main">
            <a:r>
              <a:t>Local source: agentforge-jarvis/src/agentforge_jarvis/engine.py; business.py; models.py; providers.py; app.py. Rehearsal behavior verified locally on 3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18523ca904a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c2724d3d4a4a24" /><Relationship Type="http://schemas.openxmlformats.org/officeDocument/2006/relationships/slideLayout" Target="/ppt/slideLayouts/slideLayout1.xml" Id="R43e2271d772c48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e2271d772c48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aeef6609f04c12" /><Relationship Type="http://schemas.openxmlformats.org/officeDocument/2006/relationships/image" Target="/ppt/media/image.png" Id="Re39efbff2c3748f6" /><Relationship Type="http://schemas.openxmlformats.org/officeDocument/2006/relationships/notesSlide" Target="/ppt/notesSlides/notesSlide1.xml" Id="Rffc3cd753f794c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585d22684e470b" /><Relationship Type="http://schemas.openxmlformats.org/officeDocument/2006/relationships/notesSlide" Target="/ppt/notesSlides/notesSlide2.xml" Id="Rde03b15c066f47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3c54e877b1462d" /><Relationship Type="http://schemas.openxmlformats.org/officeDocument/2006/relationships/notesSlide" Target="/ppt/notesSlides/notesSlide3.xml" Id="R39196fcc2a3443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de6212ea944f1d" /><Relationship Type="http://schemas.openxmlformats.org/officeDocument/2006/relationships/notesSlide" Target="/ppt/notesSlides/notesSlide4.xml" Id="R89789abd0b9143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b76ba5132a4f6c" /><Relationship Type="http://schemas.openxmlformats.org/officeDocument/2006/relationships/notesSlide" Target="/ppt/notesSlides/notesSlide5.xml" Id="Rcdb3f8683f1d40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c06adc24df4f4b" /><Relationship Type="http://schemas.openxmlformats.org/officeDocument/2006/relationships/image" Target="/ppt/media/image2.png" Id="R8bd7e0a542914901" /><Relationship Type="http://schemas.openxmlformats.org/officeDocument/2006/relationships/notesSlide" Target="/ppt/notesSlides/notesSlide6.xml" Id="Rec5e38c610c241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cb864c25664a31" /><Relationship Type="http://schemas.openxmlformats.org/officeDocument/2006/relationships/notesSlide" Target="/ppt/notesSlides/notesSlide7.xml" Id="Rf4d0eb8e526e4a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5eb3de41564538" /><Relationship Type="http://schemas.openxmlformats.org/officeDocument/2006/relationships/notesSlide" Target="/ppt/notesSlides/notesSlide8.xml" Id="R392aa73c1b7744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69d3e56e9c47b1" /><Relationship Type="http://schemas.openxmlformats.org/officeDocument/2006/relationships/notesSlide" Target="/ppt/notesSlides/notesSlide9.xml" Id="R9a138c17973645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5a964e19f04d1c" /><Relationship Type="http://schemas.openxmlformats.org/officeDocument/2006/relationships/notesSlide" Target="/ppt/notesSlides/notesSlide10.xml" Id="R861a4ab7a19b44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a24ea65fa346af" /><Relationship Type="http://schemas.openxmlformats.org/officeDocument/2006/relationships/notesSlide" Target="/ppt/notesSlides/notesSlide11.xml" Id="R7411f38181c441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ce5cb09f2a4221" /><Relationship Type="http://schemas.openxmlformats.org/officeDocument/2006/relationships/notesSlide" Target="/ppt/notesSlides/notesSlide12.xml" Id="Rb75f9838773c4c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aaeb618b5f4bf2" /><Relationship Type="http://schemas.openxmlformats.org/officeDocument/2006/relationships/notesSlide" Target="/ppt/notesSlides/notesSlide13.xml" Id="Rd3a8f37298884e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8c5b7abaf746eb" /><Relationship Type="http://schemas.openxmlformats.org/officeDocument/2006/relationships/notesSlide" Target="/ppt/notesSlides/notesSlide14.xml" Id="R479400ea87ff44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acde952c9604f4a" /><Relationship Type="http://schemas.openxmlformats.org/officeDocument/2006/relationships/notesSlide" Target="/ppt/notesSlides/notesSlide15.xml" Id="R24edc331da364e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e660e340e084714" /><Relationship Type="http://schemas.openxmlformats.org/officeDocument/2006/relationships/notesSlide" Target="/ppt/notesSlides/notesSlide16.xml" Id="Rcc3d390bc18b4f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ccbdcb0b7f40a1" /><Relationship Type="http://schemas.openxmlformats.org/officeDocument/2006/relationships/notesSlide" Target="/ppt/notesSlides/notesSlide17.xml" Id="Rdd23868d63ea49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bd27eca9334a37" /><Relationship Type="http://schemas.openxmlformats.org/officeDocument/2006/relationships/notesSlide" Target="/ppt/notesSlides/notesSlide18.xml" Id="Re4ea25b3dd4240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090925553804186" /><Relationship Type="http://schemas.openxmlformats.org/officeDocument/2006/relationships/notesSlide" Target="/ppt/notesSlides/notesSlide19.xml" Id="R4e5e027626ba48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5e1d2c1992a47e9" /><Relationship Type="http://schemas.openxmlformats.org/officeDocument/2006/relationships/notesSlide" Target="/ppt/notesSlides/notesSlide20.xml" Id="R29341ed139524e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7b5b5a8d114f37" /><Relationship Type="http://schemas.openxmlformats.org/officeDocument/2006/relationships/notesSlide" Target="/ppt/notesSlides/notesSlide21.xml" Id="R1afa8a27a69241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02f2c8b85b94516" /><Relationship Type="http://schemas.openxmlformats.org/officeDocument/2006/relationships/notesSlide" Target="/ppt/notesSlides/notesSlide22.xml" Id="R0f9ac2503f1b49f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c96f36635fe47ce" /><Relationship Type="http://schemas.openxmlformats.org/officeDocument/2006/relationships/notesSlide" Target="/ppt/notesSlides/notesSlide23.xml" Id="R6d0b7c7f6f704b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1fd5526c9049bf" /><Relationship Type="http://schemas.openxmlformats.org/officeDocument/2006/relationships/notesSlide" Target="/ppt/notesSlides/notesSlide24.xml" Id="R65531be054b847e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262d88ee80046f3" /><Relationship Type="http://schemas.openxmlformats.org/officeDocument/2006/relationships/notesSlide" Target="/ppt/notesSlides/notesSlide25.xml" Id="R7f7cd883254441b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dccaf27fdea4fb8" /><Relationship Type="http://schemas.openxmlformats.org/officeDocument/2006/relationships/notesSlide" Target="/ppt/notesSlides/notesSlide26.xml" Id="R7706d07d4a8347b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3deb9fa653e41aa" /><Relationship Type="http://schemas.openxmlformats.org/officeDocument/2006/relationships/notesSlide" Target="/ppt/notesSlides/notesSlide27.xml" Id="Rd31e8e9624b7471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51eb9c1045743eb" /><Relationship Type="http://schemas.openxmlformats.org/officeDocument/2006/relationships/notesSlide" Target="/ppt/notesSlides/notesSlide28.xml" Id="Rd154f9d56d7640b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9c3a5930def4525" /><Relationship Type="http://schemas.openxmlformats.org/officeDocument/2006/relationships/notesSlide" Target="/ppt/notesSlides/notesSlide29.xml" Id="Rc10a01e1020848e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48f76be00d44aa2" /><Relationship Type="http://schemas.openxmlformats.org/officeDocument/2006/relationships/notesSlide" Target="/ppt/notesSlides/notesSlide30.xml" Id="R8cb23a59786c425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2cf47ddb1264d7b" /><Relationship Type="http://schemas.openxmlformats.org/officeDocument/2006/relationships/notesSlide" Target="/ppt/notesSlides/notesSlide31.xml" Id="R5630b9d58f0d4b3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f39a96cbc884749" /><Relationship Type="http://schemas.openxmlformats.org/officeDocument/2006/relationships/notesSlide" Target="/ppt/notesSlides/notesSlide32.xml" Id="R3001785ade6748f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74573fcaa2e48d0" /><Relationship Type="http://schemas.openxmlformats.org/officeDocument/2006/relationships/notesSlide" Target="/ppt/notesSlides/notesSlide33.xml" Id="R0697a910132d41a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7a85aada1cf4949" /><Relationship Type="http://schemas.openxmlformats.org/officeDocument/2006/relationships/notesSlide" Target="/ppt/notesSlides/notesSlide34.xml" Id="R32d5b6eb21f1478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52c0b90f6ea4e0f" /><Relationship Type="http://schemas.openxmlformats.org/officeDocument/2006/relationships/notesSlide" Target="/ppt/notesSlides/notesSlide35.xml" Id="R0d30a637406f4d3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6c0e66d638e4e00" /><Relationship Type="http://schemas.openxmlformats.org/officeDocument/2006/relationships/notesSlide" Target="/ppt/notesSlides/notesSlide36.xml" Id="R483f3d4ef1bc40a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ec7f299bd474891" /><Relationship Type="http://schemas.openxmlformats.org/officeDocument/2006/relationships/notesSlide" Target="/ppt/notesSlides/notesSlide37.xml" Id="R62a3f06fcfba44d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b0083b3d25442ee" /><Relationship Type="http://schemas.openxmlformats.org/officeDocument/2006/relationships/notesSlide" Target="/ppt/notesSlides/notesSlide38.xml" Id="R951b0bbc4c2b45e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019031759ad4a1f" /><Relationship Type="http://schemas.openxmlformats.org/officeDocument/2006/relationships/notesSlide" Target="/ppt/notesSlides/notesSlide39.xml" Id="R9a9bf63349e349e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eb054d1f8af479b" /><Relationship Type="http://schemas.openxmlformats.org/officeDocument/2006/relationships/notesSlide" Target="/ppt/notesSlides/notesSlide40.xml" Id="Rf7b70806c63e444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beac64cecca4680" /><Relationship Type="http://schemas.openxmlformats.org/officeDocument/2006/relationships/notesSlide" Target="/ppt/notesSlides/notesSlide41.xml" Id="R98373824b53e4c8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b180b168b23419e" /><Relationship Type="http://schemas.openxmlformats.org/officeDocument/2006/relationships/notesSlide" Target="/ppt/notesSlides/notesSlide42.xml" Id="R51a7505ff01d4e9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a1e7b43049547fd" /><Relationship Type="http://schemas.openxmlformats.org/officeDocument/2006/relationships/notesSlide" Target="/ppt/notesSlides/notesSlide43.xml" Id="Rda0fc276df0f4d4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e0dced808f742a5" /><Relationship Type="http://schemas.openxmlformats.org/officeDocument/2006/relationships/notesSlide" Target="/ppt/notesSlides/notesSlide44.xml" Id="Rdbe3ae994e9747c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af7a8ca90b2476d" /><Relationship Type="http://schemas.openxmlformats.org/officeDocument/2006/relationships/notesSlide" Target="/ppt/notesSlides/notesSlide45.xml" Id="R798aaa4ad6594b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a5cfb0f6ce940b8" /><Relationship Type="http://schemas.openxmlformats.org/officeDocument/2006/relationships/notesSlide" Target="/ppt/notesSlides/notesSlide46.xml" Id="R1384ee504c0d41f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1d6d3afedd74c98" /><Relationship Type="http://schemas.openxmlformats.org/officeDocument/2006/relationships/notesSlide" Target="/ppt/notesSlides/notesSlide47.xml" Id="R1195aa790ce8430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f7449a0c71340e8" /><Relationship Type="http://schemas.openxmlformats.org/officeDocument/2006/relationships/notesSlide" Target="/ppt/notesSlides/notesSlide48.xml" Id="Rff6ad67380c8451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2507a55d9e14113" /><Relationship Type="http://schemas.openxmlformats.org/officeDocument/2006/relationships/notesSlide" Target="/ppt/notesSlides/notesSlide49.xml" Id="R5373f2971121422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b9a62e605b447ef" /><Relationship Type="http://schemas.openxmlformats.org/officeDocument/2006/relationships/notesSlide" Target="/ppt/notesSlides/notesSlide50.xml" Id="R42f216ae993d451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222fb4886a34a0a" /><Relationship Type="http://schemas.openxmlformats.org/officeDocument/2006/relationships/notesSlide" Target="/ppt/notesSlides/notesSlide51.xml" Id="R932d9a0007034bc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9c35065cf284937" /><Relationship Type="http://schemas.openxmlformats.org/officeDocument/2006/relationships/notesSlide" Target="/ppt/notesSlides/notesSlide52.xml" Id="Rc07cb12fbaa0460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6d8671e764e4357" /><Relationship Type="http://schemas.openxmlformats.org/officeDocument/2006/relationships/notesSlide" Target="/ppt/notesSlides/notesSlide53.xml" Id="R710a9d1d6140444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56a206c5f1a4329" /><Relationship Type="http://schemas.openxmlformats.org/officeDocument/2006/relationships/notesSlide" Target="/ppt/notesSlides/notesSlide54.xml" Id="Ra7042bb36f114cc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2b45d7df17f4aea" /><Relationship Type="http://schemas.openxmlformats.org/officeDocument/2006/relationships/notesSlide" Target="/ppt/notesSlides/notesSlide55.xml" Id="R792676b29faa4fe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4f1c80e3ee5448f" /><Relationship Type="http://schemas.openxmlformats.org/officeDocument/2006/relationships/image" Target="/ppt/media/image3.png" Id="R4550875ec7ef4e10" /><Relationship Type="http://schemas.openxmlformats.org/officeDocument/2006/relationships/notesSlide" Target="/ppt/notesSlides/notesSlide56.xml" Id="Rfb3605b1d33d4bd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0f5459067714861" /><Relationship Type="http://schemas.openxmlformats.org/officeDocument/2006/relationships/notesSlide" Target="/ppt/notesSlides/notesSlide57.xml" Id="R22df52a5865242d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4a24fd87e2e4d1e" /><Relationship Type="http://schemas.openxmlformats.org/officeDocument/2006/relationships/notesSlide" Target="/ppt/notesSlides/notesSlide58.xml" Id="R09d0d75cfa6c4a9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6507ac8972b04aee" /><Relationship Type="http://schemas.openxmlformats.org/officeDocument/2006/relationships/notesSlide" Target="/ppt/notesSlides/notesSlide59.xml" Id="R41263e5f48d24ad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e77fa55e36d45b2" /><Relationship Type="http://schemas.openxmlformats.org/officeDocument/2006/relationships/notesSlide" Target="/ppt/notesSlides/notesSlide60.xml" Id="R82c198fc8e314a1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e0e97ed99754993" /><Relationship Type="http://schemas.openxmlformats.org/officeDocument/2006/relationships/notesSlide" Target="/ppt/notesSlides/notesSlide61.xml" Id="R52500e6006de40d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b6ca5220af784c2e" /><Relationship Type="http://schemas.openxmlformats.org/officeDocument/2006/relationships/notesSlide" Target="/ppt/notesSlides/notesSlide62.xml" Id="R8a05615a2433415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1efd26ab8ec4945" /><Relationship Type="http://schemas.openxmlformats.org/officeDocument/2006/relationships/notesSlide" Target="/ppt/notesSlides/notesSlide63.xml" Id="R3721db3402544de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eaee202926f243ab" /><Relationship Type="http://schemas.openxmlformats.org/officeDocument/2006/relationships/notesSlide" Target="/ppt/notesSlides/notesSlide64.xml" Id="Ra5ceb4e481aa482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e7786039ebd42a2" /><Relationship Type="http://schemas.openxmlformats.org/officeDocument/2006/relationships/notesSlide" Target="/ppt/notesSlides/notesSlide65.xml" Id="R880782480e8a4c4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ee87204e62d4f3a" /><Relationship Type="http://schemas.openxmlformats.org/officeDocument/2006/relationships/notesSlide" Target="/ppt/notesSlides/notesSlide66.xml" Id="Recc7ea4f8404461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b2a4b4b8a08c48bd" /><Relationship Type="http://schemas.openxmlformats.org/officeDocument/2006/relationships/notesSlide" Target="/ppt/notesSlides/notesSlide67.xml" Id="Rd16e286ae2134c5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fc61496ba314e3d" /><Relationship Type="http://schemas.openxmlformats.org/officeDocument/2006/relationships/notesSlide" Target="/ppt/notesSlides/notesSlide68.xml" Id="Rafbda2337ca743b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ceeac96abbb4b0f" /><Relationship Type="http://schemas.openxmlformats.org/officeDocument/2006/relationships/notesSlide" Target="/ppt/notesSlides/notesSlide69.xml" Id="Re31aa75a4a8d47d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c39b4012fdb8467c" /><Relationship Type="http://schemas.openxmlformats.org/officeDocument/2006/relationships/notesSlide" Target="/ppt/notesSlides/notesSlide70.xml" Id="Re011fb90ebc341e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3c8b7a0fe94e415c" /><Relationship Type="http://schemas.openxmlformats.org/officeDocument/2006/relationships/notesSlide" Target="/ppt/notesSlides/notesSlide71.xml" Id="R05f6cf0a1ff0454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923c6d6c8922465b" /><Relationship Type="http://schemas.openxmlformats.org/officeDocument/2006/relationships/notesSlide" Target="/ppt/notesSlides/notesSlide72.xml" Id="R96329ac413f94ccf" /></Relationships>
</file>

<file path=ppt/slides/slide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39efbff2c3748f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C80BD733-0757-42FE-8BC8-BA1287A3DABC}"/>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71321"/>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EEB8EC29-90A5-4B7C-A1B7-BFE94301A21D}"/>
              </a:ext>
            </a:extLst>
          </p:cNvPr>
          <p:cNvSpPr>
            <a:spLocks xmlns:a="http://schemas.openxmlformats.org/drawingml/2006/main" noGrp="1"/>
          </p:cNvSpPr>
          <p:nvPr/>
        </p:nvSpPr>
        <p:spPr>
          <a:xfrm xmlns:a="http://schemas.openxmlformats.org/drawingml/2006/main">
            <a:off x="609600" y="400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LIBA · GUIDED DRY RUN</a:t>
            </a:r>
          </a:p>
        </p:txBody>
      </p:sp>
      <p:sp>
        <p:nvSpPr>
          <p:cNvPr id="4" name="text">
            <a:extLst xmlns:a="http://schemas.openxmlformats.org/drawingml/2006/main">
              <a:ext uri="{FF2B5EF4-FFF2-40B4-BE49-F238E27FC236}">
                <a16:creationId xmlns:a16="http://schemas.microsoft.com/office/drawing/2014/main" id="{716143BC-A5DA-4CDD-B20B-26074728BC73}"/>
              </a:ext>
            </a:extLst>
          </p:cNvPr>
          <p:cNvSpPr>
            <a:spLocks xmlns:a="http://schemas.openxmlformats.org/drawingml/2006/main" noGrp="1"/>
          </p:cNvSpPr>
          <p:nvPr/>
        </p:nvSpPr>
        <p:spPr>
          <a:xfrm xmlns:a="http://schemas.openxmlformats.org/drawingml/2006/main">
            <a:off x="609600" y="1304925"/>
            <a:ext cx="4429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EDF5F1"/>
                </a:solidFill>
                <a:latin typeface="Aptos"/>
                <a:ea typeface="Aptos"/>
                <a:cs typeface="Aptos"/>
              </a:defRPr>
            </a:pPr>
            <a:r>
              <a:rPr sz="5400" b="1">
                <a:solidFill>
                  <a:srgbClr val="EDF5F1"/>
                </a:solidFill>
                <a:latin typeface="Aptos"/>
                <a:ea typeface="Aptos"/>
                <a:cs typeface="Aptos"/>
              </a:rPr>
              <a:t>Build your</a:t>
            </a:r>
          </a:p>
          <a:p xmlns:a="http://schemas.openxmlformats.org/drawingml/2006/main">
            <a:pPr>
              <a:defRPr sz="5400" b="1">
                <a:solidFill>
                  <a:srgbClr val="EDF5F1"/>
                </a:solidFill>
                <a:latin typeface="Aptos"/>
                <a:ea typeface="Aptos"/>
                <a:cs typeface="Aptos"/>
              </a:defRPr>
            </a:pPr>
            <a:r>
              <a:rPr sz="5400" b="1">
                <a:solidFill>
                  <a:srgbClr val="EDF5F1"/>
                </a:solidFill>
                <a:latin typeface="Aptos"/>
                <a:ea typeface="Aptos"/>
                <a:cs typeface="Aptos"/>
              </a:rPr>
              <a:t>AI business</a:t>
            </a:r>
          </a:p>
          <a:p xmlns:a="http://schemas.openxmlformats.org/drawingml/2006/main">
            <a:pPr>
              <a:defRPr sz="5400" b="1">
                <a:solidFill>
                  <a:srgbClr val="EDF5F1"/>
                </a:solidFill>
                <a:latin typeface="Aptos"/>
                <a:ea typeface="Aptos"/>
                <a:cs typeface="Aptos"/>
              </a:defRPr>
            </a:pPr>
            <a:r>
              <a:rPr sz="5400" b="1">
                <a:solidFill>
                  <a:srgbClr val="EDF5F1"/>
                </a:solidFill>
                <a:latin typeface="Aptos"/>
                <a:ea typeface="Aptos"/>
                <a:cs typeface="Aptos"/>
              </a:rPr>
              <a:t>team.</a:t>
            </a:r>
          </a:p>
        </p:txBody>
      </p:sp>
      <p:sp>
        <p:nvSpPr>
          <p:cNvPr id="5" name="text">
            <a:extLst xmlns:a="http://schemas.openxmlformats.org/drawingml/2006/main">
              <a:ext uri="{FF2B5EF4-FFF2-40B4-BE49-F238E27FC236}">
                <a16:creationId xmlns:a16="http://schemas.microsoft.com/office/drawing/2014/main" id="{B1C7F2A6-1F05-447A-B455-98E1B1D48149}"/>
              </a:ext>
            </a:extLst>
          </p:cNvPr>
          <p:cNvSpPr>
            <a:spLocks xmlns:a="http://schemas.openxmlformats.org/drawingml/2006/main" noGrp="1"/>
          </p:cNvSpPr>
          <p:nvPr/>
        </p:nvSpPr>
        <p:spPr>
          <a:xfrm xmlns:a="http://schemas.openxmlformats.org/drawingml/2006/main">
            <a:off x="609600" y="4314825"/>
            <a:ext cx="3962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DF5F1"/>
                </a:solidFill>
                <a:latin typeface="Aptos"/>
                <a:ea typeface="Aptos"/>
                <a:cs typeface="Aptos"/>
              </a:defRPr>
            </a:pPr>
            <a:r>
              <a:rPr sz="2025" b="0">
                <a:solidFill>
                  <a:srgbClr val="EDF5F1"/>
                </a:solidFill>
                <a:latin typeface="Aptos"/>
                <a:ea typeface="Aptos"/>
                <a:cs typeface="Aptos"/>
              </a:rPr>
              <a:t>AgentForge JARVIS · Rehearsal edition</a:t>
            </a:r>
          </a:p>
          <a:p xmlns:a="http://schemas.openxmlformats.org/drawingml/2006/main">
            <a:pPr>
              <a:defRPr sz="2025" b="0">
                <a:solidFill>
                  <a:srgbClr val="EDF5F1"/>
                </a:solidFill>
                <a:latin typeface="Aptos"/>
                <a:ea typeface="Aptos"/>
                <a:cs typeface="Aptos"/>
              </a:defRPr>
            </a:pPr>
            <a:r>
              <a:rPr sz="2025" b="0">
                <a:solidFill>
                  <a:srgbClr val="EDF5F1"/>
                </a:solidFill>
                <a:latin typeface="Aptos"/>
                <a:ea typeface="Aptos"/>
                <a:cs typeface="Aptos"/>
              </a:rPr>
              <a:t>Build along with Arthi Rajendran</a:t>
            </a:r>
          </a:p>
        </p:txBody>
      </p:sp>
      <p:sp>
        <p:nvSpPr>
          <p:cNvPr id="6" name="text">
            <a:extLst xmlns:a="http://schemas.openxmlformats.org/drawingml/2006/main">
              <a:ext uri="{FF2B5EF4-FFF2-40B4-BE49-F238E27FC236}">
                <a16:creationId xmlns:a16="http://schemas.microsoft.com/office/drawing/2014/main" id="{21EE3C5C-E3C4-4006-8C53-5E018C375BEF}"/>
              </a:ext>
            </a:extLst>
          </p:cNvPr>
          <p:cNvSpPr>
            <a:spLocks xmlns:a="http://schemas.openxmlformats.org/drawingml/2006/main" noGrp="1"/>
          </p:cNvSpPr>
          <p:nvPr/>
        </p:nvSpPr>
        <p:spPr>
          <a:xfrm xmlns:a="http://schemas.openxmlformats.org/drawingml/2006/main">
            <a:off x="609600" y="56388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61DFBF"/>
                </a:solidFill>
                <a:latin typeface="Aptos"/>
                <a:ea typeface="Aptos"/>
                <a:cs typeface="Aptos"/>
              </a:defRPr>
            </a:pPr>
            <a:r>
              <a:rPr sz="1575" b="1">
                <a:solidFill>
                  <a:srgbClr val="61DFBF"/>
                </a:solidFill>
                <a:latin typeface="Aptos"/>
                <a:ea typeface="Aptos"/>
                <a:cs typeface="Aptos"/>
              </a:rPr>
              <a:t>REAL TOOLS. SHARED EVIDENCE.</a:t>
            </a:r>
          </a:p>
          <a:p xmlns:a="http://schemas.openxmlformats.org/drawingml/2006/main">
            <a:pPr>
              <a:defRPr sz="1575" b="1">
                <a:solidFill>
                  <a:srgbClr val="61DFBF"/>
                </a:solidFill>
                <a:latin typeface="Aptos"/>
                <a:ea typeface="Aptos"/>
                <a:cs typeface="Aptos"/>
              </a:defRPr>
            </a:pPr>
            <a:r>
              <a:rPr sz="1575" b="1">
                <a:solidFill>
                  <a:srgbClr val="61DFBF"/>
                </a:solidFill>
                <a:latin typeface="Aptos"/>
                <a:ea typeface="Aptos"/>
                <a:cs typeface="Aptos"/>
              </a:rPr>
              <a:t>HUMAN DECISIONS.</a:t>
            </a:r>
          </a:p>
        </p:txBody>
      </p:sp>
      <p:sp>
        <p:nvSpPr>
          <p:cNvPr id="7" name="shape">
            <a:extLst xmlns:a="http://schemas.openxmlformats.org/drawingml/2006/main">
              <a:ext uri="{FF2B5EF4-FFF2-40B4-BE49-F238E27FC236}">
                <a16:creationId xmlns:a16="http://schemas.microsoft.com/office/drawing/2014/main" id="{E02C12E0-F85A-4501-A5C6-1F130C9934D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A7D3097-BEA7-47AC-863B-2E6C8AC5FFB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9" name="text">
            <a:extLst xmlns:a="http://schemas.openxmlformats.org/drawingml/2006/main">
              <a:ext uri="{FF2B5EF4-FFF2-40B4-BE49-F238E27FC236}">
                <a16:creationId xmlns:a16="http://schemas.microsoft.com/office/drawing/2014/main" id="{3B86EE66-1AEF-453B-B189-AB9613ACE400}"/>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0" name="text">
            <a:extLst xmlns:a="http://schemas.openxmlformats.org/drawingml/2006/main">
              <a:ext uri="{FF2B5EF4-FFF2-40B4-BE49-F238E27FC236}">
                <a16:creationId xmlns:a16="http://schemas.microsoft.com/office/drawing/2014/main" id="{7370DE87-A1BC-4DDE-8C6E-D9BBA1F9B90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01</a:t>
            </a:r>
          </a:p>
        </p:txBody>
      </p:sp>
    </p:spTree>
    <p:extLst>
      <p:ext uri="{BB962C8B-B14F-4D97-AF65-F5344CB8AC3E}">
        <p14:creationId xmlns:p14="http://schemas.microsoft.com/office/powerpoint/2010/main" val="855173810"/>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B46802E0-D024-401A-8551-A6BDDF468D4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START HERE</a:t>
            </a:r>
          </a:p>
        </p:txBody>
      </p:sp>
      <p:sp>
        <p:nvSpPr>
          <p:cNvPr id="2" name="text">
            <a:extLst xmlns:a="http://schemas.openxmlformats.org/drawingml/2006/main">
              <a:ext uri="{FF2B5EF4-FFF2-40B4-BE49-F238E27FC236}">
                <a16:creationId xmlns:a16="http://schemas.microsoft.com/office/drawing/2014/main" id="{00C8BCC3-D6E1-4B99-B156-DE72DF645DD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By the end, your laptop runs the team.</a:t>
            </a:r>
          </a:p>
        </p:txBody>
      </p:sp>
      <p:sp>
        <p:nvSpPr>
          <p:cNvPr id="3" name="text">
            <a:extLst xmlns:a="http://schemas.openxmlformats.org/drawingml/2006/main">
              <a:ext uri="{FF2B5EF4-FFF2-40B4-BE49-F238E27FC236}">
                <a16:creationId xmlns:a16="http://schemas.microsoft.com/office/drawing/2014/main" id="{44C96AE7-69F5-4B72-9790-92E3D47DC30F}"/>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031C2F43-9FB4-42F3-A0B1-9468B32049A7}"/>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Clone and launch the local command center.</a:t>
            </a:r>
          </a:p>
        </p:txBody>
      </p:sp>
      <p:sp>
        <p:nvSpPr>
          <p:cNvPr id="5" name="text">
            <a:extLst xmlns:a="http://schemas.openxmlformats.org/drawingml/2006/main">
              <a:ext uri="{FF2B5EF4-FFF2-40B4-BE49-F238E27FC236}">
                <a16:creationId xmlns:a16="http://schemas.microsoft.com/office/drawing/2014/main" id="{41A55C87-A620-499A-9466-526820BD7613}"/>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DF065430-3488-4A58-A3C1-BE04D7EFD812}"/>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Build a small LangChain agent from a starter.</a:t>
            </a:r>
          </a:p>
        </p:txBody>
      </p:sp>
      <p:sp>
        <p:nvSpPr>
          <p:cNvPr id="7" name="text">
            <a:extLst xmlns:a="http://schemas.openxmlformats.org/drawingml/2006/main">
              <a:ext uri="{FF2B5EF4-FFF2-40B4-BE49-F238E27FC236}">
                <a16:creationId xmlns:a16="http://schemas.microsoft.com/office/drawing/2014/main" id="{694B672C-4A0E-4599-AAF8-EB2D8190EFDE}"/>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BEAFEEEF-789B-410F-B992-A1B6F3B63DE1}"/>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Adapt six specialists and test one business shock.</a:t>
            </a:r>
          </a:p>
        </p:txBody>
      </p:sp>
      <p:sp>
        <p:nvSpPr>
          <p:cNvPr id="9" name="text">
            <a:extLst xmlns:a="http://schemas.openxmlformats.org/drawingml/2006/main">
              <a:ext uri="{FF2B5EF4-FFF2-40B4-BE49-F238E27FC236}">
                <a16:creationId xmlns:a16="http://schemas.microsoft.com/office/drawing/2014/main" id="{956DFA63-A8E5-483E-814A-CDF8EB5E6D90}"/>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E5C46966-EC77-49AD-81E5-7CD0BAE49E57}"/>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Save evidence and explain the final decision.</a:t>
            </a:r>
          </a:p>
        </p:txBody>
      </p:sp>
      <p:sp>
        <p:nvSpPr>
          <p:cNvPr id="11" name="shape">
            <a:extLst xmlns:a="http://schemas.openxmlformats.org/drawingml/2006/main">
              <a:ext uri="{FF2B5EF4-FFF2-40B4-BE49-F238E27FC236}">
                <a16:creationId xmlns:a16="http://schemas.microsoft.com/office/drawing/2014/main" id="{D7DC6CDC-C5FD-4DD8-85DB-FF2E9DA298F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E115B0A-6BFE-421D-8C54-4FD8A2A22A3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57C72A61-D5AF-449B-9510-465DC84F858D}"/>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6B8EBA78-5E68-4908-8FCC-6FDDE6F1AE2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02</a:t>
            </a:r>
          </a:p>
        </p:txBody>
      </p:sp>
    </p:spTree>
    <p:extLst>
      <p:ext uri="{BB962C8B-B14F-4D97-AF65-F5344CB8AC3E}">
        <p14:creationId xmlns:p14="http://schemas.microsoft.com/office/powerpoint/2010/main" val="224232686"/>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EB107143-9372-4EDC-A37D-7B14541C202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START HERE</a:t>
            </a:r>
          </a:p>
        </p:txBody>
      </p:sp>
      <p:sp>
        <p:nvSpPr>
          <p:cNvPr id="2" name="text">
            <a:extLst xmlns:a="http://schemas.openxmlformats.org/drawingml/2006/main">
              <a:ext uri="{FF2B5EF4-FFF2-40B4-BE49-F238E27FC236}">
                <a16:creationId xmlns:a16="http://schemas.microsoft.com/office/drawing/2014/main" id="{AFD6D212-1994-4899-9FD2-9823733E4B1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Today is a flight simulator for agents.</a:t>
            </a:r>
          </a:p>
        </p:txBody>
      </p:sp>
      <p:sp>
        <p:nvSpPr>
          <p:cNvPr id="3" name="text">
            <a:extLst xmlns:a="http://schemas.openxmlformats.org/drawingml/2006/main">
              <a:ext uri="{FF2B5EF4-FFF2-40B4-BE49-F238E27FC236}">
                <a16:creationId xmlns:a16="http://schemas.microsoft.com/office/drawing/2014/main" id="{313DB545-AEF5-4547-A054-DE06D978018E}"/>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REHEARSAL TODAY</a:t>
            </a:r>
          </a:p>
        </p:txBody>
      </p:sp>
      <p:sp>
        <p:nvSpPr>
          <p:cNvPr id="4" name="text">
            <a:extLst xmlns:a="http://schemas.openxmlformats.org/drawingml/2006/main">
              <a:ext uri="{FF2B5EF4-FFF2-40B4-BE49-F238E27FC236}">
                <a16:creationId xmlns:a16="http://schemas.microsoft.com/office/drawing/2014/main" id="{D45EFF07-C2E2-4231-9F20-165E6B07E2A4}"/>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LIVE AI LATER</a:t>
            </a:r>
          </a:p>
        </p:txBody>
      </p:sp>
      <p:sp>
        <p:nvSpPr>
          <p:cNvPr id="5" name="shape">
            <a:extLst xmlns:a="http://schemas.openxmlformats.org/drawingml/2006/main">
              <a:ext uri="{FF2B5EF4-FFF2-40B4-BE49-F238E27FC236}">
                <a16:creationId xmlns:a16="http://schemas.microsoft.com/office/drawing/2014/main" id="{CFE8B882-433E-4A99-96FE-C12FDCDED927}"/>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A7F1351-7605-4AF6-BAF2-C2B8657D5974}"/>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Scripted model responses</a:t>
            </a:r>
          </a:p>
        </p:txBody>
      </p:sp>
      <p:sp>
        <p:nvSpPr>
          <p:cNvPr id="7" name="text">
            <a:extLst xmlns:a="http://schemas.openxmlformats.org/drawingml/2006/main">
              <a:ext uri="{FF2B5EF4-FFF2-40B4-BE49-F238E27FC236}">
                <a16:creationId xmlns:a16="http://schemas.microsoft.com/office/drawing/2014/main" id="{FBD27CDC-9594-4D25-8855-99A5676B34E8}"/>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Model-generated responses</a:t>
            </a:r>
          </a:p>
        </p:txBody>
      </p:sp>
      <p:sp>
        <p:nvSpPr>
          <p:cNvPr id="8" name="shape">
            <a:extLst xmlns:a="http://schemas.openxmlformats.org/drawingml/2006/main">
              <a:ext uri="{FF2B5EF4-FFF2-40B4-BE49-F238E27FC236}">
                <a16:creationId xmlns:a16="http://schemas.microsoft.com/office/drawing/2014/main" id="{8F060FFF-66D1-4B7A-90DA-25EC694A8407}"/>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84B446C-5C7C-4CEA-84D9-F96335CB3BDB}"/>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Real LangChain tool calls</a:t>
            </a:r>
          </a:p>
        </p:txBody>
      </p:sp>
      <p:sp>
        <p:nvSpPr>
          <p:cNvPr id="10" name="text">
            <a:extLst xmlns:a="http://schemas.openxmlformats.org/drawingml/2006/main">
              <a:ext uri="{FF2B5EF4-FFF2-40B4-BE49-F238E27FC236}">
                <a16:creationId xmlns:a16="http://schemas.microsoft.com/office/drawing/2014/main" id="{3B52068D-77DC-4F8F-B6C7-EAA53E49538C}"/>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Real LangChain tool calls</a:t>
            </a:r>
          </a:p>
        </p:txBody>
      </p:sp>
      <p:sp>
        <p:nvSpPr>
          <p:cNvPr id="11" name="shape">
            <a:extLst xmlns:a="http://schemas.openxmlformats.org/drawingml/2006/main">
              <a:ext uri="{FF2B5EF4-FFF2-40B4-BE49-F238E27FC236}">
                <a16:creationId xmlns:a16="http://schemas.microsoft.com/office/drawing/2014/main" id="{7962C80F-E1A8-4373-BE2F-03FDAE55C99B}"/>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3DA6AF7-571A-46BE-8E23-FEE482C704D1}"/>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Real arithmetic and saved outputs</a:t>
            </a:r>
          </a:p>
        </p:txBody>
      </p:sp>
      <p:sp>
        <p:nvSpPr>
          <p:cNvPr id="13" name="text">
            <a:extLst xmlns:a="http://schemas.openxmlformats.org/drawingml/2006/main">
              <a:ext uri="{FF2B5EF4-FFF2-40B4-BE49-F238E27FC236}">
                <a16:creationId xmlns:a16="http://schemas.microsoft.com/office/drawing/2014/main" id="{98199042-FFA8-47FE-8922-2517A04E6DA4}"/>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Real arithmetic plus model interpretation</a:t>
            </a:r>
          </a:p>
        </p:txBody>
      </p:sp>
      <p:sp>
        <p:nvSpPr>
          <p:cNvPr id="14" name="shape">
            <a:extLst xmlns:a="http://schemas.openxmlformats.org/drawingml/2006/main">
              <a:ext uri="{FF2B5EF4-FFF2-40B4-BE49-F238E27FC236}">
                <a16:creationId xmlns:a16="http://schemas.microsoft.com/office/drawing/2014/main" id="{173D2D00-5A54-4FAA-8526-EF744DA05908}"/>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A515F46-B528-4468-B06D-78B4F7A32BDD}"/>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No model key required</a:t>
            </a:r>
          </a:p>
        </p:txBody>
      </p:sp>
      <p:sp>
        <p:nvSpPr>
          <p:cNvPr id="16" name="text">
            <a:extLst xmlns:a="http://schemas.openxmlformats.org/drawingml/2006/main">
              <a:ext uri="{FF2B5EF4-FFF2-40B4-BE49-F238E27FC236}">
                <a16:creationId xmlns:a16="http://schemas.microsoft.com/office/drawing/2014/main" id="{44F61652-A838-463B-A77B-1FC845D05EC5}"/>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Provider, model, key or local model required</a:t>
            </a:r>
          </a:p>
        </p:txBody>
      </p:sp>
      <p:sp>
        <p:nvSpPr>
          <p:cNvPr id="17" name="shape">
            <a:extLst xmlns:a="http://schemas.openxmlformats.org/drawingml/2006/main">
              <a:ext uri="{FF2B5EF4-FFF2-40B4-BE49-F238E27FC236}">
                <a16:creationId xmlns:a16="http://schemas.microsoft.com/office/drawing/2014/main" id="{4186ACD5-F75E-4247-BA4B-8B2FC192ED9E}"/>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shape">
            <a:extLst xmlns:a="http://schemas.openxmlformats.org/drawingml/2006/main">
              <a:ext uri="{FF2B5EF4-FFF2-40B4-BE49-F238E27FC236}">
                <a16:creationId xmlns:a16="http://schemas.microsoft.com/office/drawing/2014/main" id="{198BFDB1-28E5-4F4E-B67E-BFD5EADD01D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4CEFF86-FC67-4314-8775-43BA4B36F32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0" name="text">
            <a:extLst xmlns:a="http://schemas.openxmlformats.org/drawingml/2006/main">
              <a:ext uri="{FF2B5EF4-FFF2-40B4-BE49-F238E27FC236}">
                <a16:creationId xmlns:a16="http://schemas.microsoft.com/office/drawing/2014/main" id="{11243960-C63F-4FA3-9010-C69810AF165D}"/>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21" name="text">
            <a:extLst xmlns:a="http://schemas.openxmlformats.org/drawingml/2006/main">
              <a:ext uri="{FF2B5EF4-FFF2-40B4-BE49-F238E27FC236}">
                <a16:creationId xmlns:a16="http://schemas.microsoft.com/office/drawing/2014/main" id="{B9895971-8719-487A-8B15-D8FBDD2ECE2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03</a:t>
            </a:r>
          </a:p>
        </p:txBody>
      </p:sp>
    </p:spTree>
    <p:extLst>
      <p:ext uri="{BB962C8B-B14F-4D97-AF65-F5344CB8AC3E}">
        <p14:creationId xmlns:p14="http://schemas.microsoft.com/office/powerpoint/2010/main" val="1730171824"/>
      </p:ext>
    </p:extLst>
  </p:cSld>
</p:sld>
</file>

<file path=ppt/slides/slide4.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85246617-4047-4432-99DD-3CD0BCBC06E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START HERE</a:t>
            </a:r>
          </a:p>
        </p:txBody>
      </p:sp>
      <p:sp>
        <p:nvSpPr>
          <p:cNvPr id="2" name="text">
            <a:extLst xmlns:a="http://schemas.openxmlformats.org/drawingml/2006/main">
              <a:ext uri="{FF2B5EF4-FFF2-40B4-BE49-F238E27FC236}">
                <a16:creationId xmlns:a16="http://schemas.microsoft.com/office/drawing/2014/main" id="{1838C34C-04C2-49F5-A996-2DEFB795F4D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We will learn by doing one small loop.</a:t>
            </a:r>
          </a:p>
        </p:txBody>
      </p:sp>
      <p:sp>
        <p:nvSpPr>
          <p:cNvPr id="3" name="flow-node">
            <a:extLst xmlns:a="http://schemas.openxmlformats.org/drawingml/2006/main">
              <a:ext uri="{FF2B5EF4-FFF2-40B4-BE49-F238E27FC236}">
                <a16:creationId xmlns:a16="http://schemas.microsoft.com/office/drawing/2014/main" id="{B57293ED-3866-49EF-8F11-91D48B50EF15}"/>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Watch Arthi</a:t>
            </a:r>
          </a:p>
        </p:txBody>
      </p:sp>
      <p:sp>
        <p:nvSpPr>
          <p:cNvPr id="4" name="flow-node">
            <a:extLst xmlns:a="http://schemas.openxmlformats.org/drawingml/2006/main">
              <a:ext uri="{FF2B5EF4-FFF2-40B4-BE49-F238E27FC236}">
                <a16:creationId xmlns:a16="http://schemas.microsoft.com/office/drawing/2014/main" id="{99E44C73-657F-483D-8D35-0BDA54BF0490}"/>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Build together</a:t>
            </a:r>
          </a:p>
        </p:txBody>
      </p:sp>
      <p:sp>
        <p:nvSpPr>
          <p:cNvPr id="5" name="flow-node">
            <a:extLst xmlns:a="http://schemas.openxmlformats.org/drawingml/2006/main">
              <a:ext uri="{FF2B5EF4-FFF2-40B4-BE49-F238E27FC236}">
                <a16:creationId xmlns:a16="http://schemas.microsoft.com/office/drawing/2014/main" id="{C8F2C4A2-040E-46CF-9E1C-490B66DCDB15}"/>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Try one change</a:t>
            </a:r>
          </a:p>
        </p:txBody>
      </p:sp>
      <p:sp>
        <p:nvSpPr>
          <p:cNvPr id="6" name="flow-node">
            <a:extLst xmlns:a="http://schemas.openxmlformats.org/drawingml/2006/main">
              <a:ext uri="{FF2B5EF4-FFF2-40B4-BE49-F238E27FC236}">
                <a16:creationId xmlns:a16="http://schemas.microsoft.com/office/drawing/2014/main" id="{099EEE85-7F12-4AF7-9D0B-E934479A31FF}"/>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Show the evidence</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10420566-BC12-4360-B481-4D55CE5ACC5B}"/>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One person types. One person checks. Swap roles halfway.</a:t>
            </a:r>
          </a:p>
        </p:txBody>
      </p:sp>
      <p:sp>
        <p:nvSpPr>
          <p:cNvPr id="11" name="shape">
            <a:extLst xmlns:a="http://schemas.openxmlformats.org/drawingml/2006/main">
              <a:ext uri="{FF2B5EF4-FFF2-40B4-BE49-F238E27FC236}">
                <a16:creationId xmlns:a16="http://schemas.microsoft.com/office/drawing/2014/main" id="{4DD040EC-22CA-4018-8E05-34A337E1637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676CCDA-D1D9-4BB2-A451-F5A4CAF322C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17C43427-8CFA-4170-97C8-EBBB25F09115}"/>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03C12984-3F00-43CD-8047-B5D2F8BA02D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04</a:t>
            </a:r>
          </a:p>
        </p:txBody>
      </p:sp>
    </p:spTree>
    <p:extLst>
      <p:ext uri="{BB962C8B-B14F-4D97-AF65-F5344CB8AC3E}">
        <p14:creationId xmlns:p14="http://schemas.microsoft.com/office/powerpoint/2010/main" val="1440329598"/>
      </p:ext>
    </p:extLst>
  </p:cSld>
</p:sld>
</file>

<file path=ppt/slides/slide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8" name="text">
            <a:extLst xmlns:a="http://schemas.openxmlformats.org/drawingml/2006/main">
              <a:ext uri="{FF2B5EF4-FFF2-40B4-BE49-F238E27FC236}">
                <a16:creationId xmlns:a16="http://schemas.microsoft.com/office/drawing/2014/main" id="{CD1F8838-9606-4864-B9D2-A182B3E3B08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START HERE</a:t>
            </a:r>
          </a:p>
        </p:txBody>
      </p:sp>
      <p:sp>
        <p:nvSpPr>
          <p:cNvPr id="2" name="text">
            <a:extLst xmlns:a="http://schemas.openxmlformats.org/drawingml/2006/main">
              <a:ext uri="{FF2B5EF4-FFF2-40B4-BE49-F238E27FC236}">
                <a16:creationId xmlns:a16="http://schemas.microsoft.com/office/drawing/2014/main" id="{1BD13595-FFD7-40D8-ABCE-AFBAC648F6F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Use the route that fits your session.</a:t>
            </a:r>
          </a:p>
        </p:txBody>
      </p:sp>
      <p:sp>
        <p:nvSpPr>
          <p:cNvPr id="3" name="text">
            <a:extLst xmlns:a="http://schemas.openxmlformats.org/drawingml/2006/main">
              <a:ext uri="{FF2B5EF4-FFF2-40B4-BE49-F238E27FC236}">
                <a16:creationId xmlns:a16="http://schemas.microsoft.com/office/drawing/2014/main" id="{730B5258-894C-4081-8DE2-EC6B9925BAA8}"/>
              </a:ext>
            </a:extLst>
          </p:cNvPr>
          <p:cNvSpPr>
            <a:spLocks xmlns:a="http://schemas.openxmlformats.org/drawingml/2006/main" noGrp="1"/>
          </p:cNvSpPr>
          <p:nvPr/>
        </p:nvSpPr>
        <p:spPr>
          <a:xfrm xmlns:a="http://schemas.openxmlformats.org/drawingml/2006/main">
            <a:off x="609600" y="21431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00–15</a:t>
            </a:r>
          </a:p>
        </p:txBody>
      </p:sp>
      <p:sp>
        <p:nvSpPr>
          <p:cNvPr id="4" name="text">
            <a:extLst xmlns:a="http://schemas.openxmlformats.org/drawingml/2006/main">
              <a:ext uri="{FF2B5EF4-FFF2-40B4-BE49-F238E27FC236}">
                <a16:creationId xmlns:a16="http://schemas.microsoft.com/office/drawing/2014/main" id="{48313288-BBB8-4EBF-97B6-AB947BD418F9}"/>
              </a:ext>
            </a:extLst>
          </p:cNvPr>
          <p:cNvSpPr>
            <a:spLocks xmlns:a="http://schemas.openxmlformats.org/drawingml/2006/main" noGrp="1"/>
          </p:cNvSpPr>
          <p:nvPr/>
        </p:nvSpPr>
        <p:spPr>
          <a:xfrm xmlns:a="http://schemas.openxmlformats.org/drawingml/2006/main">
            <a:off x="2190750" y="21431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Understand the model</a:t>
            </a:r>
          </a:p>
        </p:txBody>
      </p:sp>
      <p:sp>
        <p:nvSpPr>
          <p:cNvPr id="5" name="text">
            <a:extLst xmlns:a="http://schemas.openxmlformats.org/drawingml/2006/main">
              <a:ext uri="{FF2B5EF4-FFF2-40B4-BE49-F238E27FC236}">
                <a16:creationId xmlns:a16="http://schemas.microsoft.com/office/drawing/2014/main" id="{8E15FD9E-1E66-408E-AE51-189D544EABDA}"/>
              </a:ext>
            </a:extLst>
          </p:cNvPr>
          <p:cNvSpPr>
            <a:spLocks xmlns:a="http://schemas.openxmlformats.org/drawingml/2006/main" noGrp="1"/>
          </p:cNvSpPr>
          <p:nvPr/>
        </p:nvSpPr>
        <p:spPr>
          <a:xfrm xmlns:a="http://schemas.openxmlformats.org/drawingml/2006/main">
            <a:off x="5086350" y="21431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Everyday concepts and rehearsal boundaries</a:t>
            </a:r>
          </a:p>
        </p:txBody>
      </p:sp>
      <p:sp>
        <p:nvSpPr>
          <p:cNvPr id="6" name="shape">
            <a:extLst xmlns:a="http://schemas.openxmlformats.org/drawingml/2006/main">
              <a:ext uri="{FF2B5EF4-FFF2-40B4-BE49-F238E27FC236}">
                <a16:creationId xmlns:a16="http://schemas.microsoft.com/office/drawing/2014/main" id="{FCEA0013-8B71-47AB-B382-AFD90D84D056}"/>
              </a:ext>
            </a:extLst>
          </p:cNvPr>
          <p:cNvSpPr>
            <a:spLocks xmlns:a="http://schemas.openxmlformats.org/drawingml/2006/main" noGrp="1"/>
          </p:cNvSpPr>
          <p:nvPr/>
        </p:nvSpPr>
        <p:spPr>
          <a:xfrm xmlns:a="http://schemas.openxmlformats.org/drawingml/2006/main">
            <a:off x="609600" y="25336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EA4EDAA6-22C4-46C7-9FF0-CB4085559342}"/>
              </a:ext>
            </a:extLst>
          </p:cNvPr>
          <p:cNvSpPr>
            <a:spLocks xmlns:a="http://schemas.openxmlformats.org/drawingml/2006/main" noGrp="1"/>
          </p:cNvSpPr>
          <p:nvPr/>
        </p:nvSpPr>
        <p:spPr>
          <a:xfrm xmlns:a="http://schemas.openxmlformats.org/drawingml/2006/main">
            <a:off x="609600" y="26384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15–40</a:t>
            </a:r>
          </a:p>
        </p:txBody>
      </p:sp>
      <p:sp>
        <p:nvSpPr>
          <p:cNvPr id="8" name="text">
            <a:extLst xmlns:a="http://schemas.openxmlformats.org/drawingml/2006/main">
              <a:ext uri="{FF2B5EF4-FFF2-40B4-BE49-F238E27FC236}">
                <a16:creationId xmlns:a16="http://schemas.microsoft.com/office/drawing/2014/main" id="{998F825E-2B68-40FE-988A-791EF85A4EDD}"/>
              </a:ext>
            </a:extLst>
          </p:cNvPr>
          <p:cNvSpPr>
            <a:spLocks xmlns:a="http://schemas.openxmlformats.org/drawingml/2006/main" noGrp="1"/>
          </p:cNvSpPr>
          <p:nvPr/>
        </p:nvSpPr>
        <p:spPr>
          <a:xfrm xmlns:a="http://schemas.openxmlformats.org/drawingml/2006/main">
            <a:off x="2190750" y="26384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Get running</a:t>
            </a:r>
          </a:p>
        </p:txBody>
      </p:sp>
      <p:sp>
        <p:nvSpPr>
          <p:cNvPr id="9" name="text">
            <a:extLst xmlns:a="http://schemas.openxmlformats.org/drawingml/2006/main">
              <a:ext uri="{FF2B5EF4-FFF2-40B4-BE49-F238E27FC236}">
                <a16:creationId xmlns:a16="http://schemas.microsoft.com/office/drawing/2014/main" id="{8BACDCB0-1920-4B30-84FE-69F628DD8FC1}"/>
              </a:ext>
            </a:extLst>
          </p:cNvPr>
          <p:cNvSpPr>
            <a:spLocks xmlns:a="http://schemas.openxmlformats.org/drawingml/2006/main" noGrp="1"/>
          </p:cNvSpPr>
          <p:nvPr/>
        </p:nvSpPr>
        <p:spPr>
          <a:xfrm xmlns:a="http://schemas.openxmlformats.org/drawingml/2006/main">
            <a:off x="5086350" y="26384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Clone, install, doctor and first launch</a:t>
            </a:r>
          </a:p>
        </p:txBody>
      </p:sp>
      <p:sp>
        <p:nvSpPr>
          <p:cNvPr id="10" name="shape">
            <a:extLst xmlns:a="http://schemas.openxmlformats.org/drawingml/2006/main">
              <a:ext uri="{FF2B5EF4-FFF2-40B4-BE49-F238E27FC236}">
                <a16:creationId xmlns:a16="http://schemas.microsoft.com/office/drawing/2014/main" id="{6AD30E03-5430-4B4D-927B-ED17AB90E1E0}"/>
              </a:ext>
            </a:extLst>
          </p:cNvPr>
          <p:cNvSpPr>
            <a:spLocks xmlns:a="http://schemas.openxmlformats.org/drawingml/2006/main" noGrp="1"/>
          </p:cNvSpPr>
          <p:nvPr/>
        </p:nvSpPr>
        <p:spPr>
          <a:xfrm xmlns:a="http://schemas.openxmlformats.org/drawingml/2006/main">
            <a:off x="609600" y="3028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316BE37-01C8-4E8F-8307-4B90D48AC36F}"/>
              </a:ext>
            </a:extLst>
          </p:cNvPr>
          <p:cNvSpPr>
            <a:spLocks xmlns:a="http://schemas.openxmlformats.org/drawingml/2006/main" noGrp="1"/>
          </p:cNvSpPr>
          <p:nvPr/>
        </p:nvSpPr>
        <p:spPr>
          <a:xfrm xmlns:a="http://schemas.openxmlformats.org/drawingml/2006/main">
            <a:off x="609600" y="31337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40–65</a:t>
            </a:r>
          </a:p>
        </p:txBody>
      </p:sp>
      <p:sp>
        <p:nvSpPr>
          <p:cNvPr id="12" name="text">
            <a:extLst xmlns:a="http://schemas.openxmlformats.org/drawingml/2006/main">
              <a:ext uri="{FF2B5EF4-FFF2-40B4-BE49-F238E27FC236}">
                <a16:creationId xmlns:a16="http://schemas.microsoft.com/office/drawing/2014/main" id="{FD98C3A5-955B-4830-AE3F-B22584DF7915}"/>
              </a:ext>
            </a:extLst>
          </p:cNvPr>
          <p:cNvSpPr>
            <a:spLocks xmlns:a="http://schemas.openxmlformats.org/drawingml/2006/main" noGrp="1"/>
          </p:cNvSpPr>
          <p:nvPr/>
        </p:nvSpPr>
        <p:spPr>
          <a:xfrm xmlns:a="http://schemas.openxmlformats.org/drawingml/2006/main">
            <a:off x="2190750" y="31337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Build one agent</a:t>
            </a:r>
          </a:p>
        </p:txBody>
      </p:sp>
      <p:sp>
        <p:nvSpPr>
          <p:cNvPr id="13" name="text">
            <a:extLst xmlns:a="http://schemas.openxmlformats.org/drawingml/2006/main">
              <a:ext uri="{FF2B5EF4-FFF2-40B4-BE49-F238E27FC236}">
                <a16:creationId xmlns:a16="http://schemas.microsoft.com/office/drawing/2014/main" id="{CB22653A-C2BD-4A5B-8C4C-825790C52C2A}"/>
              </a:ext>
            </a:extLst>
          </p:cNvPr>
          <p:cNvSpPr>
            <a:spLocks xmlns:a="http://schemas.openxmlformats.org/drawingml/2006/main" noGrp="1"/>
          </p:cNvSpPr>
          <p:nvPr/>
        </p:nvSpPr>
        <p:spPr>
          <a:xfrm xmlns:a="http://schemas.openxmlformats.org/drawingml/2006/main">
            <a:off x="5086350" y="31337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Complete the starter and test the cash tool</a:t>
            </a:r>
          </a:p>
        </p:txBody>
      </p:sp>
      <p:sp>
        <p:nvSpPr>
          <p:cNvPr id="14" name="shape">
            <a:extLst xmlns:a="http://schemas.openxmlformats.org/drawingml/2006/main">
              <a:ext uri="{FF2B5EF4-FFF2-40B4-BE49-F238E27FC236}">
                <a16:creationId xmlns:a16="http://schemas.microsoft.com/office/drawing/2014/main" id="{50DA3924-EC30-4B51-AD31-4B7D16BC7E2A}"/>
              </a:ext>
            </a:extLst>
          </p:cNvPr>
          <p:cNvSpPr>
            <a:spLocks xmlns:a="http://schemas.openxmlformats.org/drawingml/2006/main" noGrp="1"/>
          </p:cNvSpPr>
          <p:nvPr/>
        </p:nvSpPr>
        <p:spPr>
          <a:xfrm xmlns:a="http://schemas.openxmlformats.org/drawingml/2006/main">
            <a:off x="609600" y="3524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3C905BD5-1D5B-490B-9F52-CF78ED141B11}"/>
              </a:ext>
            </a:extLst>
          </p:cNvPr>
          <p:cNvSpPr>
            <a:spLocks xmlns:a="http://schemas.openxmlformats.org/drawingml/2006/main" noGrp="1"/>
          </p:cNvSpPr>
          <p:nvPr/>
        </p:nvSpPr>
        <p:spPr>
          <a:xfrm xmlns:a="http://schemas.openxmlformats.org/drawingml/2006/main">
            <a:off x="609600" y="36290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65–100</a:t>
            </a:r>
          </a:p>
        </p:txBody>
      </p:sp>
      <p:sp>
        <p:nvSpPr>
          <p:cNvPr id="16" name="text">
            <a:extLst xmlns:a="http://schemas.openxmlformats.org/drawingml/2006/main">
              <a:ext uri="{FF2B5EF4-FFF2-40B4-BE49-F238E27FC236}">
                <a16:creationId xmlns:a16="http://schemas.microsoft.com/office/drawing/2014/main" id="{A4F0CDC8-C82B-4EA3-9F2F-56EA75EB690A}"/>
              </a:ext>
            </a:extLst>
          </p:cNvPr>
          <p:cNvSpPr>
            <a:spLocks xmlns:a="http://schemas.openxmlformats.org/drawingml/2006/main" noGrp="1"/>
          </p:cNvSpPr>
          <p:nvPr/>
        </p:nvSpPr>
        <p:spPr>
          <a:xfrm xmlns:a="http://schemas.openxmlformats.org/drawingml/2006/main">
            <a:off x="2190750" y="36290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Adapt the six roles</a:t>
            </a:r>
          </a:p>
        </p:txBody>
      </p:sp>
      <p:sp>
        <p:nvSpPr>
          <p:cNvPr id="17" name="text">
            <a:extLst xmlns:a="http://schemas.openxmlformats.org/drawingml/2006/main">
              <a:ext uri="{FF2B5EF4-FFF2-40B4-BE49-F238E27FC236}">
                <a16:creationId xmlns:a16="http://schemas.microsoft.com/office/drawing/2014/main" id="{EBC27956-F3BA-43E6-8F52-2B02EAA108CB}"/>
              </a:ext>
            </a:extLst>
          </p:cNvPr>
          <p:cNvSpPr>
            <a:spLocks xmlns:a="http://schemas.openxmlformats.org/drawingml/2006/main" noGrp="1"/>
          </p:cNvSpPr>
          <p:nvPr/>
        </p:nvSpPr>
        <p:spPr>
          <a:xfrm xmlns:a="http://schemas.openxmlformats.org/drawingml/2006/main">
            <a:off x="5086350" y="36290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One controlled experiment per specialist</a:t>
            </a:r>
          </a:p>
        </p:txBody>
      </p:sp>
      <p:sp>
        <p:nvSpPr>
          <p:cNvPr id="18" name="shape">
            <a:extLst xmlns:a="http://schemas.openxmlformats.org/drawingml/2006/main">
              <a:ext uri="{FF2B5EF4-FFF2-40B4-BE49-F238E27FC236}">
                <a16:creationId xmlns:a16="http://schemas.microsoft.com/office/drawing/2014/main" id="{1458D434-17DC-4589-AE2E-50B70B93E454}"/>
              </a:ext>
            </a:extLst>
          </p:cNvPr>
          <p:cNvSpPr>
            <a:spLocks xmlns:a="http://schemas.openxmlformats.org/drawingml/2006/main" noGrp="1"/>
          </p:cNvSpPr>
          <p:nvPr/>
        </p:nvSpPr>
        <p:spPr>
          <a:xfrm xmlns:a="http://schemas.openxmlformats.org/drawingml/2006/main">
            <a:off x="609600" y="40195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40F7CC08-FF75-4590-AA9E-6D208EBAC68F}"/>
              </a:ext>
            </a:extLst>
          </p:cNvPr>
          <p:cNvSpPr>
            <a:spLocks xmlns:a="http://schemas.openxmlformats.org/drawingml/2006/main" noGrp="1"/>
          </p:cNvSpPr>
          <p:nvPr/>
        </p:nvSpPr>
        <p:spPr>
          <a:xfrm xmlns:a="http://schemas.openxmlformats.org/drawingml/2006/main">
            <a:off x="609600" y="41243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100–110</a:t>
            </a:r>
          </a:p>
        </p:txBody>
      </p:sp>
      <p:sp>
        <p:nvSpPr>
          <p:cNvPr id="20" name="text">
            <a:extLst xmlns:a="http://schemas.openxmlformats.org/drawingml/2006/main">
              <a:ext uri="{FF2B5EF4-FFF2-40B4-BE49-F238E27FC236}">
                <a16:creationId xmlns:a16="http://schemas.microsoft.com/office/drawing/2014/main" id="{2EC03341-1E74-4C07-B15A-293F0C4A13E1}"/>
              </a:ext>
            </a:extLst>
          </p:cNvPr>
          <p:cNvSpPr>
            <a:spLocks xmlns:a="http://schemas.openxmlformats.org/drawingml/2006/main" noGrp="1"/>
          </p:cNvSpPr>
          <p:nvPr/>
        </p:nvSpPr>
        <p:spPr>
          <a:xfrm xmlns:a="http://schemas.openxmlformats.org/drawingml/2006/main">
            <a:off x="2190750" y="41243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Break</a:t>
            </a:r>
          </a:p>
        </p:txBody>
      </p:sp>
      <p:sp>
        <p:nvSpPr>
          <p:cNvPr id="21" name="text">
            <a:extLst xmlns:a="http://schemas.openxmlformats.org/drawingml/2006/main">
              <a:ext uri="{FF2B5EF4-FFF2-40B4-BE49-F238E27FC236}">
                <a16:creationId xmlns:a16="http://schemas.microsoft.com/office/drawing/2014/main" id="{83DD3591-204A-49E2-A3C4-6B25988EF799}"/>
              </a:ext>
            </a:extLst>
          </p:cNvPr>
          <p:cNvSpPr>
            <a:spLocks xmlns:a="http://schemas.openxmlformats.org/drawingml/2006/main" noGrp="1"/>
          </p:cNvSpPr>
          <p:nvPr/>
        </p:nvSpPr>
        <p:spPr>
          <a:xfrm xmlns:a="http://schemas.openxmlformats.org/drawingml/2006/main">
            <a:off x="5086350" y="41243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Keep the server and files open</a:t>
            </a:r>
          </a:p>
        </p:txBody>
      </p:sp>
      <p:sp>
        <p:nvSpPr>
          <p:cNvPr id="22" name="shape">
            <a:extLst xmlns:a="http://schemas.openxmlformats.org/drawingml/2006/main">
              <a:ext uri="{FF2B5EF4-FFF2-40B4-BE49-F238E27FC236}">
                <a16:creationId xmlns:a16="http://schemas.microsoft.com/office/drawing/2014/main" id="{AA933EA0-9B38-4F30-9B5B-337FA7587B8F}"/>
              </a:ext>
            </a:extLst>
          </p:cNvPr>
          <p:cNvSpPr>
            <a:spLocks xmlns:a="http://schemas.openxmlformats.org/drawingml/2006/main" noGrp="1"/>
          </p:cNvSpPr>
          <p:nvPr/>
        </p:nvSpPr>
        <p:spPr>
          <a:xfrm xmlns:a="http://schemas.openxmlformats.org/drawingml/2006/main">
            <a:off x="609600" y="4514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2C04ADC6-1D63-4918-A28A-236D435EF631}"/>
              </a:ext>
            </a:extLst>
          </p:cNvPr>
          <p:cNvSpPr>
            <a:spLocks xmlns:a="http://schemas.openxmlformats.org/drawingml/2006/main" noGrp="1"/>
          </p:cNvSpPr>
          <p:nvPr/>
        </p:nvSpPr>
        <p:spPr>
          <a:xfrm xmlns:a="http://schemas.openxmlformats.org/drawingml/2006/main">
            <a:off x="609600" y="46196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110–135</a:t>
            </a:r>
          </a:p>
        </p:txBody>
      </p:sp>
      <p:sp>
        <p:nvSpPr>
          <p:cNvPr id="24" name="text">
            <a:extLst xmlns:a="http://schemas.openxmlformats.org/drawingml/2006/main">
              <a:ext uri="{FF2B5EF4-FFF2-40B4-BE49-F238E27FC236}">
                <a16:creationId xmlns:a16="http://schemas.microsoft.com/office/drawing/2014/main" id="{50F1A01F-B712-4941-BF08-79AED0EA76EF}"/>
              </a:ext>
            </a:extLst>
          </p:cNvPr>
          <p:cNvSpPr>
            <a:spLocks xmlns:a="http://schemas.openxmlformats.org/drawingml/2006/main" noGrp="1"/>
          </p:cNvSpPr>
          <p:nvPr/>
        </p:nvSpPr>
        <p:spPr>
          <a:xfrm xmlns:a="http://schemas.openxmlformats.org/drawingml/2006/main">
            <a:off x="2190750" y="46196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Connect evidence</a:t>
            </a:r>
          </a:p>
        </p:txBody>
      </p:sp>
      <p:sp>
        <p:nvSpPr>
          <p:cNvPr id="25" name="text">
            <a:extLst xmlns:a="http://schemas.openxmlformats.org/drawingml/2006/main">
              <a:ext uri="{FF2B5EF4-FFF2-40B4-BE49-F238E27FC236}">
                <a16:creationId xmlns:a16="http://schemas.microsoft.com/office/drawing/2014/main" id="{0F588F12-D230-43BB-A60C-01C753F76FE3}"/>
              </a:ext>
            </a:extLst>
          </p:cNvPr>
          <p:cNvSpPr>
            <a:spLocks xmlns:a="http://schemas.openxmlformats.org/drawingml/2006/main" noGrp="1"/>
          </p:cNvSpPr>
          <p:nvPr/>
        </p:nvSpPr>
        <p:spPr>
          <a:xfrm xmlns:a="http://schemas.openxmlformats.org/drawingml/2006/main">
            <a:off x="5086350" y="46196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Memory, hand-offs and shared state</a:t>
            </a:r>
          </a:p>
        </p:txBody>
      </p:sp>
      <p:sp>
        <p:nvSpPr>
          <p:cNvPr id="26" name="shape">
            <a:extLst xmlns:a="http://schemas.openxmlformats.org/drawingml/2006/main">
              <a:ext uri="{FF2B5EF4-FFF2-40B4-BE49-F238E27FC236}">
                <a16:creationId xmlns:a16="http://schemas.microsoft.com/office/drawing/2014/main" id="{04447777-65D6-49D8-8AC8-8BBF76289569}"/>
              </a:ext>
            </a:extLst>
          </p:cNvPr>
          <p:cNvSpPr>
            <a:spLocks xmlns:a="http://schemas.openxmlformats.org/drawingml/2006/main" noGrp="1"/>
          </p:cNvSpPr>
          <p:nvPr/>
        </p:nvSpPr>
        <p:spPr>
          <a:xfrm xmlns:a="http://schemas.openxmlformats.org/drawingml/2006/main">
            <a:off x="609600" y="5010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3337DADB-B51B-43CE-B60E-B99902AA609F}"/>
              </a:ext>
            </a:extLst>
          </p:cNvPr>
          <p:cNvSpPr>
            <a:spLocks xmlns:a="http://schemas.openxmlformats.org/drawingml/2006/main" noGrp="1"/>
          </p:cNvSpPr>
          <p:nvPr/>
        </p:nvSpPr>
        <p:spPr>
          <a:xfrm xmlns:a="http://schemas.openxmlformats.org/drawingml/2006/main">
            <a:off x="609600" y="51149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135–165</a:t>
            </a:r>
          </a:p>
        </p:txBody>
      </p:sp>
      <p:sp>
        <p:nvSpPr>
          <p:cNvPr id="28" name="text">
            <a:extLst xmlns:a="http://schemas.openxmlformats.org/drawingml/2006/main">
              <a:ext uri="{FF2B5EF4-FFF2-40B4-BE49-F238E27FC236}">
                <a16:creationId xmlns:a16="http://schemas.microsoft.com/office/drawing/2014/main" id="{2E724730-4240-41B1-AE41-2352E1E5718F}"/>
              </a:ext>
            </a:extLst>
          </p:cNvPr>
          <p:cNvSpPr>
            <a:spLocks xmlns:a="http://schemas.openxmlformats.org/drawingml/2006/main" noGrp="1"/>
          </p:cNvSpPr>
          <p:nvPr/>
        </p:nvSpPr>
        <p:spPr>
          <a:xfrm xmlns:a="http://schemas.openxmlformats.org/drawingml/2006/main">
            <a:off x="2190750" y="51149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Challenge the launch</a:t>
            </a:r>
          </a:p>
        </p:txBody>
      </p:sp>
      <p:sp>
        <p:nvSpPr>
          <p:cNvPr id="29" name="text">
            <a:extLst xmlns:a="http://schemas.openxmlformats.org/drawingml/2006/main">
              <a:ext uri="{FF2B5EF4-FFF2-40B4-BE49-F238E27FC236}">
                <a16:creationId xmlns:a16="http://schemas.microsoft.com/office/drawing/2014/main" id="{2324C788-37BF-43C1-8F26-579B0EBBEACB}"/>
              </a:ext>
            </a:extLst>
          </p:cNvPr>
          <p:cNvSpPr>
            <a:spLocks xmlns:a="http://schemas.openxmlformats.org/drawingml/2006/main" noGrp="1"/>
          </p:cNvSpPr>
          <p:nvPr/>
        </p:nvSpPr>
        <p:spPr>
          <a:xfrm xmlns:a="http://schemas.openxmlformats.org/drawingml/2006/main">
            <a:off x="5086350" y="51149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Compare, review and export</a:t>
            </a:r>
          </a:p>
        </p:txBody>
      </p:sp>
      <p:sp>
        <p:nvSpPr>
          <p:cNvPr id="30" name="shape">
            <a:extLst xmlns:a="http://schemas.openxmlformats.org/drawingml/2006/main">
              <a:ext uri="{FF2B5EF4-FFF2-40B4-BE49-F238E27FC236}">
                <a16:creationId xmlns:a16="http://schemas.microsoft.com/office/drawing/2014/main" id="{9B386698-8E38-45A4-9BC4-A36186DF85C1}"/>
              </a:ext>
            </a:extLst>
          </p:cNvPr>
          <p:cNvSpPr>
            <a:spLocks xmlns:a="http://schemas.openxmlformats.org/drawingml/2006/main" noGrp="1"/>
          </p:cNvSpPr>
          <p:nvPr/>
        </p:nvSpPr>
        <p:spPr>
          <a:xfrm xmlns:a="http://schemas.openxmlformats.org/drawingml/2006/main">
            <a:off x="609600" y="55054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D96A3B9E-45AC-4271-A16E-8EEDA3414D6B}"/>
              </a:ext>
            </a:extLst>
          </p:cNvPr>
          <p:cNvSpPr>
            <a:spLocks xmlns:a="http://schemas.openxmlformats.org/drawingml/2006/main" noGrp="1"/>
          </p:cNvSpPr>
          <p:nvPr/>
        </p:nvSpPr>
        <p:spPr>
          <a:xfrm xmlns:a="http://schemas.openxmlformats.org/drawingml/2006/main">
            <a:off x="609600" y="5610225"/>
            <a:ext cx="137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42C38"/>
                </a:solidFill>
                <a:latin typeface="Aptos"/>
                <a:ea typeface="Aptos"/>
                <a:cs typeface="Aptos"/>
              </a:defRPr>
            </a:pPr>
            <a:r>
              <a:rPr sz="1725" b="1">
                <a:solidFill>
                  <a:srgbClr val="142C38"/>
                </a:solidFill>
                <a:latin typeface="Aptos"/>
                <a:ea typeface="Aptos"/>
                <a:cs typeface="Aptos"/>
              </a:rPr>
              <a:t>165–180</a:t>
            </a:r>
          </a:p>
        </p:txBody>
      </p:sp>
      <p:sp>
        <p:nvSpPr>
          <p:cNvPr id="32" name="text">
            <a:extLst xmlns:a="http://schemas.openxmlformats.org/drawingml/2006/main">
              <a:ext uri="{FF2B5EF4-FFF2-40B4-BE49-F238E27FC236}">
                <a16:creationId xmlns:a16="http://schemas.microsoft.com/office/drawing/2014/main" id="{0D9284F0-862A-48CB-9011-AAA9E654605A}"/>
              </a:ext>
            </a:extLst>
          </p:cNvPr>
          <p:cNvSpPr>
            <a:spLocks xmlns:a="http://schemas.openxmlformats.org/drawingml/2006/main" noGrp="1"/>
          </p:cNvSpPr>
          <p:nvPr/>
        </p:nvSpPr>
        <p:spPr>
          <a:xfrm xmlns:a="http://schemas.openxmlformats.org/drawingml/2006/main">
            <a:off x="2190750" y="56102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Explain the result</a:t>
            </a:r>
          </a:p>
        </p:txBody>
      </p:sp>
      <p:sp>
        <p:nvSpPr>
          <p:cNvPr id="33" name="text">
            <a:extLst xmlns:a="http://schemas.openxmlformats.org/drawingml/2006/main">
              <a:ext uri="{FF2B5EF4-FFF2-40B4-BE49-F238E27FC236}">
                <a16:creationId xmlns:a16="http://schemas.microsoft.com/office/drawing/2014/main" id="{B49B5FB9-FE81-4DD7-80AC-7D04D068B557}"/>
              </a:ext>
            </a:extLst>
          </p:cNvPr>
          <p:cNvSpPr>
            <a:spLocks xmlns:a="http://schemas.openxmlformats.org/drawingml/2006/main" noGrp="1"/>
          </p:cNvSpPr>
          <p:nvPr/>
        </p:nvSpPr>
        <p:spPr>
          <a:xfrm xmlns:a="http://schemas.openxmlformats.org/drawingml/2006/main">
            <a:off x="5086350" y="56102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42C38"/>
                </a:solidFill>
                <a:latin typeface="Aptos"/>
                <a:ea typeface="Aptos"/>
                <a:cs typeface="Aptos"/>
              </a:defRPr>
            </a:pPr>
            <a:r>
              <a:rPr sz="1725" b="0">
                <a:solidFill>
                  <a:srgbClr val="142C38"/>
                </a:solidFill>
                <a:latin typeface="Aptos"/>
                <a:ea typeface="Aptos"/>
                <a:cs typeface="Aptos"/>
              </a:rPr>
              <a:t>Short demos and readiness decision</a:t>
            </a:r>
          </a:p>
        </p:txBody>
      </p:sp>
      <p:sp>
        <p:nvSpPr>
          <p:cNvPr id="34" name="shape">
            <a:extLst xmlns:a="http://schemas.openxmlformats.org/drawingml/2006/main">
              <a:ext uri="{FF2B5EF4-FFF2-40B4-BE49-F238E27FC236}">
                <a16:creationId xmlns:a16="http://schemas.microsoft.com/office/drawing/2014/main" id="{AB04E15A-4173-4CC0-B8B0-F71AE6D0A7A1}"/>
              </a:ext>
            </a:extLst>
          </p:cNvPr>
          <p:cNvSpPr>
            <a:spLocks xmlns:a="http://schemas.openxmlformats.org/drawingml/2006/main" noGrp="1"/>
          </p:cNvSpPr>
          <p:nvPr/>
        </p:nvSpPr>
        <p:spPr>
          <a:xfrm xmlns:a="http://schemas.openxmlformats.org/drawingml/2006/main">
            <a:off x="609600" y="6000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5" name="shape">
            <a:extLst xmlns:a="http://schemas.openxmlformats.org/drawingml/2006/main">
              <a:ext uri="{FF2B5EF4-FFF2-40B4-BE49-F238E27FC236}">
                <a16:creationId xmlns:a16="http://schemas.microsoft.com/office/drawing/2014/main" id="{34EF6164-F6A4-4A6D-AF54-8B279877E76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6" name="text">
            <a:extLst xmlns:a="http://schemas.openxmlformats.org/drawingml/2006/main">
              <a:ext uri="{FF2B5EF4-FFF2-40B4-BE49-F238E27FC236}">
                <a16:creationId xmlns:a16="http://schemas.microsoft.com/office/drawing/2014/main" id="{11E1027B-E27B-4EED-B9F4-4E7D2103798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37" name="text">
            <a:extLst xmlns:a="http://schemas.openxmlformats.org/drawingml/2006/main">
              <a:ext uri="{FF2B5EF4-FFF2-40B4-BE49-F238E27FC236}">
                <a16:creationId xmlns:a16="http://schemas.microsoft.com/office/drawing/2014/main" id="{D9085DE0-B79D-41F7-9E28-96752346F8C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05</a:t>
            </a:r>
          </a:p>
        </p:txBody>
      </p:sp>
    </p:spTree>
    <p:extLst>
      <p:ext uri="{BB962C8B-B14F-4D97-AF65-F5344CB8AC3E}">
        <p14:creationId xmlns:p14="http://schemas.microsoft.com/office/powerpoint/2010/main" val="1936496258"/>
      </p:ext>
    </p:extLst>
  </p:cSld>
</p:sld>
</file>

<file path=ppt/slides/slide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bd7e0a5429149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6F4F3044-D56D-4B5B-8944-C220349C5A1E}"/>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71321"/>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483F91F7-D140-4DDD-B3F9-B89B564B7088}"/>
              </a:ext>
            </a:extLst>
          </p:cNvPr>
          <p:cNvSpPr>
            <a:spLocks xmlns:a="http://schemas.openxmlformats.org/drawingml/2006/main" noGrp="1"/>
          </p:cNvSpPr>
          <p:nvPr/>
        </p:nvSpPr>
        <p:spPr>
          <a:xfrm xmlns:a="http://schemas.openxmlformats.org/drawingml/2006/main">
            <a:off x="609600" y="400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UNDERSTAND</a:t>
            </a:r>
          </a:p>
        </p:txBody>
      </p:sp>
      <p:sp>
        <p:nvSpPr>
          <p:cNvPr id="4" name="text">
            <a:extLst xmlns:a="http://schemas.openxmlformats.org/drawingml/2006/main">
              <a:ext uri="{FF2B5EF4-FFF2-40B4-BE49-F238E27FC236}">
                <a16:creationId xmlns:a16="http://schemas.microsoft.com/office/drawing/2014/main" id="{C370191E-B4D2-4116-8741-00BE70A11C20}"/>
              </a:ext>
            </a:extLst>
          </p:cNvPr>
          <p:cNvSpPr>
            <a:spLocks xmlns:a="http://schemas.openxmlformats.org/drawingml/2006/main" noGrp="1"/>
          </p:cNvSpPr>
          <p:nvPr/>
        </p:nvSpPr>
        <p:spPr>
          <a:xfrm xmlns:a="http://schemas.openxmlformats.org/drawingml/2006/main">
            <a:off x="609600" y="1123950"/>
            <a:ext cx="42386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Think of agents</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as a kitchen</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team.</a:t>
            </a:r>
          </a:p>
        </p:txBody>
      </p:sp>
      <p:sp>
        <p:nvSpPr>
          <p:cNvPr id="5" name="text">
            <a:extLst xmlns:a="http://schemas.openxmlformats.org/drawingml/2006/main">
              <a:ext uri="{FF2B5EF4-FFF2-40B4-BE49-F238E27FC236}">
                <a16:creationId xmlns:a16="http://schemas.microsoft.com/office/drawing/2014/main" id="{FEA46B96-731E-4FC3-891F-B1BB6C46D360}"/>
              </a:ext>
            </a:extLst>
          </p:cNvPr>
          <p:cNvSpPr>
            <a:spLocks xmlns:a="http://schemas.openxmlformats.org/drawingml/2006/main" noGrp="1"/>
          </p:cNvSpPr>
          <p:nvPr/>
        </p:nvSpPr>
        <p:spPr>
          <a:xfrm xmlns:a="http://schemas.openxmlformats.org/drawingml/2006/main">
            <a:off x="609600" y="3524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01</a:t>
            </a:r>
          </a:p>
        </p:txBody>
      </p:sp>
      <p:sp>
        <p:nvSpPr>
          <p:cNvPr id="6" name="text">
            <a:extLst xmlns:a="http://schemas.openxmlformats.org/drawingml/2006/main">
              <a:ext uri="{FF2B5EF4-FFF2-40B4-BE49-F238E27FC236}">
                <a16:creationId xmlns:a16="http://schemas.microsoft.com/office/drawing/2014/main" id="{6159A668-C8E9-4DE4-B80C-7251E889682A}"/>
              </a:ext>
            </a:extLst>
          </p:cNvPr>
          <p:cNvSpPr>
            <a:spLocks xmlns:a="http://schemas.openxmlformats.org/drawingml/2006/main" noGrp="1"/>
          </p:cNvSpPr>
          <p:nvPr/>
        </p:nvSpPr>
        <p:spPr>
          <a:xfrm xmlns:a="http://schemas.openxmlformats.org/drawingml/2006/main">
            <a:off x="1314450" y="34956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The order is the goal.</a:t>
            </a:r>
          </a:p>
        </p:txBody>
      </p:sp>
      <p:sp>
        <p:nvSpPr>
          <p:cNvPr id="7" name="text">
            <a:extLst xmlns:a="http://schemas.openxmlformats.org/drawingml/2006/main">
              <a:ext uri="{FF2B5EF4-FFF2-40B4-BE49-F238E27FC236}">
                <a16:creationId xmlns:a16="http://schemas.microsoft.com/office/drawing/2014/main" id="{841185A3-2B64-4023-B602-224151C30888}"/>
              </a:ext>
            </a:extLst>
          </p:cNvPr>
          <p:cNvSpPr>
            <a:spLocks xmlns:a="http://schemas.openxmlformats.org/drawingml/2006/main" noGrp="1"/>
          </p:cNvSpPr>
          <p:nvPr/>
        </p:nvSpPr>
        <p:spPr>
          <a:xfrm xmlns:a="http://schemas.openxmlformats.org/drawingml/2006/main">
            <a:off x="609600" y="41148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02</a:t>
            </a:r>
          </a:p>
        </p:txBody>
      </p:sp>
      <p:sp>
        <p:nvSpPr>
          <p:cNvPr id="8" name="text">
            <a:extLst xmlns:a="http://schemas.openxmlformats.org/drawingml/2006/main">
              <a:ext uri="{FF2B5EF4-FFF2-40B4-BE49-F238E27FC236}">
                <a16:creationId xmlns:a16="http://schemas.microsoft.com/office/drawing/2014/main" id="{D9A80FA7-815B-4445-9098-6A04ED64BFA2}"/>
              </a:ext>
            </a:extLst>
          </p:cNvPr>
          <p:cNvSpPr>
            <a:spLocks xmlns:a="http://schemas.openxmlformats.org/drawingml/2006/main" noGrp="1"/>
          </p:cNvSpPr>
          <p:nvPr/>
        </p:nvSpPr>
        <p:spPr>
          <a:xfrm xmlns:a="http://schemas.openxmlformats.org/drawingml/2006/main">
            <a:off x="1314450" y="40862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Recipes are instructions.</a:t>
            </a:r>
          </a:p>
        </p:txBody>
      </p:sp>
      <p:sp>
        <p:nvSpPr>
          <p:cNvPr id="9" name="text">
            <a:extLst xmlns:a="http://schemas.openxmlformats.org/drawingml/2006/main">
              <a:ext uri="{FF2B5EF4-FFF2-40B4-BE49-F238E27FC236}">
                <a16:creationId xmlns:a16="http://schemas.microsoft.com/office/drawing/2014/main" id="{F872F7CE-935E-4659-920A-6A36E89B08B1}"/>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03</a:t>
            </a:r>
          </a:p>
        </p:txBody>
      </p:sp>
      <p:sp>
        <p:nvSpPr>
          <p:cNvPr id="10" name="text">
            <a:extLst xmlns:a="http://schemas.openxmlformats.org/drawingml/2006/main">
              <a:ext uri="{FF2B5EF4-FFF2-40B4-BE49-F238E27FC236}">
                <a16:creationId xmlns:a16="http://schemas.microsoft.com/office/drawing/2014/main" id="{C84401B8-5E31-42E9-8F93-21CC898F07C2}"/>
              </a:ext>
            </a:extLst>
          </p:cNvPr>
          <p:cNvSpPr>
            <a:spLocks xmlns:a="http://schemas.openxmlformats.org/drawingml/2006/main" noGrp="1"/>
          </p:cNvSpPr>
          <p:nvPr/>
        </p:nvSpPr>
        <p:spPr>
          <a:xfrm xmlns:a="http://schemas.openxmlformats.org/drawingml/2006/main">
            <a:off x="1314450" y="46767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Equipment is the toolset.</a:t>
            </a:r>
          </a:p>
        </p:txBody>
      </p:sp>
      <p:sp>
        <p:nvSpPr>
          <p:cNvPr id="11" name="text">
            <a:extLst xmlns:a="http://schemas.openxmlformats.org/drawingml/2006/main">
              <a:ext uri="{FF2B5EF4-FFF2-40B4-BE49-F238E27FC236}">
                <a16:creationId xmlns:a16="http://schemas.microsoft.com/office/drawing/2014/main" id="{5DA1E688-7692-4499-986E-84455113C621}"/>
              </a:ext>
            </a:extLst>
          </p:cNvPr>
          <p:cNvSpPr>
            <a:spLocks xmlns:a="http://schemas.openxmlformats.org/drawingml/2006/main" noGrp="1"/>
          </p:cNvSpPr>
          <p:nvPr/>
        </p:nvSpPr>
        <p:spPr>
          <a:xfrm xmlns:a="http://schemas.openxmlformats.org/drawingml/2006/main">
            <a:off x="609600" y="5295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04</a:t>
            </a:r>
          </a:p>
        </p:txBody>
      </p:sp>
      <p:sp>
        <p:nvSpPr>
          <p:cNvPr id="12" name="text">
            <a:extLst xmlns:a="http://schemas.openxmlformats.org/drawingml/2006/main">
              <a:ext uri="{FF2B5EF4-FFF2-40B4-BE49-F238E27FC236}">
                <a16:creationId xmlns:a16="http://schemas.microsoft.com/office/drawing/2014/main" id="{4363E9AD-BE83-4B4F-AA5F-9428F667991C}"/>
              </a:ext>
            </a:extLst>
          </p:cNvPr>
          <p:cNvSpPr>
            <a:spLocks xmlns:a="http://schemas.openxmlformats.org/drawingml/2006/main" noGrp="1"/>
          </p:cNvSpPr>
          <p:nvPr/>
        </p:nvSpPr>
        <p:spPr>
          <a:xfrm xmlns:a="http://schemas.openxmlformats.org/drawingml/2006/main">
            <a:off x="1314450" y="52673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The head chef coordinates.</a:t>
            </a:r>
          </a:p>
        </p:txBody>
      </p:sp>
      <p:sp>
        <p:nvSpPr>
          <p:cNvPr id="13" name="shape">
            <a:extLst xmlns:a="http://schemas.openxmlformats.org/drawingml/2006/main">
              <a:ext uri="{FF2B5EF4-FFF2-40B4-BE49-F238E27FC236}">
                <a16:creationId xmlns:a16="http://schemas.microsoft.com/office/drawing/2014/main" id="{E1D8A787-61F3-4268-A8FA-3F5CE61D8FE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5573CC3F-2C00-4841-B4CA-5C526C9054B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21EB3CA8-335E-4515-82DF-12C5305A9FF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06</a:t>
            </a:r>
          </a:p>
        </p:txBody>
      </p:sp>
    </p:spTree>
    <p:extLst>
      <p:ext uri="{BB962C8B-B14F-4D97-AF65-F5344CB8AC3E}">
        <p14:creationId xmlns:p14="http://schemas.microsoft.com/office/powerpoint/2010/main" val="1204758722"/>
      </p:ext>
    </p:extLst>
  </p:cSld>
</p:sld>
</file>

<file path=ppt/slides/slide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20" name="text">
            <a:extLst xmlns:a="http://schemas.openxmlformats.org/drawingml/2006/main">
              <a:ext uri="{FF2B5EF4-FFF2-40B4-BE49-F238E27FC236}">
                <a16:creationId xmlns:a16="http://schemas.microsoft.com/office/drawing/2014/main" id="{D47A3E92-F337-4450-AE91-10B2D0919A2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432C0167-9204-497D-A82C-05641B3415F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An agent can use a tool before replying.</a:t>
            </a:r>
          </a:p>
        </p:txBody>
      </p:sp>
      <p:sp>
        <p:nvSpPr>
          <p:cNvPr id="3" name="text">
            <a:extLst xmlns:a="http://schemas.openxmlformats.org/drawingml/2006/main">
              <a:ext uri="{FF2B5EF4-FFF2-40B4-BE49-F238E27FC236}">
                <a16:creationId xmlns:a16="http://schemas.microsoft.com/office/drawing/2014/main" id="{F18C84C1-53AD-4BE5-8D98-B1535722EC82}"/>
              </a:ext>
            </a:extLst>
          </p:cNvPr>
          <p:cNvSpPr>
            <a:spLocks xmlns:a="http://schemas.openxmlformats.org/drawingml/2006/main" noGrp="1"/>
          </p:cNvSpPr>
          <p:nvPr/>
        </p:nvSpPr>
        <p:spPr>
          <a:xfrm xmlns:a="http://schemas.openxmlformats.org/drawingml/2006/main">
            <a:off x="609600" y="21907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A SIMPLE CHATBOT EXCHANGE</a:t>
            </a:r>
          </a:p>
        </p:txBody>
      </p:sp>
      <p:sp>
        <p:nvSpPr>
          <p:cNvPr id="4" name="flow-node">
            <a:extLst xmlns:a="http://schemas.openxmlformats.org/drawingml/2006/main">
              <a:ext uri="{FF2B5EF4-FFF2-40B4-BE49-F238E27FC236}">
                <a16:creationId xmlns:a16="http://schemas.microsoft.com/office/drawing/2014/main" id="{6A13D54E-C1BB-4925-AF8F-7F5E210E0071}"/>
              </a:ext>
            </a:extLst>
          </p:cNvPr>
          <p:cNvSpPr>
            <a:spLocks xmlns:a="http://schemas.openxmlformats.org/drawingml/2006/main" noGrp="1"/>
          </p:cNvSpPr>
          <p:nvPr/>
        </p:nvSpPr>
        <p:spPr>
          <a:xfrm xmlns:a="http://schemas.openxmlformats.org/drawingml/2006/main">
            <a:off x="609600" y="2628900"/>
            <a:ext cx="2952750" cy="781050"/>
          </a:xfrm>
          <a:prstGeom xmlns:a="http://schemas.openxmlformats.org/drawingml/2006/main" prst="roundRect">
            <a:avLst>
              <a:gd name="adj" fmla="val 9756"/>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Question</a:t>
            </a:r>
          </a:p>
        </p:txBody>
      </p:sp>
      <p:sp>
        <p:nvSpPr>
          <p:cNvPr id="5" name="flow-node">
            <a:extLst xmlns:a="http://schemas.openxmlformats.org/drawingml/2006/main">
              <a:ext uri="{FF2B5EF4-FFF2-40B4-BE49-F238E27FC236}">
                <a16:creationId xmlns:a16="http://schemas.microsoft.com/office/drawing/2014/main" id="{B39CCFCD-E52A-42EC-9B8C-6C2D4CFAA69C}"/>
              </a:ext>
            </a:extLst>
          </p:cNvPr>
          <p:cNvSpPr>
            <a:spLocks xmlns:a="http://schemas.openxmlformats.org/drawingml/2006/main" noGrp="1"/>
          </p:cNvSpPr>
          <p:nvPr/>
        </p:nvSpPr>
        <p:spPr>
          <a:xfrm xmlns:a="http://schemas.openxmlformats.org/drawingml/2006/main">
            <a:off x="3848100" y="2628900"/>
            <a:ext cx="2952750" cy="781050"/>
          </a:xfrm>
          <a:prstGeom xmlns:a="http://schemas.openxmlformats.org/drawingml/2006/main" prst="roundRect">
            <a:avLst>
              <a:gd name="adj" fmla="val 9756"/>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Answer</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562350" y="3019425"/>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7" name="text">
            <a:extLst xmlns:a="http://schemas.openxmlformats.org/drawingml/2006/main">
              <a:ext uri="{FF2B5EF4-FFF2-40B4-BE49-F238E27FC236}">
                <a16:creationId xmlns:a16="http://schemas.microsoft.com/office/drawing/2014/main" id="{04D05BCB-1726-48C0-8267-A27450E6DA30}"/>
              </a:ext>
            </a:extLst>
          </p:cNvPr>
          <p:cNvSpPr>
            <a:spLocks xmlns:a="http://schemas.openxmlformats.org/drawingml/2006/main" noGrp="1"/>
          </p:cNvSpPr>
          <p:nvPr/>
        </p:nvSpPr>
        <p:spPr>
          <a:xfrm xmlns:a="http://schemas.openxmlformats.org/drawingml/2006/main">
            <a:off x="609600" y="38195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OUR AGENT WORKFLOW</a:t>
            </a:r>
          </a:p>
        </p:txBody>
      </p:sp>
      <p:sp>
        <p:nvSpPr>
          <p:cNvPr id="8" name="flow-node">
            <a:extLst xmlns:a="http://schemas.openxmlformats.org/drawingml/2006/main">
              <a:ext uri="{FF2B5EF4-FFF2-40B4-BE49-F238E27FC236}">
                <a16:creationId xmlns:a16="http://schemas.microsoft.com/office/drawing/2014/main" id="{C08A3E30-9B86-4A40-B82A-1CFC240625E2}"/>
              </a:ext>
            </a:extLst>
          </p:cNvPr>
          <p:cNvSpPr>
            <a:spLocks xmlns:a="http://schemas.openxmlformats.org/drawingml/2006/main" noGrp="1"/>
          </p:cNvSpPr>
          <p:nvPr/>
        </p:nvSpPr>
        <p:spPr>
          <a:xfrm xmlns:a="http://schemas.openxmlformats.org/drawingml/2006/main">
            <a:off x="609600"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Goal</a:t>
            </a:r>
          </a:p>
        </p:txBody>
      </p:sp>
      <p:sp>
        <p:nvSpPr>
          <p:cNvPr id="9" name="flow-node">
            <a:extLst xmlns:a="http://schemas.openxmlformats.org/drawingml/2006/main">
              <a:ext uri="{FF2B5EF4-FFF2-40B4-BE49-F238E27FC236}">
                <a16:creationId xmlns:a16="http://schemas.microsoft.com/office/drawing/2014/main" id="{D391F1D3-F117-46B1-A6EF-1377C95B0FC8}"/>
              </a:ext>
            </a:extLst>
          </p:cNvPr>
          <p:cNvSpPr>
            <a:spLocks xmlns:a="http://schemas.openxmlformats.org/drawingml/2006/main" noGrp="1"/>
          </p:cNvSpPr>
          <p:nvPr/>
        </p:nvSpPr>
        <p:spPr>
          <a:xfrm xmlns:a="http://schemas.openxmlformats.org/drawingml/2006/main">
            <a:off x="3424238"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Tool call</a:t>
            </a:r>
          </a:p>
        </p:txBody>
      </p:sp>
      <p:sp>
        <p:nvSpPr>
          <p:cNvPr id="10" name="flow-node">
            <a:extLst xmlns:a="http://schemas.openxmlformats.org/drawingml/2006/main">
              <a:ext uri="{FF2B5EF4-FFF2-40B4-BE49-F238E27FC236}">
                <a16:creationId xmlns:a16="http://schemas.microsoft.com/office/drawing/2014/main" id="{8F99387E-B04A-40CD-BAC5-D4EDB22D9921}"/>
              </a:ext>
            </a:extLst>
          </p:cNvPr>
          <p:cNvSpPr>
            <a:spLocks xmlns:a="http://schemas.openxmlformats.org/drawingml/2006/main" noGrp="1"/>
          </p:cNvSpPr>
          <p:nvPr/>
        </p:nvSpPr>
        <p:spPr>
          <a:xfrm xmlns:a="http://schemas.openxmlformats.org/drawingml/2006/main">
            <a:off x="6238875"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Result</a:t>
            </a:r>
          </a:p>
        </p:txBody>
      </p:sp>
      <p:sp>
        <p:nvSpPr>
          <p:cNvPr id="11" name="flow-node">
            <a:extLst xmlns:a="http://schemas.openxmlformats.org/drawingml/2006/main">
              <a:ext uri="{FF2B5EF4-FFF2-40B4-BE49-F238E27FC236}">
                <a16:creationId xmlns:a16="http://schemas.microsoft.com/office/drawing/2014/main" id="{881E56C5-A61C-485E-BBC0-EE359191EA93}"/>
              </a:ext>
            </a:extLst>
          </p:cNvPr>
          <p:cNvSpPr>
            <a:spLocks xmlns:a="http://schemas.openxmlformats.org/drawingml/2006/main" noGrp="1"/>
          </p:cNvSpPr>
          <p:nvPr/>
        </p:nvSpPr>
        <p:spPr>
          <a:xfrm xmlns:a="http://schemas.openxmlformats.org/drawingml/2006/main">
            <a:off x="9053513" y="4267200"/>
            <a:ext cx="2528888" cy="809625"/>
          </a:xfrm>
          <a:prstGeom xmlns:a="http://schemas.openxmlformats.org/drawingml/2006/main" prst="roundRect">
            <a:avLst>
              <a:gd name="adj" fmla="val 9412"/>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025" b="1">
                <a:solidFill>
                  <a:srgbClr val="EDF5F1"/>
                </a:solidFill>
                <a:latin typeface="Aptos"/>
                <a:ea typeface="Aptos"/>
                <a:cs typeface="Aptos"/>
              </a:defRPr>
            </a:pPr>
            <a:r>
              <a:rPr sz="2025" b="1">
                <a:solidFill>
                  <a:srgbClr val="EDF5F1"/>
                </a:solidFill>
                <a:latin typeface="Aptos"/>
                <a:ea typeface="Aptos"/>
                <a:cs typeface="Aptos"/>
              </a:rPr>
              <a:t>Answer</a:t>
            </a:r>
          </a:p>
        </p:txBody>
      </p: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3138488" y="4672013"/>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2" name=""/>
          <p:cNvCxnSpPr>
            <a:stCxn xmlns:a="http://schemas.openxmlformats.org/drawingml/2006/main" id="9" idx="3"/>
            <a:endCxn xmlns:a="http://schemas.openxmlformats.org/drawingml/2006/main" id="10" idx="1"/>
          </p:cNvCxnSpPr>
          <p:nvPr/>
        </p:nvCxnSpPr>
        <p:spPr>
          <a:xfrm xmlns:a="http://schemas.openxmlformats.org/drawingml/2006/main">
            <a:off x="5953126" y="4672013"/>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3" name=""/>
          <p:cNvCxnSpPr>
            <a:stCxn xmlns:a="http://schemas.openxmlformats.org/drawingml/2006/main" id="10" idx="3"/>
            <a:endCxn xmlns:a="http://schemas.openxmlformats.org/drawingml/2006/main" id="11" idx="1"/>
          </p:cNvCxnSpPr>
          <p:nvPr/>
        </p:nvCxnSpPr>
        <p:spPr>
          <a:xfrm xmlns:a="http://schemas.openxmlformats.org/drawingml/2006/main">
            <a:off x="8767763" y="4672013"/>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5" name="text">
            <a:extLst xmlns:a="http://schemas.openxmlformats.org/drawingml/2006/main">
              <a:ext uri="{FF2B5EF4-FFF2-40B4-BE49-F238E27FC236}">
                <a16:creationId xmlns:a16="http://schemas.microsoft.com/office/drawing/2014/main" id="{E1B3C42B-CA92-4867-B28D-C767C5E50642}"/>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tool is a specific capability: calculate, retrieve, or inspect.</a:t>
            </a:r>
          </a:p>
        </p:txBody>
      </p:sp>
      <p:sp>
        <p:nvSpPr>
          <p:cNvPr id="16" name="shape">
            <a:extLst xmlns:a="http://schemas.openxmlformats.org/drawingml/2006/main">
              <a:ext uri="{FF2B5EF4-FFF2-40B4-BE49-F238E27FC236}">
                <a16:creationId xmlns:a16="http://schemas.microsoft.com/office/drawing/2014/main" id="{E0A0BD88-9DE2-4759-94E9-BAEBCE57452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5641D370-9BB8-46F9-8964-E7076CE1AF2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8" name="text">
            <a:extLst xmlns:a="http://schemas.openxmlformats.org/drawingml/2006/main">
              <a:ext uri="{FF2B5EF4-FFF2-40B4-BE49-F238E27FC236}">
                <a16:creationId xmlns:a16="http://schemas.microsoft.com/office/drawing/2014/main" id="{DD1C9F38-04DF-4598-8E63-EA56A712B20D}"/>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9" name="text">
            <a:extLst xmlns:a="http://schemas.openxmlformats.org/drawingml/2006/main">
              <a:ext uri="{FF2B5EF4-FFF2-40B4-BE49-F238E27FC236}">
                <a16:creationId xmlns:a16="http://schemas.microsoft.com/office/drawing/2014/main" id="{F24BA584-6DA4-45B7-BA74-3F466EBD269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07</a:t>
            </a:r>
          </a:p>
        </p:txBody>
      </p:sp>
    </p:spTree>
    <p:extLst>
      <p:ext uri="{BB962C8B-B14F-4D97-AF65-F5344CB8AC3E}">
        <p14:creationId xmlns:p14="http://schemas.microsoft.com/office/powerpoint/2010/main" val="697053242"/>
      </p:ext>
    </p:extLst>
  </p:cSld>
</p:sld>
</file>

<file path=ppt/slides/slide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291B8990-519F-4F89-BCC8-49854C12A52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DE7EFC9C-67E8-4D81-85B3-49A66DD255AB}"/>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An agent needs a clear job description.</a:t>
            </a:r>
          </a:p>
        </p:txBody>
      </p:sp>
      <p:sp>
        <p:nvSpPr>
          <p:cNvPr id="3" name="text">
            <a:extLst xmlns:a="http://schemas.openxmlformats.org/drawingml/2006/main">
              <a:ext uri="{FF2B5EF4-FFF2-40B4-BE49-F238E27FC236}">
                <a16:creationId xmlns:a16="http://schemas.microsoft.com/office/drawing/2014/main" id="{0C22A768-6817-4E31-85D2-D2E89C690C78}"/>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042A6BEF-4333-416D-88A9-8A1728BD7245}"/>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Goal: What result should it produce?</a:t>
            </a:r>
          </a:p>
        </p:txBody>
      </p:sp>
      <p:sp>
        <p:nvSpPr>
          <p:cNvPr id="5" name="text">
            <a:extLst xmlns:a="http://schemas.openxmlformats.org/drawingml/2006/main">
              <a:ext uri="{FF2B5EF4-FFF2-40B4-BE49-F238E27FC236}">
                <a16:creationId xmlns:a16="http://schemas.microsoft.com/office/drawing/2014/main" id="{BD622541-58A5-4E70-9C28-1330D7360DBC}"/>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880A197C-D08C-4CB8-A635-EBE0B89FB247}"/>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Inputs: What facts can it use?</a:t>
            </a:r>
          </a:p>
        </p:txBody>
      </p:sp>
      <p:sp>
        <p:nvSpPr>
          <p:cNvPr id="7" name="text">
            <a:extLst xmlns:a="http://schemas.openxmlformats.org/drawingml/2006/main">
              <a:ext uri="{FF2B5EF4-FFF2-40B4-BE49-F238E27FC236}">
                <a16:creationId xmlns:a16="http://schemas.microsoft.com/office/drawing/2014/main" id="{70627360-702F-4B3F-93E6-0EC1E1509A4F}"/>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710121A1-89C2-41DF-969D-9F4761D1444A}"/>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Tools: What actions may it take?</a:t>
            </a:r>
          </a:p>
        </p:txBody>
      </p:sp>
      <p:sp>
        <p:nvSpPr>
          <p:cNvPr id="9" name="text">
            <a:extLst xmlns:a="http://schemas.openxmlformats.org/drawingml/2006/main">
              <a:ext uri="{FF2B5EF4-FFF2-40B4-BE49-F238E27FC236}">
                <a16:creationId xmlns:a16="http://schemas.microsoft.com/office/drawing/2014/main" id="{E76E5851-459B-490A-A349-CCBE10DF53DD}"/>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84B4FAFC-3864-4527-8C3C-AA993EAF7E30}"/>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Rules: What must it avoid?</a:t>
            </a:r>
          </a:p>
        </p:txBody>
      </p:sp>
      <p:sp>
        <p:nvSpPr>
          <p:cNvPr id="11" name="text">
            <a:extLst xmlns:a="http://schemas.openxmlformats.org/drawingml/2006/main">
              <a:ext uri="{FF2B5EF4-FFF2-40B4-BE49-F238E27FC236}">
                <a16:creationId xmlns:a16="http://schemas.microsoft.com/office/drawing/2014/main" id="{EEDEBC79-3FE6-4E0D-9940-EDFEB75D556B}"/>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36ED440B-BD67-4193-A46E-16BEA9086F87}"/>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Output: What should a useful answer contain?</a:t>
            </a:r>
          </a:p>
        </p:txBody>
      </p:sp>
      <p:sp>
        <p:nvSpPr>
          <p:cNvPr id="13" name="shape">
            <a:extLst xmlns:a="http://schemas.openxmlformats.org/drawingml/2006/main">
              <a:ext uri="{FF2B5EF4-FFF2-40B4-BE49-F238E27FC236}">
                <a16:creationId xmlns:a16="http://schemas.microsoft.com/office/drawing/2014/main" id="{F7C7ADCD-8310-443F-8C97-0749F03CDDD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D5A56E1-6C6F-454C-A184-89D4338DC7D5}"/>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E929519D-042E-43D1-9A4E-B0FBDAAFF22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08</a:t>
            </a:r>
          </a:p>
        </p:txBody>
      </p:sp>
    </p:spTree>
    <p:extLst>
      <p:ext uri="{BB962C8B-B14F-4D97-AF65-F5344CB8AC3E}">
        <p14:creationId xmlns:p14="http://schemas.microsoft.com/office/powerpoint/2010/main" val="1309412160"/>
      </p:ext>
    </p:extLst>
  </p:cSld>
</p:sld>
</file>

<file path=ppt/slides/slide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6FA15334-3455-4EFE-88D5-886D4BFD5C2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C320FB05-48B9-4277-84F1-4B6EDFC8565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The loop is: ask, act, observe, reply.</a:t>
            </a:r>
          </a:p>
        </p:txBody>
      </p:sp>
      <p:sp>
        <p:nvSpPr>
          <p:cNvPr id="3" name="flow-node">
            <a:extLst xmlns:a="http://schemas.openxmlformats.org/drawingml/2006/main">
              <a:ext uri="{FF2B5EF4-FFF2-40B4-BE49-F238E27FC236}">
                <a16:creationId xmlns:a16="http://schemas.microsoft.com/office/drawing/2014/main" id="{EE9304BD-B4CA-4B78-B165-A556593DA1F3}"/>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Read the goal</a:t>
            </a:r>
          </a:p>
        </p:txBody>
      </p:sp>
      <p:sp>
        <p:nvSpPr>
          <p:cNvPr id="4" name="flow-node">
            <a:extLst xmlns:a="http://schemas.openxmlformats.org/drawingml/2006/main">
              <a:ext uri="{FF2B5EF4-FFF2-40B4-BE49-F238E27FC236}">
                <a16:creationId xmlns:a16="http://schemas.microsoft.com/office/drawing/2014/main" id="{67A5D8E0-872D-4BB1-A48E-A20577198502}"/>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Choose a tool</a:t>
            </a:r>
          </a:p>
        </p:txBody>
      </p:sp>
      <p:sp>
        <p:nvSpPr>
          <p:cNvPr id="5" name="flow-node">
            <a:extLst xmlns:a="http://schemas.openxmlformats.org/drawingml/2006/main">
              <a:ext uri="{FF2B5EF4-FFF2-40B4-BE49-F238E27FC236}">
                <a16:creationId xmlns:a16="http://schemas.microsoft.com/office/drawing/2014/main" id="{641A41C9-A5A8-411F-B368-FE82CDFA4064}"/>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Execute it</a:t>
            </a:r>
          </a:p>
        </p:txBody>
      </p:sp>
      <p:sp>
        <p:nvSpPr>
          <p:cNvPr id="6" name="flow-node">
            <a:extLst xmlns:a="http://schemas.openxmlformats.org/drawingml/2006/main">
              <a:ext uri="{FF2B5EF4-FFF2-40B4-BE49-F238E27FC236}">
                <a16:creationId xmlns:a16="http://schemas.microsoft.com/office/drawing/2014/main" id="{92953EF4-9FBA-43B8-9234-816FE1CC8481}"/>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Read the result</a:t>
            </a:r>
          </a:p>
        </p:txBody>
      </p:sp>
      <p:sp>
        <p:nvSpPr>
          <p:cNvPr id="7" name="flow-node">
            <a:extLst xmlns:a="http://schemas.openxmlformats.org/drawingml/2006/main">
              <a:ext uri="{FF2B5EF4-FFF2-40B4-BE49-F238E27FC236}">
                <a16:creationId xmlns:a16="http://schemas.microsoft.com/office/drawing/2014/main" id="{F8CC9B50-F59D-4319-9590-A52157A6B835}"/>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Reply or repeat</a:t>
            </a:r>
          </a:p>
        </p:txBody>
      </p: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AB7E5542-B59E-4F61-AE48-0A93A78AACF9}"/>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In rehearsal, tool selection follows a fixed script.</a:t>
            </a:r>
          </a:p>
        </p:txBody>
      </p:sp>
      <p:sp>
        <p:nvSpPr>
          <p:cNvPr id="13" name="shape">
            <a:extLst xmlns:a="http://schemas.openxmlformats.org/drawingml/2006/main">
              <a:ext uri="{FF2B5EF4-FFF2-40B4-BE49-F238E27FC236}">
                <a16:creationId xmlns:a16="http://schemas.microsoft.com/office/drawing/2014/main" id="{59E4A09D-01AE-4165-974A-DA670DF1246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384B3DE-FFC2-47BA-8C0B-7AE5334C6C9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FA03459D-9D80-4375-BCDF-8E7F65418CA0}"/>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6" name="text">
            <a:extLst xmlns:a="http://schemas.openxmlformats.org/drawingml/2006/main">
              <a:ext uri="{FF2B5EF4-FFF2-40B4-BE49-F238E27FC236}">
                <a16:creationId xmlns:a16="http://schemas.microsoft.com/office/drawing/2014/main" id="{B56AD56F-95FB-4C36-B11F-AFB433B65FD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09</a:t>
            </a:r>
          </a:p>
        </p:txBody>
      </p:sp>
    </p:spTree>
    <p:extLst>
      <p:ext uri="{BB962C8B-B14F-4D97-AF65-F5344CB8AC3E}">
        <p14:creationId xmlns:p14="http://schemas.microsoft.com/office/powerpoint/2010/main" val="2078069559"/>
      </p:ext>
    </p:extLst>
  </p:cSld>
</p:sld>
</file>

<file path=ppt/slides/slide1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0E19C4B0-5FBE-4138-8BA6-913BE077C9C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A7DCF8E8-9040-4FB4-BB37-A91E1B1DB16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LangChain is the agent’s wiring kit.</a:t>
            </a:r>
          </a:p>
        </p:txBody>
      </p:sp>
      <p:sp>
        <p:nvSpPr>
          <p:cNvPr id="3" name="flow-node">
            <a:extLst xmlns:a="http://schemas.openxmlformats.org/drawingml/2006/main">
              <a:ext uri="{FF2B5EF4-FFF2-40B4-BE49-F238E27FC236}">
                <a16:creationId xmlns:a16="http://schemas.microsoft.com/office/drawing/2014/main" id="{8257668C-19F1-4B04-9901-402B7261BDE1}"/>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Role prompt</a:t>
            </a:r>
          </a:p>
        </p:txBody>
      </p:sp>
      <p:sp>
        <p:nvSpPr>
          <p:cNvPr id="4" name="flow-node">
            <a:extLst xmlns:a="http://schemas.openxmlformats.org/drawingml/2006/main">
              <a:ext uri="{FF2B5EF4-FFF2-40B4-BE49-F238E27FC236}">
                <a16:creationId xmlns:a16="http://schemas.microsoft.com/office/drawing/2014/main" id="{802E244F-4ABE-4BE3-8027-964728258E66}"/>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Model adapter</a:t>
            </a:r>
          </a:p>
        </p:txBody>
      </p:sp>
      <p:sp>
        <p:nvSpPr>
          <p:cNvPr id="5" name="flow-node">
            <a:extLst xmlns:a="http://schemas.openxmlformats.org/drawingml/2006/main">
              <a:ext uri="{FF2B5EF4-FFF2-40B4-BE49-F238E27FC236}">
                <a16:creationId xmlns:a16="http://schemas.microsoft.com/office/drawing/2014/main" id="{2FE55104-3073-4464-9B0B-EAC9B61E4350}"/>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Allowed tools</a:t>
            </a:r>
          </a:p>
        </p:txBody>
      </p:sp>
      <p:sp>
        <p:nvSpPr>
          <p:cNvPr id="6" name="flow-node">
            <a:extLst xmlns:a="http://schemas.openxmlformats.org/drawingml/2006/main">
              <a:ext uri="{FF2B5EF4-FFF2-40B4-BE49-F238E27FC236}">
                <a16:creationId xmlns:a16="http://schemas.microsoft.com/office/drawing/2014/main" id="{A411BD93-731C-4146-8087-A8AE9FDA3250}"/>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create_agent</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BCB969F5-FDC1-4775-B536-31FFA44BDC18}"/>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The framework connects the parts and runs the model–tool loop.</a:t>
            </a:r>
          </a:p>
        </p:txBody>
      </p:sp>
      <p:sp>
        <p:nvSpPr>
          <p:cNvPr id="11" name="shape">
            <a:extLst xmlns:a="http://schemas.openxmlformats.org/drawingml/2006/main">
              <a:ext uri="{FF2B5EF4-FFF2-40B4-BE49-F238E27FC236}">
                <a16:creationId xmlns:a16="http://schemas.microsoft.com/office/drawing/2014/main" id="{99521F8D-820E-44DA-AD41-8D373E5720C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8DEF138-3B77-4478-B145-829A91AFA1D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030455F6-594C-4BE2-8C49-6979B01D338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10</a:t>
            </a:r>
          </a:p>
        </p:txBody>
      </p:sp>
    </p:spTree>
    <p:extLst>
      <p:ext uri="{BB962C8B-B14F-4D97-AF65-F5344CB8AC3E}">
        <p14:creationId xmlns:p14="http://schemas.microsoft.com/office/powerpoint/2010/main" val="372057159"/>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2E896DA7-416E-47D4-B8E6-EDF448FE9D1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08E4DCCE-B5ED-464C-8749-D4979DFF654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LangGraph gives the team a route map.</a:t>
            </a:r>
          </a:p>
        </p:txBody>
      </p:sp>
      <p:sp>
        <p:nvSpPr>
          <p:cNvPr id="3" name="text">
            <a:extLst xmlns:a="http://schemas.openxmlformats.org/drawingml/2006/main">
              <a:ext uri="{FF2B5EF4-FFF2-40B4-BE49-F238E27FC236}">
                <a16:creationId xmlns:a16="http://schemas.microsoft.com/office/drawing/2014/main" id="{7A4F7559-0B65-40F3-B831-925AE9356964}"/>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LANGCHAIN</a:t>
            </a:r>
          </a:p>
        </p:txBody>
      </p:sp>
      <p:sp>
        <p:nvSpPr>
          <p:cNvPr id="4" name="text">
            <a:extLst xmlns:a="http://schemas.openxmlformats.org/drawingml/2006/main">
              <a:ext uri="{FF2B5EF4-FFF2-40B4-BE49-F238E27FC236}">
                <a16:creationId xmlns:a16="http://schemas.microsoft.com/office/drawing/2014/main" id="{BE6A3765-0EAC-4C77-93C2-872B97A04E08}"/>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LANGGRAPH</a:t>
            </a:r>
          </a:p>
        </p:txBody>
      </p:sp>
      <p:sp>
        <p:nvSpPr>
          <p:cNvPr id="5" name="shape">
            <a:extLst xmlns:a="http://schemas.openxmlformats.org/drawingml/2006/main">
              <a:ext uri="{FF2B5EF4-FFF2-40B4-BE49-F238E27FC236}">
                <a16:creationId xmlns:a16="http://schemas.microsoft.com/office/drawing/2014/main" id="{77B5D3A8-A50E-4410-958B-6B47C5B41C59}"/>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56F778C-FCA9-4F20-9282-CB5D049110CF}"/>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Build one agent’s model–tool loop</a:t>
            </a:r>
          </a:p>
        </p:txBody>
      </p:sp>
      <p:sp>
        <p:nvSpPr>
          <p:cNvPr id="7" name="text">
            <a:extLst xmlns:a="http://schemas.openxmlformats.org/drawingml/2006/main">
              <a:ext uri="{FF2B5EF4-FFF2-40B4-BE49-F238E27FC236}">
                <a16:creationId xmlns:a16="http://schemas.microsoft.com/office/drawing/2014/main" id="{74C8E95E-A3FD-491D-AB92-F3764FF65A87}"/>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Arrange the order of multiple steps</a:t>
            </a:r>
          </a:p>
        </p:txBody>
      </p:sp>
      <p:sp>
        <p:nvSpPr>
          <p:cNvPr id="8" name="shape">
            <a:extLst xmlns:a="http://schemas.openxmlformats.org/drawingml/2006/main">
              <a:ext uri="{FF2B5EF4-FFF2-40B4-BE49-F238E27FC236}">
                <a16:creationId xmlns:a16="http://schemas.microsoft.com/office/drawing/2014/main" id="{23F7E84F-02A0-4670-981D-A277099BD5AB}"/>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96B490D-81F7-4776-9735-0ED1330338B9}"/>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Example: Finance calls its cash tool</a:t>
            </a:r>
          </a:p>
        </p:txBody>
      </p:sp>
      <p:sp>
        <p:nvSpPr>
          <p:cNvPr id="10" name="text">
            <a:extLst xmlns:a="http://schemas.openxmlformats.org/drawingml/2006/main">
              <a:ext uri="{FF2B5EF4-FFF2-40B4-BE49-F238E27FC236}">
                <a16:creationId xmlns:a16="http://schemas.microsoft.com/office/drawing/2014/main" id="{E2D35B6F-EF40-4101-8DC4-9D0146162DB5}"/>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Example: Finance waits for Operations</a:t>
            </a:r>
          </a:p>
        </p:txBody>
      </p:sp>
      <p:sp>
        <p:nvSpPr>
          <p:cNvPr id="11" name="shape">
            <a:extLst xmlns:a="http://schemas.openxmlformats.org/drawingml/2006/main">
              <a:ext uri="{FF2B5EF4-FFF2-40B4-BE49-F238E27FC236}">
                <a16:creationId xmlns:a16="http://schemas.microsoft.com/office/drawing/2014/main" id="{5896C684-9B2A-400E-9741-AE61F129108B}"/>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288A9C2-A558-4DC1-AAEC-73AA72238BA3}"/>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Analogy: a worker’s equipment</a:t>
            </a:r>
          </a:p>
        </p:txBody>
      </p:sp>
      <p:sp>
        <p:nvSpPr>
          <p:cNvPr id="13" name="text">
            <a:extLst xmlns:a="http://schemas.openxmlformats.org/drawingml/2006/main">
              <a:ext uri="{FF2B5EF4-FFF2-40B4-BE49-F238E27FC236}">
                <a16:creationId xmlns:a16="http://schemas.microsoft.com/office/drawing/2014/main" id="{6EE79EB7-5E55-4818-8C01-92DE87F58F76}"/>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Analogy: the work schedule</a:t>
            </a:r>
          </a:p>
        </p:txBody>
      </p:sp>
      <p:sp>
        <p:nvSpPr>
          <p:cNvPr id="14" name="shape">
            <a:extLst xmlns:a="http://schemas.openxmlformats.org/drawingml/2006/main">
              <a:ext uri="{FF2B5EF4-FFF2-40B4-BE49-F238E27FC236}">
                <a16:creationId xmlns:a16="http://schemas.microsoft.com/office/drawing/2014/main" id="{FD9E7321-2503-479A-826D-7320F953FC3A}"/>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shape">
            <a:extLst xmlns:a="http://schemas.openxmlformats.org/drawingml/2006/main">
              <a:ext uri="{FF2B5EF4-FFF2-40B4-BE49-F238E27FC236}">
                <a16:creationId xmlns:a16="http://schemas.microsoft.com/office/drawing/2014/main" id="{2F658288-94EE-42BA-92F2-E4FD0AA3BD8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52C54D2A-9B18-4CDB-8BE4-4C0B265A833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355E6930-2968-42D3-AA85-6D8E70EEC68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11</a:t>
            </a:r>
          </a:p>
        </p:txBody>
      </p:sp>
    </p:spTree>
    <p:extLst>
      <p:ext uri="{BB962C8B-B14F-4D97-AF65-F5344CB8AC3E}">
        <p14:creationId xmlns:p14="http://schemas.microsoft.com/office/powerpoint/2010/main" val="33437912"/>
      </p:ext>
    </p:extLst>
  </p:cSld>
</p:sld>
</file>

<file path=ppt/slides/slide1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8DA0FB39-5536-43CA-96C4-01A397D3154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BAED9F60-9F5F-4C4F-8AF2-A27CF840D8A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Shared state is the team’s clipboard.</a:t>
            </a:r>
          </a:p>
        </p:txBody>
      </p:sp>
      <p:sp>
        <p:nvSpPr>
          <p:cNvPr id="3" name="flow-node">
            <a:extLst xmlns:a="http://schemas.openxmlformats.org/drawingml/2006/main">
              <a:ext uri="{FF2B5EF4-FFF2-40B4-BE49-F238E27FC236}">
                <a16:creationId xmlns:a16="http://schemas.microsoft.com/office/drawing/2014/main" id="{B7FF8FF7-E3E6-4650-81C5-06C9483BC5C5}"/>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Scenario facts</a:t>
            </a:r>
          </a:p>
        </p:txBody>
      </p:sp>
      <p:sp>
        <p:nvSpPr>
          <p:cNvPr id="4" name="flow-node">
            <a:extLst xmlns:a="http://schemas.openxmlformats.org/drawingml/2006/main">
              <a:ext uri="{FF2B5EF4-FFF2-40B4-BE49-F238E27FC236}">
                <a16:creationId xmlns:a16="http://schemas.microsoft.com/office/drawing/2014/main" id="{B8AB65E3-2FC5-4DA3-B51B-61F2FEC7F22B}"/>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Specialist reports</a:t>
            </a:r>
          </a:p>
        </p:txBody>
      </p:sp>
      <p:sp>
        <p:nvSpPr>
          <p:cNvPr id="5" name="flow-node">
            <a:extLst xmlns:a="http://schemas.openxmlformats.org/drawingml/2006/main">
              <a:ext uri="{FF2B5EF4-FFF2-40B4-BE49-F238E27FC236}">
                <a16:creationId xmlns:a16="http://schemas.microsoft.com/office/drawing/2014/main" id="{13CA6293-F485-452F-8671-ECD7790DA613}"/>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Shared clipboard</a:t>
            </a:r>
          </a:p>
        </p:txBody>
      </p:sp>
      <p:sp>
        <p:nvSpPr>
          <p:cNvPr id="6" name="flow-node">
            <a:extLst xmlns:a="http://schemas.openxmlformats.org/drawingml/2006/main">
              <a:ext uri="{FF2B5EF4-FFF2-40B4-BE49-F238E27FC236}">
                <a16:creationId xmlns:a16="http://schemas.microsoft.com/office/drawing/2014/main" id="{76B015F8-9938-4D7C-9B21-69FA4881C81E}"/>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Executive decision</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3CFFAC61-5EA5-4C07-94EA-3BC9B3D4112B}"/>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State carries the current run. Memory keeps information for later.</a:t>
            </a:r>
          </a:p>
        </p:txBody>
      </p:sp>
      <p:sp>
        <p:nvSpPr>
          <p:cNvPr id="11" name="shape">
            <a:extLst xmlns:a="http://schemas.openxmlformats.org/drawingml/2006/main">
              <a:ext uri="{FF2B5EF4-FFF2-40B4-BE49-F238E27FC236}">
                <a16:creationId xmlns:a16="http://schemas.microsoft.com/office/drawing/2014/main" id="{C7B49E02-849D-43F7-8D3F-BE09637FB0C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9B97D3B-EE63-4B69-9213-73A77F8DADC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6924D2E-F455-45DF-984B-2B6774D4733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12</a:t>
            </a:r>
          </a:p>
        </p:txBody>
      </p:sp>
    </p:spTree>
    <p:extLst>
      <p:ext uri="{BB962C8B-B14F-4D97-AF65-F5344CB8AC3E}">
        <p14:creationId xmlns:p14="http://schemas.microsoft.com/office/powerpoint/2010/main" val="719688314"/>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5" name="text">
            <a:extLst xmlns:a="http://schemas.openxmlformats.org/drawingml/2006/main">
              <a:ext uri="{FF2B5EF4-FFF2-40B4-BE49-F238E27FC236}">
                <a16:creationId xmlns:a16="http://schemas.microsoft.com/office/drawing/2014/main" id="{03831953-AE80-4AF1-BAC0-A41EED3FA67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UNDERSTAND</a:t>
            </a:r>
          </a:p>
        </p:txBody>
      </p:sp>
      <p:sp>
        <p:nvSpPr>
          <p:cNvPr id="2" name="text">
            <a:extLst xmlns:a="http://schemas.openxmlformats.org/drawingml/2006/main">
              <a:ext uri="{FF2B5EF4-FFF2-40B4-BE49-F238E27FC236}">
                <a16:creationId xmlns:a16="http://schemas.microsoft.com/office/drawing/2014/main" id="{40C04783-7758-4B96-9D19-938C05A6B4F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Six specialists answer six questions.</a:t>
            </a:r>
          </a:p>
        </p:txBody>
      </p:sp>
      <p:sp>
        <p:nvSpPr>
          <p:cNvPr id="3" name="text">
            <a:extLst xmlns:a="http://schemas.openxmlformats.org/drawingml/2006/main">
              <a:ext uri="{FF2B5EF4-FFF2-40B4-BE49-F238E27FC236}">
                <a16:creationId xmlns:a16="http://schemas.microsoft.com/office/drawing/2014/main" id="{EA2B2AE6-069C-42B5-B005-895896A418FB}"/>
              </a:ext>
            </a:extLst>
          </p:cNvPr>
          <p:cNvSpPr>
            <a:spLocks xmlns:a="http://schemas.openxmlformats.org/drawingml/2006/main" noGrp="1"/>
          </p:cNvSpPr>
          <p:nvPr/>
        </p:nvSpPr>
        <p:spPr>
          <a:xfrm xmlns:a="http://schemas.openxmlformats.org/drawingml/2006/main">
            <a:off x="609600" y="2066925"/>
            <a:ext cx="146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AGENT</a:t>
            </a:r>
          </a:p>
        </p:txBody>
      </p:sp>
      <p:sp>
        <p:nvSpPr>
          <p:cNvPr id="4" name="text">
            <a:extLst xmlns:a="http://schemas.openxmlformats.org/drawingml/2006/main">
              <a:ext uri="{FF2B5EF4-FFF2-40B4-BE49-F238E27FC236}">
                <a16:creationId xmlns:a16="http://schemas.microsoft.com/office/drawing/2014/main" id="{89C8D657-95E0-4388-B334-60E77193ABAD}"/>
              </a:ext>
            </a:extLst>
          </p:cNvPr>
          <p:cNvSpPr>
            <a:spLocks xmlns:a="http://schemas.openxmlformats.org/drawingml/2006/main" noGrp="1"/>
          </p:cNvSpPr>
          <p:nvPr/>
        </p:nvSpPr>
        <p:spPr>
          <a:xfrm xmlns:a="http://schemas.openxmlformats.org/drawingml/2006/main">
            <a:off x="2286000" y="2066925"/>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SPECIALIZATION</a:t>
            </a:r>
          </a:p>
        </p:txBody>
      </p:sp>
      <p:sp>
        <p:nvSpPr>
          <p:cNvPr id="5" name="text">
            <a:extLst xmlns:a="http://schemas.openxmlformats.org/drawingml/2006/main">
              <a:ext uri="{FF2B5EF4-FFF2-40B4-BE49-F238E27FC236}">
                <a16:creationId xmlns:a16="http://schemas.microsoft.com/office/drawing/2014/main" id="{CD22D610-D2BB-42B6-AD79-25B75153EC24}"/>
              </a:ext>
            </a:extLst>
          </p:cNvPr>
          <p:cNvSpPr>
            <a:spLocks xmlns:a="http://schemas.openxmlformats.org/drawingml/2006/main" noGrp="1"/>
          </p:cNvSpPr>
          <p:nvPr/>
        </p:nvSpPr>
        <p:spPr>
          <a:xfrm xmlns:a="http://schemas.openxmlformats.org/drawingml/2006/main">
            <a:off x="5029200" y="2066925"/>
            <a:ext cx="634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BUSINESS QUESTION</a:t>
            </a:r>
          </a:p>
        </p:txBody>
      </p:sp>
      <p:sp>
        <p:nvSpPr>
          <p:cNvPr id="6" name="shape">
            <a:extLst xmlns:a="http://schemas.openxmlformats.org/drawingml/2006/main">
              <a:ext uri="{FF2B5EF4-FFF2-40B4-BE49-F238E27FC236}">
                <a16:creationId xmlns:a16="http://schemas.microsoft.com/office/drawing/2014/main" id="{955B9B5B-EC74-4BD2-91CF-21FFE087EABD}"/>
              </a:ext>
            </a:extLst>
          </p:cNvPr>
          <p:cNvSpPr>
            <a:spLocks xmlns:a="http://schemas.openxmlformats.org/drawingml/2006/main" noGrp="1"/>
          </p:cNvSpPr>
          <p:nvPr/>
        </p:nvSpPr>
        <p:spPr>
          <a:xfrm xmlns:a="http://schemas.openxmlformats.org/drawingml/2006/main">
            <a:off x="609600" y="24765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DC32384A-2E11-4E36-BA61-902FCF699D1F}"/>
              </a:ext>
            </a:extLst>
          </p:cNvPr>
          <p:cNvSpPr>
            <a:spLocks xmlns:a="http://schemas.openxmlformats.org/drawingml/2006/main" noGrp="1"/>
          </p:cNvSpPr>
          <p:nvPr/>
        </p:nvSpPr>
        <p:spPr>
          <a:xfrm xmlns:a="http://schemas.openxmlformats.org/drawingml/2006/main">
            <a:off x="609600" y="26479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PRISM</a:t>
            </a:r>
          </a:p>
        </p:txBody>
      </p:sp>
      <p:sp>
        <p:nvSpPr>
          <p:cNvPr id="8" name="text">
            <a:extLst xmlns:a="http://schemas.openxmlformats.org/drawingml/2006/main">
              <a:ext uri="{FF2B5EF4-FFF2-40B4-BE49-F238E27FC236}">
                <a16:creationId xmlns:a16="http://schemas.microsoft.com/office/drawing/2014/main" id="{FC90AA92-EA99-4C7D-8037-A521C1C42C6D}"/>
              </a:ext>
            </a:extLst>
          </p:cNvPr>
          <p:cNvSpPr>
            <a:spLocks xmlns:a="http://schemas.openxmlformats.org/drawingml/2006/main" noGrp="1"/>
          </p:cNvSpPr>
          <p:nvPr/>
        </p:nvSpPr>
        <p:spPr>
          <a:xfrm xmlns:a="http://schemas.openxmlformats.org/drawingml/2006/main">
            <a:off x="2286000" y="26479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Analytics</a:t>
            </a:r>
          </a:p>
        </p:txBody>
      </p:sp>
      <p:sp>
        <p:nvSpPr>
          <p:cNvPr id="9" name="text">
            <a:extLst xmlns:a="http://schemas.openxmlformats.org/drawingml/2006/main">
              <a:ext uri="{FF2B5EF4-FFF2-40B4-BE49-F238E27FC236}">
                <a16:creationId xmlns:a16="http://schemas.microsoft.com/office/drawing/2014/main" id="{E5B5343D-8A13-48A4-BFCD-38AFF02A1F5D}"/>
              </a:ext>
            </a:extLst>
          </p:cNvPr>
          <p:cNvSpPr>
            <a:spLocks xmlns:a="http://schemas.openxmlformats.org/drawingml/2006/main" noGrp="1"/>
          </p:cNvSpPr>
          <p:nvPr/>
        </p:nvSpPr>
        <p:spPr>
          <a:xfrm xmlns:a="http://schemas.openxmlformats.org/drawingml/2006/main">
            <a:off x="5029200" y="26479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What do the numbers actually say?</a:t>
            </a:r>
          </a:p>
        </p:txBody>
      </p:sp>
      <p:sp>
        <p:nvSpPr>
          <p:cNvPr id="10" name="shape">
            <a:extLst xmlns:a="http://schemas.openxmlformats.org/drawingml/2006/main">
              <a:ext uri="{FF2B5EF4-FFF2-40B4-BE49-F238E27FC236}">
                <a16:creationId xmlns:a16="http://schemas.microsoft.com/office/drawing/2014/main" id="{CCE65A9B-004B-417C-BE75-01FAF4641C66}"/>
              </a:ext>
            </a:extLst>
          </p:cNvPr>
          <p:cNvSpPr>
            <a:spLocks xmlns:a="http://schemas.openxmlformats.org/drawingml/2006/main" noGrp="1"/>
          </p:cNvSpPr>
          <p:nvPr/>
        </p:nvSpPr>
        <p:spPr>
          <a:xfrm xmlns:a="http://schemas.openxmlformats.org/drawingml/2006/main">
            <a:off x="609600" y="3114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B56DBBB-FD61-4C45-85ED-E8F83686F1CD}"/>
              </a:ext>
            </a:extLst>
          </p:cNvPr>
          <p:cNvSpPr>
            <a:spLocks xmlns:a="http://schemas.openxmlformats.org/drawingml/2006/main" noGrp="1"/>
          </p:cNvSpPr>
          <p:nvPr/>
        </p:nvSpPr>
        <p:spPr>
          <a:xfrm xmlns:a="http://schemas.openxmlformats.org/drawingml/2006/main">
            <a:off x="609600" y="32194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PULSE</a:t>
            </a:r>
          </a:p>
        </p:txBody>
      </p:sp>
      <p:sp>
        <p:nvSpPr>
          <p:cNvPr id="12" name="text">
            <a:extLst xmlns:a="http://schemas.openxmlformats.org/drawingml/2006/main">
              <a:ext uri="{FF2B5EF4-FFF2-40B4-BE49-F238E27FC236}">
                <a16:creationId xmlns:a16="http://schemas.microsoft.com/office/drawing/2014/main" id="{70675E08-7976-4F3D-8817-D5F6E4465CBB}"/>
              </a:ext>
            </a:extLst>
          </p:cNvPr>
          <p:cNvSpPr>
            <a:spLocks xmlns:a="http://schemas.openxmlformats.org/drawingml/2006/main" noGrp="1"/>
          </p:cNvSpPr>
          <p:nvPr/>
        </p:nvSpPr>
        <p:spPr>
          <a:xfrm xmlns:a="http://schemas.openxmlformats.org/drawingml/2006/main">
            <a:off x="2286000" y="32194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Marketing</a:t>
            </a:r>
          </a:p>
        </p:txBody>
      </p:sp>
      <p:sp>
        <p:nvSpPr>
          <p:cNvPr id="13" name="text">
            <a:extLst xmlns:a="http://schemas.openxmlformats.org/drawingml/2006/main">
              <a:ext uri="{FF2B5EF4-FFF2-40B4-BE49-F238E27FC236}">
                <a16:creationId xmlns:a16="http://schemas.microsoft.com/office/drawing/2014/main" id="{9A0FCF26-BA74-470E-B529-CC677545926D}"/>
              </a:ext>
            </a:extLst>
          </p:cNvPr>
          <p:cNvSpPr>
            <a:spLocks xmlns:a="http://schemas.openxmlformats.org/drawingml/2006/main" noGrp="1"/>
          </p:cNvSpPr>
          <p:nvPr/>
        </p:nvSpPr>
        <p:spPr>
          <a:xfrm xmlns:a="http://schemas.openxmlformats.org/drawingml/2006/main">
            <a:off x="5029200" y="32194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How should we test customer demand?</a:t>
            </a:r>
          </a:p>
        </p:txBody>
      </p:sp>
      <p:sp>
        <p:nvSpPr>
          <p:cNvPr id="14" name="shape">
            <a:extLst xmlns:a="http://schemas.openxmlformats.org/drawingml/2006/main">
              <a:ext uri="{FF2B5EF4-FFF2-40B4-BE49-F238E27FC236}">
                <a16:creationId xmlns:a16="http://schemas.microsoft.com/office/drawing/2014/main" id="{A89F47F8-FDD2-4F2A-A69B-D9FD15E5EF56}"/>
              </a:ext>
            </a:extLst>
          </p:cNvPr>
          <p:cNvSpPr>
            <a:spLocks xmlns:a="http://schemas.openxmlformats.org/drawingml/2006/main" noGrp="1"/>
          </p:cNvSpPr>
          <p:nvPr/>
        </p:nvSpPr>
        <p:spPr>
          <a:xfrm xmlns:a="http://schemas.openxmlformats.org/drawingml/2006/main">
            <a:off x="609600" y="3686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0725E0C-6395-46B4-9EE6-3DA6217CD869}"/>
              </a:ext>
            </a:extLst>
          </p:cNvPr>
          <p:cNvSpPr>
            <a:spLocks xmlns:a="http://schemas.openxmlformats.org/drawingml/2006/main" noGrp="1"/>
          </p:cNvSpPr>
          <p:nvPr/>
        </p:nvSpPr>
        <p:spPr>
          <a:xfrm xmlns:a="http://schemas.openxmlformats.org/drawingml/2006/main">
            <a:off x="609600" y="37909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NOVA</a:t>
            </a:r>
          </a:p>
        </p:txBody>
      </p:sp>
      <p:sp>
        <p:nvSpPr>
          <p:cNvPr id="16" name="text">
            <a:extLst xmlns:a="http://schemas.openxmlformats.org/drawingml/2006/main">
              <a:ext uri="{FF2B5EF4-FFF2-40B4-BE49-F238E27FC236}">
                <a16:creationId xmlns:a16="http://schemas.microsoft.com/office/drawing/2014/main" id="{3E68DC2D-D41A-46B4-A839-452ADFD54BBD}"/>
              </a:ext>
            </a:extLst>
          </p:cNvPr>
          <p:cNvSpPr>
            <a:spLocks xmlns:a="http://schemas.openxmlformats.org/drawingml/2006/main" noGrp="1"/>
          </p:cNvSpPr>
          <p:nvPr/>
        </p:nvSpPr>
        <p:spPr>
          <a:xfrm xmlns:a="http://schemas.openxmlformats.org/drawingml/2006/main">
            <a:off x="2286000" y="37909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HR</a:t>
            </a:r>
          </a:p>
        </p:txBody>
      </p:sp>
      <p:sp>
        <p:nvSpPr>
          <p:cNvPr id="17" name="text">
            <a:extLst xmlns:a="http://schemas.openxmlformats.org/drawingml/2006/main">
              <a:ext uri="{FF2B5EF4-FFF2-40B4-BE49-F238E27FC236}">
                <a16:creationId xmlns:a16="http://schemas.microsoft.com/office/drawing/2014/main" id="{496CE880-C627-4E12-9087-B137AAA8B2B5}"/>
              </a:ext>
            </a:extLst>
          </p:cNvPr>
          <p:cNvSpPr>
            <a:spLocks xmlns:a="http://schemas.openxmlformats.org/drawingml/2006/main" noGrp="1"/>
          </p:cNvSpPr>
          <p:nvPr/>
        </p:nvSpPr>
        <p:spPr>
          <a:xfrm xmlns:a="http://schemas.openxmlformats.org/drawingml/2006/main">
            <a:off x="5029200" y="37909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What skills and capacity do we need?</a:t>
            </a:r>
          </a:p>
        </p:txBody>
      </p:sp>
      <p:sp>
        <p:nvSpPr>
          <p:cNvPr id="18" name="shape">
            <a:extLst xmlns:a="http://schemas.openxmlformats.org/drawingml/2006/main">
              <a:ext uri="{FF2B5EF4-FFF2-40B4-BE49-F238E27FC236}">
                <a16:creationId xmlns:a16="http://schemas.microsoft.com/office/drawing/2014/main" id="{963AAFAF-BC48-4CDD-8B2E-CFEE13378F16}"/>
              </a:ext>
            </a:extLst>
          </p:cNvPr>
          <p:cNvSpPr>
            <a:spLocks xmlns:a="http://schemas.openxmlformats.org/drawingml/2006/main" noGrp="1"/>
          </p:cNvSpPr>
          <p:nvPr/>
        </p:nvSpPr>
        <p:spPr>
          <a:xfrm xmlns:a="http://schemas.openxmlformats.org/drawingml/2006/main">
            <a:off x="609600" y="4257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D47CBF4-1380-4433-94FB-957A3BA18CEF}"/>
              </a:ext>
            </a:extLst>
          </p:cNvPr>
          <p:cNvSpPr>
            <a:spLocks xmlns:a="http://schemas.openxmlformats.org/drawingml/2006/main" noGrp="1"/>
          </p:cNvSpPr>
          <p:nvPr/>
        </p:nvSpPr>
        <p:spPr>
          <a:xfrm xmlns:a="http://schemas.openxmlformats.org/drawingml/2006/main">
            <a:off x="609600" y="43624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ATLAS</a:t>
            </a:r>
          </a:p>
        </p:txBody>
      </p:sp>
      <p:sp>
        <p:nvSpPr>
          <p:cNvPr id="20" name="text">
            <a:extLst xmlns:a="http://schemas.openxmlformats.org/drawingml/2006/main">
              <a:ext uri="{FF2B5EF4-FFF2-40B4-BE49-F238E27FC236}">
                <a16:creationId xmlns:a16="http://schemas.microsoft.com/office/drawing/2014/main" id="{09DFD7CD-4298-4954-9B71-C474C50134C4}"/>
              </a:ext>
            </a:extLst>
          </p:cNvPr>
          <p:cNvSpPr>
            <a:spLocks xmlns:a="http://schemas.openxmlformats.org/drawingml/2006/main" noGrp="1"/>
          </p:cNvSpPr>
          <p:nvPr/>
        </p:nvSpPr>
        <p:spPr>
          <a:xfrm xmlns:a="http://schemas.openxmlformats.org/drawingml/2006/main">
            <a:off x="2286000" y="43624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Operations</a:t>
            </a:r>
          </a:p>
        </p:txBody>
      </p:sp>
      <p:sp>
        <p:nvSpPr>
          <p:cNvPr id="21" name="text">
            <a:extLst xmlns:a="http://schemas.openxmlformats.org/drawingml/2006/main">
              <a:ext uri="{FF2B5EF4-FFF2-40B4-BE49-F238E27FC236}">
                <a16:creationId xmlns:a16="http://schemas.microsoft.com/office/drawing/2014/main" id="{7FF142E0-BECD-4753-A826-FDF93B1ED8DE}"/>
              </a:ext>
            </a:extLst>
          </p:cNvPr>
          <p:cNvSpPr>
            <a:spLocks xmlns:a="http://schemas.openxmlformats.org/drawingml/2006/main" noGrp="1"/>
          </p:cNvSpPr>
          <p:nvPr/>
        </p:nvSpPr>
        <p:spPr>
          <a:xfrm xmlns:a="http://schemas.openxmlformats.org/drawingml/2006/main">
            <a:off x="5029200" y="43624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Can we deliver on time?</a:t>
            </a:r>
          </a:p>
        </p:txBody>
      </p:sp>
      <p:sp>
        <p:nvSpPr>
          <p:cNvPr id="22" name="shape">
            <a:extLst xmlns:a="http://schemas.openxmlformats.org/drawingml/2006/main">
              <a:ext uri="{FF2B5EF4-FFF2-40B4-BE49-F238E27FC236}">
                <a16:creationId xmlns:a16="http://schemas.microsoft.com/office/drawing/2014/main" id="{320DC021-441D-4050-BF19-82A8ACBD9CF7}"/>
              </a:ext>
            </a:extLst>
          </p:cNvPr>
          <p:cNvSpPr>
            <a:spLocks xmlns:a="http://schemas.openxmlformats.org/drawingml/2006/main" noGrp="1"/>
          </p:cNvSpPr>
          <p:nvPr/>
        </p:nvSpPr>
        <p:spPr>
          <a:xfrm xmlns:a="http://schemas.openxmlformats.org/drawingml/2006/main">
            <a:off x="609600" y="4829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73F6B469-58C6-461F-B7DE-34F1E5055B50}"/>
              </a:ext>
            </a:extLst>
          </p:cNvPr>
          <p:cNvSpPr>
            <a:spLocks xmlns:a="http://schemas.openxmlformats.org/drawingml/2006/main" noGrp="1"/>
          </p:cNvSpPr>
          <p:nvPr/>
        </p:nvSpPr>
        <p:spPr>
          <a:xfrm xmlns:a="http://schemas.openxmlformats.org/drawingml/2006/main">
            <a:off x="609600" y="49339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LEDGER</a:t>
            </a:r>
          </a:p>
        </p:txBody>
      </p:sp>
      <p:sp>
        <p:nvSpPr>
          <p:cNvPr id="24" name="text">
            <a:extLst xmlns:a="http://schemas.openxmlformats.org/drawingml/2006/main">
              <a:ext uri="{FF2B5EF4-FFF2-40B4-BE49-F238E27FC236}">
                <a16:creationId xmlns:a16="http://schemas.microsoft.com/office/drawing/2014/main" id="{2C6C7DE0-63EE-4060-ADCF-0EF548148B4C}"/>
              </a:ext>
            </a:extLst>
          </p:cNvPr>
          <p:cNvSpPr>
            <a:spLocks xmlns:a="http://schemas.openxmlformats.org/drawingml/2006/main" noGrp="1"/>
          </p:cNvSpPr>
          <p:nvPr/>
        </p:nvSpPr>
        <p:spPr>
          <a:xfrm xmlns:a="http://schemas.openxmlformats.org/drawingml/2006/main">
            <a:off x="2286000" y="49339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Finance</a:t>
            </a:r>
          </a:p>
        </p:txBody>
      </p:sp>
      <p:sp>
        <p:nvSpPr>
          <p:cNvPr id="25" name="text">
            <a:extLst xmlns:a="http://schemas.openxmlformats.org/drawingml/2006/main">
              <a:ext uri="{FF2B5EF4-FFF2-40B4-BE49-F238E27FC236}">
                <a16:creationId xmlns:a16="http://schemas.microsoft.com/office/drawing/2014/main" id="{1C58C4DD-2277-4D90-90B4-7B2270F3B0AE}"/>
              </a:ext>
            </a:extLst>
          </p:cNvPr>
          <p:cNvSpPr>
            <a:spLocks xmlns:a="http://schemas.openxmlformats.org/drawingml/2006/main" noGrp="1"/>
          </p:cNvSpPr>
          <p:nvPr/>
        </p:nvSpPr>
        <p:spPr>
          <a:xfrm xmlns:a="http://schemas.openxmlformats.org/drawingml/2006/main">
            <a:off x="5029200" y="49339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Can we fund the plan?</a:t>
            </a:r>
          </a:p>
        </p:txBody>
      </p:sp>
      <p:sp>
        <p:nvSpPr>
          <p:cNvPr id="26" name="shape">
            <a:extLst xmlns:a="http://schemas.openxmlformats.org/drawingml/2006/main">
              <a:ext uri="{FF2B5EF4-FFF2-40B4-BE49-F238E27FC236}">
                <a16:creationId xmlns:a16="http://schemas.microsoft.com/office/drawing/2014/main" id="{B1997CC0-AECF-4783-9FBB-5BAE3CCE3F83}"/>
              </a:ext>
            </a:extLst>
          </p:cNvPr>
          <p:cNvSpPr>
            <a:spLocks xmlns:a="http://schemas.openxmlformats.org/drawingml/2006/main" noGrp="1"/>
          </p:cNvSpPr>
          <p:nvPr/>
        </p:nvSpPr>
        <p:spPr>
          <a:xfrm xmlns:a="http://schemas.openxmlformats.org/drawingml/2006/main">
            <a:off x="609600" y="5400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98745FFF-80D5-4EDB-B084-1C937933096B}"/>
              </a:ext>
            </a:extLst>
          </p:cNvPr>
          <p:cNvSpPr>
            <a:spLocks xmlns:a="http://schemas.openxmlformats.org/drawingml/2006/main" noGrp="1"/>
          </p:cNvSpPr>
          <p:nvPr/>
        </p:nvSpPr>
        <p:spPr>
          <a:xfrm xmlns:a="http://schemas.openxmlformats.org/drawingml/2006/main">
            <a:off x="609600" y="5505450"/>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42C38"/>
                </a:solidFill>
                <a:latin typeface="Aptos"/>
                <a:ea typeface="Aptos"/>
                <a:cs typeface="Aptos"/>
              </a:defRPr>
            </a:pPr>
            <a:r>
              <a:rPr sz="1875" b="1">
                <a:solidFill>
                  <a:srgbClr val="142C38"/>
                </a:solidFill>
                <a:latin typeface="Aptos"/>
                <a:ea typeface="Aptos"/>
                <a:cs typeface="Aptos"/>
              </a:rPr>
              <a:t>JARVIS</a:t>
            </a:r>
          </a:p>
        </p:txBody>
      </p:sp>
      <p:sp>
        <p:nvSpPr>
          <p:cNvPr id="28" name="text">
            <a:extLst xmlns:a="http://schemas.openxmlformats.org/drawingml/2006/main">
              <a:ext uri="{FF2B5EF4-FFF2-40B4-BE49-F238E27FC236}">
                <a16:creationId xmlns:a16="http://schemas.microsoft.com/office/drawing/2014/main" id="{FFDB7F86-6A2C-469E-8C8E-7D63879B335D}"/>
              </a:ext>
            </a:extLst>
          </p:cNvPr>
          <p:cNvSpPr>
            <a:spLocks xmlns:a="http://schemas.openxmlformats.org/drawingml/2006/main" noGrp="1"/>
          </p:cNvSpPr>
          <p:nvPr/>
        </p:nvSpPr>
        <p:spPr>
          <a:xfrm xmlns:a="http://schemas.openxmlformats.org/drawingml/2006/main">
            <a:off x="2286000" y="55054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General Management</a:t>
            </a:r>
          </a:p>
        </p:txBody>
      </p:sp>
      <p:sp>
        <p:nvSpPr>
          <p:cNvPr id="29" name="text">
            <a:extLst xmlns:a="http://schemas.openxmlformats.org/drawingml/2006/main">
              <a:ext uri="{FF2B5EF4-FFF2-40B4-BE49-F238E27FC236}">
                <a16:creationId xmlns:a16="http://schemas.microsoft.com/office/drawing/2014/main" id="{BEB7C505-313B-4A40-A602-4803D266E04E}"/>
              </a:ext>
            </a:extLst>
          </p:cNvPr>
          <p:cNvSpPr>
            <a:spLocks xmlns:a="http://schemas.openxmlformats.org/drawingml/2006/main" noGrp="1"/>
          </p:cNvSpPr>
          <p:nvPr/>
        </p:nvSpPr>
        <p:spPr>
          <a:xfrm xmlns:a="http://schemas.openxmlformats.org/drawingml/2006/main">
            <a:off x="5029200" y="5505450"/>
            <a:ext cx="634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What should the whole team do next?</a:t>
            </a:r>
          </a:p>
        </p:txBody>
      </p:sp>
      <p:sp>
        <p:nvSpPr>
          <p:cNvPr id="30" name="shape">
            <a:extLst xmlns:a="http://schemas.openxmlformats.org/drawingml/2006/main">
              <a:ext uri="{FF2B5EF4-FFF2-40B4-BE49-F238E27FC236}">
                <a16:creationId xmlns:a16="http://schemas.microsoft.com/office/drawing/2014/main" id="{3935BEF6-44F8-43DE-A801-ADC3BBA7DE84}"/>
              </a:ext>
            </a:extLst>
          </p:cNvPr>
          <p:cNvSpPr>
            <a:spLocks xmlns:a="http://schemas.openxmlformats.org/drawingml/2006/main" noGrp="1"/>
          </p:cNvSpPr>
          <p:nvPr/>
        </p:nvSpPr>
        <p:spPr>
          <a:xfrm xmlns:a="http://schemas.openxmlformats.org/drawingml/2006/main">
            <a:off x="609600" y="5972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1" name="shape">
            <a:extLst xmlns:a="http://schemas.openxmlformats.org/drawingml/2006/main">
              <a:ext uri="{FF2B5EF4-FFF2-40B4-BE49-F238E27FC236}">
                <a16:creationId xmlns:a16="http://schemas.microsoft.com/office/drawing/2014/main" id="{43E86659-E529-4E55-8BCA-E2640D806C4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2" name="text">
            <a:extLst xmlns:a="http://schemas.openxmlformats.org/drawingml/2006/main">
              <a:ext uri="{FF2B5EF4-FFF2-40B4-BE49-F238E27FC236}">
                <a16:creationId xmlns:a16="http://schemas.microsoft.com/office/drawing/2014/main" id="{7F36EA37-9930-4A16-BFE3-1FDA1C27EA3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33" name="text">
            <a:extLst xmlns:a="http://schemas.openxmlformats.org/drawingml/2006/main">
              <a:ext uri="{FF2B5EF4-FFF2-40B4-BE49-F238E27FC236}">
                <a16:creationId xmlns:a16="http://schemas.microsoft.com/office/drawing/2014/main" id="{27E493B4-68AE-43CA-887A-E99BA81A5C60}"/>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34" name="text">
            <a:extLst xmlns:a="http://schemas.openxmlformats.org/drawingml/2006/main">
              <a:ext uri="{FF2B5EF4-FFF2-40B4-BE49-F238E27FC236}">
                <a16:creationId xmlns:a16="http://schemas.microsoft.com/office/drawing/2014/main" id="{15798553-3AD9-44A4-AFF3-D225E8324CE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13</a:t>
            </a:r>
          </a:p>
        </p:txBody>
      </p:sp>
    </p:spTree>
    <p:extLst>
      <p:ext uri="{BB962C8B-B14F-4D97-AF65-F5344CB8AC3E}">
        <p14:creationId xmlns:p14="http://schemas.microsoft.com/office/powerpoint/2010/main" val="395524216"/>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7EACD095-D561-4FCF-9D6C-94841507AB8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THE BUSINESS CASE</a:t>
            </a:r>
          </a:p>
        </p:txBody>
      </p:sp>
      <p:sp>
        <p:nvSpPr>
          <p:cNvPr id="2" name="text">
            <a:extLst xmlns:a="http://schemas.openxmlformats.org/drawingml/2006/main">
              <a:ext uri="{FF2B5EF4-FFF2-40B4-BE49-F238E27FC236}">
                <a16:creationId xmlns:a16="http://schemas.microsoft.com/office/drawing/2014/main" id="{4E06072C-769A-4422-9443-4B4BBA176B9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Our shared case is Project Monsoon.</a:t>
            </a:r>
          </a:p>
        </p:txBody>
      </p:sp>
      <p:sp>
        <p:nvSpPr>
          <p:cNvPr id="3" name="text">
            <a:extLst xmlns:a="http://schemas.openxmlformats.org/drawingml/2006/main">
              <a:ext uri="{FF2B5EF4-FFF2-40B4-BE49-F238E27FC236}">
                <a16:creationId xmlns:a16="http://schemas.microsoft.com/office/drawing/2014/main" id="{D788B761-6E77-47FD-970B-A84900D487FA}"/>
              </a:ext>
            </a:extLst>
          </p:cNvPr>
          <p:cNvSpPr>
            <a:spLocks xmlns:a="http://schemas.openxmlformats.org/drawingml/2006/main" noGrp="1"/>
          </p:cNvSpPr>
          <p:nvPr/>
        </p:nvSpPr>
        <p:spPr>
          <a:xfrm xmlns:a="http://schemas.openxmlformats.org/drawingml/2006/main">
            <a:off x="609600" y="222885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₹24 lakh</a:t>
            </a:r>
          </a:p>
        </p:txBody>
      </p:sp>
      <p:sp>
        <p:nvSpPr>
          <p:cNvPr id="4" name="text">
            <a:extLst xmlns:a="http://schemas.openxmlformats.org/drawingml/2006/main">
              <a:ext uri="{FF2B5EF4-FFF2-40B4-BE49-F238E27FC236}">
                <a16:creationId xmlns:a16="http://schemas.microsoft.com/office/drawing/2014/main" id="{CF8065CC-A3A2-47FC-9BB5-3B3CACB5BFD3}"/>
              </a:ext>
            </a:extLst>
          </p:cNvPr>
          <p:cNvSpPr>
            <a:spLocks xmlns:a="http://schemas.openxmlformats.org/drawingml/2006/main" noGrp="1"/>
          </p:cNvSpPr>
          <p:nvPr/>
        </p:nvSpPr>
        <p:spPr>
          <a:xfrm xmlns:a="http://schemas.openxmlformats.org/drawingml/2006/main">
            <a:off x="609600" y="30670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Launch cash budget</a:t>
            </a:r>
          </a:p>
        </p:txBody>
      </p:sp>
      <p:sp>
        <p:nvSpPr>
          <p:cNvPr id="5" name="text">
            <a:extLst xmlns:a="http://schemas.openxmlformats.org/drawingml/2006/main">
              <a:ext uri="{FF2B5EF4-FFF2-40B4-BE49-F238E27FC236}">
                <a16:creationId xmlns:a16="http://schemas.microsoft.com/office/drawing/2014/main" id="{BF1F1D5B-1E83-438A-8552-957425D9666B}"/>
              </a:ext>
            </a:extLst>
          </p:cNvPr>
          <p:cNvSpPr>
            <a:spLocks xmlns:a="http://schemas.openxmlformats.org/drawingml/2006/main" noGrp="1"/>
          </p:cNvSpPr>
          <p:nvPr/>
        </p:nvSpPr>
        <p:spPr>
          <a:xfrm xmlns:a="http://schemas.openxmlformats.org/drawingml/2006/main">
            <a:off x="6191250" y="222885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30,000</a:t>
            </a:r>
          </a:p>
        </p:txBody>
      </p:sp>
      <p:sp>
        <p:nvSpPr>
          <p:cNvPr id="6" name="text">
            <a:extLst xmlns:a="http://schemas.openxmlformats.org/drawingml/2006/main">
              <a:ext uri="{FF2B5EF4-FFF2-40B4-BE49-F238E27FC236}">
                <a16:creationId xmlns:a16="http://schemas.microsoft.com/office/drawing/2014/main" id="{C459B7AA-CBD3-4246-9A99-7B90A6D25693}"/>
              </a:ext>
            </a:extLst>
          </p:cNvPr>
          <p:cNvSpPr>
            <a:spLocks xmlns:a="http://schemas.openxmlformats.org/drawingml/2006/main" noGrp="1"/>
          </p:cNvSpPr>
          <p:nvPr/>
        </p:nvSpPr>
        <p:spPr>
          <a:xfrm xmlns:a="http://schemas.openxmlformats.org/drawingml/2006/main">
            <a:off x="6191250" y="30670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Units to produce</a:t>
            </a:r>
          </a:p>
        </p:txBody>
      </p:sp>
      <p:sp>
        <p:nvSpPr>
          <p:cNvPr id="7" name="text">
            <a:extLst xmlns:a="http://schemas.openxmlformats.org/drawingml/2006/main">
              <a:ext uri="{FF2B5EF4-FFF2-40B4-BE49-F238E27FC236}">
                <a16:creationId xmlns:a16="http://schemas.microsoft.com/office/drawing/2014/main" id="{2EC92BC3-11CC-4288-BAE4-A6BC5CA04599}"/>
              </a:ext>
            </a:extLst>
          </p:cNvPr>
          <p:cNvSpPr>
            <a:spLocks xmlns:a="http://schemas.openxmlformats.org/drawingml/2006/main" noGrp="1"/>
          </p:cNvSpPr>
          <p:nvPr/>
        </p:nvSpPr>
        <p:spPr>
          <a:xfrm xmlns:a="http://schemas.openxmlformats.org/drawingml/2006/main">
            <a:off x="609600" y="388620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84 days</a:t>
            </a:r>
          </a:p>
        </p:txBody>
      </p:sp>
      <p:sp>
        <p:nvSpPr>
          <p:cNvPr id="8" name="text">
            <a:extLst xmlns:a="http://schemas.openxmlformats.org/drawingml/2006/main">
              <a:ext uri="{FF2B5EF4-FFF2-40B4-BE49-F238E27FC236}">
                <a16:creationId xmlns:a16="http://schemas.microsoft.com/office/drawing/2014/main" id="{A3BDC5B1-A6F2-42E4-A709-62BAC69A2BFE}"/>
              </a:ext>
            </a:extLst>
          </p:cNvPr>
          <p:cNvSpPr>
            <a:spLocks xmlns:a="http://schemas.openxmlformats.org/drawingml/2006/main" noGrp="1"/>
          </p:cNvSpPr>
          <p:nvPr/>
        </p:nvSpPr>
        <p:spPr>
          <a:xfrm xmlns:a="http://schemas.openxmlformats.org/drawingml/2006/main">
            <a:off x="609600" y="47244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Launch window</a:t>
            </a:r>
          </a:p>
        </p:txBody>
      </p:sp>
      <p:sp>
        <p:nvSpPr>
          <p:cNvPr id="9" name="text">
            <a:extLst xmlns:a="http://schemas.openxmlformats.org/drawingml/2006/main">
              <a:ext uri="{FF2B5EF4-FFF2-40B4-BE49-F238E27FC236}">
                <a16:creationId xmlns:a16="http://schemas.microsoft.com/office/drawing/2014/main" id="{22E1B845-A610-4DD3-9EB3-1C35488A1617}"/>
              </a:ext>
            </a:extLst>
          </p:cNvPr>
          <p:cNvSpPr>
            <a:spLocks xmlns:a="http://schemas.openxmlformats.org/drawingml/2006/main" noGrp="1"/>
          </p:cNvSpPr>
          <p:nvPr/>
        </p:nvSpPr>
        <p:spPr>
          <a:xfrm xmlns:a="http://schemas.openxmlformats.org/drawingml/2006/main">
            <a:off x="6191250" y="3886200"/>
            <a:ext cx="5286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42C38"/>
                </a:solidFill>
                <a:latin typeface="Aptos"/>
                <a:ea typeface="Aptos"/>
                <a:cs typeface="Aptos"/>
              </a:defRPr>
            </a:pPr>
            <a:r>
              <a:rPr sz="4350" b="1">
                <a:solidFill>
                  <a:srgbClr val="142C38"/>
                </a:solidFill>
                <a:latin typeface="Aptos"/>
                <a:ea typeface="Aptos"/>
                <a:cs typeface="Aptos"/>
              </a:rPr>
              <a:t>₹120 / ₹65</a:t>
            </a:r>
          </a:p>
        </p:txBody>
      </p:sp>
      <p:sp>
        <p:nvSpPr>
          <p:cNvPr id="10" name="text">
            <a:extLst xmlns:a="http://schemas.openxmlformats.org/drawingml/2006/main">
              <a:ext uri="{FF2B5EF4-FFF2-40B4-BE49-F238E27FC236}">
                <a16:creationId xmlns:a16="http://schemas.microsoft.com/office/drawing/2014/main" id="{AD03CC8F-0859-4748-BDF9-F39773DB583D}"/>
              </a:ext>
            </a:extLst>
          </p:cNvPr>
          <p:cNvSpPr>
            <a:spLocks xmlns:a="http://schemas.openxmlformats.org/drawingml/2006/main" noGrp="1"/>
          </p:cNvSpPr>
          <p:nvPr/>
        </p:nvSpPr>
        <p:spPr>
          <a:xfrm xmlns:a="http://schemas.openxmlformats.org/drawingml/2006/main">
            <a:off x="6191250" y="47244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37078"/>
                </a:solidFill>
                <a:latin typeface="Aptos"/>
                <a:ea typeface="Aptos"/>
                <a:cs typeface="Aptos"/>
              </a:defRPr>
            </a:pPr>
            <a:r>
              <a:rPr sz="2100" b="0">
                <a:solidFill>
                  <a:srgbClr val="537078"/>
                </a:solidFill>
                <a:latin typeface="Aptos"/>
                <a:ea typeface="Aptos"/>
                <a:cs typeface="Aptos"/>
              </a:rPr>
              <a:t>Price / unit cost</a:t>
            </a:r>
          </a:p>
        </p:txBody>
      </p:sp>
      <p:sp>
        <p:nvSpPr>
          <p:cNvPr id="11" name="text">
            <a:extLst xmlns:a="http://schemas.openxmlformats.org/drawingml/2006/main">
              <a:ext uri="{FF2B5EF4-FFF2-40B4-BE49-F238E27FC236}">
                <a16:creationId xmlns:a16="http://schemas.microsoft.com/office/drawing/2014/main" id="{DBFB3954-23FB-49E9-AF72-0267FA250171}"/>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Aster Foods is fictional. All figures are teaching assumptions.</a:t>
            </a:r>
          </a:p>
        </p:txBody>
      </p:sp>
      <p:sp>
        <p:nvSpPr>
          <p:cNvPr id="12" name="shape">
            <a:extLst xmlns:a="http://schemas.openxmlformats.org/drawingml/2006/main">
              <a:ext uri="{FF2B5EF4-FFF2-40B4-BE49-F238E27FC236}">
                <a16:creationId xmlns:a16="http://schemas.microsoft.com/office/drawing/2014/main" id="{AB9FB60C-163C-4F64-9205-95CB8608846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86BBB79-0265-400A-8169-1E07FB21C06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4" name="text">
            <a:extLst xmlns:a="http://schemas.openxmlformats.org/drawingml/2006/main">
              <a:ext uri="{FF2B5EF4-FFF2-40B4-BE49-F238E27FC236}">
                <a16:creationId xmlns:a16="http://schemas.microsoft.com/office/drawing/2014/main" id="{C55D4CC0-664B-48BF-A940-C57259C6B539}"/>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5" name="text">
            <a:extLst xmlns:a="http://schemas.openxmlformats.org/drawingml/2006/main">
              <a:ext uri="{FF2B5EF4-FFF2-40B4-BE49-F238E27FC236}">
                <a16:creationId xmlns:a16="http://schemas.microsoft.com/office/drawing/2014/main" id="{7F9151F8-90E2-4983-A857-48EA3727ADE3}"/>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14</a:t>
            </a:r>
          </a:p>
        </p:txBody>
      </p:sp>
    </p:spTree>
    <p:extLst>
      <p:ext uri="{BB962C8B-B14F-4D97-AF65-F5344CB8AC3E}">
        <p14:creationId xmlns:p14="http://schemas.microsoft.com/office/powerpoint/2010/main" val="1953005201"/>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6EF1BE43-0934-4FEB-BC04-AE9BAA3F22D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THE BUSINESS CASE</a:t>
            </a:r>
          </a:p>
        </p:txBody>
      </p:sp>
      <p:sp>
        <p:nvSpPr>
          <p:cNvPr id="2" name="text">
            <a:extLst xmlns:a="http://schemas.openxmlformats.org/drawingml/2006/main">
              <a:ext uri="{FF2B5EF4-FFF2-40B4-BE49-F238E27FC236}">
                <a16:creationId xmlns:a16="http://schemas.microsoft.com/office/drawing/2014/main" id="{8FA27CFA-58EE-4399-B97B-10337C2AF56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Before we code, check the cash by hand.</a:t>
            </a:r>
          </a:p>
        </p:txBody>
      </p:sp>
      <p:sp>
        <p:nvSpPr>
          <p:cNvPr id="3" name="text">
            <a:extLst xmlns:a="http://schemas.openxmlformats.org/drawingml/2006/main">
              <a:ext uri="{FF2B5EF4-FFF2-40B4-BE49-F238E27FC236}">
                <a16:creationId xmlns:a16="http://schemas.microsoft.com/office/drawing/2014/main" id="{1D93DDB2-AF73-4EFF-A0C1-76CD7EFA1C10}"/>
              </a:ext>
            </a:extLst>
          </p:cNvPr>
          <p:cNvSpPr>
            <a:spLocks xmlns:a="http://schemas.openxmlformats.org/drawingml/2006/main" noGrp="1"/>
          </p:cNvSpPr>
          <p:nvPr/>
        </p:nvSpPr>
        <p:spPr>
          <a:xfrm xmlns:a="http://schemas.openxmlformats.org/drawingml/2006/main">
            <a:off x="60960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 · START</a:t>
            </a:r>
          </a:p>
        </p:txBody>
      </p:sp>
      <p:sp>
        <p:nvSpPr>
          <p:cNvPr id="4" name="text">
            <a:extLst xmlns:a="http://schemas.openxmlformats.org/drawingml/2006/main">
              <a:ext uri="{FF2B5EF4-FFF2-40B4-BE49-F238E27FC236}">
                <a16:creationId xmlns:a16="http://schemas.microsoft.com/office/drawing/2014/main" id="{428C376E-5086-490C-971A-335F67584D30}"/>
              </a:ext>
            </a:extLst>
          </p:cNvPr>
          <p:cNvSpPr>
            <a:spLocks xmlns:a="http://schemas.openxmlformats.org/drawingml/2006/main" noGrp="1"/>
          </p:cNvSpPr>
          <p:nvPr/>
        </p:nvSpPr>
        <p:spPr>
          <a:xfrm xmlns:a="http://schemas.openxmlformats.org/drawingml/2006/main">
            <a:off x="60960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30,000 × ₹65</a:t>
            </a:r>
          </a:p>
        </p:txBody>
      </p:sp>
      <p:sp>
        <p:nvSpPr>
          <p:cNvPr id="5" name="text">
            <a:extLst xmlns:a="http://schemas.openxmlformats.org/drawingml/2006/main">
              <a:ext uri="{FF2B5EF4-FFF2-40B4-BE49-F238E27FC236}">
                <a16:creationId xmlns:a16="http://schemas.microsoft.com/office/drawing/2014/main" id="{75FC8816-E27F-44DD-A27C-8EA7AB233576}"/>
              </a:ext>
            </a:extLst>
          </p:cNvPr>
          <p:cNvSpPr>
            <a:spLocks xmlns:a="http://schemas.openxmlformats.org/drawingml/2006/main" noGrp="1"/>
          </p:cNvSpPr>
          <p:nvPr/>
        </p:nvSpPr>
        <p:spPr>
          <a:xfrm xmlns:a="http://schemas.openxmlformats.org/drawingml/2006/main">
            <a:off x="4314825"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 · CHANGE</a:t>
            </a:r>
          </a:p>
        </p:txBody>
      </p:sp>
      <p:sp>
        <p:nvSpPr>
          <p:cNvPr id="6" name="text">
            <a:extLst xmlns:a="http://schemas.openxmlformats.org/drawingml/2006/main">
              <a:ext uri="{FF2B5EF4-FFF2-40B4-BE49-F238E27FC236}">
                <a16:creationId xmlns:a16="http://schemas.microsoft.com/office/drawing/2014/main" id="{C5149610-E20C-4472-B175-C192F698A3B0}"/>
              </a:ext>
            </a:extLst>
          </p:cNvPr>
          <p:cNvSpPr>
            <a:spLocks xmlns:a="http://schemas.openxmlformats.org/drawingml/2006/main" noGrp="1"/>
          </p:cNvSpPr>
          <p:nvPr/>
        </p:nvSpPr>
        <p:spPr>
          <a:xfrm xmlns:a="http://schemas.openxmlformats.org/drawingml/2006/main">
            <a:off x="4314825"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 ₹4,50,000</a:t>
            </a:r>
          </a:p>
        </p:txBody>
      </p:sp>
      <p:sp>
        <p:nvSpPr>
          <p:cNvPr id="7" name="text">
            <a:extLst xmlns:a="http://schemas.openxmlformats.org/drawingml/2006/main">
              <a:ext uri="{FF2B5EF4-FFF2-40B4-BE49-F238E27FC236}">
                <a16:creationId xmlns:a16="http://schemas.microsoft.com/office/drawing/2014/main" id="{AABA2145-0D5B-4D4E-A754-21B7DC156702}"/>
              </a:ext>
            </a:extLst>
          </p:cNvPr>
          <p:cNvSpPr>
            <a:spLocks xmlns:a="http://schemas.openxmlformats.org/drawingml/2006/main" noGrp="1"/>
          </p:cNvSpPr>
          <p:nvPr/>
        </p:nvSpPr>
        <p:spPr>
          <a:xfrm xmlns:a="http://schemas.openxmlformats.org/drawingml/2006/main">
            <a:off x="802005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 · CHECK</a:t>
            </a:r>
          </a:p>
        </p:txBody>
      </p:sp>
      <p:sp>
        <p:nvSpPr>
          <p:cNvPr id="8" name="text">
            <a:extLst xmlns:a="http://schemas.openxmlformats.org/drawingml/2006/main">
              <a:ext uri="{FF2B5EF4-FFF2-40B4-BE49-F238E27FC236}">
                <a16:creationId xmlns:a16="http://schemas.microsoft.com/office/drawing/2014/main" id="{EE74254B-32D8-460A-8773-B6F0A867ECCD}"/>
              </a:ext>
            </a:extLst>
          </p:cNvPr>
          <p:cNvSpPr>
            <a:spLocks xmlns:a="http://schemas.openxmlformats.org/drawingml/2006/main" noGrp="1"/>
          </p:cNvSpPr>
          <p:nvPr/>
        </p:nvSpPr>
        <p:spPr>
          <a:xfrm xmlns:a="http://schemas.openxmlformats.org/drawingml/2006/main">
            <a:off x="802005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 ₹24,00,000</a:t>
            </a:r>
          </a:p>
        </p:txBody>
      </p:sp>
      <p:sp>
        <p:nvSpPr>
          <p:cNvPr id="9" name="text">
            <a:extLst xmlns:a="http://schemas.openxmlformats.org/drawingml/2006/main">
              <a:ext uri="{FF2B5EF4-FFF2-40B4-BE49-F238E27FC236}">
                <a16:creationId xmlns:a16="http://schemas.microsoft.com/office/drawing/2014/main" id="{5BE786A6-7E6C-49B8-A31F-A9205DB663D8}"/>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Production cost + other launch costs = cash needed upfront.</a:t>
            </a:r>
          </a:p>
        </p:txBody>
      </p:sp>
      <p:sp>
        <p:nvSpPr>
          <p:cNvPr id="10" name="shape">
            <a:extLst xmlns:a="http://schemas.openxmlformats.org/drawingml/2006/main">
              <a:ext uri="{FF2B5EF4-FFF2-40B4-BE49-F238E27FC236}">
                <a16:creationId xmlns:a16="http://schemas.microsoft.com/office/drawing/2014/main" id="{7DF5FBFF-102B-4DD8-9092-8EB0066744E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CCEBB83-D0C7-462A-9B32-F1F64D03166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87916999-CE29-4BA9-A40F-36F3BF34DF4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15</a:t>
            </a:r>
          </a:p>
        </p:txBody>
      </p:sp>
    </p:spTree>
    <p:extLst>
      <p:ext uri="{BB962C8B-B14F-4D97-AF65-F5344CB8AC3E}">
        <p14:creationId xmlns:p14="http://schemas.microsoft.com/office/powerpoint/2010/main" val="1195587400"/>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167C16C6-BBCD-4594-B6A3-846BD220607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7814271A-63A0-4F06-8A13-E92C2E88D33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Prepare a simple local workstation.</a:t>
            </a:r>
          </a:p>
        </p:txBody>
      </p:sp>
      <p:sp>
        <p:nvSpPr>
          <p:cNvPr id="3" name="text">
            <a:extLst xmlns:a="http://schemas.openxmlformats.org/drawingml/2006/main">
              <a:ext uri="{FF2B5EF4-FFF2-40B4-BE49-F238E27FC236}">
                <a16:creationId xmlns:a16="http://schemas.microsoft.com/office/drawing/2014/main" id="{DB40635C-AC1E-41F9-8B65-17D19B208B72}"/>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0C8C5118-22DD-4FF6-A6D1-ED8FC894876E}"/>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Git: copy the project and track changes.</a:t>
            </a:r>
          </a:p>
        </p:txBody>
      </p:sp>
      <p:sp>
        <p:nvSpPr>
          <p:cNvPr id="5" name="text">
            <a:extLst xmlns:a="http://schemas.openxmlformats.org/drawingml/2006/main">
              <a:ext uri="{FF2B5EF4-FFF2-40B4-BE49-F238E27FC236}">
                <a16:creationId xmlns:a16="http://schemas.microsoft.com/office/drawing/2014/main" id="{CD5C8AC9-F95B-425C-8EE2-8BAFDD175B6F}"/>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6D823730-082B-496A-A834-E367C0760FED}"/>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uv: install the matching Python packages.</a:t>
            </a:r>
          </a:p>
        </p:txBody>
      </p:sp>
      <p:sp>
        <p:nvSpPr>
          <p:cNvPr id="7" name="text">
            <a:extLst xmlns:a="http://schemas.openxmlformats.org/drawingml/2006/main">
              <a:ext uri="{FF2B5EF4-FFF2-40B4-BE49-F238E27FC236}">
                <a16:creationId xmlns:a16="http://schemas.microsoft.com/office/drawing/2014/main" id="{51D12B9A-FDDB-4C60-B7ED-E58B06A26840}"/>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9AF83E01-B4CA-45F6-9D1E-B8BC460CE2D5}"/>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Editor: open and change the project files.</a:t>
            </a:r>
          </a:p>
        </p:txBody>
      </p:sp>
      <p:sp>
        <p:nvSpPr>
          <p:cNvPr id="9" name="text">
            <a:extLst xmlns:a="http://schemas.openxmlformats.org/drawingml/2006/main">
              <a:ext uri="{FF2B5EF4-FFF2-40B4-BE49-F238E27FC236}">
                <a16:creationId xmlns:a16="http://schemas.microsoft.com/office/drawing/2014/main" id="{D43114EC-426F-442B-9D13-594C58748628}"/>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A30F7F58-1BF2-46D5-8584-85F91F6D919C}"/>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Browser: use the local command center.</a:t>
            </a:r>
          </a:p>
        </p:txBody>
      </p:sp>
      <p:sp>
        <p:nvSpPr>
          <p:cNvPr id="11" name="text">
            <a:extLst xmlns:a="http://schemas.openxmlformats.org/drawingml/2006/main">
              <a:ext uri="{FF2B5EF4-FFF2-40B4-BE49-F238E27FC236}">
                <a16:creationId xmlns:a16="http://schemas.microsoft.com/office/drawing/2014/main" id="{A56B33B8-EDF7-4ABA-A6C4-DFCFACEA9603}"/>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2977CD7E-AC02-421E-ACD9-2CF9568FEC93}"/>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Internet: needed for the first installation.</a:t>
            </a:r>
          </a:p>
        </p:txBody>
      </p:sp>
      <p:sp>
        <p:nvSpPr>
          <p:cNvPr id="13" name="shape">
            <a:extLst xmlns:a="http://schemas.openxmlformats.org/drawingml/2006/main">
              <a:ext uri="{FF2B5EF4-FFF2-40B4-BE49-F238E27FC236}">
                <a16:creationId xmlns:a16="http://schemas.microsoft.com/office/drawing/2014/main" id="{56C5C4CB-6D0D-49B2-A2D3-40864B304C5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8E1565D-7850-4578-9CB7-07485D72D75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95D9D347-621F-4084-A2B1-8312587DC319}"/>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6" name="text">
            <a:extLst xmlns:a="http://schemas.openxmlformats.org/drawingml/2006/main">
              <a:ext uri="{FF2B5EF4-FFF2-40B4-BE49-F238E27FC236}">
                <a16:creationId xmlns:a16="http://schemas.microsoft.com/office/drawing/2014/main" id="{36E07041-BC39-4EEA-8A86-C3A5BE5BD09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16</a:t>
            </a:r>
          </a:p>
        </p:txBody>
      </p:sp>
    </p:spTree>
    <p:extLst>
      <p:ext uri="{BB962C8B-B14F-4D97-AF65-F5344CB8AC3E}">
        <p14:creationId xmlns:p14="http://schemas.microsoft.com/office/powerpoint/2010/main" val="1066465179"/>
      </p:ext>
    </p:extLst>
  </p:cSld>
</p:sld>
</file>

<file path=ppt/slides/slide1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FDCCA752-469E-4927-A7CD-EC6868E6FB6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B867D86C-176F-420B-9403-41AE8AFE2A3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GitHub is the shared shelf. Clone is a copy.</a:t>
            </a:r>
          </a:p>
        </p:txBody>
      </p:sp>
      <p:sp>
        <p:nvSpPr>
          <p:cNvPr id="3" name="flow-node">
            <a:extLst xmlns:a="http://schemas.openxmlformats.org/drawingml/2006/main">
              <a:ext uri="{FF2B5EF4-FFF2-40B4-BE49-F238E27FC236}">
                <a16:creationId xmlns:a16="http://schemas.microsoft.com/office/drawing/2014/main" id="{72379DE6-2B99-45C2-BF84-9C71A16E7DAA}"/>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Arthi’s repository</a:t>
            </a:r>
          </a:p>
        </p:txBody>
      </p:sp>
      <p:sp>
        <p:nvSpPr>
          <p:cNvPr id="4" name="flow-node">
            <a:extLst xmlns:a="http://schemas.openxmlformats.org/drawingml/2006/main">
              <a:ext uri="{FF2B5EF4-FFF2-40B4-BE49-F238E27FC236}">
                <a16:creationId xmlns:a16="http://schemas.microsoft.com/office/drawing/2014/main" id="{2C5829FD-7EC4-462D-A210-894888184DB2}"/>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Clone over HTTPS</a:t>
            </a:r>
          </a:p>
        </p:txBody>
      </p:sp>
      <p:sp>
        <p:nvSpPr>
          <p:cNvPr id="5" name="flow-node">
            <a:extLst xmlns:a="http://schemas.openxmlformats.org/drawingml/2006/main">
              <a:ext uri="{FF2B5EF4-FFF2-40B4-BE49-F238E27FC236}">
                <a16:creationId xmlns:a16="http://schemas.microsoft.com/office/drawing/2014/main" id="{785D47AB-0722-44A9-ADBD-924A5305001D}"/>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Your project folder</a:t>
            </a:r>
          </a:p>
        </p:txBody>
      </p:sp>
      <p:sp>
        <p:nvSpPr>
          <p:cNvPr id="6" name="flow-node">
            <a:extLst xmlns:a="http://schemas.openxmlformats.org/drawingml/2006/main">
              <a:ext uri="{FF2B5EF4-FFF2-40B4-BE49-F238E27FC236}">
                <a16:creationId xmlns:a16="http://schemas.microsoft.com/office/drawing/2014/main" id="{FC9FF5AB-D967-4675-8363-99DAAFBB0575}"/>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Your local changes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C38D8EDE-9927-48C6-B4E6-F88AEFC51665}"/>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local edit stays on your laptop until you intentionally share it.</a:t>
            </a:r>
          </a:p>
        </p:txBody>
      </p:sp>
      <p:sp>
        <p:nvSpPr>
          <p:cNvPr id="11" name="shape">
            <a:extLst xmlns:a="http://schemas.openxmlformats.org/drawingml/2006/main">
              <a:ext uri="{FF2B5EF4-FFF2-40B4-BE49-F238E27FC236}">
                <a16:creationId xmlns:a16="http://schemas.microsoft.com/office/drawing/2014/main" id="{D81B1EB8-F24D-449B-A5CA-15F395C2032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756FAC2-5444-4764-B2E1-EFAA3714499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EF669CC-B73A-4BCA-A574-72E7E6490DA0}"/>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17</a:t>
            </a:r>
          </a:p>
        </p:txBody>
      </p:sp>
    </p:spTree>
    <p:extLst>
      <p:ext uri="{BB962C8B-B14F-4D97-AF65-F5344CB8AC3E}">
        <p14:creationId xmlns:p14="http://schemas.microsoft.com/office/powerpoint/2010/main" val="298721284"/>
      </p:ext>
    </p:extLst>
  </p:cSld>
</p:sld>
</file>

<file path=ppt/slides/slide1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ABA29A43-2FEF-4C21-9960-FE69BFACC5F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8C1C9ED8-289A-4F99-836F-8313AFD78F5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macOS: install only what is missing.</a:t>
            </a:r>
          </a:p>
        </p:txBody>
      </p:sp>
      <p:sp>
        <p:nvSpPr>
          <p:cNvPr id="3" name="shape">
            <a:extLst xmlns:a="http://schemas.openxmlformats.org/drawingml/2006/main">
              <a:ext uri="{FF2B5EF4-FFF2-40B4-BE49-F238E27FC236}">
                <a16:creationId xmlns:a16="http://schemas.microsoft.com/office/drawing/2014/main" id="{BF78BB27-3BF8-461B-9F89-AA4A70F5D396}"/>
              </a:ext>
            </a:extLst>
          </p:cNvPr>
          <p:cNvSpPr>
            <a:spLocks xmlns:a="http://schemas.openxmlformats.org/drawingml/2006/main" noGrp="1"/>
          </p:cNvSpPr>
          <p:nvPr/>
        </p:nvSpPr>
        <p:spPr>
          <a:xfrm xmlns:a="http://schemas.openxmlformats.org/drawingml/2006/main">
            <a:off x="609600" y="2143125"/>
            <a:ext cx="10972800" cy="27908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70096084-289E-42BE-98E5-3831607FAA12}"/>
              </a:ext>
            </a:extLst>
          </p:cNvPr>
          <p:cNvSpPr>
            <a:spLocks xmlns:a="http://schemas.openxmlformats.org/drawingml/2006/main" noGrp="1"/>
          </p:cNvSpPr>
          <p:nvPr/>
        </p:nvSpPr>
        <p:spPr>
          <a:xfrm xmlns:a="http://schemas.openxmlformats.org/drawingml/2006/main">
            <a:off x="857250" y="2333625"/>
            <a:ext cx="104775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git --version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--version</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If Git is missing:</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xcode-select --install</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If uv is missing:</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curl -LsSf https://astral.sh/uv/install.sh | sh</a:t>
            </a:r>
          </a:p>
        </p:txBody>
      </p:sp>
      <p:sp>
        <p:nvSpPr>
          <p:cNvPr id="5" name="text">
            <a:extLst xmlns:a="http://schemas.openxmlformats.org/drawingml/2006/main">
              <a:ext uri="{FF2B5EF4-FFF2-40B4-BE49-F238E27FC236}">
                <a16:creationId xmlns:a16="http://schemas.microsoft.com/office/drawing/2014/main" id="{B6C35AF9-51C1-4C4B-85FB-265AC229F48E}"/>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Use Terminal. Reopen it after installation, then check versions again.</a:t>
            </a:r>
          </a:p>
        </p:txBody>
      </p:sp>
      <p:sp>
        <p:nvSpPr>
          <p:cNvPr id="6" name="shape">
            <a:extLst xmlns:a="http://schemas.openxmlformats.org/drawingml/2006/main">
              <a:ext uri="{FF2B5EF4-FFF2-40B4-BE49-F238E27FC236}">
                <a16:creationId xmlns:a16="http://schemas.microsoft.com/office/drawing/2014/main" id="{9DE76CB1-6BD4-4A50-9DA0-4C3247957D4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DD75C6E-218A-4E40-A684-D7F5A9DB3ED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44220A34-33E4-4EE4-AB5F-237B03D3EA94}"/>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18</a:t>
            </a:r>
          </a:p>
        </p:txBody>
      </p:sp>
    </p:spTree>
    <p:extLst>
      <p:ext uri="{BB962C8B-B14F-4D97-AF65-F5344CB8AC3E}">
        <p14:creationId xmlns:p14="http://schemas.microsoft.com/office/powerpoint/2010/main" val="1139236826"/>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08D2332-8841-4F66-84A8-299806769D0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E68F8240-ADBC-49FD-96CA-F12883EF3D7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Windows: use PowerShell for setup.</a:t>
            </a:r>
          </a:p>
        </p:txBody>
      </p:sp>
      <p:sp>
        <p:nvSpPr>
          <p:cNvPr id="3" name="shape">
            <a:extLst xmlns:a="http://schemas.openxmlformats.org/drawingml/2006/main">
              <a:ext uri="{FF2B5EF4-FFF2-40B4-BE49-F238E27FC236}">
                <a16:creationId xmlns:a16="http://schemas.microsoft.com/office/drawing/2014/main" id="{D15715C4-92A1-43BB-9C6A-E21F436A7287}"/>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8286E629-E8BA-4BAF-81FE-0694993CF0B4}"/>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git --version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--version</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Install missing tools: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winget install --id Git.Git -e --source winget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winget install --id astral-sh.uv -e</a:t>
            </a:r>
          </a:p>
        </p:txBody>
      </p:sp>
      <p:sp>
        <p:nvSpPr>
          <p:cNvPr id="5" name="text">
            <a:extLst xmlns:a="http://schemas.openxmlformats.org/drawingml/2006/main">
              <a:ext uri="{FF2B5EF4-FFF2-40B4-BE49-F238E27FC236}">
                <a16:creationId xmlns:a16="http://schemas.microsoft.com/office/drawing/2014/main" id="{11E91398-FA37-48C6-9AB6-435115D9AE22}"/>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Close and reopen PowerShell after installation.</a:t>
            </a:r>
          </a:p>
        </p:txBody>
      </p:sp>
      <p:sp>
        <p:nvSpPr>
          <p:cNvPr id="6" name="shape">
            <a:extLst xmlns:a="http://schemas.openxmlformats.org/drawingml/2006/main">
              <a:ext uri="{FF2B5EF4-FFF2-40B4-BE49-F238E27FC236}">
                <a16:creationId xmlns:a16="http://schemas.microsoft.com/office/drawing/2014/main" id="{CCBB0967-BB83-4223-9F4E-B0B77B92448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D68976C-CF22-4D17-A1D8-17D6E5F9855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FC2F5553-4750-4E78-9AFB-81EF7B09740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19</a:t>
            </a:r>
          </a:p>
        </p:txBody>
      </p:sp>
    </p:spTree>
    <p:extLst>
      <p:ext uri="{BB962C8B-B14F-4D97-AF65-F5344CB8AC3E}">
        <p14:creationId xmlns:p14="http://schemas.microsoft.com/office/powerpoint/2010/main" val="1521627664"/>
      </p:ext>
    </p:extLst>
  </p:cSld>
</p:sld>
</file>

<file path=ppt/slides/slide2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A842F09E-BECC-41FC-B982-1FBB6534BBA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A55B200C-E46C-4AC5-A7FF-C2B553F9163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Clone the link Arthi gives you.</a:t>
            </a:r>
          </a:p>
        </p:txBody>
      </p:sp>
      <p:sp>
        <p:nvSpPr>
          <p:cNvPr id="3" name="flow-node">
            <a:extLst xmlns:a="http://schemas.openxmlformats.org/drawingml/2006/main">
              <a:ext uri="{FF2B5EF4-FFF2-40B4-BE49-F238E27FC236}">
                <a16:creationId xmlns:a16="http://schemas.microsoft.com/office/drawing/2014/main" id="{45B48D7D-EDB8-45D9-9B45-F5EA518E5E29}"/>
              </a:ext>
            </a:extLst>
          </p:cNvPr>
          <p:cNvSpPr>
            <a:spLocks xmlns:a="http://schemas.openxmlformats.org/drawingml/2006/main" noGrp="1"/>
          </p:cNvSpPr>
          <p:nvPr/>
        </p:nvSpPr>
        <p:spPr>
          <a:xfrm xmlns:a="http://schemas.openxmlformats.org/drawingml/2006/main">
            <a:off x="609600" y="2209800"/>
            <a:ext cx="3467100" cy="952500"/>
          </a:xfrm>
          <a:prstGeom xmlns:a="http://schemas.openxmlformats.org/drawingml/2006/main" prst="roundRect">
            <a:avLst>
              <a:gd name="adj" fmla="val 8000"/>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142C38"/>
                </a:solidFill>
                <a:latin typeface="Aptos"/>
                <a:ea typeface="Aptos"/>
                <a:cs typeface="Aptos"/>
              </a:defRPr>
            </a:pPr>
            <a:r>
              <a:rPr sz="1875" b="1">
                <a:solidFill>
                  <a:srgbClr val="142C38"/>
                </a:solidFill>
                <a:latin typeface="Aptos"/>
                <a:ea typeface="Aptos"/>
                <a:cs typeface="Aptos"/>
              </a:rPr>
              <a:t>Type git clone</a:t>
            </a:r>
          </a:p>
        </p:txBody>
      </p:sp>
      <p:sp>
        <p:nvSpPr>
          <p:cNvPr id="4" name="flow-node">
            <a:extLst xmlns:a="http://schemas.openxmlformats.org/drawingml/2006/main">
              <a:ext uri="{FF2B5EF4-FFF2-40B4-BE49-F238E27FC236}">
                <a16:creationId xmlns:a16="http://schemas.microsoft.com/office/drawing/2014/main" id="{1C77ED41-D2AF-4F0A-B9E6-309C4CE1C65E}"/>
              </a:ext>
            </a:extLst>
          </p:cNvPr>
          <p:cNvSpPr>
            <a:spLocks xmlns:a="http://schemas.openxmlformats.org/drawingml/2006/main" noGrp="1"/>
          </p:cNvSpPr>
          <p:nvPr/>
        </p:nvSpPr>
        <p:spPr>
          <a:xfrm xmlns:a="http://schemas.openxmlformats.org/drawingml/2006/main">
            <a:off x="4362450" y="2209800"/>
            <a:ext cx="3467100" cy="952500"/>
          </a:xfrm>
          <a:prstGeom xmlns:a="http://schemas.openxmlformats.org/drawingml/2006/main" prst="roundRect">
            <a:avLst>
              <a:gd name="adj" fmla="val 8000"/>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142C38"/>
                </a:solidFill>
                <a:latin typeface="Aptos"/>
                <a:ea typeface="Aptos"/>
                <a:cs typeface="Aptos"/>
              </a:defRPr>
            </a:pPr>
            <a:r>
              <a:rPr sz="1875" b="1">
                <a:solidFill>
                  <a:srgbClr val="142C38"/>
                </a:solidFill>
                <a:latin typeface="Aptos"/>
                <a:ea typeface="Aptos"/>
                <a:cs typeface="Aptos"/>
              </a:rPr>
              <a:t>Paste the HTTPS URL</a:t>
            </a:r>
          </a:p>
        </p:txBody>
      </p:sp>
      <p:sp>
        <p:nvSpPr>
          <p:cNvPr id="5" name="flow-node">
            <a:extLst xmlns:a="http://schemas.openxmlformats.org/drawingml/2006/main">
              <a:ext uri="{FF2B5EF4-FFF2-40B4-BE49-F238E27FC236}">
                <a16:creationId xmlns:a16="http://schemas.microsoft.com/office/drawing/2014/main" id="{0393B710-42C4-41B0-9F1C-25353D78CC9E}"/>
              </a:ext>
            </a:extLst>
          </p:cNvPr>
          <p:cNvSpPr>
            <a:spLocks xmlns:a="http://schemas.openxmlformats.org/drawingml/2006/main" noGrp="1"/>
          </p:cNvSpPr>
          <p:nvPr/>
        </p:nvSpPr>
        <p:spPr>
          <a:xfrm xmlns:a="http://schemas.openxmlformats.org/drawingml/2006/main">
            <a:off x="8115300" y="2209800"/>
            <a:ext cx="3467100" cy="952500"/>
          </a:xfrm>
          <a:prstGeom xmlns:a="http://schemas.openxmlformats.org/drawingml/2006/main" prst="roundRect">
            <a:avLst>
              <a:gd name="adj" fmla="val 8000"/>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142C38"/>
                </a:solidFill>
                <a:latin typeface="Aptos"/>
                <a:ea typeface="Aptos"/>
                <a:cs typeface="Aptos"/>
              </a:defRPr>
            </a:pPr>
            <a:r>
              <a:rPr sz="1875" b="1">
                <a:solidFill>
                  <a:srgbClr val="142C38"/>
                </a:solidFill>
                <a:latin typeface="Aptos"/>
                <a:ea typeface="Aptos"/>
                <a:cs typeface="Aptos"/>
              </a:rPr>
              <a:t>Add agentforge-jarvis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4076700" y="2686050"/>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7829550" y="2686050"/>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shape">
            <a:extLst xmlns:a="http://schemas.openxmlformats.org/drawingml/2006/main">
              <a:ext uri="{FF2B5EF4-FFF2-40B4-BE49-F238E27FC236}">
                <a16:creationId xmlns:a16="http://schemas.microsoft.com/office/drawing/2014/main" id="{8625BA77-24B7-4A25-A528-B2131949AAFC}"/>
              </a:ext>
            </a:extLst>
          </p:cNvPr>
          <p:cNvSpPr>
            <a:spLocks xmlns:a="http://schemas.openxmlformats.org/drawingml/2006/main" noGrp="1"/>
          </p:cNvSpPr>
          <p:nvPr/>
        </p:nvSpPr>
        <p:spPr>
          <a:xfrm xmlns:a="http://schemas.openxmlformats.org/drawingml/2006/main">
            <a:off x="609600" y="3590925"/>
            <a:ext cx="10972800" cy="13049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9CD4F6C-B151-41B0-97D2-702693E6B577}"/>
              </a:ext>
            </a:extLst>
          </p:cNvPr>
          <p:cNvSpPr>
            <a:spLocks xmlns:a="http://schemas.openxmlformats.org/drawingml/2006/main" noGrp="1"/>
          </p:cNvSpPr>
          <p:nvPr/>
        </p:nvSpPr>
        <p:spPr>
          <a:xfrm xmlns:a="http://schemas.openxmlformats.org/drawingml/2006/main">
            <a:off x="857250" y="3781425"/>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cd agentforge-jarvis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ls</a:t>
            </a:r>
          </a:p>
        </p:txBody>
      </p:sp>
      <p:sp>
        <p:nvSpPr>
          <p:cNvPr id="10" name="text">
            <a:extLst xmlns:a="http://schemas.openxmlformats.org/drawingml/2006/main">
              <a:ext uri="{FF2B5EF4-FFF2-40B4-BE49-F238E27FC236}">
                <a16:creationId xmlns:a16="http://schemas.microsoft.com/office/drawing/2014/main" id="{23D19489-18FD-44C7-AC57-76D81371CCDD}"/>
              </a:ext>
            </a:extLst>
          </p:cNvPr>
          <p:cNvSpPr>
            <a:spLocks xmlns:a="http://schemas.openxmlformats.org/drawingml/2006/main" noGrp="1"/>
          </p:cNvSpPr>
          <p:nvPr/>
        </p:nvSpPr>
        <p:spPr>
          <a:xfrm xmlns:a="http://schemas.openxmlformats.org/drawingml/2006/main">
            <a:off x="609600" y="5476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The final GitHub URL is supplied after Arthi publishes the repository.</a:t>
            </a:r>
          </a:p>
        </p:txBody>
      </p:sp>
      <p:sp>
        <p:nvSpPr>
          <p:cNvPr id="11" name="shape">
            <a:extLst xmlns:a="http://schemas.openxmlformats.org/drawingml/2006/main">
              <a:ext uri="{FF2B5EF4-FFF2-40B4-BE49-F238E27FC236}">
                <a16:creationId xmlns:a16="http://schemas.microsoft.com/office/drawing/2014/main" id="{0B66227A-9297-4D61-9187-1AAB23AF3B3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8AE02B0-6173-4472-8B9C-39166BC5F85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A5E2291-6B21-4FAC-AA2D-41B76BCC0D22}"/>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5BC7A88E-3EC6-4A47-AD1E-D23CF52E3BA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20</a:t>
            </a:r>
          </a:p>
        </p:txBody>
      </p:sp>
    </p:spTree>
    <p:extLst>
      <p:ext uri="{BB962C8B-B14F-4D97-AF65-F5344CB8AC3E}">
        <p14:creationId xmlns:p14="http://schemas.microsoft.com/office/powerpoint/2010/main" val="425181439"/>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2B71B8C4-FCB8-48EC-B952-8772E451EFA9}"/>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7E29A3ED-20FE-42B6-98CB-3D594E22A04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Know the few files you will touch.</a:t>
            </a:r>
          </a:p>
        </p:txBody>
      </p:sp>
      <p:sp>
        <p:nvSpPr>
          <p:cNvPr id="3" name="text">
            <a:extLst xmlns:a="http://schemas.openxmlformats.org/drawingml/2006/main">
              <a:ext uri="{FF2B5EF4-FFF2-40B4-BE49-F238E27FC236}">
                <a16:creationId xmlns:a16="http://schemas.microsoft.com/office/drawing/2014/main" id="{3901A1EB-AA7B-4BEC-8681-3B634DDB2DD4}"/>
              </a:ext>
            </a:extLst>
          </p:cNvPr>
          <p:cNvSpPr>
            <a:spLocks xmlns:a="http://schemas.openxmlformats.org/drawingml/2006/main" noGrp="1"/>
          </p:cNvSpPr>
          <p:nvPr/>
        </p:nvSpPr>
        <p:spPr>
          <a:xfrm xmlns:a="http://schemas.openxmlformats.org/drawingml/2006/main">
            <a:off x="609600" y="2171700"/>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pyproject.toml</a:t>
            </a:r>
          </a:p>
        </p:txBody>
      </p:sp>
      <p:sp>
        <p:nvSpPr>
          <p:cNvPr id="4" name="text">
            <a:extLst xmlns:a="http://schemas.openxmlformats.org/drawingml/2006/main">
              <a:ext uri="{FF2B5EF4-FFF2-40B4-BE49-F238E27FC236}">
                <a16:creationId xmlns:a16="http://schemas.microsoft.com/office/drawing/2014/main" id="{24FF2A44-1CE7-4DEE-9601-DD5B36A6C712}"/>
              </a:ext>
            </a:extLst>
          </p:cNvPr>
          <p:cNvSpPr>
            <a:spLocks xmlns:a="http://schemas.openxmlformats.org/drawingml/2006/main" noGrp="1"/>
          </p:cNvSpPr>
          <p:nvPr/>
        </p:nvSpPr>
        <p:spPr>
          <a:xfrm xmlns:a="http://schemas.openxmlformats.org/drawingml/2006/main">
            <a:off x="4800600" y="217170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project’s package list</a:t>
            </a:r>
          </a:p>
        </p:txBody>
      </p:sp>
      <p:sp>
        <p:nvSpPr>
          <p:cNvPr id="5" name="shape">
            <a:extLst xmlns:a="http://schemas.openxmlformats.org/drawingml/2006/main">
              <a:ext uri="{FF2B5EF4-FFF2-40B4-BE49-F238E27FC236}">
                <a16:creationId xmlns:a16="http://schemas.microsoft.com/office/drawing/2014/main" id="{96C97890-0761-4279-8E70-7300F2C42ECC}"/>
              </a:ext>
            </a:extLst>
          </p:cNvPr>
          <p:cNvSpPr>
            <a:spLocks xmlns:a="http://schemas.openxmlformats.org/drawingml/2006/main" noGrp="1"/>
          </p:cNvSpPr>
          <p:nvPr/>
        </p:nvSpPr>
        <p:spPr>
          <a:xfrm xmlns:a="http://schemas.openxmlformats.org/drawingml/2006/main">
            <a:off x="609600" y="26670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1C5D1301-F5D7-44C3-9058-CD4561EC8A22}"/>
              </a:ext>
            </a:extLst>
          </p:cNvPr>
          <p:cNvSpPr>
            <a:spLocks xmlns:a="http://schemas.openxmlformats.org/drawingml/2006/main" noGrp="1"/>
          </p:cNvSpPr>
          <p:nvPr/>
        </p:nvSpPr>
        <p:spPr>
          <a:xfrm xmlns:a="http://schemas.openxmlformats.org/drawingml/2006/main">
            <a:off x="609600" y="2771775"/>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uv.lock</a:t>
            </a:r>
          </a:p>
        </p:txBody>
      </p:sp>
      <p:sp>
        <p:nvSpPr>
          <p:cNvPr id="7" name="text">
            <a:extLst xmlns:a="http://schemas.openxmlformats.org/drawingml/2006/main">
              <a:ext uri="{FF2B5EF4-FFF2-40B4-BE49-F238E27FC236}">
                <a16:creationId xmlns:a16="http://schemas.microsoft.com/office/drawing/2014/main" id="{5E40BC63-0B7D-4119-A770-130B9AC069F1}"/>
              </a:ext>
            </a:extLst>
          </p:cNvPr>
          <p:cNvSpPr>
            <a:spLocks xmlns:a="http://schemas.openxmlformats.org/drawingml/2006/main" noGrp="1"/>
          </p:cNvSpPr>
          <p:nvPr/>
        </p:nvSpPr>
        <p:spPr>
          <a:xfrm xmlns:a="http://schemas.openxmlformats.org/drawingml/2006/main">
            <a:off x="4800600" y="277177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exact dependency versions</a:t>
            </a:r>
          </a:p>
        </p:txBody>
      </p:sp>
      <p:sp>
        <p:nvSpPr>
          <p:cNvPr id="8" name="shape">
            <a:extLst xmlns:a="http://schemas.openxmlformats.org/drawingml/2006/main">
              <a:ext uri="{FF2B5EF4-FFF2-40B4-BE49-F238E27FC236}">
                <a16:creationId xmlns:a16="http://schemas.microsoft.com/office/drawing/2014/main" id="{9098CE93-B9C0-4679-AD6D-82CA0F8E29DD}"/>
              </a:ext>
            </a:extLst>
          </p:cNvPr>
          <p:cNvSpPr>
            <a:spLocks xmlns:a="http://schemas.openxmlformats.org/drawingml/2006/main" noGrp="1"/>
          </p:cNvSpPr>
          <p:nvPr/>
        </p:nvSpPr>
        <p:spPr>
          <a:xfrm xmlns:a="http://schemas.openxmlformats.org/drawingml/2006/main">
            <a:off x="609600" y="3267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173362F-D83C-419F-B209-0EE12978BD77}"/>
              </a:ext>
            </a:extLst>
          </p:cNvPr>
          <p:cNvSpPr>
            <a:spLocks xmlns:a="http://schemas.openxmlformats.org/drawingml/2006/main" noGrp="1"/>
          </p:cNvSpPr>
          <p:nvPr/>
        </p:nvSpPr>
        <p:spPr>
          <a:xfrm xmlns:a="http://schemas.openxmlformats.org/drawingml/2006/main">
            <a:off x="609600" y="3371850"/>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workshop/</a:t>
            </a:r>
          </a:p>
        </p:txBody>
      </p:sp>
      <p:sp>
        <p:nvSpPr>
          <p:cNvPr id="10" name="text">
            <a:extLst xmlns:a="http://schemas.openxmlformats.org/drawingml/2006/main">
              <a:ext uri="{FF2B5EF4-FFF2-40B4-BE49-F238E27FC236}">
                <a16:creationId xmlns:a16="http://schemas.microsoft.com/office/drawing/2014/main" id="{812F02DB-1921-42AB-83DF-911C56E8BB99}"/>
              </a:ext>
            </a:extLst>
          </p:cNvPr>
          <p:cNvSpPr>
            <a:spLocks xmlns:a="http://schemas.openxmlformats.org/drawingml/2006/main" noGrp="1"/>
          </p:cNvSpPr>
          <p:nvPr/>
        </p:nvSpPr>
        <p:spPr>
          <a:xfrm xmlns:a="http://schemas.openxmlformats.org/drawingml/2006/main">
            <a:off x="4800600" y="337185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first-agent lab and handouts</a:t>
            </a:r>
          </a:p>
        </p:txBody>
      </p:sp>
      <p:sp>
        <p:nvSpPr>
          <p:cNvPr id="11" name="shape">
            <a:extLst xmlns:a="http://schemas.openxmlformats.org/drawingml/2006/main">
              <a:ext uri="{FF2B5EF4-FFF2-40B4-BE49-F238E27FC236}">
                <a16:creationId xmlns:a16="http://schemas.microsoft.com/office/drawing/2014/main" id="{700A93F0-CB86-4368-84BD-0828B72A2C7A}"/>
              </a:ext>
            </a:extLst>
          </p:cNvPr>
          <p:cNvSpPr>
            <a:spLocks xmlns:a="http://schemas.openxmlformats.org/drawingml/2006/main" noGrp="1"/>
          </p:cNvSpPr>
          <p:nvPr/>
        </p:nvSpPr>
        <p:spPr>
          <a:xfrm xmlns:a="http://schemas.openxmlformats.org/drawingml/2006/main">
            <a:off x="609600" y="3867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6F095EF-54F5-42C0-B754-0405F5031332}"/>
              </a:ext>
            </a:extLst>
          </p:cNvPr>
          <p:cNvSpPr>
            <a:spLocks xmlns:a="http://schemas.openxmlformats.org/drawingml/2006/main" noGrp="1"/>
          </p:cNvSpPr>
          <p:nvPr/>
        </p:nvSpPr>
        <p:spPr>
          <a:xfrm xmlns:a="http://schemas.openxmlformats.org/drawingml/2006/main">
            <a:off x="609600" y="3971925"/>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examples/</a:t>
            </a:r>
          </a:p>
        </p:txBody>
      </p:sp>
      <p:sp>
        <p:nvSpPr>
          <p:cNvPr id="13" name="text">
            <a:extLst xmlns:a="http://schemas.openxmlformats.org/drawingml/2006/main">
              <a:ext uri="{FF2B5EF4-FFF2-40B4-BE49-F238E27FC236}">
                <a16:creationId xmlns:a16="http://schemas.microsoft.com/office/drawing/2014/main" id="{58755F30-38E5-43F7-A432-72AB0304C71A}"/>
              </a:ext>
            </a:extLst>
          </p:cNvPr>
          <p:cNvSpPr>
            <a:spLocks xmlns:a="http://schemas.openxmlformats.org/drawingml/2006/main" noGrp="1"/>
          </p:cNvSpPr>
          <p:nvPr/>
        </p:nvSpPr>
        <p:spPr>
          <a:xfrm xmlns:a="http://schemas.openxmlformats.org/drawingml/2006/main">
            <a:off x="4800600" y="397192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Fictional scenario and sample outputs</a:t>
            </a:r>
          </a:p>
        </p:txBody>
      </p:sp>
      <p:sp>
        <p:nvSpPr>
          <p:cNvPr id="14" name="shape">
            <a:extLst xmlns:a="http://schemas.openxmlformats.org/drawingml/2006/main">
              <a:ext uri="{FF2B5EF4-FFF2-40B4-BE49-F238E27FC236}">
                <a16:creationId xmlns:a16="http://schemas.microsoft.com/office/drawing/2014/main" id="{2B86583A-20C7-4A47-9AAF-ED504ACF6241}"/>
              </a:ext>
            </a:extLst>
          </p:cNvPr>
          <p:cNvSpPr>
            <a:spLocks xmlns:a="http://schemas.openxmlformats.org/drawingml/2006/main" noGrp="1"/>
          </p:cNvSpPr>
          <p:nvPr/>
        </p:nvSpPr>
        <p:spPr>
          <a:xfrm xmlns:a="http://schemas.openxmlformats.org/drawingml/2006/main">
            <a:off x="609600" y="4467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C438CC33-04C7-4506-9138-AA93798C45C4}"/>
              </a:ext>
            </a:extLst>
          </p:cNvPr>
          <p:cNvSpPr>
            <a:spLocks xmlns:a="http://schemas.openxmlformats.org/drawingml/2006/main" noGrp="1"/>
          </p:cNvSpPr>
          <p:nvPr/>
        </p:nvSpPr>
        <p:spPr>
          <a:xfrm xmlns:a="http://schemas.openxmlformats.org/drawingml/2006/main">
            <a:off x="609600" y="4572000"/>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src/agentforge_jarvis/</a:t>
            </a:r>
          </a:p>
        </p:txBody>
      </p:sp>
      <p:sp>
        <p:nvSpPr>
          <p:cNvPr id="16" name="text">
            <a:extLst xmlns:a="http://schemas.openxmlformats.org/drawingml/2006/main">
              <a:ext uri="{FF2B5EF4-FFF2-40B4-BE49-F238E27FC236}">
                <a16:creationId xmlns:a16="http://schemas.microsoft.com/office/drawing/2014/main" id="{9D351147-01C0-42F4-B855-5F0B4CF56AD1}"/>
              </a:ext>
            </a:extLst>
          </p:cNvPr>
          <p:cNvSpPr>
            <a:spLocks xmlns:a="http://schemas.openxmlformats.org/drawingml/2006/main" noGrp="1"/>
          </p:cNvSpPr>
          <p:nvPr/>
        </p:nvSpPr>
        <p:spPr>
          <a:xfrm xmlns:a="http://schemas.openxmlformats.org/drawingml/2006/main">
            <a:off x="4800600" y="457200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real application code</a:t>
            </a:r>
          </a:p>
        </p:txBody>
      </p:sp>
      <p:sp>
        <p:nvSpPr>
          <p:cNvPr id="17" name="shape">
            <a:extLst xmlns:a="http://schemas.openxmlformats.org/drawingml/2006/main">
              <a:ext uri="{FF2B5EF4-FFF2-40B4-BE49-F238E27FC236}">
                <a16:creationId xmlns:a16="http://schemas.microsoft.com/office/drawing/2014/main" id="{6DF16334-8C0F-4BDC-ABE4-B2CB77210699}"/>
              </a:ext>
            </a:extLst>
          </p:cNvPr>
          <p:cNvSpPr>
            <a:spLocks xmlns:a="http://schemas.openxmlformats.org/drawingml/2006/main" noGrp="1"/>
          </p:cNvSpPr>
          <p:nvPr/>
        </p:nvSpPr>
        <p:spPr>
          <a:xfrm xmlns:a="http://schemas.openxmlformats.org/drawingml/2006/main">
            <a:off x="609600" y="50673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5A14F21A-79C2-4931-B038-06493612726D}"/>
              </a:ext>
            </a:extLst>
          </p:cNvPr>
          <p:cNvSpPr>
            <a:spLocks xmlns:a="http://schemas.openxmlformats.org/drawingml/2006/main" noGrp="1"/>
          </p:cNvSpPr>
          <p:nvPr/>
        </p:nvSpPr>
        <p:spPr>
          <a:xfrm xmlns:a="http://schemas.openxmlformats.org/drawingml/2006/main">
            <a:off x="609600" y="5172075"/>
            <a:ext cx="39814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.agentforge/</a:t>
            </a:r>
          </a:p>
        </p:txBody>
      </p:sp>
      <p:sp>
        <p:nvSpPr>
          <p:cNvPr id="19" name="text">
            <a:extLst xmlns:a="http://schemas.openxmlformats.org/drawingml/2006/main">
              <a:ext uri="{FF2B5EF4-FFF2-40B4-BE49-F238E27FC236}">
                <a16:creationId xmlns:a16="http://schemas.microsoft.com/office/drawing/2014/main" id="{013BEC7C-A87F-4539-9A97-D9151B821246}"/>
              </a:ext>
            </a:extLst>
          </p:cNvPr>
          <p:cNvSpPr>
            <a:spLocks xmlns:a="http://schemas.openxmlformats.org/drawingml/2006/main" noGrp="1"/>
          </p:cNvSpPr>
          <p:nvPr/>
        </p:nvSpPr>
        <p:spPr>
          <a:xfrm xmlns:a="http://schemas.openxmlformats.org/drawingml/2006/main">
            <a:off x="4800600" y="517207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Local saved runs and memory</a:t>
            </a:r>
          </a:p>
        </p:txBody>
      </p:sp>
      <p:sp>
        <p:nvSpPr>
          <p:cNvPr id="20" name="shape">
            <a:extLst xmlns:a="http://schemas.openxmlformats.org/drawingml/2006/main">
              <a:ext uri="{FF2B5EF4-FFF2-40B4-BE49-F238E27FC236}">
                <a16:creationId xmlns:a16="http://schemas.microsoft.com/office/drawing/2014/main" id="{0982182E-2E4F-4C8D-957E-56DF3C737E46}"/>
              </a:ext>
            </a:extLst>
          </p:cNvPr>
          <p:cNvSpPr>
            <a:spLocks xmlns:a="http://schemas.openxmlformats.org/drawingml/2006/main" noGrp="1"/>
          </p:cNvSpPr>
          <p:nvPr/>
        </p:nvSpPr>
        <p:spPr>
          <a:xfrm xmlns:a="http://schemas.openxmlformats.org/drawingml/2006/main">
            <a:off x="609600" y="56673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1" name="shape">
            <a:extLst xmlns:a="http://schemas.openxmlformats.org/drawingml/2006/main">
              <a:ext uri="{FF2B5EF4-FFF2-40B4-BE49-F238E27FC236}">
                <a16:creationId xmlns:a16="http://schemas.microsoft.com/office/drawing/2014/main" id="{44939CC6-C1DA-42E7-929F-0675EF00D62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2" name="text">
            <a:extLst xmlns:a="http://schemas.openxmlformats.org/drawingml/2006/main">
              <a:ext uri="{FF2B5EF4-FFF2-40B4-BE49-F238E27FC236}">
                <a16:creationId xmlns:a16="http://schemas.microsoft.com/office/drawing/2014/main" id="{5F025A54-7A8E-4461-A707-F559AC90DF5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3" name="text">
            <a:extLst xmlns:a="http://schemas.openxmlformats.org/drawingml/2006/main">
              <a:ext uri="{FF2B5EF4-FFF2-40B4-BE49-F238E27FC236}">
                <a16:creationId xmlns:a16="http://schemas.microsoft.com/office/drawing/2014/main" id="{E5BA0218-E158-4A1D-8D11-0001A272BF5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21</a:t>
            </a:r>
          </a:p>
        </p:txBody>
      </p:sp>
    </p:spTree>
    <p:extLst>
      <p:ext uri="{BB962C8B-B14F-4D97-AF65-F5344CB8AC3E}">
        <p14:creationId xmlns:p14="http://schemas.microsoft.com/office/powerpoint/2010/main" val="1318549274"/>
      </p:ext>
    </p:extLst>
  </p:cSld>
</p:sld>
</file>

<file path=ppt/slides/slide2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2A90E53-6462-42E2-AD9C-3FE9005A459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F81D40E7-11C9-4E87-9E7F-B3D4ECE2E81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uv prepares a separate toolbox for this app.</a:t>
            </a:r>
          </a:p>
        </p:txBody>
      </p:sp>
      <p:sp>
        <p:nvSpPr>
          <p:cNvPr id="3" name="flow-node">
            <a:extLst xmlns:a="http://schemas.openxmlformats.org/drawingml/2006/main">
              <a:ext uri="{FF2B5EF4-FFF2-40B4-BE49-F238E27FC236}">
                <a16:creationId xmlns:a16="http://schemas.microsoft.com/office/drawing/2014/main" id="{67D5A087-1CD2-4BCC-9E8E-45A231A877EC}"/>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pyproject.toml</a:t>
            </a:r>
          </a:p>
        </p:txBody>
      </p:sp>
      <p:sp>
        <p:nvSpPr>
          <p:cNvPr id="4" name="flow-node">
            <a:extLst xmlns:a="http://schemas.openxmlformats.org/drawingml/2006/main">
              <a:ext uri="{FF2B5EF4-FFF2-40B4-BE49-F238E27FC236}">
                <a16:creationId xmlns:a16="http://schemas.microsoft.com/office/drawing/2014/main" id="{C3BEA112-EEB9-4435-9CE7-FF2C68CECC46}"/>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uv.lock</a:t>
            </a:r>
          </a:p>
        </p:txBody>
      </p:sp>
      <p:sp>
        <p:nvSpPr>
          <p:cNvPr id="5" name="flow-node">
            <a:extLst xmlns:a="http://schemas.openxmlformats.org/drawingml/2006/main">
              <a:ext uri="{FF2B5EF4-FFF2-40B4-BE49-F238E27FC236}">
                <a16:creationId xmlns:a16="http://schemas.microsoft.com/office/drawing/2014/main" id="{007D83EC-C2D3-4494-949F-23695CB0FF46}"/>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uv sync --frozen</a:t>
            </a:r>
          </a:p>
        </p:txBody>
      </p:sp>
      <p:sp>
        <p:nvSpPr>
          <p:cNvPr id="6" name="flow-node">
            <a:extLst xmlns:a="http://schemas.openxmlformats.org/drawingml/2006/main">
              <a:ext uri="{FF2B5EF4-FFF2-40B4-BE49-F238E27FC236}">
                <a16:creationId xmlns:a16="http://schemas.microsoft.com/office/drawing/2014/main" id="{72F5CBDF-3628-49C2-81F2-2C201D34A54C}"/>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.venv</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FA9283EA-9EBD-4615-BBE2-CE152788AA22}"/>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The project’s packages are kept in its own local environment.</a:t>
            </a:r>
          </a:p>
        </p:txBody>
      </p:sp>
      <p:sp>
        <p:nvSpPr>
          <p:cNvPr id="11" name="shape">
            <a:extLst xmlns:a="http://schemas.openxmlformats.org/drawingml/2006/main">
              <a:ext uri="{FF2B5EF4-FFF2-40B4-BE49-F238E27FC236}">
                <a16:creationId xmlns:a16="http://schemas.microsoft.com/office/drawing/2014/main" id="{02D73FE6-E7DF-4798-B7C0-7C3AD79B2CE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74A64B6-D726-4210-8287-2D6E2DB9BE4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5C466B43-D879-4415-8E5D-127C13F1046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22</a:t>
            </a:r>
          </a:p>
        </p:txBody>
      </p:sp>
    </p:spTree>
    <p:extLst>
      <p:ext uri="{BB962C8B-B14F-4D97-AF65-F5344CB8AC3E}">
        <p14:creationId xmlns:p14="http://schemas.microsoft.com/office/powerpoint/2010/main" val="924085441"/>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6DB26F12-8C21-4332-8747-7B14BF0B750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FF10C670-5FDF-4ACE-A2D7-E21B8F3AFCE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Install the locked dependencies once.</a:t>
            </a:r>
          </a:p>
        </p:txBody>
      </p:sp>
      <p:sp>
        <p:nvSpPr>
          <p:cNvPr id="3" name="shape">
            <a:extLst xmlns:a="http://schemas.openxmlformats.org/drawingml/2006/main">
              <a:ext uri="{FF2B5EF4-FFF2-40B4-BE49-F238E27FC236}">
                <a16:creationId xmlns:a16="http://schemas.microsoft.com/office/drawing/2014/main" id="{51B4CABB-B1D0-4035-9BCE-E7D040B9598C}"/>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9B40851F-DD7D-4D30-9982-17B2D66A3390}"/>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sync --frozen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pytest -q</a:t>
            </a:r>
          </a:p>
        </p:txBody>
      </p:sp>
      <p:sp>
        <p:nvSpPr>
          <p:cNvPr id="5" name="text">
            <a:extLst xmlns:a="http://schemas.openxmlformats.org/drawingml/2006/main">
              <a:ext uri="{FF2B5EF4-FFF2-40B4-BE49-F238E27FC236}">
                <a16:creationId xmlns:a16="http://schemas.microsoft.com/office/drawing/2014/main" id="{55B39DDB-C906-4BBD-A97A-446F7C192D65}"/>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Checkpoint: installation completes and the existing 19 tests pass.</a:t>
            </a:r>
          </a:p>
        </p:txBody>
      </p:sp>
      <p:sp>
        <p:nvSpPr>
          <p:cNvPr id="6" name="shape">
            <a:extLst xmlns:a="http://schemas.openxmlformats.org/drawingml/2006/main">
              <a:ext uri="{FF2B5EF4-FFF2-40B4-BE49-F238E27FC236}">
                <a16:creationId xmlns:a16="http://schemas.microsoft.com/office/drawing/2014/main" id="{2299D12D-FBFC-4A59-A51F-09ADB7310B0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F0A486A-F35F-4371-BFCE-9AC9CAE51BB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6D673D2D-4FF3-485C-A0D4-BF2B729135BA}"/>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9" name="text">
            <a:extLst xmlns:a="http://schemas.openxmlformats.org/drawingml/2006/main">
              <a:ext uri="{FF2B5EF4-FFF2-40B4-BE49-F238E27FC236}">
                <a16:creationId xmlns:a16="http://schemas.microsoft.com/office/drawing/2014/main" id="{F565719F-A484-4201-8FE2-369DE26261A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23</a:t>
            </a:r>
          </a:p>
        </p:txBody>
      </p:sp>
    </p:spTree>
    <p:extLst>
      <p:ext uri="{BB962C8B-B14F-4D97-AF65-F5344CB8AC3E}">
        <p14:creationId xmlns:p14="http://schemas.microsoft.com/office/powerpoint/2010/main" val="918018973"/>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551D6103-8410-4320-902B-04D0B559375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4DA622B1-7968-417E-932A-0B76D2B320A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Force rehearsal mode before the health check.</a:t>
            </a:r>
          </a:p>
        </p:txBody>
      </p:sp>
      <p:sp>
        <p:nvSpPr>
          <p:cNvPr id="3" name="text">
            <a:extLst xmlns:a="http://schemas.openxmlformats.org/drawingml/2006/main">
              <a:ext uri="{FF2B5EF4-FFF2-40B4-BE49-F238E27FC236}">
                <a16:creationId xmlns:a16="http://schemas.microsoft.com/office/drawing/2014/main" id="{009C4C4C-24E6-47C9-9A7E-9268FF822ACD}"/>
              </a:ext>
            </a:extLst>
          </p:cNvPr>
          <p:cNvSpPr>
            <a:spLocks xmlns:a="http://schemas.openxmlformats.org/drawingml/2006/main" noGrp="1"/>
          </p:cNvSpPr>
          <p:nvPr/>
        </p:nvSpPr>
        <p:spPr>
          <a:xfrm xmlns:a="http://schemas.openxmlformats.org/drawingml/2006/main">
            <a:off x="609600" y="214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537078"/>
                </a:solidFill>
                <a:latin typeface="Aptos"/>
                <a:ea typeface="Aptos"/>
                <a:cs typeface="Aptos"/>
              </a:defRPr>
            </a:pPr>
            <a:r>
              <a:rPr sz="1725" b="1">
                <a:solidFill>
                  <a:srgbClr val="537078"/>
                </a:solidFill>
                <a:latin typeface="Aptos"/>
                <a:ea typeface="Aptos"/>
                <a:cs typeface="Aptos"/>
              </a:rPr>
              <a:t>macOS / Linux</a:t>
            </a:r>
          </a:p>
        </p:txBody>
      </p:sp>
      <p:sp>
        <p:nvSpPr>
          <p:cNvPr id="4" name="text">
            <a:extLst xmlns:a="http://schemas.openxmlformats.org/drawingml/2006/main">
              <a:ext uri="{FF2B5EF4-FFF2-40B4-BE49-F238E27FC236}">
                <a16:creationId xmlns:a16="http://schemas.microsoft.com/office/drawing/2014/main" id="{86D6A71F-276F-4F82-960A-948D23DF828E}"/>
              </a:ext>
            </a:extLst>
          </p:cNvPr>
          <p:cNvSpPr>
            <a:spLocks xmlns:a="http://schemas.openxmlformats.org/drawingml/2006/main" noGrp="1"/>
          </p:cNvSpPr>
          <p:nvPr/>
        </p:nvSpPr>
        <p:spPr>
          <a:xfrm xmlns:a="http://schemas.openxmlformats.org/drawingml/2006/main">
            <a:off x="609600" y="3638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537078"/>
                </a:solidFill>
                <a:latin typeface="Aptos"/>
                <a:ea typeface="Aptos"/>
                <a:cs typeface="Aptos"/>
              </a:defRPr>
            </a:pPr>
            <a:r>
              <a:rPr sz="1725" b="1">
                <a:solidFill>
                  <a:srgbClr val="537078"/>
                </a:solidFill>
                <a:latin typeface="Aptos"/>
                <a:ea typeface="Aptos"/>
                <a:cs typeface="Aptos"/>
              </a:rPr>
              <a:t>Windows PowerShell</a:t>
            </a:r>
          </a:p>
        </p:txBody>
      </p:sp>
      <p:sp>
        <p:nvSpPr>
          <p:cNvPr id="5" name="shape">
            <a:extLst xmlns:a="http://schemas.openxmlformats.org/drawingml/2006/main">
              <a:ext uri="{FF2B5EF4-FFF2-40B4-BE49-F238E27FC236}">
                <a16:creationId xmlns:a16="http://schemas.microsoft.com/office/drawing/2014/main" id="{CBDB683B-E4DB-4138-9105-5D3260AB16D7}"/>
              </a:ext>
            </a:extLst>
          </p:cNvPr>
          <p:cNvSpPr>
            <a:spLocks xmlns:a="http://schemas.openxmlformats.org/drawingml/2006/main" noGrp="1"/>
          </p:cNvSpPr>
          <p:nvPr/>
        </p:nvSpPr>
        <p:spPr>
          <a:xfrm xmlns:a="http://schemas.openxmlformats.org/drawingml/2006/main">
            <a:off x="609600" y="2524125"/>
            <a:ext cx="10972800" cy="9810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1990F64-05AF-473C-891C-21DEE44C87EB}"/>
              </a:ext>
            </a:extLst>
          </p:cNvPr>
          <p:cNvSpPr>
            <a:spLocks xmlns:a="http://schemas.openxmlformats.org/drawingml/2006/main" noGrp="1"/>
          </p:cNvSpPr>
          <p:nvPr/>
        </p:nvSpPr>
        <p:spPr>
          <a:xfrm xmlns:a="http://schemas.openxmlformats.org/drawingml/2006/main">
            <a:off x="857250" y="27146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DF5F1"/>
                </a:solidFill>
                <a:latin typeface="Consolas"/>
                <a:ea typeface="Consolas"/>
                <a:cs typeface="Consolas"/>
              </a:defRPr>
            </a:pPr>
            <a:r>
              <a:rPr sz="1800" b="0">
                <a:solidFill>
                  <a:srgbClr val="EDF5F1"/>
                </a:solidFill>
                <a:latin typeface="Consolas"/>
                <a:ea typeface="Consolas"/>
                <a:cs typeface="Consolas"/>
              </a:rPr>
              <a:t>export AGENTFORGE_PROVIDER=rehearsal</a:t>
            </a:r>
          </a:p>
          <a:p xmlns:a="http://schemas.openxmlformats.org/drawingml/2006/main">
            <a:pPr>
              <a:defRPr sz="1800" b="0">
                <a:solidFill>
                  <a:srgbClr val="EDF5F1"/>
                </a:solidFill>
                <a:latin typeface="Consolas"/>
                <a:ea typeface="Consolas"/>
                <a:cs typeface="Consolas"/>
              </a:defRPr>
            </a:pPr>
            <a:r>
              <a:rPr sz="1800" b="0">
                <a:solidFill>
                  <a:srgbClr val="EDF5F1"/>
                </a:solidFill>
                <a:latin typeface="Consolas"/>
                <a:ea typeface="Consolas"/>
                <a:cs typeface="Consolas"/>
              </a:rPr>
              <a:t>uv run agentforge-jarvis doctor</a:t>
            </a:r>
          </a:p>
        </p:txBody>
      </p:sp>
      <p:sp>
        <p:nvSpPr>
          <p:cNvPr id="7" name="shape">
            <a:extLst xmlns:a="http://schemas.openxmlformats.org/drawingml/2006/main">
              <a:ext uri="{FF2B5EF4-FFF2-40B4-BE49-F238E27FC236}">
                <a16:creationId xmlns:a16="http://schemas.microsoft.com/office/drawing/2014/main" id="{06D96492-149F-478D-80FB-3480F01B3594}"/>
              </a:ext>
            </a:extLst>
          </p:cNvPr>
          <p:cNvSpPr>
            <a:spLocks xmlns:a="http://schemas.openxmlformats.org/drawingml/2006/main" noGrp="1"/>
          </p:cNvSpPr>
          <p:nvPr/>
        </p:nvSpPr>
        <p:spPr>
          <a:xfrm xmlns:a="http://schemas.openxmlformats.org/drawingml/2006/main">
            <a:off x="609600" y="4019550"/>
            <a:ext cx="10972800" cy="9810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35B3299-E229-4347-B740-D3F4DF11C705}"/>
              </a:ext>
            </a:extLst>
          </p:cNvPr>
          <p:cNvSpPr>
            <a:spLocks xmlns:a="http://schemas.openxmlformats.org/drawingml/2006/main" noGrp="1"/>
          </p:cNvSpPr>
          <p:nvPr/>
        </p:nvSpPr>
        <p:spPr>
          <a:xfrm xmlns:a="http://schemas.openxmlformats.org/drawingml/2006/main">
            <a:off x="857250" y="4210050"/>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DF5F1"/>
                </a:solidFill>
                <a:latin typeface="Consolas"/>
                <a:ea typeface="Consolas"/>
                <a:cs typeface="Consolas"/>
              </a:defRPr>
            </a:pPr>
            <a:r>
              <a:rPr sz="1800" b="0">
                <a:solidFill>
                  <a:srgbClr val="EDF5F1"/>
                </a:solidFill>
                <a:latin typeface="Consolas"/>
                <a:ea typeface="Consolas"/>
                <a:cs typeface="Consolas"/>
              </a:rPr>
              <a:t>$env:AGENTFORGE_PROVIDER="rehearsal"</a:t>
            </a:r>
          </a:p>
          <a:p xmlns:a="http://schemas.openxmlformats.org/drawingml/2006/main">
            <a:pPr>
              <a:defRPr sz="1800" b="0">
                <a:solidFill>
                  <a:srgbClr val="EDF5F1"/>
                </a:solidFill>
                <a:latin typeface="Consolas"/>
                <a:ea typeface="Consolas"/>
                <a:cs typeface="Consolas"/>
              </a:defRPr>
            </a:pPr>
            <a:r>
              <a:rPr sz="1800" b="0">
                <a:solidFill>
                  <a:srgbClr val="EDF5F1"/>
                </a:solidFill>
                <a:latin typeface="Consolas"/>
                <a:ea typeface="Consolas"/>
                <a:cs typeface="Consolas"/>
              </a:rPr>
              <a:t>uv run agentforge-jarvis doctor</a:t>
            </a:r>
          </a:p>
        </p:txBody>
      </p:sp>
      <p:sp>
        <p:nvSpPr>
          <p:cNvPr id="9" name="text">
            <a:extLst xmlns:a="http://schemas.openxmlformats.org/drawingml/2006/main">
              <a:ext uri="{FF2B5EF4-FFF2-40B4-BE49-F238E27FC236}">
                <a16:creationId xmlns:a16="http://schemas.microsoft.com/office/drawing/2014/main" id="{9A05A583-5C90-46BF-B4AE-2D1B17A08624}"/>
              </a:ext>
            </a:extLst>
          </p:cNvPr>
          <p:cNvSpPr>
            <a:spLocks xmlns:a="http://schemas.openxmlformats.org/drawingml/2006/main" noGrp="1"/>
          </p:cNvSpPr>
          <p:nvPr/>
        </p:nvSpPr>
        <p:spPr>
          <a:xfrm xmlns:a="http://schemas.openxmlformats.org/drawingml/2006/main">
            <a:off x="609600" y="57054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Look for provider: rehearsal and configured: true.</a:t>
            </a:r>
          </a:p>
        </p:txBody>
      </p:sp>
      <p:sp>
        <p:nvSpPr>
          <p:cNvPr id="10" name="shape">
            <a:extLst xmlns:a="http://schemas.openxmlformats.org/drawingml/2006/main">
              <a:ext uri="{FF2B5EF4-FFF2-40B4-BE49-F238E27FC236}">
                <a16:creationId xmlns:a16="http://schemas.microsoft.com/office/drawing/2014/main" id="{DF764262-4F91-4927-A33C-0D349D15834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79E0B93-6F99-4137-9EB2-8390C0D2AAE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E4DD430C-2535-4AB8-982A-C83CFDC5E70D}"/>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3" name="text">
            <a:extLst xmlns:a="http://schemas.openxmlformats.org/drawingml/2006/main">
              <a:ext uri="{FF2B5EF4-FFF2-40B4-BE49-F238E27FC236}">
                <a16:creationId xmlns:a16="http://schemas.microsoft.com/office/drawing/2014/main" id="{59C2C020-4949-4CD7-9B64-5BA9D2626C2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24</a:t>
            </a:r>
          </a:p>
        </p:txBody>
      </p:sp>
    </p:spTree>
    <p:extLst>
      <p:ext uri="{BB962C8B-B14F-4D97-AF65-F5344CB8AC3E}">
        <p14:creationId xmlns:p14="http://schemas.microsoft.com/office/powerpoint/2010/main" val="1605575099"/>
      </p:ext>
    </p:extLst>
  </p:cSld>
</p:sld>
</file>

<file path=ppt/slides/slide2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31943D0B-7D85-4729-BD9F-05C8081F020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SET UP</a:t>
            </a:r>
          </a:p>
        </p:txBody>
      </p:sp>
      <p:sp>
        <p:nvSpPr>
          <p:cNvPr id="2" name="text">
            <a:extLst xmlns:a="http://schemas.openxmlformats.org/drawingml/2006/main">
              <a:ext uri="{FF2B5EF4-FFF2-40B4-BE49-F238E27FC236}">
                <a16:creationId xmlns:a16="http://schemas.microsoft.com/office/drawing/2014/main" id="{D7A34711-4A12-4758-971F-A0DF07E929A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Launch the app and keep this terminal open.</a:t>
            </a:r>
          </a:p>
        </p:txBody>
      </p:sp>
      <p:sp>
        <p:nvSpPr>
          <p:cNvPr id="3" name="shape">
            <a:extLst xmlns:a="http://schemas.openxmlformats.org/drawingml/2006/main">
              <a:ext uri="{FF2B5EF4-FFF2-40B4-BE49-F238E27FC236}">
                <a16:creationId xmlns:a16="http://schemas.microsoft.com/office/drawing/2014/main" id="{8C0E36C1-198F-4272-84C0-EC376B506DF4}"/>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0682EA0E-02D8-48C4-87D9-E04FAEAED464}"/>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http://127.0.0.1:8787</a:t>
            </a:r>
          </a:p>
        </p:txBody>
      </p:sp>
      <p:sp>
        <p:nvSpPr>
          <p:cNvPr id="5" name="text">
            <a:extLst xmlns:a="http://schemas.openxmlformats.org/drawingml/2006/main">
              <a:ext uri="{FF2B5EF4-FFF2-40B4-BE49-F238E27FC236}">
                <a16:creationId xmlns:a16="http://schemas.microsoft.com/office/drawing/2014/main" id="{4DF9EFE7-69F8-4D14-855C-0846A3D66801}"/>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The command runs in Terminal. The URL opens in your browser.</a:t>
            </a:r>
          </a:p>
        </p:txBody>
      </p:sp>
      <p:sp>
        <p:nvSpPr>
          <p:cNvPr id="6" name="shape">
            <a:extLst xmlns:a="http://schemas.openxmlformats.org/drawingml/2006/main">
              <a:ext uri="{FF2B5EF4-FFF2-40B4-BE49-F238E27FC236}">
                <a16:creationId xmlns:a16="http://schemas.microsoft.com/office/drawing/2014/main" id="{DCD0FA4E-31EB-4845-8A5E-883E4C6355B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45E06E8D-C330-455C-AE08-761F4FD522D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4B999BA3-09C4-44D3-ADCA-7022202CE72E}"/>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9" name="text">
            <a:extLst xmlns:a="http://schemas.openxmlformats.org/drawingml/2006/main">
              <a:ext uri="{FF2B5EF4-FFF2-40B4-BE49-F238E27FC236}">
                <a16:creationId xmlns:a16="http://schemas.microsoft.com/office/drawing/2014/main" id="{07682524-6838-4B84-80CD-BD75EC149E0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25</a:t>
            </a:r>
          </a:p>
        </p:txBody>
      </p:sp>
    </p:spTree>
    <p:extLst>
      <p:ext uri="{BB962C8B-B14F-4D97-AF65-F5344CB8AC3E}">
        <p14:creationId xmlns:p14="http://schemas.microsoft.com/office/powerpoint/2010/main" val="171822534"/>
      </p:ext>
    </p:extLst>
  </p:cSld>
</p:sld>
</file>

<file path=ppt/slides/slide2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77503A45-C9FD-4E5E-A9AE-E8AC34E37EB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CHECKPOINT 1</a:t>
            </a:r>
          </a:p>
        </p:txBody>
      </p:sp>
      <p:sp>
        <p:nvSpPr>
          <p:cNvPr id="2" name="text">
            <a:extLst xmlns:a="http://schemas.openxmlformats.org/drawingml/2006/main">
              <a:ext uri="{FF2B5EF4-FFF2-40B4-BE49-F238E27FC236}">
                <a16:creationId xmlns:a16="http://schemas.microsoft.com/office/drawing/2014/main" id="{CF0CC813-D566-403E-9AF5-247764DB0D8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Checkpoint 1: everyone can see six agents.</a:t>
            </a:r>
          </a:p>
        </p:txBody>
      </p:sp>
      <p:sp>
        <p:nvSpPr>
          <p:cNvPr id="3" name="text">
            <a:extLst xmlns:a="http://schemas.openxmlformats.org/drawingml/2006/main">
              <a:ext uri="{FF2B5EF4-FFF2-40B4-BE49-F238E27FC236}">
                <a16:creationId xmlns:a16="http://schemas.microsoft.com/office/drawing/2014/main" id="{D96522A7-A458-4C27-8C90-9B8FC5532471}"/>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8B97AB15-2F83-4FDE-9744-E50D4801FFB6}"/>
              </a:ext>
            </a:extLst>
          </p:cNvPr>
          <p:cNvSpPr>
            <a:spLocks xmlns:a="http://schemas.openxmlformats.org/drawingml/2006/main" noGrp="1"/>
          </p:cNvSpPr>
          <p:nvPr/>
        </p:nvSpPr>
        <p:spPr>
          <a:xfrm xmlns:a="http://schemas.openxmlformats.org/drawingml/2006/main">
            <a:off x="1314450" y="219075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The page shows REHEARSAL MODE.</a:t>
            </a:r>
          </a:p>
        </p:txBody>
      </p:sp>
      <p:sp>
        <p:nvSpPr>
          <p:cNvPr id="5" name="text">
            <a:extLst xmlns:a="http://schemas.openxmlformats.org/drawingml/2006/main">
              <a:ext uri="{FF2B5EF4-FFF2-40B4-BE49-F238E27FC236}">
                <a16:creationId xmlns:a16="http://schemas.microsoft.com/office/drawing/2014/main" id="{1A25BD98-B0FD-477A-BB86-DC8B39F12013}"/>
              </a:ext>
            </a:extLst>
          </p:cNvPr>
          <p:cNvSpPr>
            <a:spLocks xmlns:a="http://schemas.openxmlformats.org/drawingml/2006/main" noGrp="1"/>
          </p:cNvSpPr>
          <p:nvPr/>
        </p:nvSpPr>
        <p:spPr>
          <a:xfrm xmlns:a="http://schemas.openxmlformats.org/drawingml/2006/main">
            <a:off x="609600" y="3048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B498763F-48AC-4346-B627-C3BD30FBE87E}"/>
              </a:ext>
            </a:extLst>
          </p:cNvPr>
          <p:cNvSpPr>
            <a:spLocks xmlns:a="http://schemas.openxmlformats.org/drawingml/2006/main" noGrp="1"/>
          </p:cNvSpPr>
          <p:nvPr/>
        </p:nvSpPr>
        <p:spPr>
          <a:xfrm xmlns:a="http://schemas.openxmlformats.org/drawingml/2006/main">
            <a:off x="1314450" y="301942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All six specialist names are visible.</a:t>
            </a:r>
          </a:p>
        </p:txBody>
      </p:sp>
      <p:sp>
        <p:nvSpPr>
          <p:cNvPr id="7" name="text">
            <a:extLst xmlns:a="http://schemas.openxmlformats.org/drawingml/2006/main">
              <a:ext uri="{FF2B5EF4-FFF2-40B4-BE49-F238E27FC236}">
                <a16:creationId xmlns:a16="http://schemas.microsoft.com/office/drawing/2014/main" id="{82B0EA16-A162-42F0-B6F2-9DE0E2CD15AC}"/>
              </a:ext>
            </a:extLst>
          </p:cNvPr>
          <p:cNvSpPr>
            <a:spLocks xmlns:a="http://schemas.openxmlformats.org/drawingml/2006/main" noGrp="1"/>
          </p:cNvSpPr>
          <p:nvPr/>
        </p:nvSpPr>
        <p:spPr>
          <a:xfrm xmlns:a="http://schemas.openxmlformats.org/drawingml/2006/main">
            <a:off x="609600" y="38766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0F32A979-8CA5-4481-A22B-352D7C13F15B}"/>
              </a:ext>
            </a:extLst>
          </p:cNvPr>
          <p:cNvSpPr>
            <a:spLocks xmlns:a="http://schemas.openxmlformats.org/drawingml/2006/main" noGrp="1"/>
          </p:cNvSpPr>
          <p:nvPr/>
        </p:nvSpPr>
        <p:spPr>
          <a:xfrm xmlns:a="http://schemas.openxmlformats.org/drawingml/2006/main">
            <a:off x="1314450" y="3848100"/>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Project Monsoon is the active scenario.</a:t>
            </a:r>
          </a:p>
        </p:txBody>
      </p:sp>
      <p:sp>
        <p:nvSpPr>
          <p:cNvPr id="9" name="text">
            <a:extLst xmlns:a="http://schemas.openxmlformats.org/drawingml/2006/main">
              <a:ext uri="{FF2B5EF4-FFF2-40B4-BE49-F238E27FC236}">
                <a16:creationId xmlns:a16="http://schemas.microsoft.com/office/drawing/2014/main" id="{5F65F8C3-30EE-4A57-87FE-117AF2B6BBBA}"/>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33BF27ED-1DB6-49C2-B98E-F5BB994DE84A}"/>
              </a:ext>
            </a:extLst>
          </p:cNvPr>
          <p:cNvSpPr>
            <a:spLocks xmlns:a="http://schemas.openxmlformats.org/drawingml/2006/main" noGrp="1"/>
          </p:cNvSpPr>
          <p:nvPr/>
        </p:nvSpPr>
        <p:spPr>
          <a:xfrm xmlns:a="http://schemas.openxmlformats.org/drawingml/2006/main">
            <a:off x="1314450" y="4676775"/>
            <a:ext cx="1026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The browser can reach your local server.</a:t>
            </a:r>
          </a:p>
        </p:txBody>
      </p:sp>
      <p:sp>
        <p:nvSpPr>
          <p:cNvPr id="11" name="shape">
            <a:extLst xmlns:a="http://schemas.openxmlformats.org/drawingml/2006/main">
              <a:ext uri="{FF2B5EF4-FFF2-40B4-BE49-F238E27FC236}">
                <a16:creationId xmlns:a16="http://schemas.microsoft.com/office/drawing/2014/main" id="{8F29F429-BF9E-498E-B0F7-FF673EB2AE9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249CC15-19E7-4809-9E7A-BC0FC2C601F9}"/>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D17228CE-CA4A-4860-9723-963168F6243F}"/>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042566F0-1D52-4C1D-8E54-1EF46D6A58C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26</a:t>
            </a:r>
          </a:p>
        </p:txBody>
      </p:sp>
    </p:spTree>
    <p:extLst>
      <p:ext uri="{BB962C8B-B14F-4D97-AF65-F5344CB8AC3E}">
        <p14:creationId xmlns:p14="http://schemas.microsoft.com/office/powerpoint/2010/main" val="113608102"/>
      </p:ext>
    </p:extLst>
  </p:cSld>
</p:sld>
</file>

<file path=ppt/slides/slide27.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8AA951FC-1D43-40C1-A054-74D4361482F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FIRST RUN</a:t>
            </a:r>
          </a:p>
        </p:txBody>
      </p:sp>
      <p:sp>
        <p:nvSpPr>
          <p:cNvPr id="2" name="text">
            <a:extLst xmlns:a="http://schemas.openxmlformats.org/drawingml/2006/main">
              <a:ext uri="{FF2B5EF4-FFF2-40B4-BE49-F238E27FC236}">
                <a16:creationId xmlns:a16="http://schemas.microsoft.com/office/drawing/2014/main" id="{28FEF2B6-6CD0-4719-8F55-DA223BBBC53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Run the baseline before changing anything.</a:t>
            </a:r>
          </a:p>
        </p:txBody>
      </p:sp>
      <p:sp>
        <p:nvSpPr>
          <p:cNvPr id="3" name="flow-node">
            <a:extLst xmlns:a="http://schemas.openxmlformats.org/drawingml/2006/main">
              <a:ext uri="{FF2B5EF4-FFF2-40B4-BE49-F238E27FC236}">
                <a16:creationId xmlns:a16="http://schemas.microsoft.com/office/drawing/2014/main" id="{4F66D317-0BBF-4015-BC3D-CD2C8554CBD4}"/>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Baseline launch</a:t>
            </a:r>
          </a:p>
        </p:txBody>
      </p:sp>
      <p:sp>
        <p:nvSpPr>
          <p:cNvPr id="4" name="flow-node">
            <a:extLst xmlns:a="http://schemas.openxmlformats.org/drawingml/2006/main">
              <a:ext uri="{FF2B5EF4-FFF2-40B4-BE49-F238E27FC236}">
                <a16:creationId xmlns:a16="http://schemas.microsoft.com/office/drawing/2014/main" id="{8BCFB381-378A-4721-98FD-8E51300DB01C}"/>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Run launch swarm</a:t>
            </a:r>
          </a:p>
        </p:txBody>
      </p:sp>
      <p:sp>
        <p:nvSpPr>
          <p:cNvPr id="5" name="flow-node">
            <a:extLst xmlns:a="http://schemas.openxmlformats.org/drawingml/2006/main">
              <a:ext uri="{FF2B5EF4-FFF2-40B4-BE49-F238E27FC236}">
                <a16:creationId xmlns:a16="http://schemas.microsoft.com/office/drawing/2014/main" id="{02E24E1F-3FEC-4293-87DD-242E464A26F3}"/>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Watch tool events</a:t>
            </a:r>
          </a:p>
        </p:txBody>
      </p:sp>
      <p:sp>
        <p:nvSpPr>
          <p:cNvPr id="6" name="flow-node">
            <a:extLst xmlns:a="http://schemas.openxmlformats.org/drawingml/2006/main">
              <a:ext uri="{FF2B5EF4-FFF2-40B4-BE49-F238E27FC236}">
                <a16:creationId xmlns:a16="http://schemas.microsoft.com/office/drawing/2014/main" id="{9C17CF40-17BA-4307-9CBF-F58DB98272BC}"/>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Inspect the decision</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8B247225-09BE-4B03-B712-42BE1B1256E6}"/>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Expected baseline: CONDITIONAL GO, subject to human review.</a:t>
            </a:r>
          </a:p>
        </p:txBody>
      </p:sp>
      <p:sp>
        <p:nvSpPr>
          <p:cNvPr id="11" name="shape">
            <a:extLst xmlns:a="http://schemas.openxmlformats.org/drawingml/2006/main">
              <a:ext uri="{FF2B5EF4-FFF2-40B4-BE49-F238E27FC236}">
                <a16:creationId xmlns:a16="http://schemas.microsoft.com/office/drawing/2014/main" id="{1DB5A590-39F9-4353-A1E0-72BB8ACD327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6F27599-E926-4210-B7A2-846EB7F76E2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8F85281A-69DF-409C-A4D3-41012820D8D1}"/>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9A4B6059-E935-44BB-A7BC-0479D6BEF5C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27</a:t>
            </a:r>
          </a:p>
        </p:txBody>
      </p:sp>
    </p:spTree>
    <p:extLst>
      <p:ext uri="{BB962C8B-B14F-4D97-AF65-F5344CB8AC3E}">
        <p14:creationId xmlns:p14="http://schemas.microsoft.com/office/powerpoint/2010/main" val="1111087516"/>
      </p:ext>
    </p:extLst>
  </p:cSld>
</p:sld>
</file>

<file path=ppt/slides/slide2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CE80771-999F-4B7E-A526-660FB46511C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FIRST RUN</a:t>
            </a:r>
          </a:p>
        </p:txBody>
      </p:sp>
      <p:sp>
        <p:nvSpPr>
          <p:cNvPr id="2" name="text">
            <a:extLst xmlns:a="http://schemas.openxmlformats.org/drawingml/2006/main">
              <a:ext uri="{FF2B5EF4-FFF2-40B4-BE49-F238E27FC236}">
                <a16:creationId xmlns:a16="http://schemas.microsoft.com/office/drawing/2014/main" id="{23822D9D-9F65-4E15-91CE-97CB9FC3172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Read the activity log like a delivery receipt.</a:t>
            </a:r>
          </a:p>
        </p:txBody>
      </p:sp>
      <p:sp>
        <p:nvSpPr>
          <p:cNvPr id="3" name="flow-node">
            <a:extLst xmlns:a="http://schemas.openxmlformats.org/drawingml/2006/main">
              <a:ext uri="{FF2B5EF4-FFF2-40B4-BE49-F238E27FC236}">
                <a16:creationId xmlns:a16="http://schemas.microsoft.com/office/drawing/2014/main" id="{5BBC8D72-B2F8-480E-9681-123335DDE9EE}"/>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Agent started</a:t>
            </a:r>
          </a:p>
        </p:txBody>
      </p:sp>
      <p:sp>
        <p:nvSpPr>
          <p:cNvPr id="4" name="flow-node">
            <a:extLst xmlns:a="http://schemas.openxmlformats.org/drawingml/2006/main">
              <a:ext uri="{FF2B5EF4-FFF2-40B4-BE49-F238E27FC236}">
                <a16:creationId xmlns:a16="http://schemas.microsoft.com/office/drawing/2014/main" id="{DD263788-A387-4D5C-BB5D-C2E2C15B07E5}"/>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Tool called</a:t>
            </a:r>
          </a:p>
        </p:txBody>
      </p:sp>
      <p:sp>
        <p:nvSpPr>
          <p:cNvPr id="5" name="flow-node">
            <a:extLst xmlns:a="http://schemas.openxmlformats.org/drawingml/2006/main">
              <a:ext uri="{FF2B5EF4-FFF2-40B4-BE49-F238E27FC236}">
                <a16:creationId xmlns:a16="http://schemas.microsoft.com/office/drawing/2014/main" id="{7A1BAA32-C3B3-419C-9A53-6511B100C37E}"/>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Tool result</a:t>
            </a:r>
          </a:p>
        </p:txBody>
      </p:sp>
      <p:sp>
        <p:nvSpPr>
          <p:cNvPr id="6" name="flow-node">
            <a:extLst xmlns:a="http://schemas.openxmlformats.org/drawingml/2006/main">
              <a:ext uri="{FF2B5EF4-FFF2-40B4-BE49-F238E27FC236}">
                <a16:creationId xmlns:a16="http://schemas.microsoft.com/office/drawing/2014/main" id="{069A55D2-9E43-46E3-9E57-0D3AF4B07755}"/>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Agent completed</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ADA23974-313C-43A7-8B92-81319F8F408C}"/>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Six agents × three tool completions = 18 completed tool calls.</a:t>
            </a:r>
          </a:p>
        </p:txBody>
      </p:sp>
      <p:sp>
        <p:nvSpPr>
          <p:cNvPr id="11" name="shape">
            <a:extLst xmlns:a="http://schemas.openxmlformats.org/drawingml/2006/main">
              <a:ext uri="{FF2B5EF4-FFF2-40B4-BE49-F238E27FC236}">
                <a16:creationId xmlns:a16="http://schemas.microsoft.com/office/drawing/2014/main" id="{98C1DD58-8D11-44C2-96FD-CDE18683071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030FB1F-5C67-470B-A3F8-3DB6A74CD06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DA5A3BBD-D00E-4AD6-BAB4-BF579351939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28</a:t>
            </a:r>
          </a:p>
        </p:txBody>
      </p:sp>
    </p:spTree>
    <p:extLst>
      <p:ext uri="{BB962C8B-B14F-4D97-AF65-F5344CB8AC3E}">
        <p14:creationId xmlns:p14="http://schemas.microsoft.com/office/powerpoint/2010/main" val="260351126"/>
      </p:ext>
    </p:extLst>
  </p:cSld>
</p:sld>
</file>

<file path=ppt/slides/slide2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C08B8652-B1EA-47C1-A159-692021AE782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FIRST RUN</a:t>
            </a:r>
          </a:p>
        </p:txBody>
      </p:sp>
      <p:sp>
        <p:nvSpPr>
          <p:cNvPr id="2" name="text">
            <a:extLst xmlns:a="http://schemas.openxmlformats.org/drawingml/2006/main">
              <a:ext uri="{FF2B5EF4-FFF2-40B4-BE49-F238E27FC236}">
                <a16:creationId xmlns:a16="http://schemas.microsoft.com/office/drawing/2014/main" id="{D8311078-4A35-4518-BF47-222BF2E3892B}"/>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 useful report separates facts from judgment.</a:t>
            </a:r>
          </a:p>
        </p:txBody>
      </p:sp>
      <p:sp>
        <p:nvSpPr>
          <p:cNvPr id="3" name="text">
            <a:extLst xmlns:a="http://schemas.openxmlformats.org/drawingml/2006/main">
              <a:ext uri="{FF2B5EF4-FFF2-40B4-BE49-F238E27FC236}">
                <a16:creationId xmlns:a16="http://schemas.microsoft.com/office/drawing/2014/main" id="{A3F01722-8050-42C2-AE31-21D052AFD807}"/>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2D7D0AA4-306B-4428-9025-6F9D269052FA}"/>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Metrics: numbers calculated by tools.</a:t>
            </a:r>
          </a:p>
        </p:txBody>
      </p:sp>
      <p:sp>
        <p:nvSpPr>
          <p:cNvPr id="5" name="text">
            <a:extLst xmlns:a="http://schemas.openxmlformats.org/drawingml/2006/main">
              <a:ext uri="{FF2B5EF4-FFF2-40B4-BE49-F238E27FC236}">
                <a16:creationId xmlns:a16="http://schemas.microsoft.com/office/drawing/2014/main" id="{C0C4D288-5522-4A0C-A660-FD475B88175A}"/>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4726DE6F-42CC-4F96-A556-4719F7AD9478}"/>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Evidence: where inputs and hand-offs came from.</a:t>
            </a:r>
          </a:p>
        </p:txBody>
      </p:sp>
      <p:sp>
        <p:nvSpPr>
          <p:cNvPr id="7" name="text">
            <a:extLst xmlns:a="http://schemas.openxmlformats.org/drawingml/2006/main">
              <a:ext uri="{FF2B5EF4-FFF2-40B4-BE49-F238E27FC236}">
                <a16:creationId xmlns:a16="http://schemas.microsoft.com/office/drawing/2014/main" id="{9DFF1461-2558-481A-99D7-A96B93C64144}"/>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5FEFB8DE-82B5-4E73-92FC-9F39844087AC}"/>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Assumptions: what the model leaves out.</a:t>
            </a:r>
          </a:p>
        </p:txBody>
      </p:sp>
      <p:sp>
        <p:nvSpPr>
          <p:cNvPr id="9" name="text">
            <a:extLst xmlns:a="http://schemas.openxmlformats.org/drawingml/2006/main">
              <a:ext uri="{FF2B5EF4-FFF2-40B4-BE49-F238E27FC236}">
                <a16:creationId xmlns:a16="http://schemas.microsoft.com/office/drawing/2014/main" id="{923D5991-C6C0-4F27-B41F-156E504E034E}"/>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05189BE4-9A20-4BC9-89C1-E0809B7B9793}"/>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Risks: reasons to pause or ask questions.</a:t>
            </a:r>
          </a:p>
        </p:txBody>
      </p:sp>
      <p:sp>
        <p:nvSpPr>
          <p:cNvPr id="11" name="text">
            <a:extLst xmlns:a="http://schemas.openxmlformats.org/drawingml/2006/main">
              <a:ext uri="{FF2B5EF4-FFF2-40B4-BE49-F238E27FC236}">
                <a16:creationId xmlns:a16="http://schemas.microsoft.com/office/drawing/2014/main" id="{C60B9899-39B7-4583-A37B-159CC5D9C085}"/>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7B1F64A8-DB00-4D01-A62B-B9AD08073C32}"/>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Actions: an owner and a review gate.</a:t>
            </a:r>
          </a:p>
        </p:txBody>
      </p:sp>
      <p:sp>
        <p:nvSpPr>
          <p:cNvPr id="13" name="shape">
            <a:extLst xmlns:a="http://schemas.openxmlformats.org/drawingml/2006/main">
              <a:ext uri="{FF2B5EF4-FFF2-40B4-BE49-F238E27FC236}">
                <a16:creationId xmlns:a16="http://schemas.microsoft.com/office/drawing/2014/main" id="{750124DE-6BAE-4B4A-B4D3-94C17A1C1A5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4E8D9A6-8915-4E4E-9F52-191BC27E70B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144C26B4-71A0-4DCC-A590-526F23D9D9A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29</a:t>
            </a:r>
          </a:p>
        </p:txBody>
      </p:sp>
    </p:spTree>
    <p:extLst>
      <p:ext uri="{BB962C8B-B14F-4D97-AF65-F5344CB8AC3E}">
        <p14:creationId xmlns:p14="http://schemas.microsoft.com/office/powerpoint/2010/main" val="164902792"/>
      </p:ext>
    </p:extLst>
  </p:cSld>
</p:sld>
</file>

<file path=ppt/slides/slide3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9547769B-9682-437A-B1E2-4DE230B6C506}"/>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A7E44A6B-2A05-490E-A354-3D8FAB155511}"/>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BUILD</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01</a:t>
            </a:r>
          </a:p>
        </p:txBody>
      </p:sp>
      <p:sp>
        <p:nvSpPr>
          <p:cNvPr id="3" name="text">
            <a:extLst xmlns:a="http://schemas.openxmlformats.org/drawingml/2006/main">
              <a:ext uri="{FF2B5EF4-FFF2-40B4-BE49-F238E27FC236}">
                <a16:creationId xmlns:a16="http://schemas.microsoft.com/office/drawing/2014/main" id="{8BC3D73C-5D50-4DE5-A21C-A0ED55D49B2A}"/>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Now build one small agent yourself.</a:t>
            </a:r>
          </a:p>
        </p:txBody>
      </p:sp>
      <p:sp>
        <p:nvSpPr>
          <p:cNvPr id="4" name="text">
            <a:extLst xmlns:a="http://schemas.openxmlformats.org/drawingml/2006/main">
              <a:ext uri="{FF2B5EF4-FFF2-40B4-BE49-F238E27FC236}">
                <a16:creationId xmlns:a16="http://schemas.microsoft.com/office/drawing/2014/main" id="{7254E2CD-1029-43F5-814E-00D845E1F39E}"/>
              </a:ext>
            </a:extLst>
          </p:cNvPr>
          <p:cNvSpPr>
            <a:spLocks xmlns:a="http://schemas.openxmlformats.org/drawingml/2006/main" noGrp="1"/>
          </p:cNvSpPr>
          <p:nvPr/>
        </p:nvSpPr>
        <p:spPr>
          <a:xfrm xmlns:a="http://schemas.openxmlformats.org/drawingml/2006/main">
            <a:off x="609600" y="4000500"/>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A small calculator. A real tool call.</a:t>
            </a:r>
          </a:p>
          <a:p xmlns:a="http://schemas.openxmlformats.org/drawingml/2006/main">
            <a:pPr>
              <a:defRPr sz="2475" b="0">
                <a:solidFill>
                  <a:srgbClr val="61DFBF"/>
                </a:solidFill>
                <a:latin typeface="Aptos"/>
                <a:ea typeface="Aptos"/>
                <a:cs typeface="Aptos"/>
              </a:defRPr>
            </a:pPr>
            <a:r>
              <a:rPr sz="2475" b="0">
                <a:solidFill>
                  <a:srgbClr val="61DFBF"/>
                </a:solidFill>
                <a:latin typeface="Aptos"/>
                <a:ea typeface="Aptos"/>
                <a:cs typeface="Aptos"/>
              </a:rPr>
              <a:t>A result you can check.</a:t>
            </a:r>
          </a:p>
        </p:txBody>
      </p:sp>
      <p:sp>
        <p:nvSpPr>
          <p:cNvPr id="5" name="text">
            <a:extLst xmlns:a="http://schemas.openxmlformats.org/drawingml/2006/main">
              <a:ext uri="{FF2B5EF4-FFF2-40B4-BE49-F238E27FC236}">
                <a16:creationId xmlns:a16="http://schemas.microsoft.com/office/drawing/2014/main" id="{EFEE5FBB-0DA7-45C7-BAE7-772A145874D9}"/>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finance tool + a scripted model + LangChain.</a:t>
            </a:r>
          </a:p>
        </p:txBody>
      </p:sp>
      <p:sp>
        <p:nvSpPr>
          <p:cNvPr id="6" name="shape">
            <a:extLst xmlns:a="http://schemas.openxmlformats.org/drawingml/2006/main">
              <a:ext uri="{FF2B5EF4-FFF2-40B4-BE49-F238E27FC236}">
                <a16:creationId xmlns:a16="http://schemas.microsoft.com/office/drawing/2014/main" id="{3A236FFD-FE90-460C-AABB-2221542B058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F1C501C2-CA84-475D-AE5C-BC813C407EF5}"/>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599AD5D8-45F2-460E-B33D-67EF13BB2E41}"/>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9" name="text">
            <a:extLst xmlns:a="http://schemas.openxmlformats.org/drawingml/2006/main">
              <a:ext uri="{FF2B5EF4-FFF2-40B4-BE49-F238E27FC236}">
                <a16:creationId xmlns:a16="http://schemas.microsoft.com/office/drawing/2014/main" id="{5A538D16-DA49-488F-8202-2CF060B6657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30</a:t>
            </a:r>
          </a:p>
        </p:txBody>
      </p:sp>
    </p:spTree>
    <p:extLst>
      <p:ext uri="{BB962C8B-B14F-4D97-AF65-F5344CB8AC3E}">
        <p14:creationId xmlns:p14="http://schemas.microsoft.com/office/powerpoint/2010/main" val="700525918"/>
      </p:ext>
    </p:extLst>
  </p:cSld>
</p:sld>
</file>

<file path=ppt/slides/slide3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2B43E3B2-4113-461C-99A4-385A4951E59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DABC885B-9DC1-4D7F-B52F-5C2CE7F0116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Open the starter and find the two blanks.</a:t>
            </a:r>
          </a:p>
        </p:txBody>
      </p:sp>
      <p:sp>
        <p:nvSpPr>
          <p:cNvPr id="3" name="shape">
            <a:extLst xmlns:a="http://schemas.openxmlformats.org/drawingml/2006/main">
              <a:ext uri="{FF2B5EF4-FFF2-40B4-BE49-F238E27FC236}">
                <a16:creationId xmlns:a16="http://schemas.microsoft.com/office/drawing/2014/main" id="{622DF8D3-5927-402E-9001-BDB24EF40D36}"/>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A2039D16-EDDC-4BAE-BA3B-2531DD51EB55}"/>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workshop/first_agent_starter.py</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BUDGET = 2_400_000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UNITS = 30_000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UNIT_COST = 65</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OTHER_LAUNCH_COSTS = 450_000</a:t>
            </a:r>
          </a:p>
        </p:txBody>
      </p:sp>
      <p:sp>
        <p:nvSpPr>
          <p:cNvPr id="5" name="text">
            <a:extLst xmlns:a="http://schemas.openxmlformats.org/drawingml/2006/main">
              <a:ext uri="{FF2B5EF4-FFF2-40B4-BE49-F238E27FC236}">
                <a16:creationId xmlns:a16="http://schemas.microsoft.com/office/drawing/2014/main" id="{A663EAD8-EEF0-4509-A3CA-A3A122D923B7}"/>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Underscores make large Python numbers easier to read.</a:t>
            </a:r>
          </a:p>
        </p:txBody>
      </p:sp>
      <p:sp>
        <p:nvSpPr>
          <p:cNvPr id="6" name="shape">
            <a:extLst xmlns:a="http://schemas.openxmlformats.org/drawingml/2006/main">
              <a:ext uri="{FF2B5EF4-FFF2-40B4-BE49-F238E27FC236}">
                <a16:creationId xmlns:a16="http://schemas.microsoft.com/office/drawing/2014/main" id="{884F3E5B-4382-427C-A9FE-6F898424B23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EE53E363-F977-4905-B0AC-7CA809883D0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DCCD5EF2-4DDE-4616-9615-85AD6C1E9278}"/>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31</a:t>
            </a:r>
          </a:p>
        </p:txBody>
      </p:sp>
    </p:spTree>
    <p:extLst>
      <p:ext uri="{BB962C8B-B14F-4D97-AF65-F5344CB8AC3E}">
        <p14:creationId xmlns:p14="http://schemas.microsoft.com/office/powerpoint/2010/main" val="1679682439"/>
      </p:ext>
    </p:extLst>
  </p:cSld>
</p:sld>
</file>

<file path=ppt/slides/slide3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51C83EFF-DD6B-4D5E-9C0E-CBD003A42C6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C85D178E-E87C-4EAA-A0AE-6A29C370F00D}"/>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Complete the calculator in two lines.</a:t>
            </a:r>
          </a:p>
        </p:txBody>
      </p:sp>
      <p:sp>
        <p:nvSpPr>
          <p:cNvPr id="3" name="shape">
            <a:extLst xmlns:a="http://schemas.openxmlformats.org/drawingml/2006/main">
              <a:ext uri="{FF2B5EF4-FFF2-40B4-BE49-F238E27FC236}">
                <a16:creationId xmlns:a16="http://schemas.microsoft.com/office/drawing/2014/main" id="{7620AD17-A449-4B1A-8F13-648EBE30CD40}"/>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DB0E71D8-26F4-46EE-88E5-6B008D8911B1}"/>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cash_needed = UNITS * UNIT_COST + OTHER_LAUNCH_COSTS</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funding_gap = max(0, cash_needed - BUDGET)</a:t>
            </a:r>
          </a:p>
        </p:txBody>
      </p:sp>
      <p:sp>
        <p:nvSpPr>
          <p:cNvPr id="5" name="text">
            <a:extLst xmlns:a="http://schemas.openxmlformats.org/drawingml/2006/main">
              <a:ext uri="{FF2B5EF4-FFF2-40B4-BE49-F238E27FC236}">
                <a16:creationId xmlns:a16="http://schemas.microsoft.com/office/drawing/2014/main" id="{F8029BF0-7C3A-440A-8C20-416A25BD1B45}"/>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max(0, …) means a surplus is not reported as a negative funding gap.</a:t>
            </a:r>
          </a:p>
        </p:txBody>
      </p:sp>
      <p:sp>
        <p:nvSpPr>
          <p:cNvPr id="6" name="shape">
            <a:extLst xmlns:a="http://schemas.openxmlformats.org/drawingml/2006/main">
              <a:ext uri="{FF2B5EF4-FFF2-40B4-BE49-F238E27FC236}">
                <a16:creationId xmlns:a16="http://schemas.microsoft.com/office/drawing/2014/main" id="{1B9C65F0-5078-4E2B-ADF1-91B0585D38B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22807FA-51B7-4D37-9D41-41B1F71077C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FF9B5AB0-85EE-4A3E-AB8C-2C6AC50C8FAF}"/>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9" name="text">
            <a:extLst xmlns:a="http://schemas.openxmlformats.org/drawingml/2006/main">
              <a:ext uri="{FF2B5EF4-FFF2-40B4-BE49-F238E27FC236}">
                <a16:creationId xmlns:a16="http://schemas.microsoft.com/office/drawing/2014/main" id="{98D81D38-6031-46EC-B56C-5D1ECEF359B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32</a:t>
            </a:r>
          </a:p>
        </p:txBody>
      </p:sp>
    </p:spTree>
    <p:extLst>
      <p:ext uri="{BB962C8B-B14F-4D97-AF65-F5344CB8AC3E}">
        <p14:creationId xmlns:p14="http://schemas.microsoft.com/office/powerpoint/2010/main" val="2010212723"/>
      </p:ext>
    </p:extLst>
  </p:cSld>
</p:sld>
</file>

<file path=ppt/slides/slide3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0A69FA2F-44CA-4945-A49F-ACB96A2796D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16C8B106-A2ED-4E0F-95B7-196D24E7E22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@tool gives the calculator a clear label.</a:t>
            </a:r>
          </a:p>
        </p:txBody>
      </p:sp>
      <p:sp>
        <p:nvSpPr>
          <p:cNvPr id="3" name="shape">
            <a:extLst xmlns:a="http://schemas.openxmlformats.org/drawingml/2006/main">
              <a:ext uri="{FF2B5EF4-FFF2-40B4-BE49-F238E27FC236}">
                <a16:creationId xmlns:a16="http://schemas.microsoft.com/office/drawing/2014/main" id="{AB4BF448-8A8A-4B29-A049-BD24B5AC8C5D}"/>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8066B0F0-3CB1-49C6-BE35-B218C07522C2}"/>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@tool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def estimate_launch_cash() -&gt; dict: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"""Calculate launch cash and compare the budget."""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cash_needed = UNITS * UNIT_COST + OTHER_LAUNCH_COSTS</a:t>
            </a:r>
          </a:p>
        </p:txBody>
      </p:sp>
      <p:sp>
        <p:nvSpPr>
          <p:cNvPr id="5" name="text">
            <a:extLst xmlns:a="http://schemas.openxmlformats.org/drawingml/2006/main">
              <a:ext uri="{FF2B5EF4-FFF2-40B4-BE49-F238E27FC236}">
                <a16:creationId xmlns:a16="http://schemas.microsoft.com/office/drawing/2014/main" id="{D578873F-E833-4707-908C-9C844213228D}"/>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 named function becomes a capability the agent may call.</a:t>
            </a:r>
          </a:p>
        </p:txBody>
      </p:sp>
      <p:sp>
        <p:nvSpPr>
          <p:cNvPr id="6" name="shape">
            <a:extLst xmlns:a="http://schemas.openxmlformats.org/drawingml/2006/main">
              <a:ext uri="{FF2B5EF4-FFF2-40B4-BE49-F238E27FC236}">
                <a16:creationId xmlns:a16="http://schemas.microsoft.com/office/drawing/2014/main" id="{63E3241C-B561-4ABE-B459-95C9D4ECC5B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052FC188-EBE2-4774-BDF8-AF6997569B4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8245B264-0861-4DB1-A707-714D7FA3438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33</a:t>
            </a:r>
          </a:p>
        </p:txBody>
      </p:sp>
    </p:spTree>
    <p:extLst>
      <p:ext uri="{BB962C8B-B14F-4D97-AF65-F5344CB8AC3E}">
        <p14:creationId xmlns:p14="http://schemas.microsoft.com/office/powerpoint/2010/main" val="1972654027"/>
      </p:ext>
    </p:extLst>
  </p:cSld>
</p:sld>
</file>

<file path=ppt/slides/slide3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BE2D83DC-8929-4669-8E4C-D72C3207761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64B16BD6-D26F-4039-B645-67CA98FD52C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create_agent connects the working parts.</a:t>
            </a:r>
          </a:p>
        </p:txBody>
      </p:sp>
      <p:sp>
        <p:nvSpPr>
          <p:cNvPr id="3" name="shape">
            <a:extLst xmlns:a="http://schemas.openxmlformats.org/drawingml/2006/main">
              <a:ext uri="{FF2B5EF4-FFF2-40B4-BE49-F238E27FC236}">
                <a16:creationId xmlns:a16="http://schemas.microsoft.com/office/drawing/2014/main" id="{28B763D5-6EF7-41DC-B5CE-5E7CEC8BB4F3}"/>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3D2233A9-2294-423C-825E-5DE3A118791F}"/>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agent = create_agent(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model=WorkshopModel(),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tools=[estimate_launch_cash],</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system_prompt="Use the cash tool. A human decides.",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t>
            </a:r>
          </a:p>
        </p:txBody>
      </p:sp>
      <p:sp>
        <p:nvSpPr>
          <p:cNvPr id="5" name="text">
            <a:extLst xmlns:a="http://schemas.openxmlformats.org/drawingml/2006/main">
              <a:ext uri="{FF2B5EF4-FFF2-40B4-BE49-F238E27FC236}">
                <a16:creationId xmlns:a16="http://schemas.microsoft.com/office/drawing/2014/main" id="{BC7118D3-6AFB-4ABA-8F9F-2B56FE75C0DA}"/>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WorkshopModel is deliberately scripted. No AI service is contacted.</a:t>
            </a:r>
          </a:p>
        </p:txBody>
      </p:sp>
      <p:sp>
        <p:nvSpPr>
          <p:cNvPr id="6" name="shape">
            <a:extLst xmlns:a="http://schemas.openxmlformats.org/drawingml/2006/main">
              <a:ext uri="{FF2B5EF4-FFF2-40B4-BE49-F238E27FC236}">
                <a16:creationId xmlns:a16="http://schemas.microsoft.com/office/drawing/2014/main" id="{1DEB65D2-3C90-4E9A-BEA6-4FB7035035E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B838DD3-1B61-48A0-A0D9-AB34BFCA6E2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DB0C56CC-2212-4461-9C5E-C13329C151E3}"/>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9" name="text">
            <a:extLst xmlns:a="http://schemas.openxmlformats.org/drawingml/2006/main">
              <a:ext uri="{FF2B5EF4-FFF2-40B4-BE49-F238E27FC236}">
                <a16:creationId xmlns:a16="http://schemas.microsoft.com/office/drawing/2014/main" id="{9BD3B641-0F9E-4612-BA3D-DC14A55AE49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34</a:t>
            </a:r>
          </a:p>
        </p:txBody>
      </p:sp>
    </p:spTree>
    <p:extLst>
      <p:ext uri="{BB962C8B-B14F-4D97-AF65-F5344CB8AC3E}">
        <p14:creationId xmlns:p14="http://schemas.microsoft.com/office/powerpoint/2010/main" val="419643958"/>
      </p:ext>
    </p:extLst>
  </p:cSld>
</p:sld>
</file>

<file path=ppt/slides/slide3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618CBE94-52F1-4003-B2D2-862DC9A97D5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360491F6-71C1-4D92-AA38-13C062DE129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invoke starts one conversation turn.</a:t>
            </a:r>
          </a:p>
        </p:txBody>
      </p:sp>
      <p:sp>
        <p:nvSpPr>
          <p:cNvPr id="3" name="shape">
            <a:extLst xmlns:a="http://schemas.openxmlformats.org/drawingml/2006/main">
              <a:ext uri="{FF2B5EF4-FFF2-40B4-BE49-F238E27FC236}">
                <a16:creationId xmlns:a16="http://schemas.microsoft.com/office/drawing/2014/main" id="{402C7FE4-A4F6-4787-BEFF-E17C956EA643}"/>
              </a:ext>
            </a:extLst>
          </p:cNvPr>
          <p:cNvSpPr>
            <a:spLocks xmlns:a="http://schemas.openxmlformats.org/drawingml/2006/main" noGrp="1"/>
          </p:cNvSpPr>
          <p:nvPr/>
        </p:nvSpPr>
        <p:spPr>
          <a:xfrm xmlns:a="http://schemas.openxmlformats.org/drawingml/2006/main">
            <a:off x="609600" y="2143125"/>
            <a:ext cx="10972800" cy="24955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A3AF8173-7589-4DC8-8233-2B935D7DA962}"/>
              </a:ext>
            </a:extLst>
          </p:cNvPr>
          <p:cNvSpPr>
            <a:spLocks xmlns:a="http://schemas.openxmlformats.org/drawingml/2006/main" noGrp="1"/>
          </p:cNvSpPr>
          <p:nvPr/>
        </p:nvSpPr>
        <p:spPr>
          <a:xfrm xmlns:a="http://schemas.openxmlformats.org/drawingml/2006/main">
            <a:off x="857250" y="2333625"/>
            <a:ext cx="10477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result = agent.invoke({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"messages":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"role": "user",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"content": "Check the launch budget."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print(result["messages"][-1].content)</a:t>
            </a:r>
          </a:p>
        </p:txBody>
      </p:sp>
      <p:sp>
        <p:nvSpPr>
          <p:cNvPr id="5" name="text">
            <a:extLst xmlns:a="http://schemas.openxmlformats.org/drawingml/2006/main">
              <a:ext uri="{FF2B5EF4-FFF2-40B4-BE49-F238E27FC236}">
                <a16:creationId xmlns:a16="http://schemas.microsoft.com/office/drawing/2014/main" id="{4647A96C-4468-4770-AA05-B7BCF143ED0D}"/>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messages is the conversation. [-1] selects its final message.</a:t>
            </a:r>
          </a:p>
        </p:txBody>
      </p:sp>
      <p:sp>
        <p:nvSpPr>
          <p:cNvPr id="6" name="shape">
            <a:extLst xmlns:a="http://schemas.openxmlformats.org/drawingml/2006/main">
              <a:ext uri="{FF2B5EF4-FFF2-40B4-BE49-F238E27FC236}">
                <a16:creationId xmlns:a16="http://schemas.microsoft.com/office/drawing/2014/main" id="{0B39D3FA-119C-4F5B-92E4-F1B0067B874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392D388C-A06B-4A00-AE98-107F41D3B11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29C0C7B6-D1A8-438E-8D71-DC62552B54E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35</a:t>
            </a:r>
          </a:p>
        </p:txBody>
      </p:sp>
    </p:spTree>
    <p:extLst>
      <p:ext uri="{BB962C8B-B14F-4D97-AF65-F5344CB8AC3E}">
        <p14:creationId xmlns:p14="http://schemas.microsoft.com/office/powerpoint/2010/main" val="1433141107"/>
      </p:ext>
    </p:extLst>
  </p:cSld>
</p:sld>
</file>

<file path=ppt/slides/slide3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AD5DFAB7-6EDA-4BC7-852B-CF8ECBCC1C4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CHECKPOINT 2</a:t>
            </a:r>
          </a:p>
        </p:txBody>
      </p:sp>
      <p:sp>
        <p:nvSpPr>
          <p:cNvPr id="2" name="text">
            <a:extLst xmlns:a="http://schemas.openxmlformats.org/drawingml/2006/main">
              <a:ext uri="{FF2B5EF4-FFF2-40B4-BE49-F238E27FC236}">
                <a16:creationId xmlns:a16="http://schemas.microsoft.com/office/drawing/2014/main" id="{72409C10-0A5B-460D-A4C4-A54115730C2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Run your first agent and check the result.</a:t>
            </a:r>
          </a:p>
        </p:txBody>
      </p:sp>
      <p:sp>
        <p:nvSpPr>
          <p:cNvPr id="3" name="shape">
            <a:extLst xmlns:a="http://schemas.openxmlformats.org/drawingml/2006/main">
              <a:ext uri="{FF2B5EF4-FFF2-40B4-BE49-F238E27FC236}">
                <a16:creationId xmlns:a16="http://schemas.microsoft.com/office/drawing/2014/main" id="{37D7BFA2-2E74-4DE8-8FC2-95D09627EDE7}"/>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D28F2987-30B4-4349-8450-630F3DB32825}"/>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python workshop/first_agent_starter.py</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Expected result after completing the blanks: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"cash_needed_inr": 2400000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"funding_gap_inr": 0</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"recommendation": "REVIEW WITH A HUMAN"</a:t>
            </a:r>
          </a:p>
        </p:txBody>
      </p:sp>
      <p:sp>
        <p:nvSpPr>
          <p:cNvPr id="5" name="shape">
            <a:extLst xmlns:a="http://schemas.openxmlformats.org/drawingml/2006/main">
              <a:ext uri="{FF2B5EF4-FFF2-40B4-BE49-F238E27FC236}">
                <a16:creationId xmlns:a16="http://schemas.microsoft.com/office/drawing/2014/main" id="{002055E1-21DF-4640-8608-3FCFF2B046BC}"/>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A29E68A-A085-40A0-8E67-7F3EB202256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7" name="text">
            <a:extLst xmlns:a="http://schemas.openxmlformats.org/drawingml/2006/main">
              <a:ext uri="{FF2B5EF4-FFF2-40B4-BE49-F238E27FC236}">
                <a16:creationId xmlns:a16="http://schemas.microsoft.com/office/drawing/2014/main" id="{2D456D08-7287-4910-8512-CF80206C5787}"/>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8" name="text">
            <a:extLst xmlns:a="http://schemas.openxmlformats.org/drawingml/2006/main">
              <a:ext uri="{FF2B5EF4-FFF2-40B4-BE49-F238E27FC236}">
                <a16:creationId xmlns:a16="http://schemas.microsoft.com/office/drawing/2014/main" id="{D5B1D3F9-01CA-4792-BE32-5552E6C56FD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36</a:t>
            </a:r>
          </a:p>
        </p:txBody>
      </p:sp>
    </p:spTree>
    <p:extLst>
      <p:ext uri="{BB962C8B-B14F-4D97-AF65-F5344CB8AC3E}">
        <p14:creationId xmlns:p14="http://schemas.microsoft.com/office/powerpoint/2010/main" val="1069767910"/>
      </p:ext>
    </p:extLst>
  </p:cSld>
</p:sld>
</file>

<file path=ppt/slides/slide3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2976700C-F61B-4872-8D8C-E44A58D5A96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BD6E9B70-D4B1-47E1-A23B-6A82AF85127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Change one number. Predict before you run.</a:t>
            </a:r>
          </a:p>
        </p:txBody>
      </p:sp>
      <p:sp>
        <p:nvSpPr>
          <p:cNvPr id="3" name="text">
            <a:extLst xmlns:a="http://schemas.openxmlformats.org/drawingml/2006/main">
              <a:ext uri="{FF2B5EF4-FFF2-40B4-BE49-F238E27FC236}">
                <a16:creationId xmlns:a16="http://schemas.microsoft.com/office/drawing/2014/main" id="{59451F9D-B9AD-4DFA-9810-220DC64E93CA}"/>
              </a:ext>
            </a:extLst>
          </p:cNvPr>
          <p:cNvSpPr>
            <a:spLocks xmlns:a="http://schemas.openxmlformats.org/drawingml/2006/main" noGrp="1"/>
          </p:cNvSpPr>
          <p:nvPr/>
        </p:nvSpPr>
        <p:spPr>
          <a:xfrm xmlns:a="http://schemas.openxmlformats.org/drawingml/2006/main">
            <a:off x="60960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 · START</a:t>
            </a:r>
          </a:p>
        </p:txBody>
      </p:sp>
      <p:sp>
        <p:nvSpPr>
          <p:cNvPr id="4" name="text">
            <a:extLst xmlns:a="http://schemas.openxmlformats.org/drawingml/2006/main">
              <a:ext uri="{FF2B5EF4-FFF2-40B4-BE49-F238E27FC236}">
                <a16:creationId xmlns:a16="http://schemas.microsoft.com/office/drawing/2014/main" id="{C498B8CD-E0FC-4321-BD0B-C7D9784A525E}"/>
              </a:ext>
            </a:extLst>
          </p:cNvPr>
          <p:cNvSpPr>
            <a:spLocks xmlns:a="http://schemas.openxmlformats.org/drawingml/2006/main" noGrp="1"/>
          </p:cNvSpPr>
          <p:nvPr/>
        </p:nvSpPr>
        <p:spPr>
          <a:xfrm xmlns:a="http://schemas.openxmlformats.org/drawingml/2006/main">
            <a:off x="60960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Budget ₹18 lakh</a:t>
            </a:r>
          </a:p>
        </p:txBody>
      </p:sp>
      <p:sp>
        <p:nvSpPr>
          <p:cNvPr id="5" name="text">
            <a:extLst xmlns:a="http://schemas.openxmlformats.org/drawingml/2006/main">
              <a:ext uri="{FF2B5EF4-FFF2-40B4-BE49-F238E27FC236}">
                <a16:creationId xmlns:a16="http://schemas.microsoft.com/office/drawing/2014/main" id="{8D8F8697-6ED8-47C8-AF3F-13C47775E350}"/>
              </a:ext>
            </a:extLst>
          </p:cNvPr>
          <p:cNvSpPr>
            <a:spLocks xmlns:a="http://schemas.openxmlformats.org/drawingml/2006/main" noGrp="1"/>
          </p:cNvSpPr>
          <p:nvPr/>
        </p:nvSpPr>
        <p:spPr>
          <a:xfrm xmlns:a="http://schemas.openxmlformats.org/drawingml/2006/main">
            <a:off x="4314825"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 · CHANGE</a:t>
            </a:r>
          </a:p>
        </p:txBody>
      </p:sp>
      <p:sp>
        <p:nvSpPr>
          <p:cNvPr id="6" name="text">
            <a:extLst xmlns:a="http://schemas.openxmlformats.org/drawingml/2006/main">
              <a:ext uri="{FF2B5EF4-FFF2-40B4-BE49-F238E27FC236}">
                <a16:creationId xmlns:a16="http://schemas.microsoft.com/office/drawing/2014/main" id="{73D523D8-A3DE-4537-8CCF-C48868F8C588}"/>
              </a:ext>
            </a:extLst>
          </p:cNvPr>
          <p:cNvSpPr>
            <a:spLocks xmlns:a="http://schemas.openxmlformats.org/drawingml/2006/main" noGrp="1"/>
          </p:cNvSpPr>
          <p:nvPr/>
        </p:nvSpPr>
        <p:spPr>
          <a:xfrm xmlns:a="http://schemas.openxmlformats.org/drawingml/2006/main">
            <a:off x="4314825"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Cash = ₹24 lakh</a:t>
            </a:r>
          </a:p>
        </p:txBody>
      </p:sp>
      <p:sp>
        <p:nvSpPr>
          <p:cNvPr id="7" name="text">
            <a:extLst xmlns:a="http://schemas.openxmlformats.org/drawingml/2006/main">
              <a:ext uri="{FF2B5EF4-FFF2-40B4-BE49-F238E27FC236}">
                <a16:creationId xmlns:a16="http://schemas.microsoft.com/office/drawing/2014/main" id="{0F8A7418-C2B4-427A-A97C-1E4F3BC294D1}"/>
              </a:ext>
            </a:extLst>
          </p:cNvPr>
          <p:cNvSpPr>
            <a:spLocks xmlns:a="http://schemas.openxmlformats.org/drawingml/2006/main" noGrp="1"/>
          </p:cNvSpPr>
          <p:nvPr/>
        </p:nvSpPr>
        <p:spPr>
          <a:xfrm xmlns:a="http://schemas.openxmlformats.org/drawingml/2006/main">
            <a:off x="802005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 · CHECK</a:t>
            </a:r>
          </a:p>
        </p:txBody>
      </p:sp>
      <p:sp>
        <p:nvSpPr>
          <p:cNvPr id="8" name="text">
            <a:extLst xmlns:a="http://schemas.openxmlformats.org/drawingml/2006/main">
              <a:ext uri="{FF2B5EF4-FFF2-40B4-BE49-F238E27FC236}">
                <a16:creationId xmlns:a16="http://schemas.microsoft.com/office/drawing/2014/main" id="{4E365171-B5AC-46A7-B55D-99B58BF9866D}"/>
              </a:ext>
            </a:extLst>
          </p:cNvPr>
          <p:cNvSpPr>
            <a:spLocks xmlns:a="http://schemas.openxmlformats.org/drawingml/2006/main" noGrp="1"/>
          </p:cNvSpPr>
          <p:nvPr/>
        </p:nvSpPr>
        <p:spPr>
          <a:xfrm xmlns:a="http://schemas.openxmlformats.org/drawingml/2006/main">
            <a:off x="802005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Gap = ₹6 lakh</a:t>
            </a:r>
          </a:p>
        </p:txBody>
      </p:sp>
      <p:sp>
        <p:nvSpPr>
          <p:cNvPr id="9" name="text">
            <a:extLst xmlns:a="http://schemas.openxmlformats.org/drawingml/2006/main">
              <a:ext uri="{FF2B5EF4-FFF2-40B4-BE49-F238E27FC236}">
                <a16:creationId xmlns:a16="http://schemas.microsoft.com/office/drawing/2014/main" id="{5FEA5706-473B-48B9-87E0-0C770E02BB30}"/>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Set BUDGET = 1_800_000 in the starter, save, then rerun. Expected: HOLD.</a:t>
            </a:r>
          </a:p>
        </p:txBody>
      </p:sp>
      <p:sp>
        <p:nvSpPr>
          <p:cNvPr id="10" name="shape">
            <a:extLst xmlns:a="http://schemas.openxmlformats.org/drawingml/2006/main">
              <a:ext uri="{FF2B5EF4-FFF2-40B4-BE49-F238E27FC236}">
                <a16:creationId xmlns:a16="http://schemas.microsoft.com/office/drawing/2014/main" id="{71068CA6-C76F-4B5C-8229-275555289D8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58EF892-5BE0-47F2-A033-88466B085D7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E02471E4-5F9B-49E7-83E7-7074C6B9B2E8}"/>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3" name="text">
            <a:extLst xmlns:a="http://schemas.openxmlformats.org/drawingml/2006/main">
              <a:ext uri="{FF2B5EF4-FFF2-40B4-BE49-F238E27FC236}">
                <a16:creationId xmlns:a16="http://schemas.microsoft.com/office/drawing/2014/main" id="{FFBCF6DF-E018-4E62-B86B-585C66CDEF8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37</a:t>
            </a:r>
          </a:p>
        </p:txBody>
      </p:sp>
    </p:spTree>
    <p:extLst>
      <p:ext uri="{BB962C8B-B14F-4D97-AF65-F5344CB8AC3E}">
        <p14:creationId xmlns:p14="http://schemas.microsoft.com/office/powerpoint/2010/main" val="41405905"/>
      </p:ext>
    </p:extLst>
  </p:cSld>
</p:sld>
</file>

<file path=ppt/slides/slide3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9B4DF7D9-2B28-4212-A154-09C4B10D3D7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BUILD ALONG</a:t>
            </a:r>
          </a:p>
        </p:txBody>
      </p:sp>
      <p:sp>
        <p:nvSpPr>
          <p:cNvPr id="2" name="text">
            <a:extLst xmlns:a="http://schemas.openxmlformats.org/drawingml/2006/main">
              <a:ext uri="{FF2B5EF4-FFF2-40B4-BE49-F238E27FC236}">
                <a16:creationId xmlns:a16="http://schemas.microsoft.com/office/drawing/2014/main" id="{81833A1E-09DB-4391-A2BF-D88EF9F320C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The tiny lab and the full app are separate.</a:t>
            </a:r>
          </a:p>
        </p:txBody>
      </p:sp>
      <p:sp>
        <p:nvSpPr>
          <p:cNvPr id="3" name="text">
            <a:extLst xmlns:a="http://schemas.openxmlformats.org/drawingml/2006/main">
              <a:ext uri="{FF2B5EF4-FFF2-40B4-BE49-F238E27FC236}">
                <a16:creationId xmlns:a16="http://schemas.microsoft.com/office/drawing/2014/main" id="{E61BFEDA-A549-419F-93D0-2611FFE33B19}"/>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FIRST-AGENT LAB</a:t>
            </a:r>
          </a:p>
        </p:txBody>
      </p:sp>
      <p:sp>
        <p:nvSpPr>
          <p:cNvPr id="4" name="text">
            <a:extLst xmlns:a="http://schemas.openxmlformats.org/drawingml/2006/main">
              <a:ext uri="{FF2B5EF4-FFF2-40B4-BE49-F238E27FC236}">
                <a16:creationId xmlns:a16="http://schemas.microsoft.com/office/drawing/2014/main" id="{0098699E-22E8-4759-9517-41153B38B908}"/>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FULL COMMAND CENTER</a:t>
            </a:r>
          </a:p>
        </p:txBody>
      </p:sp>
      <p:sp>
        <p:nvSpPr>
          <p:cNvPr id="5" name="shape">
            <a:extLst xmlns:a="http://schemas.openxmlformats.org/drawingml/2006/main">
              <a:ext uri="{FF2B5EF4-FFF2-40B4-BE49-F238E27FC236}">
                <a16:creationId xmlns:a16="http://schemas.microsoft.com/office/drawing/2014/main" id="{2CECD469-B0A9-49C6-B398-D9405E5EDBE1}"/>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96DC8B5-8CF5-43E5-94DF-24FEFC3217A3}"/>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workshop/first_agent_starter.py</a:t>
            </a:r>
          </a:p>
        </p:txBody>
      </p:sp>
      <p:sp>
        <p:nvSpPr>
          <p:cNvPr id="7" name="text">
            <a:extLst xmlns:a="http://schemas.openxmlformats.org/drawingml/2006/main">
              <a:ext uri="{FF2B5EF4-FFF2-40B4-BE49-F238E27FC236}">
                <a16:creationId xmlns:a16="http://schemas.microsoft.com/office/drawing/2014/main" id="{AB94EB30-CFD0-4FBD-9A56-FF854E7CA4B6}"/>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src/agentforge_jarvis/</a:t>
            </a:r>
          </a:p>
        </p:txBody>
      </p:sp>
      <p:sp>
        <p:nvSpPr>
          <p:cNvPr id="8" name="shape">
            <a:extLst xmlns:a="http://schemas.openxmlformats.org/drawingml/2006/main">
              <a:ext uri="{FF2B5EF4-FFF2-40B4-BE49-F238E27FC236}">
                <a16:creationId xmlns:a16="http://schemas.microsoft.com/office/drawing/2014/main" id="{894CE028-2D1B-410F-AA8A-FB82D9ABB99C}"/>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E391E842-9308-46CF-8748-B93A27EF7F75}"/>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One cash tool</a:t>
            </a:r>
          </a:p>
        </p:txBody>
      </p:sp>
      <p:sp>
        <p:nvSpPr>
          <p:cNvPr id="10" name="text">
            <a:extLst xmlns:a="http://schemas.openxmlformats.org/drawingml/2006/main">
              <a:ext uri="{FF2B5EF4-FFF2-40B4-BE49-F238E27FC236}">
                <a16:creationId xmlns:a16="http://schemas.microsoft.com/office/drawing/2014/main" id="{69E0FF80-5548-4932-99CB-E896E30F5928}"/>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Six domain tools and shared reports</a:t>
            </a:r>
          </a:p>
        </p:txBody>
      </p:sp>
      <p:sp>
        <p:nvSpPr>
          <p:cNvPr id="11" name="shape">
            <a:extLst xmlns:a="http://schemas.openxmlformats.org/drawingml/2006/main">
              <a:ext uri="{FF2B5EF4-FFF2-40B4-BE49-F238E27FC236}">
                <a16:creationId xmlns:a16="http://schemas.microsoft.com/office/drawing/2014/main" id="{0113302D-AF2C-41E8-9508-941815CE2879}"/>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E64AB75-6472-4E94-A670-7B40258A1A36}"/>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Edit Python constants</a:t>
            </a:r>
          </a:p>
        </p:txBody>
      </p:sp>
      <p:sp>
        <p:nvSpPr>
          <p:cNvPr id="13" name="text">
            <a:extLst xmlns:a="http://schemas.openxmlformats.org/drawingml/2006/main">
              <a:ext uri="{FF2B5EF4-FFF2-40B4-BE49-F238E27FC236}">
                <a16:creationId xmlns:a16="http://schemas.microsoft.com/office/drawing/2014/main" id="{552C8AF8-481D-478E-BA0D-C0DC891BC10D}"/>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Edit the shared scenario in the UI</a:t>
            </a:r>
          </a:p>
        </p:txBody>
      </p:sp>
      <p:sp>
        <p:nvSpPr>
          <p:cNvPr id="14" name="shape">
            <a:extLst xmlns:a="http://schemas.openxmlformats.org/drawingml/2006/main">
              <a:ext uri="{FF2B5EF4-FFF2-40B4-BE49-F238E27FC236}">
                <a16:creationId xmlns:a16="http://schemas.microsoft.com/office/drawing/2014/main" id="{090A25CF-D547-4D00-9DC0-E4562F1ED65D}"/>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F87B251-243C-431D-AEED-06F9020CB251}"/>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Run a terminal command</a:t>
            </a:r>
          </a:p>
        </p:txBody>
      </p:sp>
      <p:sp>
        <p:nvSpPr>
          <p:cNvPr id="16" name="text">
            <a:extLst xmlns:a="http://schemas.openxmlformats.org/drawingml/2006/main">
              <a:ext uri="{FF2B5EF4-FFF2-40B4-BE49-F238E27FC236}">
                <a16:creationId xmlns:a16="http://schemas.microsoft.com/office/drawing/2014/main" id="{4FAB3187-339A-4A11-8D10-B43B0DB19701}"/>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Run specialists or the complete swarm</a:t>
            </a:r>
          </a:p>
        </p:txBody>
      </p:sp>
      <p:sp>
        <p:nvSpPr>
          <p:cNvPr id="17" name="shape">
            <a:extLst xmlns:a="http://schemas.openxmlformats.org/drawingml/2006/main">
              <a:ext uri="{FF2B5EF4-FFF2-40B4-BE49-F238E27FC236}">
                <a16:creationId xmlns:a16="http://schemas.microsoft.com/office/drawing/2014/main" id="{CBC3AF03-75DF-4E79-87C6-DF67962E95B5}"/>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shape">
            <a:extLst xmlns:a="http://schemas.openxmlformats.org/drawingml/2006/main">
              <a:ext uri="{FF2B5EF4-FFF2-40B4-BE49-F238E27FC236}">
                <a16:creationId xmlns:a16="http://schemas.microsoft.com/office/drawing/2014/main" id="{4919AF97-ECA5-4A7B-93A8-295E98B52AE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B5DC8437-050A-49E4-8D7C-048AF369677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0" name="text">
            <a:extLst xmlns:a="http://schemas.openxmlformats.org/drawingml/2006/main">
              <a:ext uri="{FF2B5EF4-FFF2-40B4-BE49-F238E27FC236}">
                <a16:creationId xmlns:a16="http://schemas.microsoft.com/office/drawing/2014/main" id="{5BFB4787-C7FA-42B3-B5E5-0188C946E7F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38</a:t>
            </a:r>
          </a:p>
        </p:txBody>
      </p:sp>
    </p:spTree>
    <p:extLst>
      <p:ext uri="{BB962C8B-B14F-4D97-AF65-F5344CB8AC3E}">
        <p14:creationId xmlns:p14="http://schemas.microsoft.com/office/powerpoint/2010/main" val="1579037126"/>
      </p:ext>
    </p:extLst>
  </p:cSld>
</p:sld>
</file>

<file path=ppt/slides/slide3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0DF2F4BA-419C-4E5F-97BA-0F004365E5F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BC52C9DC-21F1-4A78-A7E3-1CDFED4EBE1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Build the agent blueprint before tuning it.</a:t>
            </a:r>
          </a:p>
        </p:txBody>
      </p:sp>
      <p:sp>
        <p:nvSpPr>
          <p:cNvPr id="3" name="flow-node">
            <a:extLst xmlns:a="http://schemas.openxmlformats.org/drawingml/2006/main">
              <a:ext uri="{FF2B5EF4-FFF2-40B4-BE49-F238E27FC236}">
                <a16:creationId xmlns:a16="http://schemas.microsoft.com/office/drawing/2014/main" id="{B894DFAE-DAF4-49D1-8FB9-815CC083ED6A}"/>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Select a specialist</a:t>
            </a:r>
          </a:p>
        </p:txBody>
      </p:sp>
      <p:sp>
        <p:nvSpPr>
          <p:cNvPr id="4" name="flow-node">
            <a:extLst xmlns:a="http://schemas.openxmlformats.org/drawingml/2006/main">
              <a:ext uri="{FF2B5EF4-FFF2-40B4-BE49-F238E27FC236}">
                <a16:creationId xmlns:a16="http://schemas.microsoft.com/office/drawing/2014/main" id="{8D681D0C-155F-4D62-A5C7-27AAB5D5699F}"/>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Agent blueprint</a:t>
            </a:r>
          </a:p>
        </p:txBody>
      </p:sp>
      <p:sp>
        <p:nvSpPr>
          <p:cNvPr id="5" name="flow-node">
            <a:extLst xmlns:a="http://schemas.openxmlformats.org/drawingml/2006/main">
              <a:ext uri="{FF2B5EF4-FFF2-40B4-BE49-F238E27FC236}">
                <a16:creationId xmlns:a16="http://schemas.microsoft.com/office/drawing/2014/main" id="{1747ED8C-9F18-44DE-AA83-1C53B8222B92}"/>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Review its contract</a:t>
            </a:r>
          </a:p>
        </p:txBody>
      </p:sp>
      <p:sp>
        <p:nvSpPr>
          <p:cNvPr id="6" name="flow-node">
            <a:extLst xmlns:a="http://schemas.openxmlformats.org/drawingml/2006/main">
              <a:ext uri="{FF2B5EF4-FFF2-40B4-BE49-F238E27FC236}">
                <a16:creationId xmlns:a16="http://schemas.microsoft.com/office/drawing/2014/main" id="{D44AC52D-31A9-439D-A8BF-FF0257B38D7E}"/>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instructions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908C3C1A-A608-459D-A7FF-D1370A8B86AC}"/>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In rehearsal, instructions are saved; calculation changes come from inputs or tools.</a:t>
            </a:r>
          </a:p>
        </p:txBody>
      </p:sp>
      <p:sp>
        <p:nvSpPr>
          <p:cNvPr id="11" name="shape">
            <a:extLst xmlns:a="http://schemas.openxmlformats.org/drawingml/2006/main">
              <a:ext uri="{FF2B5EF4-FFF2-40B4-BE49-F238E27FC236}">
                <a16:creationId xmlns:a16="http://schemas.microsoft.com/office/drawing/2014/main" id="{24B18031-C411-4FAD-8462-B6E012AAD12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A69CDE5-BC18-4748-AE79-04CABB614BC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D8690164-3ECF-4283-8BE5-1E66B2F64B2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39</a:t>
            </a:r>
          </a:p>
        </p:txBody>
      </p:sp>
    </p:spTree>
    <p:extLst>
      <p:ext uri="{BB962C8B-B14F-4D97-AF65-F5344CB8AC3E}">
        <p14:creationId xmlns:p14="http://schemas.microsoft.com/office/powerpoint/2010/main" val="1888689241"/>
      </p:ext>
    </p:extLst>
  </p:cSld>
</p:sld>
</file>

<file path=ppt/slides/slide4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96D4AA4B-1D03-4EA1-AE04-CD1A00270C8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17CD2E45-EB5E-456A-9CD1-335C2A11800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Use a fresh baseline for every experiment.</a:t>
            </a:r>
          </a:p>
        </p:txBody>
      </p:sp>
      <p:sp>
        <p:nvSpPr>
          <p:cNvPr id="3" name="flow-node">
            <a:extLst xmlns:a="http://schemas.openxmlformats.org/drawingml/2006/main">
              <a:ext uri="{FF2B5EF4-FFF2-40B4-BE49-F238E27FC236}">
                <a16:creationId xmlns:a16="http://schemas.microsoft.com/office/drawing/2014/main" id="{D2912B92-8755-46B5-9FD0-733F921F8446}"/>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Select Baseline</a:t>
            </a:r>
          </a:p>
        </p:txBody>
      </p:sp>
      <p:sp>
        <p:nvSpPr>
          <p:cNvPr id="4" name="flow-node">
            <a:extLst xmlns:a="http://schemas.openxmlformats.org/drawingml/2006/main">
              <a:ext uri="{FF2B5EF4-FFF2-40B4-BE49-F238E27FC236}">
                <a16:creationId xmlns:a16="http://schemas.microsoft.com/office/drawing/2014/main" id="{D696E200-3725-4BAA-B54F-14B9D3CEDA01}"/>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Edit brief</a:t>
            </a:r>
          </a:p>
        </p:txBody>
      </p:sp>
      <p:sp>
        <p:nvSpPr>
          <p:cNvPr id="5" name="flow-node">
            <a:extLst xmlns:a="http://schemas.openxmlformats.org/drawingml/2006/main">
              <a:ext uri="{FF2B5EF4-FFF2-40B4-BE49-F238E27FC236}">
                <a16:creationId xmlns:a16="http://schemas.microsoft.com/office/drawing/2014/main" id="{DFA8083D-5B06-4E82-B48B-976C7ADA7E70}"/>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Change one field</a:t>
            </a:r>
          </a:p>
        </p:txBody>
      </p:sp>
      <p:sp>
        <p:nvSpPr>
          <p:cNvPr id="6" name="flow-node">
            <a:extLst xmlns:a="http://schemas.openxmlformats.org/drawingml/2006/main">
              <a:ext uri="{FF2B5EF4-FFF2-40B4-BE49-F238E27FC236}">
                <a16:creationId xmlns:a16="http://schemas.microsoft.com/office/drawing/2014/main" id="{3B00776C-8084-41AA-ADA8-BDE37E013FDC}"/>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Apply scenario</a:t>
            </a:r>
          </a:p>
        </p:txBody>
      </p:sp>
      <p:sp>
        <p:nvSpPr>
          <p:cNvPr id="7" name="flow-node">
            <a:extLst xmlns:a="http://schemas.openxmlformats.org/drawingml/2006/main">
              <a:ext uri="{FF2B5EF4-FFF2-40B4-BE49-F238E27FC236}">
                <a16:creationId xmlns:a16="http://schemas.microsoft.com/office/drawing/2014/main" id="{632F63E8-88A7-4939-A858-A54E663C1A72}"/>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Run &amp; inspect</a:t>
            </a:r>
          </a:p>
        </p:txBody>
      </p: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1F026200-4B41-4BCE-99E9-CCF8B07AD259}"/>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Restore examples/project-monsoon.json between experiments.</a:t>
            </a:r>
          </a:p>
        </p:txBody>
      </p:sp>
      <p:sp>
        <p:nvSpPr>
          <p:cNvPr id="13" name="shape">
            <a:extLst xmlns:a="http://schemas.openxmlformats.org/drawingml/2006/main">
              <a:ext uri="{FF2B5EF4-FFF2-40B4-BE49-F238E27FC236}">
                <a16:creationId xmlns:a16="http://schemas.microsoft.com/office/drawing/2014/main" id="{290F9914-DBF1-4F5A-A8DE-F786C929D2E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AB56477-04F1-4D03-A93F-6F474D98AED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BF375B38-C66B-4B63-9941-90E9D20498BC}"/>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6" name="text">
            <a:extLst xmlns:a="http://schemas.openxmlformats.org/drawingml/2006/main">
              <a:ext uri="{FF2B5EF4-FFF2-40B4-BE49-F238E27FC236}">
                <a16:creationId xmlns:a16="http://schemas.microsoft.com/office/drawing/2014/main" id="{8AE518EA-D669-44A9-84A9-5BDBDC61943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40</a:t>
            </a:r>
          </a:p>
        </p:txBody>
      </p:sp>
    </p:spTree>
    <p:extLst>
      <p:ext uri="{BB962C8B-B14F-4D97-AF65-F5344CB8AC3E}">
        <p14:creationId xmlns:p14="http://schemas.microsoft.com/office/powerpoint/2010/main" val="700266510"/>
      </p:ext>
    </p:extLst>
  </p:cSld>
</p:sld>
</file>

<file path=ppt/slides/slide4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3CFD5844-4874-4315-AACC-76ED4B9FE2E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4263DD99-DA35-470D-923E-2F3F8D6713A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PRISM turns counts into a useful signal.</a:t>
            </a:r>
          </a:p>
        </p:txBody>
      </p:sp>
      <p:sp>
        <p:nvSpPr>
          <p:cNvPr id="3" name="flow-node">
            <a:extLst xmlns:a="http://schemas.openxmlformats.org/drawingml/2006/main">
              <a:ext uri="{FF2B5EF4-FFF2-40B4-BE49-F238E27FC236}">
                <a16:creationId xmlns:a16="http://schemas.microsoft.com/office/drawing/2014/main" id="{4BEDA8FD-67F5-43FD-81FF-B691D7FBF579}"/>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Survey counts</a:t>
            </a:r>
          </a:p>
        </p:txBody>
      </p:sp>
      <p:sp>
        <p:nvSpPr>
          <p:cNvPr id="4" name="flow-node">
            <a:extLst xmlns:a="http://schemas.openxmlformats.org/drawingml/2006/main">
              <a:ext uri="{FF2B5EF4-FFF2-40B4-BE49-F238E27FC236}">
                <a16:creationId xmlns:a16="http://schemas.microsoft.com/office/drawing/2014/main" id="{63B5AC9E-D72C-4B45-9412-FF7CD1871BB6}"/>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Positive rate</a:t>
            </a:r>
          </a:p>
        </p:txBody>
      </p:sp>
      <p:sp>
        <p:nvSpPr>
          <p:cNvPr id="5" name="flow-node">
            <a:extLst xmlns:a="http://schemas.openxmlformats.org/drawingml/2006/main">
              <a:ext uri="{FF2B5EF4-FFF2-40B4-BE49-F238E27FC236}">
                <a16:creationId xmlns:a16="http://schemas.microsoft.com/office/drawing/2014/main" id="{0B9183F9-7183-4201-B968-AE107F0E98EF}"/>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Trend + limits</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7DCB8A5B-3F02-4953-9365-D10C564A81D3}"/>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8D3A67DD-BC9A-43A8-AD48-104C3347D458}"/>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Change signals[0].positive: 92 → 60.</a:t>
            </a:r>
          </a:p>
        </p:txBody>
      </p:sp>
      <p:sp>
        <p:nvSpPr>
          <p:cNvPr id="10" name="text">
            <a:extLst xmlns:a="http://schemas.openxmlformats.org/drawingml/2006/main">
              <a:ext uri="{FF2B5EF4-FFF2-40B4-BE49-F238E27FC236}">
                <a16:creationId xmlns:a16="http://schemas.microsoft.com/office/drawing/2014/main" id="{89022551-3445-426D-AB26-E0940892B725}"/>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8490AF03-2060-43C1-8D71-68683419DF63}"/>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PRISM with the baseline scenario.</a:t>
            </a:r>
          </a:p>
        </p:txBody>
      </p:sp>
      <p:sp>
        <p:nvSpPr>
          <p:cNvPr id="12" name="text">
            <a:extLst xmlns:a="http://schemas.openxmlformats.org/drawingml/2006/main">
              <a:ext uri="{FF2B5EF4-FFF2-40B4-BE49-F238E27FC236}">
                <a16:creationId xmlns:a16="http://schemas.microsoft.com/office/drawing/2014/main" id="{F2120B16-0804-4292-8CB6-C407062676AE}"/>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D2202ECB-99AE-4276-A74D-F5AA7CCA7D43}"/>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overall positive rate: 72.5% → 63.6%.</a:t>
            </a:r>
          </a:p>
        </p:txBody>
      </p:sp>
      <p:sp>
        <p:nvSpPr>
          <p:cNvPr id="14" name="text">
            <a:extLst xmlns:a="http://schemas.openxmlformats.org/drawingml/2006/main">
              <a:ext uri="{FF2B5EF4-FFF2-40B4-BE49-F238E27FC236}">
                <a16:creationId xmlns:a16="http://schemas.microsoft.com/office/drawing/2014/main" id="{69E12E5E-0171-4798-A388-2A039BAE31B2}"/>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Responses are not purchases. A sample is not the whole market.</a:t>
            </a:r>
          </a:p>
        </p:txBody>
      </p:sp>
      <p:sp>
        <p:nvSpPr>
          <p:cNvPr id="15" name="shape">
            <a:extLst xmlns:a="http://schemas.openxmlformats.org/drawingml/2006/main">
              <a:ext uri="{FF2B5EF4-FFF2-40B4-BE49-F238E27FC236}">
                <a16:creationId xmlns:a16="http://schemas.microsoft.com/office/drawing/2014/main" id="{2FA00DC0-C198-4926-A1FC-52D5CD8CF61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CCFFCD51-49E5-40EC-8A0E-1F763487609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6B171A46-139D-4D68-A485-574345EB0EC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41</a:t>
            </a:r>
          </a:p>
        </p:txBody>
      </p:sp>
    </p:spTree>
    <p:extLst>
      <p:ext uri="{BB962C8B-B14F-4D97-AF65-F5344CB8AC3E}">
        <p14:creationId xmlns:p14="http://schemas.microsoft.com/office/powerpoint/2010/main" val="811979218"/>
      </p:ext>
    </p:extLst>
  </p:cSld>
</p:sld>
</file>

<file path=ppt/slides/slide4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1C417D46-AA42-4FCA-9011-C2BF856DE46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95EA346C-F129-4C8C-B703-6F702FCFC3C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PULSE turns signals into a testable campaign.</a:t>
            </a:r>
          </a:p>
        </p:txBody>
      </p:sp>
      <p:sp>
        <p:nvSpPr>
          <p:cNvPr id="3" name="flow-node">
            <a:extLst xmlns:a="http://schemas.openxmlformats.org/drawingml/2006/main">
              <a:ext uri="{FF2B5EF4-FFF2-40B4-BE49-F238E27FC236}">
                <a16:creationId xmlns:a16="http://schemas.microsoft.com/office/drawing/2014/main" id="{066688E5-D489-4D19-8138-19563B244B2F}"/>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PRISM report</a:t>
            </a:r>
          </a:p>
        </p:txBody>
      </p:sp>
      <p:sp>
        <p:nvSpPr>
          <p:cNvPr id="4" name="flow-node">
            <a:extLst xmlns:a="http://schemas.openxmlformats.org/drawingml/2006/main">
              <a:ext uri="{FF2B5EF4-FFF2-40B4-BE49-F238E27FC236}">
                <a16:creationId xmlns:a16="http://schemas.microsoft.com/office/drawing/2014/main" id="{437AB6F5-59B3-4EBF-9115-041C233A8935}"/>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Channel budgets</a:t>
            </a:r>
          </a:p>
        </p:txBody>
      </p:sp>
      <p:sp>
        <p:nvSpPr>
          <p:cNvPr id="5" name="flow-node">
            <a:extLst xmlns:a="http://schemas.openxmlformats.org/drawingml/2006/main">
              <a:ext uri="{FF2B5EF4-FFF2-40B4-BE49-F238E27FC236}">
                <a16:creationId xmlns:a16="http://schemas.microsoft.com/office/drawing/2014/main" id="{BC286491-5CC6-4F50-B751-4D689542AF12}"/>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Reviewed draft</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065F9423-C1C6-44A2-A5C5-F8E15524F696}"/>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5BC03FC4-4613-43F3-98C6-578B3A6471A3}"/>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marketing_budget: 180000 → 90000.</a:t>
            </a:r>
          </a:p>
        </p:txBody>
      </p:sp>
      <p:sp>
        <p:nvSpPr>
          <p:cNvPr id="10" name="text">
            <a:extLst xmlns:a="http://schemas.openxmlformats.org/drawingml/2006/main">
              <a:ext uri="{FF2B5EF4-FFF2-40B4-BE49-F238E27FC236}">
                <a16:creationId xmlns:a16="http://schemas.microsoft.com/office/drawing/2014/main" id="{F29E216E-00EC-4118-AE9E-3F115770412A}"/>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9E5A9F12-FBA5-404E-A961-AE0B40B67FB5}"/>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PULSE and inspect the channel worksheet.</a:t>
            </a:r>
          </a:p>
        </p:txBody>
      </p:sp>
      <p:sp>
        <p:nvSpPr>
          <p:cNvPr id="12" name="text">
            <a:extLst xmlns:a="http://schemas.openxmlformats.org/drawingml/2006/main">
              <a:ext uri="{FF2B5EF4-FFF2-40B4-BE49-F238E27FC236}">
                <a16:creationId xmlns:a16="http://schemas.microsoft.com/office/drawing/2014/main" id="{72BCCB0F-A095-45FB-B396-484ECDF6DC67}"/>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FDFF5662-2733-4E8A-9E4B-15B0D64E65C9}"/>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allocated budgets to total ₹90,000.</a:t>
            </a:r>
          </a:p>
        </p:txBody>
      </p:sp>
      <p:sp>
        <p:nvSpPr>
          <p:cNvPr id="14" name="text">
            <a:extLst xmlns:a="http://schemas.openxmlformats.org/drawingml/2006/main">
              <a:ext uri="{FF2B5EF4-FFF2-40B4-BE49-F238E27FC236}">
                <a16:creationId xmlns:a16="http://schemas.microsoft.com/office/drawing/2014/main" id="{98FAB6DC-CE1D-4307-9EAD-4F59BEEA4D27}"/>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The allocation is a teaching rule, not a proven ROI forecast.</a:t>
            </a:r>
          </a:p>
        </p:txBody>
      </p:sp>
      <p:sp>
        <p:nvSpPr>
          <p:cNvPr id="15" name="shape">
            <a:extLst xmlns:a="http://schemas.openxmlformats.org/drawingml/2006/main">
              <a:ext uri="{FF2B5EF4-FFF2-40B4-BE49-F238E27FC236}">
                <a16:creationId xmlns:a16="http://schemas.microsoft.com/office/drawing/2014/main" id="{86F12CB1-FB89-4079-9ADF-35CA6D2D27A4}"/>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5D24CB49-01DC-44D3-AC27-210587FDC1E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FD65DA23-9A7A-416F-83DB-6CD149E8813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42</a:t>
            </a:r>
          </a:p>
        </p:txBody>
      </p:sp>
    </p:spTree>
    <p:extLst>
      <p:ext uri="{BB962C8B-B14F-4D97-AF65-F5344CB8AC3E}">
        <p14:creationId xmlns:p14="http://schemas.microsoft.com/office/powerpoint/2010/main" val="1614556147"/>
      </p:ext>
    </p:extLst>
  </p:cSld>
</p:sld>
</file>

<file path=ppt/slides/slide4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B09655FF-23A4-4274-81CF-BCC11D5FF05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3E464129-A122-445F-9405-A306A45F48D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NOVA shows capacity and skills for review.</a:t>
            </a:r>
          </a:p>
        </p:txBody>
      </p:sp>
      <p:sp>
        <p:nvSpPr>
          <p:cNvPr id="3" name="flow-node">
            <a:extLst xmlns:a="http://schemas.openxmlformats.org/drawingml/2006/main">
              <a:ext uri="{FF2B5EF4-FFF2-40B4-BE49-F238E27FC236}">
                <a16:creationId xmlns:a16="http://schemas.microsoft.com/office/drawing/2014/main" id="{174C197C-ADC4-4DD1-A8C1-D9CAD8D55907}"/>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8 available FTE</a:t>
            </a:r>
          </a:p>
        </p:txBody>
      </p:sp>
      <p:sp>
        <p:nvSpPr>
          <p:cNvPr id="4" name="flow-node">
            <a:extLst xmlns:a="http://schemas.openxmlformats.org/drawingml/2006/main">
              <a:ext uri="{FF2B5EF4-FFF2-40B4-BE49-F238E27FC236}">
                <a16:creationId xmlns:a16="http://schemas.microsoft.com/office/drawing/2014/main" id="{CD76B15A-573E-4029-8746-561714E41B62}"/>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12 required FTE</a:t>
            </a:r>
          </a:p>
        </p:txBody>
      </p:sp>
      <p:sp>
        <p:nvSpPr>
          <p:cNvPr id="5" name="flow-node">
            <a:extLst xmlns:a="http://schemas.openxmlformats.org/drawingml/2006/main">
              <a:ext uri="{FF2B5EF4-FFF2-40B4-BE49-F238E27FC236}">
                <a16:creationId xmlns:a16="http://schemas.microsoft.com/office/drawing/2014/main" id="{33899ACE-0107-4E8E-A1A0-1514B3555943}"/>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4 FTE gap</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A0711433-9A8F-4F1D-AAB2-6C2870F4E246}"/>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FE8E9E19-C20F-4258-B5BB-C3920D07DCFA}"/>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required_fte: 10 → 12.</a:t>
            </a:r>
          </a:p>
        </p:txBody>
      </p:sp>
      <p:sp>
        <p:nvSpPr>
          <p:cNvPr id="10" name="text">
            <a:extLst xmlns:a="http://schemas.openxmlformats.org/drawingml/2006/main">
              <a:ext uri="{FF2B5EF4-FFF2-40B4-BE49-F238E27FC236}">
                <a16:creationId xmlns:a16="http://schemas.microsoft.com/office/drawing/2014/main" id="{F0093456-5E7B-4A73-92E3-9B8E2CC763D5}"/>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F664ABBD-F6BB-467A-B8A9-8FD2863DF832}"/>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Inspect anonymous candidate skill coverage.</a:t>
            </a:r>
          </a:p>
        </p:txBody>
      </p:sp>
      <p:sp>
        <p:nvSpPr>
          <p:cNvPr id="12" name="text">
            <a:extLst xmlns:a="http://schemas.openxmlformats.org/drawingml/2006/main">
              <a:ext uri="{FF2B5EF4-FFF2-40B4-BE49-F238E27FC236}">
                <a16:creationId xmlns:a16="http://schemas.microsoft.com/office/drawing/2014/main" id="{2C875945-67C1-4650-A8C2-CD009680D8D6}"/>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71E09945-A609-49A1-96A1-C51459451483}"/>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staffing allowance: ₹40,000.</a:t>
            </a:r>
          </a:p>
        </p:txBody>
      </p:sp>
      <p:sp>
        <p:nvSpPr>
          <p:cNvPr id="14" name="text">
            <a:extLst xmlns:a="http://schemas.openxmlformats.org/drawingml/2006/main">
              <a:ext uri="{FF2B5EF4-FFF2-40B4-BE49-F238E27FC236}">
                <a16:creationId xmlns:a16="http://schemas.microsoft.com/office/drawing/2014/main" id="{22D07121-2DF4-4F1F-B8BC-703C69409306}"/>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Scores support a review. They do not select or reject candidates.</a:t>
            </a:r>
          </a:p>
        </p:txBody>
      </p:sp>
      <p:sp>
        <p:nvSpPr>
          <p:cNvPr id="15" name="shape">
            <a:extLst xmlns:a="http://schemas.openxmlformats.org/drawingml/2006/main">
              <a:ext uri="{FF2B5EF4-FFF2-40B4-BE49-F238E27FC236}">
                <a16:creationId xmlns:a16="http://schemas.microsoft.com/office/drawing/2014/main" id="{1436EE8A-273F-4A6B-B376-A734936B2F7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D4F252B3-7C8F-46F6-B8A6-8D7A2941438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11C68E95-6D47-4FCE-B521-7BA812B1679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43</a:t>
            </a:r>
          </a:p>
        </p:txBody>
      </p:sp>
    </p:spTree>
    <p:extLst>
      <p:ext uri="{BB962C8B-B14F-4D97-AF65-F5344CB8AC3E}">
        <p14:creationId xmlns:p14="http://schemas.microsoft.com/office/powerpoint/2010/main" val="958580178"/>
      </p:ext>
    </p:extLst>
  </p:cSld>
</p:sld>
</file>

<file path=ppt/slides/slide4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8A483EA6-366C-48D2-8368-8EBD4601A3A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1190210F-DCAA-4BA2-8A2F-FB062D25DDEF}"/>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ATLAS checks whether the promise fits time.</a:t>
            </a:r>
          </a:p>
        </p:txBody>
      </p:sp>
      <p:sp>
        <p:nvSpPr>
          <p:cNvPr id="3" name="flow-node">
            <a:extLst xmlns:a="http://schemas.openxmlformats.org/drawingml/2006/main">
              <a:ext uri="{FF2B5EF4-FFF2-40B4-BE49-F238E27FC236}">
                <a16:creationId xmlns:a16="http://schemas.microsoft.com/office/drawing/2014/main" id="{DD9322E1-A79A-4A45-9907-C1194F288496}"/>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21 supply days</a:t>
            </a:r>
          </a:p>
        </p:txBody>
      </p:sp>
      <p:sp>
        <p:nvSpPr>
          <p:cNvPr id="4" name="flow-node">
            <a:extLst xmlns:a="http://schemas.openxmlformats.org/drawingml/2006/main">
              <a:ext uri="{FF2B5EF4-FFF2-40B4-BE49-F238E27FC236}">
                <a16:creationId xmlns:a16="http://schemas.microsoft.com/office/drawing/2014/main" id="{30E3EFA8-C6C5-4E85-8536-BC5F06BAA758}"/>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75 production days</a:t>
            </a:r>
          </a:p>
        </p:txBody>
      </p:sp>
      <p:sp>
        <p:nvSpPr>
          <p:cNvPr id="5" name="flow-node">
            <a:extLst xmlns:a="http://schemas.openxmlformats.org/drawingml/2006/main">
              <a:ext uri="{FF2B5EF4-FFF2-40B4-BE49-F238E27FC236}">
                <a16:creationId xmlns:a16="http://schemas.microsoft.com/office/drawing/2014/main" id="{EFCEAB05-B462-40B8-9B3E-6ECBB3FBBEF8}"/>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96 days total</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6DF0BA71-BBC6-43CD-B917-3EC1164641C4}"/>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BE807F72-7BF5-4A20-91C5-C32FE19F1FBD}"/>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production_per_day: 600 → 400.</a:t>
            </a:r>
          </a:p>
        </p:txBody>
      </p:sp>
      <p:sp>
        <p:nvSpPr>
          <p:cNvPr id="10" name="text">
            <a:extLst xmlns:a="http://schemas.openxmlformats.org/drawingml/2006/main">
              <a:ext uri="{FF2B5EF4-FFF2-40B4-BE49-F238E27FC236}">
                <a16:creationId xmlns:a16="http://schemas.microsoft.com/office/drawing/2014/main" id="{D3476171-5164-4EA7-89AC-FC989DDC6922}"/>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9B190411-C363-4C59-A286-3CCAAC12FA8D}"/>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ATLAS and inspect the launch buffer.</a:t>
            </a:r>
          </a:p>
        </p:txBody>
      </p:sp>
      <p:sp>
        <p:nvSpPr>
          <p:cNvPr id="12" name="text">
            <a:extLst xmlns:a="http://schemas.openxmlformats.org/drawingml/2006/main">
              <a:ext uri="{FF2B5EF4-FFF2-40B4-BE49-F238E27FC236}">
                <a16:creationId xmlns:a16="http://schemas.microsoft.com/office/drawing/2014/main" id="{F213BD6A-3545-4749-9907-445209CCFC0B}"/>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CB343831-EC10-4CF1-85E2-F2615213B09E}"/>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Expect 4,800 units short by day 84.</a:t>
            </a:r>
          </a:p>
        </p:txBody>
      </p:sp>
      <p:sp>
        <p:nvSpPr>
          <p:cNvPr id="14" name="text">
            <a:extLst xmlns:a="http://schemas.openxmlformats.org/drawingml/2006/main">
              <a:ext uri="{FF2B5EF4-FFF2-40B4-BE49-F238E27FC236}">
                <a16:creationId xmlns:a16="http://schemas.microsoft.com/office/drawing/2014/main" id="{B9151BC3-A1DF-4AD4-A7DB-A00D2303D002}"/>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 slower factory changes the delivery promise.</a:t>
            </a:r>
          </a:p>
        </p:txBody>
      </p:sp>
      <p:sp>
        <p:nvSpPr>
          <p:cNvPr id="15" name="shape">
            <a:extLst xmlns:a="http://schemas.openxmlformats.org/drawingml/2006/main">
              <a:ext uri="{FF2B5EF4-FFF2-40B4-BE49-F238E27FC236}">
                <a16:creationId xmlns:a16="http://schemas.microsoft.com/office/drawing/2014/main" id="{D35D3EE0-9504-4E23-99CA-030787EA255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238FAF2C-CB67-4035-99E3-E70EECE7B92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ACD91DE0-98B7-447F-9A8C-EE377F9AAF1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44</a:t>
            </a:r>
          </a:p>
        </p:txBody>
      </p:sp>
    </p:spTree>
    <p:extLst>
      <p:ext uri="{BB962C8B-B14F-4D97-AF65-F5344CB8AC3E}">
        <p14:creationId xmlns:p14="http://schemas.microsoft.com/office/powerpoint/2010/main" val="1392315159"/>
      </p:ext>
    </p:extLst>
  </p:cSld>
</p:sld>
</file>

<file path=ppt/slides/slide4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827ED456-77E8-495B-8E58-64E532648D8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FB613AAC-5999-4B3A-9A3E-8A703842499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LEDGER checks more than cash availability.</a:t>
            </a:r>
          </a:p>
        </p:txBody>
      </p:sp>
      <p:sp>
        <p:nvSpPr>
          <p:cNvPr id="3" name="flow-node">
            <a:extLst xmlns:a="http://schemas.openxmlformats.org/drawingml/2006/main">
              <a:ext uri="{FF2B5EF4-FFF2-40B4-BE49-F238E27FC236}">
                <a16:creationId xmlns:a16="http://schemas.microsoft.com/office/drawing/2014/main" id="{76A905A0-0486-4E81-AFEB-A5C509EE3285}"/>
              </a:ext>
            </a:extLst>
          </p:cNvPr>
          <p:cNvSpPr>
            <a:spLocks xmlns:a="http://schemas.openxmlformats.org/drawingml/2006/main" noGrp="1"/>
          </p:cNvSpPr>
          <p:nvPr/>
        </p:nvSpPr>
        <p:spPr>
          <a:xfrm xmlns:a="http://schemas.openxmlformats.org/drawingml/2006/main">
            <a:off x="6096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Price ₹90</a:t>
            </a:r>
          </a:p>
        </p:txBody>
      </p:sp>
      <p:sp>
        <p:nvSpPr>
          <p:cNvPr id="4" name="flow-node">
            <a:extLst xmlns:a="http://schemas.openxmlformats.org/drawingml/2006/main">
              <a:ext uri="{FF2B5EF4-FFF2-40B4-BE49-F238E27FC236}">
                <a16:creationId xmlns:a16="http://schemas.microsoft.com/office/drawing/2014/main" id="{66F584EC-D41C-4EA1-959C-916DE5BCD65B}"/>
              </a:ext>
            </a:extLst>
          </p:cNvPr>
          <p:cNvSpPr>
            <a:spLocks xmlns:a="http://schemas.openxmlformats.org/drawingml/2006/main" noGrp="1"/>
          </p:cNvSpPr>
          <p:nvPr/>
        </p:nvSpPr>
        <p:spPr>
          <a:xfrm xmlns:a="http://schemas.openxmlformats.org/drawingml/2006/main">
            <a:off x="436245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Cost ₹65</a:t>
            </a:r>
          </a:p>
        </p:txBody>
      </p:sp>
      <p:sp>
        <p:nvSpPr>
          <p:cNvPr id="5" name="flow-node">
            <a:extLst xmlns:a="http://schemas.openxmlformats.org/drawingml/2006/main">
              <a:ext uri="{FF2B5EF4-FFF2-40B4-BE49-F238E27FC236}">
                <a16:creationId xmlns:a16="http://schemas.microsoft.com/office/drawing/2014/main" id="{23DB7CCD-CABD-45F8-BD33-DC1FB28543C4}"/>
              </a:ext>
            </a:extLst>
          </p:cNvPr>
          <p:cNvSpPr>
            <a:spLocks xmlns:a="http://schemas.openxmlformats.org/drawingml/2006/main" noGrp="1"/>
          </p:cNvSpPr>
          <p:nvPr/>
        </p:nvSpPr>
        <p:spPr>
          <a:xfrm xmlns:a="http://schemas.openxmlformats.org/drawingml/2006/main">
            <a:off x="8115300" y="2228850"/>
            <a:ext cx="3467100" cy="981075"/>
          </a:xfrm>
          <a:prstGeom xmlns:a="http://schemas.openxmlformats.org/drawingml/2006/main" prst="roundRect">
            <a:avLst>
              <a:gd name="adj" fmla="val 7767"/>
            </a:avLst>
          </a:prstGeom>
          <a:solidFill xmlns:a="http://schemas.openxmlformats.org/drawingml/2006/main">
            <a:srgbClr val="E4EBE4"/>
          </a:solidFill>
          <a:ln xmlns:a="http://schemas.openxmlformats.org/drawingml/2006/main" w="14288">
            <a:solidFill>
              <a:srgbClr val="C6D3C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950" b="1">
                <a:solidFill>
                  <a:srgbClr val="142C38"/>
                </a:solidFill>
                <a:latin typeface="Aptos"/>
                <a:ea typeface="Aptos"/>
                <a:cs typeface="Aptos"/>
              </a:defRPr>
            </a:pPr>
            <a:r>
              <a:rPr sz="1950" b="1">
                <a:solidFill>
                  <a:srgbClr val="142C38"/>
                </a:solidFill>
                <a:latin typeface="Aptos"/>
                <a:ea typeface="Aptos"/>
                <a:cs typeface="Aptos"/>
              </a:rPr>
              <a:t>Margin 27.8%</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407670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829550" y="2719388"/>
            <a:ext cx="285750" cy="0"/>
          </a:xfrm>
          <a:prstGeom xmlns:a="http://schemas.openxmlformats.org/drawingml/2006/main" prst="straightConnector1">
            <a:avLst/>
          </a:prstGeom>
          <a:ln xmlns:a="http://schemas.openxmlformats.org/drawingml/2006/main" w="19050">
            <a:solidFill>
              <a:srgbClr val="537078"/>
            </a:solidFill>
            <a:tailEnd type="arrow" w="med" len="med"/>
          </a:ln>
        </p:spPr>
      </p:cxnSp>
      <p:sp>
        <p:nvSpPr>
          <p:cNvPr id="8" name="text">
            <a:extLst xmlns:a="http://schemas.openxmlformats.org/drawingml/2006/main">
              <a:ext uri="{FF2B5EF4-FFF2-40B4-BE49-F238E27FC236}">
                <a16:creationId xmlns:a16="http://schemas.microsoft.com/office/drawing/2014/main" id="{D7951A7C-6EEE-4510-AADE-5859770B6ADF}"/>
              </a:ext>
            </a:extLst>
          </p:cNvPr>
          <p:cNvSpPr>
            <a:spLocks xmlns:a="http://schemas.openxmlformats.org/drawingml/2006/main" noGrp="1"/>
          </p:cNvSpPr>
          <p:nvPr/>
        </p:nvSpPr>
        <p:spPr>
          <a:xfrm xmlns:a="http://schemas.openxmlformats.org/drawingml/2006/main">
            <a:off x="609600" y="35528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9" name="text">
            <a:extLst xmlns:a="http://schemas.openxmlformats.org/drawingml/2006/main">
              <a:ext uri="{FF2B5EF4-FFF2-40B4-BE49-F238E27FC236}">
                <a16:creationId xmlns:a16="http://schemas.microsoft.com/office/drawing/2014/main" id="{2099010C-6683-4013-A866-AD06AD2271B8}"/>
              </a:ext>
            </a:extLst>
          </p:cNvPr>
          <p:cNvSpPr>
            <a:spLocks xmlns:a="http://schemas.openxmlformats.org/drawingml/2006/main" noGrp="1"/>
          </p:cNvSpPr>
          <p:nvPr/>
        </p:nvSpPr>
        <p:spPr>
          <a:xfrm xmlns:a="http://schemas.openxmlformats.org/drawingml/2006/main">
            <a:off x="1314450" y="352425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Restore defaults. Set price: 120 → 90.</a:t>
            </a:r>
          </a:p>
        </p:txBody>
      </p:sp>
      <p:sp>
        <p:nvSpPr>
          <p:cNvPr id="10" name="text">
            <a:extLst xmlns:a="http://schemas.openxmlformats.org/drawingml/2006/main">
              <a:ext uri="{FF2B5EF4-FFF2-40B4-BE49-F238E27FC236}">
                <a16:creationId xmlns:a16="http://schemas.microsoft.com/office/drawing/2014/main" id="{3D7B9A2A-8502-4C16-BF55-54D1E8ADD379}"/>
              </a:ext>
            </a:extLst>
          </p:cNvPr>
          <p:cNvSpPr>
            <a:spLocks xmlns:a="http://schemas.openxmlformats.org/drawingml/2006/main" noGrp="1"/>
          </p:cNvSpPr>
          <p:nvPr/>
        </p:nvSpPr>
        <p:spPr>
          <a:xfrm xmlns:a="http://schemas.openxmlformats.org/drawingml/2006/main">
            <a:off x="609600" y="42100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11" name="text">
            <a:extLst xmlns:a="http://schemas.openxmlformats.org/drawingml/2006/main">
              <a:ext uri="{FF2B5EF4-FFF2-40B4-BE49-F238E27FC236}">
                <a16:creationId xmlns:a16="http://schemas.microsoft.com/office/drawing/2014/main" id="{A5EDBD81-C1F4-46E8-A69D-8F6075A14D5B}"/>
              </a:ext>
            </a:extLst>
          </p:cNvPr>
          <p:cNvSpPr>
            <a:spLocks xmlns:a="http://schemas.openxmlformats.org/drawingml/2006/main" noGrp="1"/>
          </p:cNvSpPr>
          <p:nvPr/>
        </p:nvSpPr>
        <p:spPr>
          <a:xfrm xmlns:a="http://schemas.openxmlformats.org/drawingml/2006/main">
            <a:off x="1314450" y="4181475"/>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Run LEDGER and inspect the margin gate.</a:t>
            </a:r>
          </a:p>
        </p:txBody>
      </p:sp>
      <p:sp>
        <p:nvSpPr>
          <p:cNvPr id="12" name="text">
            <a:extLst xmlns:a="http://schemas.openxmlformats.org/drawingml/2006/main">
              <a:ext uri="{FF2B5EF4-FFF2-40B4-BE49-F238E27FC236}">
                <a16:creationId xmlns:a16="http://schemas.microsoft.com/office/drawing/2014/main" id="{8351AD96-8E7F-467A-AA23-2D2DCB9C57EC}"/>
              </a:ext>
            </a:extLst>
          </p:cNvPr>
          <p:cNvSpPr>
            <a:spLocks xmlns:a="http://schemas.openxmlformats.org/drawingml/2006/main" noGrp="1"/>
          </p:cNvSpPr>
          <p:nvPr/>
        </p:nvSpPr>
        <p:spPr>
          <a:xfrm xmlns:a="http://schemas.openxmlformats.org/drawingml/2006/main">
            <a:off x="609600" y="48672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13" name="text">
            <a:extLst xmlns:a="http://schemas.openxmlformats.org/drawingml/2006/main">
              <a:ext uri="{FF2B5EF4-FFF2-40B4-BE49-F238E27FC236}">
                <a16:creationId xmlns:a16="http://schemas.microsoft.com/office/drawing/2014/main" id="{4527A298-BD4F-4FD1-A2CD-7598B2BB137A}"/>
              </a:ext>
            </a:extLst>
          </p:cNvPr>
          <p:cNvSpPr>
            <a:spLocks xmlns:a="http://schemas.openxmlformats.org/drawingml/2006/main" noGrp="1"/>
          </p:cNvSpPr>
          <p:nvPr/>
        </p:nvSpPr>
        <p:spPr>
          <a:xfrm xmlns:a="http://schemas.openxmlformats.org/drawingml/2006/main">
            <a:off x="1314450" y="4838700"/>
            <a:ext cx="10267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Cash still fits; margin falls below the 38% target.</a:t>
            </a:r>
          </a:p>
        </p:txBody>
      </p:sp>
      <p:sp>
        <p:nvSpPr>
          <p:cNvPr id="14" name="text">
            <a:extLst xmlns:a="http://schemas.openxmlformats.org/drawingml/2006/main">
              <a:ext uri="{FF2B5EF4-FFF2-40B4-BE49-F238E27FC236}">
                <a16:creationId xmlns:a16="http://schemas.microsoft.com/office/drawing/2014/main" id="{4809013B-2B2D-4D12-9DE1-10EB432DF47B}"/>
              </a:ext>
            </a:extLst>
          </p:cNvPr>
          <p:cNvSpPr>
            <a:spLocks xmlns:a="http://schemas.openxmlformats.org/drawingml/2006/main" noGrp="1"/>
          </p:cNvSpPr>
          <p:nvPr/>
        </p:nvSpPr>
        <p:spPr>
          <a:xfrm xmlns:a="http://schemas.openxmlformats.org/drawingml/2006/main">
            <a:off x="609600" y="58483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Zero funding gap can still produce a HOLD recommendation.</a:t>
            </a:r>
          </a:p>
        </p:txBody>
      </p:sp>
      <p:sp>
        <p:nvSpPr>
          <p:cNvPr id="15" name="shape">
            <a:extLst xmlns:a="http://schemas.openxmlformats.org/drawingml/2006/main">
              <a:ext uri="{FF2B5EF4-FFF2-40B4-BE49-F238E27FC236}">
                <a16:creationId xmlns:a16="http://schemas.microsoft.com/office/drawing/2014/main" id="{1AA9691B-906C-4F5B-9495-7CD74D466ED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71BADEF0-CA3D-40B7-846D-2D4F9ADFEFA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7" name="text">
            <a:extLst xmlns:a="http://schemas.openxmlformats.org/drawingml/2006/main">
              <a:ext uri="{FF2B5EF4-FFF2-40B4-BE49-F238E27FC236}">
                <a16:creationId xmlns:a16="http://schemas.microsoft.com/office/drawing/2014/main" id="{939DD863-DDBD-4CB2-B8C9-59D244D9B35D}"/>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45</a:t>
            </a:r>
          </a:p>
        </p:txBody>
      </p:sp>
    </p:spTree>
    <p:extLst>
      <p:ext uri="{BB962C8B-B14F-4D97-AF65-F5344CB8AC3E}">
        <p14:creationId xmlns:p14="http://schemas.microsoft.com/office/powerpoint/2010/main" val="867822512"/>
      </p:ext>
    </p:extLst>
  </p:cSld>
</p:sld>
</file>

<file path=ppt/slides/slide4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A43FB269-8819-4C99-B256-D8E33582F48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ADAPT THE SPECIALISTS</a:t>
            </a:r>
          </a:p>
        </p:txBody>
      </p:sp>
      <p:sp>
        <p:nvSpPr>
          <p:cNvPr id="2" name="text">
            <a:extLst xmlns:a="http://schemas.openxmlformats.org/drawingml/2006/main">
              <a:ext uri="{FF2B5EF4-FFF2-40B4-BE49-F238E27FC236}">
                <a16:creationId xmlns:a16="http://schemas.microsoft.com/office/drawing/2014/main" id="{35C20F34-4D0B-416B-9F0D-3C28C7D105D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JARVIS carries blockers into the final decision.</a:t>
            </a:r>
          </a:p>
        </p:txBody>
      </p:sp>
      <p:sp>
        <p:nvSpPr>
          <p:cNvPr id="3" name="flow-node">
            <a:extLst xmlns:a="http://schemas.openxmlformats.org/drawingml/2006/main">
              <a:ext uri="{FF2B5EF4-FFF2-40B4-BE49-F238E27FC236}">
                <a16:creationId xmlns:a16="http://schemas.microsoft.com/office/drawing/2014/main" id="{9F07F742-0279-431C-95AB-EB848ED29D33}"/>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Read five reports</a:t>
            </a:r>
          </a:p>
        </p:txBody>
      </p:sp>
      <p:sp>
        <p:nvSpPr>
          <p:cNvPr id="4" name="flow-node">
            <a:extLst xmlns:a="http://schemas.openxmlformats.org/drawingml/2006/main">
              <a:ext uri="{FF2B5EF4-FFF2-40B4-BE49-F238E27FC236}">
                <a16:creationId xmlns:a16="http://schemas.microsoft.com/office/drawing/2014/main" id="{EFC422F1-DC4E-4AE4-9B52-3044AA22E1D9}"/>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Find conflicting gates</a:t>
            </a:r>
          </a:p>
        </p:txBody>
      </p:sp>
      <p:sp>
        <p:nvSpPr>
          <p:cNvPr id="5" name="flow-node">
            <a:extLst xmlns:a="http://schemas.openxmlformats.org/drawingml/2006/main">
              <a:ext uri="{FF2B5EF4-FFF2-40B4-BE49-F238E27FC236}">
                <a16:creationId xmlns:a16="http://schemas.microsoft.com/office/drawing/2014/main" id="{9ED9D355-618B-4A62-83B5-FE4ACA243EB8}"/>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Assign owners</a:t>
            </a:r>
          </a:p>
        </p:txBody>
      </p:sp>
      <p:sp>
        <p:nvSpPr>
          <p:cNvPr id="6" name="flow-node">
            <a:extLst xmlns:a="http://schemas.openxmlformats.org/drawingml/2006/main">
              <a:ext uri="{FF2B5EF4-FFF2-40B4-BE49-F238E27FC236}">
                <a16:creationId xmlns:a16="http://schemas.microsoft.com/office/drawing/2014/main" id="{298BE7BE-59BB-4AF3-90FF-45DBF432BEAB}"/>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Recommend next step</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DA79B187-E7DB-4A69-892A-5B5585AF6024}"/>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Any unresolved specialist HOLD keeps the executive package on HOLD.</a:t>
            </a:r>
          </a:p>
        </p:txBody>
      </p:sp>
      <p:sp>
        <p:nvSpPr>
          <p:cNvPr id="11" name="shape">
            <a:extLst xmlns:a="http://schemas.openxmlformats.org/drawingml/2006/main">
              <a:ext uri="{FF2B5EF4-FFF2-40B4-BE49-F238E27FC236}">
                <a16:creationId xmlns:a16="http://schemas.microsoft.com/office/drawing/2014/main" id="{AD8378E2-E099-4029-A185-1F7E9A5262E7}"/>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12BA58C-A99F-4325-8F9C-6CCAFC3ADE8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15706A9-F18D-4931-87C3-92A168EF663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46</a:t>
            </a:r>
          </a:p>
        </p:txBody>
      </p:sp>
    </p:spTree>
    <p:extLst>
      <p:ext uri="{BB962C8B-B14F-4D97-AF65-F5344CB8AC3E}">
        <p14:creationId xmlns:p14="http://schemas.microsoft.com/office/powerpoint/2010/main" val="1937782308"/>
      </p:ext>
    </p:extLst>
  </p:cSld>
</p:sld>
</file>

<file path=ppt/slides/slide4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94FECA09-0784-4AAB-A3C5-4DD499D929D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CHECKPOINT 3</a:t>
            </a:r>
          </a:p>
        </p:txBody>
      </p:sp>
      <p:sp>
        <p:nvSpPr>
          <p:cNvPr id="2" name="text">
            <a:extLst xmlns:a="http://schemas.openxmlformats.org/drawingml/2006/main">
              <a:ext uri="{FF2B5EF4-FFF2-40B4-BE49-F238E27FC236}">
                <a16:creationId xmlns:a16="http://schemas.microsoft.com/office/drawing/2014/main" id="{C91CA4F2-FFC4-4EA2-A05A-FBF61F7BE88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Checkpoint 3: explain your specialist’s change.</a:t>
            </a:r>
          </a:p>
        </p:txBody>
      </p:sp>
      <p:sp>
        <p:nvSpPr>
          <p:cNvPr id="3" name="text">
            <a:extLst xmlns:a="http://schemas.openxmlformats.org/drawingml/2006/main">
              <a:ext uri="{FF2B5EF4-FFF2-40B4-BE49-F238E27FC236}">
                <a16:creationId xmlns:a16="http://schemas.microsoft.com/office/drawing/2014/main" id="{51C188B9-7522-429C-AA8E-805118B62866}"/>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EB760863-3532-4BD3-BEEC-3CAAFA5D4E0C}"/>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Show the single input you changed.</a:t>
            </a:r>
          </a:p>
        </p:txBody>
      </p:sp>
      <p:sp>
        <p:nvSpPr>
          <p:cNvPr id="5" name="text">
            <a:extLst xmlns:a="http://schemas.openxmlformats.org/drawingml/2006/main">
              <a:ext uri="{FF2B5EF4-FFF2-40B4-BE49-F238E27FC236}">
                <a16:creationId xmlns:a16="http://schemas.microsoft.com/office/drawing/2014/main" id="{70BCA376-DAC3-4041-94F4-12F9BA433613}"/>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D6613294-71BF-4764-93B7-66FC288A4F0F}"/>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Name the tool that used it.</a:t>
            </a:r>
          </a:p>
        </p:txBody>
      </p:sp>
      <p:sp>
        <p:nvSpPr>
          <p:cNvPr id="7" name="text">
            <a:extLst xmlns:a="http://schemas.openxmlformats.org/drawingml/2006/main">
              <a:ext uri="{FF2B5EF4-FFF2-40B4-BE49-F238E27FC236}">
                <a16:creationId xmlns:a16="http://schemas.microsoft.com/office/drawing/2014/main" id="{77922815-AEF3-48DD-8344-592073910F62}"/>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FEB14F66-6888-4D5E-8267-FB7F082D45FB}"/>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Compare one before-and-after metric.</a:t>
            </a:r>
          </a:p>
        </p:txBody>
      </p:sp>
      <p:sp>
        <p:nvSpPr>
          <p:cNvPr id="9" name="text">
            <a:extLst xmlns:a="http://schemas.openxmlformats.org/drawingml/2006/main">
              <a:ext uri="{FF2B5EF4-FFF2-40B4-BE49-F238E27FC236}">
                <a16:creationId xmlns:a16="http://schemas.microsoft.com/office/drawing/2014/main" id="{5584DA9C-A8C4-4101-BFD5-A998B820E5E8}"/>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5E972A1F-1691-43BE-83F1-8701F5C095DE}"/>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State one assumption or limitation.</a:t>
            </a:r>
          </a:p>
        </p:txBody>
      </p:sp>
      <p:sp>
        <p:nvSpPr>
          <p:cNvPr id="11" name="text">
            <a:extLst xmlns:a="http://schemas.openxmlformats.org/drawingml/2006/main">
              <a:ext uri="{FF2B5EF4-FFF2-40B4-BE49-F238E27FC236}">
                <a16:creationId xmlns:a16="http://schemas.microsoft.com/office/drawing/2014/main" id="{174E7A93-8019-4B3E-A282-D5F786ACBB72}"/>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24ACD39D-9E49-4917-857A-7DE69FC148A2}"/>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Restore the baseline when you finish.</a:t>
            </a:r>
          </a:p>
        </p:txBody>
      </p:sp>
      <p:sp>
        <p:nvSpPr>
          <p:cNvPr id="13" name="shape">
            <a:extLst xmlns:a="http://schemas.openxmlformats.org/drawingml/2006/main">
              <a:ext uri="{FF2B5EF4-FFF2-40B4-BE49-F238E27FC236}">
                <a16:creationId xmlns:a16="http://schemas.microsoft.com/office/drawing/2014/main" id="{96E37F9F-E3AA-4080-A18D-8E35038E852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722ED48-0BE1-4EDC-AF2A-FB7423114F0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F03A1538-314B-4489-9E95-319A14CC26BB}"/>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6" name="text">
            <a:extLst xmlns:a="http://schemas.openxmlformats.org/drawingml/2006/main">
              <a:ext uri="{FF2B5EF4-FFF2-40B4-BE49-F238E27FC236}">
                <a16:creationId xmlns:a16="http://schemas.microsoft.com/office/drawing/2014/main" id="{F63B1F9A-A267-4842-9AE7-AA0EB52672A1}"/>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47</a:t>
            </a:r>
          </a:p>
        </p:txBody>
      </p:sp>
    </p:spTree>
    <p:extLst>
      <p:ext uri="{BB962C8B-B14F-4D97-AF65-F5344CB8AC3E}">
        <p14:creationId xmlns:p14="http://schemas.microsoft.com/office/powerpoint/2010/main" val="317982885"/>
      </p:ext>
    </p:extLst>
  </p:cSld>
</p:sld>
</file>

<file path=ppt/slides/slide4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A580B84-12F3-4695-81D2-27DDE2B7A21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MEMORY &amp; HAND-OFFS</a:t>
            </a:r>
          </a:p>
        </p:txBody>
      </p:sp>
      <p:sp>
        <p:nvSpPr>
          <p:cNvPr id="2" name="text">
            <a:extLst xmlns:a="http://schemas.openxmlformats.org/drawingml/2006/main">
              <a:ext uri="{FF2B5EF4-FFF2-40B4-BE49-F238E27FC236}">
                <a16:creationId xmlns:a16="http://schemas.microsoft.com/office/drawing/2014/main" id="{9000E6D2-1AC9-4654-A1DF-A9651430533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Memory is a filing cabinet, not a mind.</a:t>
            </a:r>
          </a:p>
        </p:txBody>
      </p:sp>
      <p:sp>
        <p:nvSpPr>
          <p:cNvPr id="3" name="flow-node">
            <a:extLst xmlns:a="http://schemas.openxmlformats.org/drawingml/2006/main">
              <a:ext uri="{FF2B5EF4-FFF2-40B4-BE49-F238E27FC236}">
                <a16:creationId xmlns:a16="http://schemas.microsoft.com/office/drawing/2014/main" id="{C484DC17-8019-42B4-A34A-E651CF16486A}"/>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a source note</a:t>
            </a:r>
          </a:p>
        </p:txBody>
      </p:sp>
      <p:sp>
        <p:nvSpPr>
          <p:cNvPr id="4" name="flow-node">
            <a:extLst xmlns:a="http://schemas.openxmlformats.org/drawingml/2006/main">
              <a:ext uri="{FF2B5EF4-FFF2-40B4-BE49-F238E27FC236}">
                <a16:creationId xmlns:a16="http://schemas.microsoft.com/office/drawing/2014/main" id="{5CEB7D4D-7C4A-4201-AA3E-56CCC76F7A21}"/>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Search for matching words</a:t>
            </a:r>
          </a:p>
        </p:txBody>
      </p:sp>
      <p:sp>
        <p:nvSpPr>
          <p:cNvPr id="5" name="flow-node">
            <a:extLst xmlns:a="http://schemas.openxmlformats.org/drawingml/2006/main">
              <a:ext uri="{FF2B5EF4-FFF2-40B4-BE49-F238E27FC236}">
                <a16:creationId xmlns:a16="http://schemas.microsoft.com/office/drawing/2014/main" id="{3171C2FF-5D6D-4F85-B9E1-EB314336CD48}"/>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Return an excerpt</a:t>
            </a:r>
          </a:p>
        </p:txBody>
      </p:sp>
      <p:sp>
        <p:nvSpPr>
          <p:cNvPr id="6" name="flow-node">
            <a:extLst xmlns:a="http://schemas.openxmlformats.org/drawingml/2006/main">
              <a:ext uri="{FF2B5EF4-FFF2-40B4-BE49-F238E27FC236}">
                <a16:creationId xmlns:a16="http://schemas.microsoft.com/office/drawing/2014/main" id="{969702AD-85A6-49F5-BF02-B1757C8FAB25}"/>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Cite the source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5708132A-2B03-4178-B595-F449D7239C0A}"/>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This app uses keyword retrieval. It does not use a vector database.</a:t>
            </a:r>
          </a:p>
        </p:txBody>
      </p:sp>
      <p:sp>
        <p:nvSpPr>
          <p:cNvPr id="11" name="shape">
            <a:extLst xmlns:a="http://schemas.openxmlformats.org/drawingml/2006/main">
              <a:ext uri="{FF2B5EF4-FFF2-40B4-BE49-F238E27FC236}">
                <a16:creationId xmlns:a16="http://schemas.microsoft.com/office/drawing/2014/main" id="{EA020F51-DACF-42B7-8741-DF233DD2334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835F8B0-E1E0-4215-A96F-6FA36E86BC9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5D7A1E0B-977B-47B0-92F6-F09BD44ABA3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48</a:t>
            </a:r>
          </a:p>
        </p:txBody>
      </p:sp>
    </p:spTree>
    <p:extLst>
      <p:ext uri="{BB962C8B-B14F-4D97-AF65-F5344CB8AC3E}">
        <p14:creationId xmlns:p14="http://schemas.microsoft.com/office/powerpoint/2010/main" val="790410140"/>
      </p:ext>
    </p:extLst>
  </p:cSld>
</p:sld>
</file>

<file path=ppt/slides/slide4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0432ABFC-6CD2-421A-94D4-E46A2CFEFD77}"/>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MEMORY &amp; HAND-OFFS</a:t>
            </a:r>
          </a:p>
        </p:txBody>
      </p:sp>
      <p:sp>
        <p:nvSpPr>
          <p:cNvPr id="2" name="text">
            <a:extLst xmlns:a="http://schemas.openxmlformats.org/drawingml/2006/main">
              <a:ext uri="{FF2B5EF4-FFF2-40B4-BE49-F238E27FC236}">
                <a16:creationId xmlns:a16="http://schemas.microsoft.com/office/drawing/2014/main" id="{6C9A1868-5998-4911-9595-7AC8C7795FD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Give Jarvis one note it can cite.</a:t>
            </a:r>
          </a:p>
        </p:txBody>
      </p:sp>
      <p:sp>
        <p:nvSpPr>
          <p:cNvPr id="3" name="shape">
            <a:extLst xmlns:a="http://schemas.openxmlformats.org/drawingml/2006/main">
              <a:ext uri="{FF2B5EF4-FFF2-40B4-BE49-F238E27FC236}">
                <a16:creationId xmlns:a16="http://schemas.microsoft.com/office/drawing/2014/main" id="{21CACBC4-851F-4DC2-8877-18B9C91D2373}"/>
              </a:ext>
            </a:extLst>
          </p:cNvPr>
          <p:cNvSpPr>
            <a:spLocks xmlns:a="http://schemas.openxmlformats.org/drawingml/2006/main" noGrp="1"/>
          </p:cNvSpPr>
          <p:nvPr/>
        </p:nvSpPr>
        <p:spPr>
          <a:xfrm xmlns:a="http://schemas.openxmlformats.org/drawingml/2006/main">
            <a:off x="609600" y="2143125"/>
            <a:ext cx="10972800" cy="279082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1494DC23-2A68-470A-BA66-0D74D1DB2F78}"/>
              </a:ext>
            </a:extLst>
          </p:cNvPr>
          <p:cNvSpPr>
            <a:spLocks xmlns:a="http://schemas.openxmlformats.org/drawingml/2006/main" noGrp="1"/>
          </p:cNvSpPr>
          <p:nvPr/>
        </p:nvSpPr>
        <p:spPr>
          <a:xfrm xmlns:a="http://schemas.openxmlformats.org/drawingml/2006/main">
            <a:off x="857250" y="2333625"/>
            <a:ext cx="104775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Title: Packaging review</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Fictional workshop note: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The packaging review is owned by Mira.</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Allergen copy needs review before launch.</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Ask: What do the memory notes say about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the packaging review owner?</a:t>
            </a:r>
          </a:p>
        </p:txBody>
      </p:sp>
      <p:sp>
        <p:nvSpPr>
          <p:cNvPr id="5" name="shape">
            <a:extLst xmlns:a="http://schemas.openxmlformats.org/drawingml/2006/main">
              <a:ext uri="{FF2B5EF4-FFF2-40B4-BE49-F238E27FC236}">
                <a16:creationId xmlns:a16="http://schemas.microsoft.com/office/drawing/2014/main" id="{C28E5927-87DB-4A6C-A47A-3AA78F37B0A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49C0235A-EB66-4DFE-8955-7BD0469FA00C}"/>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7" name="text">
            <a:extLst xmlns:a="http://schemas.openxmlformats.org/drawingml/2006/main">
              <a:ext uri="{FF2B5EF4-FFF2-40B4-BE49-F238E27FC236}">
                <a16:creationId xmlns:a16="http://schemas.microsoft.com/office/drawing/2014/main" id="{A2F3F969-12AB-4CF4-9711-32DDF7656764}"/>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8" name="text">
            <a:extLst xmlns:a="http://schemas.openxmlformats.org/drawingml/2006/main">
              <a:ext uri="{FF2B5EF4-FFF2-40B4-BE49-F238E27FC236}">
                <a16:creationId xmlns:a16="http://schemas.microsoft.com/office/drawing/2014/main" id="{C2126648-E2D6-4C3F-AFB5-801B18AE667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49</a:t>
            </a:r>
          </a:p>
        </p:txBody>
      </p:sp>
    </p:spTree>
    <p:extLst>
      <p:ext uri="{BB962C8B-B14F-4D97-AF65-F5344CB8AC3E}">
        <p14:creationId xmlns:p14="http://schemas.microsoft.com/office/powerpoint/2010/main" val="1979517583"/>
      </p:ext>
    </p:extLst>
  </p:cSld>
</p:sld>
</file>

<file path=ppt/slides/slide5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555A5E35-B3D6-46C6-B952-6F5F6045F631}"/>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MEMORY &amp; HAND-OFFS</a:t>
            </a:r>
          </a:p>
        </p:txBody>
      </p:sp>
      <p:sp>
        <p:nvSpPr>
          <p:cNvPr id="2" name="text">
            <a:extLst xmlns:a="http://schemas.openxmlformats.org/drawingml/2006/main">
              <a:ext uri="{FF2B5EF4-FFF2-40B4-BE49-F238E27FC236}">
                <a16:creationId xmlns:a16="http://schemas.microsoft.com/office/drawing/2014/main" id="{F2122E6C-731A-488C-85E2-E65005F6682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Three kinds of information stay separate.</a:t>
            </a:r>
          </a:p>
        </p:txBody>
      </p:sp>
      <p:sp>
        <p:nvSpPr>
          <p:cNvPr id="3" name="text">
            <a:extLst xmlns:a="http://schemas.openxmlformats.org/drawingml/2006/main">
              <a:ext uri="{FF2B5EF4-FFF2-40B4-BE49-F238E27FC236}">
                <a16:creationId xmlns:a16="http://schemas.microsoft.com/office/drawing/2014/main" id="{2F1A573D-11BB-41FB-BB6A-4B6AF9359E67}"/>
              </a:ext>
            </a:extLst>
          </p:cNvPr>
          <p:cNvSpPr>
            <a:spLocks xmlns:a="http://schemas.openxmlformats.org/drawingml/2006/main" noGrp="1"/>
          </p:cNvSpPr>
          <p:nvPr/>
        </p:nvSpPr>
        <p:spPr>
          <a:xfrm xmlns:a="http://schemas.openxmlformats.org/drawingml/2006/main">
            <a:off x="609600" y="23812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Current run state</a:t>
            </a:r>
          </a:p>
        </p:txBody>
      </p:sp>
      <p:sp>
        <p:nvSpPr>
          <p:cNvPr id="4" name="text">
            <a:extLst xmlns:a="http://schemas.openxmlformats.org/drawingml/2006/main">
              <a:ext uri="{FF2B5EF4-FFF2-40B4-BE49-F238E27FC236}">
                <a16:creationId xmlns:a16="http://schemas.microsoft.com/office/drawing/2014/main" id="{2D55558B-7008-4921-A776-DFADD8609696}"/>
              </a:ext>
            </a:extLst>
          </p:cNvPr>
          <p:cNvSpPr>
            <a:spLocks xmlns:a="http://schemas.openxmlformats.org/drawingml/2006/main" noGrp="1"/>
          </p:cNvSpPr>
          <p:nvPr/>
        </p:nvSpPr>
        <p:spPr>
          <a:xfrm xmlns:a="http://schemas.openxmlformats.org/drawingml/2006/main">
            <a:off x="3133725" y="2381250"/>
            <a:ext cx="3743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Today’s shared clipboard</a:t>
            </a:r>
          </a:p>
        </p:txBody>
      </p:sp>
      <p:sp>
        <p:nvSpPr>
          <p:cNvPr id="5" name="text">
            <a:extLst xmlns:a="http://schemas.openxmlformats.org/drawingml/2006/main">
              <a:ext uri="{FF2B5EF4-FFF2-40B4-BE49-F238E27FC236}">
                <a16:creationId xmlns:a16="http://schemas.microsoft.com/office/drawing/2014/main" id="{7DD0CEBF-13A2-42B5-8E48-2EE683578161}"/>
              </a:ext>
            </a:extLst>
          </p:cNvPr>
          <p:cNvSpPr>
            <a:spLocks xmlns:a="http://schemas.openxmlformats.org/drawingml/2006/main" noGrp="1"/>
          </p:cNvSpPr>
          <p:nvPr/>
        </p:nvSpPr>
        <p:spPr>
          <a:xfrm xmlns:a="http://schemas.openxmlformats.org/drawingml/2006/main">
            <a:off x="7086600" y="23812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Scenario + reports passed through the graph</a:t>
            </a:r>
          </a:p>
        </p:txBody>
      </p:sp>
      <p:sp>
        <p:nvSpPr>
          <p:cNvPr id="6" name="shape">
            <a:extLst xmlns:a="http://schemas.openxmlformats.org/drawingml/2006/main">
              <a:ext uri="{FF2B5EF4-FFF2-40B4-BE49-F238E27FC236}">
                <a16:creationId xmlns:a16="http://schemas.microsoft.com/office/drawing/2014/main" id="{8A541953-33C6-44B8-88D4-A21B7DAD43AE}"/>
              </a:ext>
            </a:extLst>
          </p:cNvPr>
          <p:cNvSpPr>
            <a:spLocks xmlns:a="http://schemas.openxmlformats.org/drawingml/2006/main" noGrp="1"/>
          </p:cNvSpPr>
          <p:nvPr/>
        </p:nvSpPr>
        <p:spPr>
          <a:xfrm xmlns:a="http://schemas.openxmlformats.org/drawingml/2006/main">
            <a:off x="609600" y="32289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6CA243CD-7F71-40D6-8297-0639C0823361}"/>
              </a:ext>
            </a:extLst>
          </p:cNvPr>
          <p:cNvSpPr>
            <a:spLocks xmlns:a="http://schemas.openxmlformats.org/drawingml/2006/main" noGrp="1"/>
          </p:cNvSpPr>
          <p:nvPr/>
        </p:nvSpPr>
        <p:spPr>
          <a:xfrm xmlns:a="http://schemas.openxmlformats.org/drawingml/2006/main">
            <a:off x="609600" y="33337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Memory Vault</a:t>
            </a:r>
          </a:p>
        </p:txBody>
      </p:sp>
      <p:sp>
        <p:nvSpPr>
          <p:cNvPr id="8" name="text">
            <a:extLst xmlns:a="http://schemas.openxmlformats.org/drawingml/2006/main">
              <a:ext uri="{FF2B5EF4-FFF2-40B4-BE49-F238E27FC236}">
                <a16:creationId xmlns:a16="http://schemas.microsoft.com/office/drawing/2014/main" id="{869C3470-B078-4704-ABDD-E4ADCF0A22EC}"/>
              </a:ext>
            </a:extLst>
          </p:cNvPr>
          <p:cNvSpPr>
            <a:spLocks xmlns:a="http://schemas.openxmlformats.org/drawingml/2006/main" noGrp="1"/>
          </p:cNvSpPr>
          <p:nvPr/>
        </p:nvSpPr>
        <p:spPr>
          <a:xfrm xmlns:a="http://schemas.openxmlformats.org/drawingml/2006/main">
            <a:off x="3133725" y="3333750"/>
            <a:ext cx="3743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saved filing cabinet</a:t>
            </a:r>
          </a:p>
        </p:txBody>
      </p:sp>
      <p:sp>
        <p:nvSpPr>
          <p:cNvPr id="9" name="text">
            <a:extLst xmlns:a="http://schemas.openxmlformats.org/drawingml/2006/main">
              <a:ext uri="{FF2B5EF4-FFF2-40B4-BE49-F238E27FC236}">
                <a16:creationId xmlns:a16="http://schemas.microsoft.com/office/drawing/2014/main" id="{F8D8E952-DC05-47C7-9559-F159858D8A6D}"/>
              </a:ext>
            </a:extLst>
          </p:cNvPr>
          <p:cNvSpPr>
            <a:spLocks xmlns:a="http://schemas.openxmlformats.org/drawingml/2006/main" noGrp="1"/>
          </p:cNvSpPr>
          <p:nvPr/>
        </p:nvSpPr>
        <p:spPr>
          <a:xfrm xmlns:a="http://schemas.openxmlformats.org/drawingml/2006/main">
            <a:off x="7086600" y="33337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Source notes retrieved by matching words</a:t>
            </a:r>
          </a:p>
        </p:txBody>
      </p:sp>
      <p:sp>
        <p:nvSpPr>
          <p:cNvPr id="10" name="shape">
            <a:extLst xmlns:a="http://schemas.openxmlformats.org/drawingml/2006/main">
              <a:ext uri="{FF2B5EF4-FFF2-40B4-BE49-F238E27FC236}">
                <a16:creationId xmlns:a16="http://schemas.microsoft.com/office/drawing/2014/main" id="{206D43F3-C77D-4109-9E76-A8EB33997138}"/>
              </a:ext>
            </a:extLst>
          </p:cNvPr>
          <p:cNvSpPr>
            <a:spLocks xmlns:a="http://schemas.openxmlformats.org/drawingml/2006/main" noGrp="1"/>
          </p:cNvSpPr>
          <p:nvPr/>
        </p:nvSpPr>
        <p:spPr>
          <a:xfrm xmlns:a="http://schemas.openxmlformats.org/drawingml/2006/main">
            <a:off x="609600" y="4181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BD2FAEB-E461-48D0-BC56-EAF2B63E7C07}"/>
              </a:ext>
            </a:extLst>
          </p:cNvPr>
          <p:cNvSpPr>
            <a:spLocks xmlns:a="http://schemas.openxmlformats.org/drawingml/2006/main" noGrp="1"/>
          </p:cNvSpPr>
          <p:nvPr/>
        </p:nvSpPr>
        <p:spPr>
          <a:xfrm xmlns:a="http://schemas.openxmlformats.org/drawingml/2006/main">
            <a:off x="609600" y="4286250"/>
            <a:ext cx="23145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Conversation history</a:t>
            </a:r>
          </a:p>
        </p:txBody>
      </p:sp>
      <p:sp>
        <p:nvSpPr>
          <p:cNvPr id="12" name="text">
            <a:extLst xmlns:a="http://schemas.openxmlformats.org/drawingml/2006/main">
              <a:ext uri="{FF2B5EF4-FFF2-40B4-BE49-F238E27FC236}">
                <a16:creationId xmlns:a16="http://schemas.microsoft.com/office/drawing/2014/main" id="{C3DBCEE0-3A44-4551-99B5-FB29CB2D3C00}"/>
              </a:ext>
            </a:extLst>
          </p:cNvPr>
          <p:cNvSpPr>
            <a:spLocks xmlns:a="http://schemas.openxmlformats.org/drawingml/2006/main" noGrp="1"/>
          </p:cNvSpPr>
          <p:nvPr/>
        </p:nvSpPr>
        <p:spPr>
          <a:xfrm xmlns:a="http://schemas.openxmlformats.org/drawingml/2006/main">
            <a:off x="3133725" y="4286250"/>
            <a:ext cx="3743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recent discussion</a:t>
            </a:r>
          </a:p>
        </p:txBody>
      </p:sp>
      <p:sp>
        <p:nvSpPr>
          <p:cNvPr id="13" name="text">
            <a:extLst xmlns:a="http://schemas.openxmlformats.org/drawingml/2006/main">
              <a:ext uri="{FF2B5EF4-FFF2-40B4-BE49-F238E27FC236}">
                <a16:creationId xmlns:a16="http://schemas.microsoft.com/office/drawing/2014/main" id="{1100EDEC-6C4A-404C-A2D2-37A8E8A32DB4}"/>
              </a:ext>
            </a:extLst>
          </p:cNvPr>
          <p:cNvSpPr>
            <a:spLocks xmlns:a="http://schemas.openxmlformats.org/drawingml/2006/main" noGrp="1"/>
          </p:cNvSpPr>
          <p:nvPr/>
        </p:nvSpPr>
        <p:spPr>
          <a:xfrm xmlns:a="http://schemas.openxmlformats.org/drawingml/2006/main">
            <a:off x="7086600" y="42862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Saved separately for each team and agent</a:t>
            </a:r>
          </a:p>
        </p:txBody>
      </p:sp>
      <p:sp>
        <p:nvSpPr>
          <p:cNvPr id="14" name="shape">
            <a:extLst xmlns:a="http://schemas.openxmlformats.org/drawingml/2006/main">
              <a:ext uri="{FF2B5EF4-FFF2-40B4-BE49-F238E27FC236}">
                <a16:creationId xmlns:a16="http://schemas.microsoft.com/office/drawing/2014/main" id="{EEA63F16-2539-4820-B547-8236702EBE76}"/>
              </a:ext>
            </a:extLst>
          </p:cNvPr>
          <p:cNvSpPr>
            <a:spLocks xmlns:a="http://schemas.openxmlformats.org/drawingml/2006/main" noGrp="1"/>
          </p:cNvSpPr>
          <p:nvPr/>
        </p:nvSpPr>
        <p:spPr>
          <a:xfrm xmlns:a="http://schemas.openxmlformats.org/drawingml/2006/main">
            <a:off x="609600" y="51339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638D78E-C911-4FD5-AD7F-9DD87A12F4D4}"/>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All three are local. Team IDs are not passwords or cloud accounts.</a:t>
            </a:r>
          </a:p>
        </p:txBody>
      </p:sp>
      <p:sp>
        <p:nvSpPr>
          <p:cNvPr id="16" name="shape">
            <a:extLst xmlns:a="http://schemas.openxmlformats.org/drawingml/2006/main">
              <a:ext uri="{FF2B5EF4-FFF2-40B4-BE49-F238E27FC236}">
                <a16:creationId xmlns:a16="http://schemas.microsoft.com/office/drawing/2014/main" id="{75402F32-46CE-41D3-8537-A5A99D7CA73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33A78EA8-013F-485A-AE44-9BB7E2935684}"/>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8" name="text">
            <a:extLst xmlns:a="http://schemas.openxmlformats.org/drawingml/2006/main">
              <a:ext uri="{FF2B5EF4-FFF2-40B4-BE49-F238E27FC236}">
                <a16:creationId xmlns:a16="http://schemas.microsoft.com/office/drawing/2014/main" id="{AE972D1D-EC50-4A97-A5A3-FFA8E9AB9A7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50</a:t>
            </a:r>
          </a:p>
        </p:txBody>
      </p:sp>
    </p:spTree>
    <p:extLst>
      <p:ext uri="{BB962C8B-B14F-4D97-AF65-F5344CB8AC3E}">
        <p14:creationId xmlns:p14="http://schemas.microsoft.com/office/powerpoint/2010/main" val="283697043"/>
      </p:ext>
    </p:extLst>
  </p:cSld>
</p:sld>
</file>

<file path=ppt/slides/slide5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7FCC4C40-25C9-44D9-BF94-46C4AD1128B6}"/>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MEMORY &amp; HAND-OFFS</a:t>
            </a:r>
          </a:p>
        </p:txBody>
      </p:sp>
      <p:sp>
        <p:nvSpPr>
          <p:cNvPr id="2" name="text">
            <a:extLst xmlns:a="http://schemas.openxmlformats.org/drawingml/2006/main">
              <a:ext uri="{FF2B5EF4-FFF2-40B4-BE49-F238E27FC236}">
                <a16:creationId xmlns:a16="http://schemas.microsoft.com/office/drawing/2014/main" id="{1B0BEA60-E5A0-415C-89BF-6837CA714BDA}"/>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The swarm follows a dependency map.</a:t>
            </a:r>
          </a:p>
        </p:txBody>
      </p:sp>
      <p:sp>
        <p:nvSpPr>
          <p:cNvPr id="3" name="shape">
            <a:extLst xmlns:a="http://schemas.openxmlformats.org/drawingml/2006/main">
              <a:ext uri="{FF2B5EF4-FFF2-40B4-BE49-F238E27FC236}">
                <a16:creationId xmlns:a16="http://schemas.microsoft.com/office/drawing/2014/main" id="{488EE92E-2088-48C5-B326-DB91B6227142}"/>
              </a:ext>
            </a:extLst>
          </p:cNvPr>
          <p:cNvSpPr>
            <a:spLocks xmlns:a="http://schemas.openxmlformats.org/drawingml/2006/main" noGrp="1"/>
          </p:cNvSpPr>
          <p:nvPr/>
        </p:nvSpPr>
        <p:spPr>
          <a:xfrm xmlns:a="http://schemas.openxmlformats.org/drawingml/2006/main">
            <a:off x="609600" y="3114675"/>
            <a:ext cx="2000250" cy="933450"/>
          </a:xfrm>
          <a:prstGeom xmlns:a="http://schemas.openxmlformats.org/drawingml/2006/main" prst="roundRect">
            <a:avLst>
              <a:gd name="adj" fmla="val 816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PRISM</a:t>
            </a:r>
          </a:p>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Analytics</a:t>
            </a:r>
          </a:p>
        </p:txBody>
      </p:sp>
      <p:sp>
        <p:nvSpPr>
          <p:cNvPr id="4" name="shape">
            <a:extLst xmlns:a="http://schemas.openxmlformats.org/drawingml/2006/main">
              <a:ext uri="{FF2B5EF4-FFF2-40B4-BE49-F238E27FC236}">
                <a16:creationId xmlns:a16="http://schemas.microsoft.com/office/drawing/2014/main" id="{82F7D8F6-54F2-4CEA-ABE0-0435FDC2D7F0}"/>
              </a:ext>
            </a:extLst>
          </p:cNvPr>
          <p:cNvSpPr>
            <a:spLocks xmlns:a="http://schemas.openxmlformats.org/drawingml/2006/main" noGrp="1"/>
          </p:cNvSpPr>
          <p:nvPr/>
        </p:nvSpPr>
        <p:spPr>
          <a:xfrm xmlns:a="http://schemas.openxmlformats.org/drawingml/2006/main">
            <a:off x="3448050" y="1981200"/>
            <a:ext cx="2228850" cy="762000"/>
          </a:xfrm>
          <a:prstGeom xmlns:a="http://schemas.openxmlformats.org/drawingml/2006/main" prst="roundRect">
            <a:avLst>
              <a:gd name="adj" fmla="val 10000"/>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PULSE · Marketing</a:t>
            </a:r>
          </a:p>
        </p:txBody>
      </p:sp>
      <p:sp>
        <p:nvSpPr>
          <p:cNvPr id="5" name="shape">
            <a:extLst xmlns:a="http://schemas.openxmlformats.org/drawingml/2006/main">
              <a:ext uri="{FF2B5EF4-FFF2-40B4-BE49-F238E27FC236}">
                <a16:creationId xmlns:a16="http://schemas.microsoft.com/office/drawing/2014/main" id="{67A68043-59C1-4AC7-A131-10973126345E}"/>
              </a:ext>
            </a:extLst>
          </p:cNvPr>
          <p:cNvSpPr>
            <a:spLocks xmlns:a="http://schemas.openxmlformats.org/drawingml/2006/main" noGrp="1"/>
          </p:cNvSpPr>
          <p:nvPr/>
        </p:nvSpPr>
        <p:spPr>
          <a:xfrm xmlns:a="http://schemas.openxmlformats.org/drawingml/2006/main">
            <a:off x="3448050" y="3105150"/>
            <a:ext cx="2228850" cy="762000"/>
          </a:xfrm>
          <a:prstGeom xmlns:a="http://schemas.openxmlformats.org/drawingml/2006/main" prst="roundRect">
            <a:avLst>
              <a:gd name="adj" fmla="val 10000"/>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NOVA · HR</a:t>
            </a:r>
          </a:p>
        </p:txBody>
      </p:sp>
      <p:sp>
        <p:nvSpPr>
          <p:cNvPr id="6" name="shape">
            <a:extLst xmlns:a="http://schemas.openxmlformats.org/drawingml/2006/main">
              <a:ext uri="{FF2B5EF4-FFF2-40B4-BE49-F238E27FC236}">
                <a16:creationId xmlns:a16="http://schemas.microsoft.com/office/drawing/2014/main" id="{B1312A79-78C1-49A5-B43C-1800A9BFB98A}"/>
              </a:ext>
            </a:extLst>
          </p:cNvPr>
          <p:cNvSpPr>
            <a:spLocks xmlns:a="http://schemas.openxmlformats.org/drawingml/2006/main" noGrp="1"/>
          </p:cNvSpPr>
          <p:nvPr/>
        </p:nvSpPr>
        <p:spPr>
          <a:xfrm xmlns:a="http://schemas.openxmlformats.org/drawingml/2006/main">
            <a:off x="3448050" y="4229100"/>
            <a:ext cx="2228850" cy="762000"/>
          </a:xfrm>
          <a:prstGeom xmlns:a="http://schemas.openxmlformats.org/drawingml/2006/main" prst="roundRect">
            <a:avLst>
              <a:gd name="adj" fmla="val 10000"/>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ATLAS · Operations</a:t>
            </a:r>
          </a:p>
        </p:txBody>
      </p:sp>
      <p:sp>
        <p:nvSpPr>
          <p:cNvPr id="7" name="shape">
            <a:extLst xmlns:a="http://schemas.openxmlformats.org/drawingml/2006/main">
              <a:ext uri="{FF2B5EF4-FFF2-40B4-BE49-F238E27FC236}">
                <a16:creationId xmlns:a16="http://schemas.microsoft.com/office/drawing/2014/main" id="{FD1F8E72-6326-4135-A6CD-4578A6799742}"/>
              </a:ext>
            </a:extLst>
          </p:cNvPr>
          <p:cNvSpPr>
            <a:spLocks xmlns:a="http://schemas.openxmlformats.org/drawingml/2006/main" noGrp="1"/>
          </p:cNvSpPr>
          <p:nvPr/>
        </p:nvSpPr>
        <p:spPr>
          <a:xfrm xmlns:a="http://schemas.openxmlformats.org/drawingml/2006/main">
            <a:off x="6543675" y="3114675"/>
            <a:ext cx="2000250" cy="933450"/>
          </a:xfrm>
          <a:prstGeom xmlns:a="http://schemas.openxmlformats.org/drawingml/2006/main" prst="roundRect">
            <a:avLst>
              <a:gd name="adj" fmla="val 816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LEDGER</a:t>
            </a:r>
          </a:p>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Finance</a:t>
            </a:r>
          </a:p>
        </p:txBody>
      </p:sp>
      <p:sp>
        <p:nvSpPr>
          <p:cNvPr id="8" name="shape">
            <a:extLst xmlns:a="http://schemas.openxmlformats.org/drawingml/2006/main">
              <a:ext uri="{FF2B5EF4-FFF2-40B4-BE49-F238E27FC236}">
                <a16:creationId xmlns:a16="http://schemas.microsoft.com/office/drawing/2014/main" id="{39C0ECF2-10C7-4909-8BEE-9FC79D644084}"/>
              </a:ext>
            </a:extLst>
          </p:cNvPr>
          <p:cNvSpPr>
            <a:spLocks xmlns:a="http://schemas.openxmlformats.org/drawingml/2006/main" noGrp="1"/>
          </p:cNvSpPr>
          <p:nvPr/>
        </p:nvSpPr>
        <p:spPr>
          <a:xfrm xmlns:a="http://schemas.openxmlformats.org/drawingml/2006/main">
            <a:off x="9544050" y="3114675"/>
            <a:ext cx="2038350" cy="933450"/>
          </a:xfrm>
          <a:prstGeom xmlns:a="http://schemas.openxmlformats.org/drawingml/2006/main" prst="roundRect">
            <a:avLst>
              <a:gd name="adj" fmla="val 816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JARVIS</a:t>
            </a:r>
          </a:p>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Management</a:t>
            </a:r>
          </a:p>
        </p:txBody>
      </p:sp>
      <p:cxnSp>
        <p:nvCxnSpPr>
          <p:cNvPr id="29" name=""/>
          <p:cNvCxnSpPr>
            <a:stCxn xmlns:a="http://schemas.openxmlformats.org/drawingml/2006/main" id="3" idx="3"/>
            <a:endCxn xmlns:a="http://schemas.openxmlformats.org/drawingml/2006/main" id="4" idx="1"/>
          </p:cNvCxnSpPr>
          <p:nvPr/>
        </p:nvCxnSpPr>
        <p:spPr>
          <a:xfrm xmlns:a="http://schemas.openxmlformats.org/drawingml/2006/main" flipV="1">
            <a:off x="2609850" y="2362200"/>
            <a:ext cx="838200" cy="12192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0" name=""/>
          <p:cNvCxnSpPr>
            <a:stCxn xmlns:a="http://schemas.openxmlformats.org/drawingml/2006/main" id="3" idx="3"/>
            <a:endCxn xmlns:a="http://schemas.openxmlformats.org/drawingml/2006/main" id="5" idx="1"/>
          </p:cNvCxnSpPr>
          <p:nvPr/>
        </p:nvCxnSpPr>
        <p:spPr>
          <a:xfrm xmlns:a="http://schemas.openxmlformats.org/drawingml/2006/main" flipV="1">
            <a:off x="2609850" y="3486150"/>
            <a:ext cx="838200" cy="9525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2609850" y="3581400"/>
            <a:ext cx="838200" cy="10287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5676900" y="2362200"/>
            <a:ext cx="866775" cy="12192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3" name=""/>
          <p:cNvCxnSpPr>
            <a:stCxn xmlns:a="http://schemas.openxmlformats.org/drawingml/2006/main" id="5" idx="3"/>
            <a:endCxn xmlns:a="http://schemas.openxmlformats.org/drawingml/2006/main" id="7" idx="1"/>
          </p:cNvCxnSpPr>
          <p:nvPr/>
        </p:nvCxnSpPr>
        <p:spPr>
          <a:xfrm xmlns:a="http://schemas.openxmlformats.org/drawingml/2006/main">
            <a:off x="5676900" y="3486150"/>
            <a:ext cx="866775" cy="9525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flipV="1">
            <a:off x="5676900" y="3581400"/>
            <a:ext cx="866775" cy="102870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8543925" y="3581400"/>
            <a:ext cx="1000125"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6" name="text">
            <a:extLst xmlns:a="http://schemas.openxmlformats.org/drawingml/2006/main">
              <a:ext uri="{FF2B5EF4-FFF2-40B4-BE49-F238E27FC236}">
                <a16:creationId xmlns:a16="http://schemas.microsoft.com/office/drawing/2014/main" id="{71D93B06-8B61-4304-BD1A-5CB23AC91153}"/>
              </a:ext>
            </a:extLst>
          </p:cNvPr>
          <p:cNvSpPr>
            <a:spLocks xmlns:a="http://schemas.openxmlformats.org/drawingml/2006/main" noGrp="1"/>
          </p:cNvSpPr>
          <p:nvPr/>
        </p:nvSpPr>
        <p:spPr>
          <a:xfrm xmlns:a="http://schemas.openxmlformats.org/drawingml/2006/main">
            <a:off x="609600" y="5467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1DFBF"/>
                </a:solidFill>
                <a:latin typeface="Aptos"/>
                <a:ea typeface="Aptos"/>
                <a:cs typeface="Aptos"/>
              </a:defRPr>
            </a:pPr>
            <a:r>
              <a:rPr sz="1875" b="0">
                <a:solidFill>
                  <a:srgbClr val="61DFBF"/>
                </a:solidFill>
                <a:latin typeface="Aptos"/>
                <a:ea typeface="Aptos"/>
                <a:cs typeface="Aptos"/>
              </a:rPr>
              <a:t>GM also receives all five complete specialist reports.</a:t>
            </a:r>
          </a:p>
        </p:txBody>
      </p:sp>
      <p:sp>
        <p:nvSpPr>
          <p:cNvPr id="17" name="shape">
            <a:extLst xmlns:a="http://schemas.openxmlformats.org/drawingml/2006/main">
              <a:ext uri="{FF2B5EF4-FFF2-40B4-BE49-F238E27FC236}">
                <a16:creationId xmlns:a16="http://schemas.microsoft.com/office/drawing/2014/main" id="{B181A3EE-347A-42EB-8A44-44DDF67B9880}"/>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A77503E2-D800-4090-99AD-D8A2D06BDED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9" name="text">
            <a:extLst xmlns:a="http://schemas.openxmlformats.org/drawingml/2006/main">
              <a:ext uri="{FF2B5EF4-FFF2-40B4-BE49-F238E27FC236}">
                <a16:creationId xmlns:a16="http://schemas.microsoft.com/office/drawing/2014/main" id="{E320ABC9-6FB7-465B-9690-1B6E24E68AA0}"/>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20" name="text">
            <a:extLst xmlns:a="http://schemas.openxmlformats.org/drawingml/2006/main">
              <a:ext uri="{FF2B5EF4-FFF2-40B4-BE49-F238E27FC236}">
                <a16:creationId xmlns:a16="http://schemas.microsoft.com/office/drawing/2014/main" id="{465614DE-CAA6-4E77-AC42-3FCD6632CA9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51</a:t>
            </a:r>
          </a:p>
        </p:txBody>
      </p:sp>
    </p:spTree>
    <p:extLst>
      <p:ext uri="{BB962C8B-B14F-4D97-AF65-F5344CB8AC3E}">
        <p14:creationId xmlns:p14="http://schemas.microsoft.com/office/powerpoint/2010/main" val="1459575399"/>
      </p:ext>
    </p:extLst>
  </p:cSld>
</p:sld>
</file>

<file path=ppt/slides/slide52.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6A9C3B83-9D66-4275-9274-9E12423DE4C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MEMORY &amp; HAND-OFFS</a:t>
            </a:r>
          </a:p>
        </p:txBody>
      </p:sp>
      <p:sp>
        <p:nvSpPr>
          <p:cNvPr id="2" name="text">
            <a:extLst xmlns:a="http://schemas.openxmlformats.org/drawingml/2006/main">
              <a:ext uri="{FF2B5EF4-FFF2-40B4-BE49-F238E27FC236}">
                <a16:creationId xmlns:a16="http://schemas.microsoft.com/office/drawing/2014/main" id="{47408831-1884-4692-9248-E7412049F55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Finance must price the plan that can happen.</a:t>
            </a:r>
          </a:p>
        </p:txBody>
      </p:sp>
      <p:sp>
        <p:nvSpPr>
          <p:cNvPr id="3" name="flow-node">
            <a:extLst xmlns:a="http://schemas.openxmlformats.org/drawingml/2006/main">
              <a:ext uri="{FF2B5EF4-FFF2-40B4-BE49-F238E27FC236}">
                <a16:creationId xmlns:a16="http://schemas.microsoft.com/office/drawing/2014/main" id="{D1616D09-5D07-4BB2-82AC-16ED05B5DD6C}"/>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Marketing spend</a:t>
            </a:r>
          </a:p>
        </p:txBody>
      </p:sp>
      <p:sp>
        <p:nvSpPr>
          <p:cNvPr id="4" name="flow-node">
            <a:extLst xmlns:a="http://schemas.openxmlformats.org/drawingml/2006/main">
              <a:ext uri="{FF2B5EF4-FFF2-40B4-BE49-F238E27FC236}">
                <a16:creationId xmlns:a16="http://schemas.microsoft.com/office/drawing/2014/main" id="{B008163D-859D-477B-82C2-60F7421B2A6E}"/>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Staffing allowance</a:t>
            </a:r>
          </a:p>
        </p:txBody>
      </p:sp>
      <p:sp>
        <p:nvSpPr>
          <p:cNvPr id="5" name="flow-node">
            <a:extLst xmlns:a="http://schemas.openxmlformats.org/drawingml/2006/main">
              <a:ext uri="{FF2B5EF4-FFF2-40B4-BE49-F238E27FC236}">
                <a16:creationId xmlns:a16="http://schemas.microsoft.com/office/drawing/2014/main" id="{3529F452-0451-4903-AF46-AE2028383138}"/>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Deliverable units</a:t>
            </a:r>
          </a:p>
        </p:txBody>
      </p:sp>
      <p:sp>
        <p:nvSpPr>
          <p:cNvPr id="6" name="flow-node">
            <a:extLst xmlns:a="http://schemas.openxmlformats.org/drawingml/2006/main">
              <a:ext uri="{FF2B5EF4-FFF2-40B4-BE49-F238E27FC236}">
                <a16:creationId xmlns:a16="http://schemas.microsoft.com/office/drawing/2014/main" id="{96B25F49-7E98-423E-B6BA-EE578D845766}"/>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Finance scenarios</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9F3A12F7-DDB5-4B69-84C5-3E657C49CCE3}"/>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 shared report prevents six unrelated answers.</a:t>
            </a:r>
          </a:p>
        </p:txBody>
      </p:sp>
      <p:sp>
        <p:nvSpPr>
          <p:cNvPr id="11" name="shape">
            <a:extLst xmlns:a="http://schemas.openxmlformats.org/drawingml/2006/main">
              <a:ext uri="{FF2B5EF4-FFF2-40B4-BE49-F238E27FC236}">
                <a16:creationId xmlns:a16="http://schemas.microsoft.com/office/drawing/2014/main" id="{B89EBD78-F2A8-4D0A-B701-402AF0E3507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1E11CD1-E6ED-4B68-8416-E27F9D49EAB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9E9A9BAC-45E1-49C0-9172-B39A1773F28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52</a:t>
            </a:r>
          </a:p>
        </p:txBody>
      </p:sp>
    </p:spTree>
    <p:extLst>
      <p:ext uri="{BB962C8B-B14F-4D97-AF65-F5344CB8AC3E}">
        <p14:creationId xmlns:p14="http://schemas.microsoft.com/office/powerpoint/2010/main" val="803897555"/>
      </p:ext>
    </p:extLst>
  </p:cSld>
</p:sld>
</file>

<file path=ppt/slides/slide5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741E008E-7891-459D-B531-9ACF603523F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OUTCOME CHALLENGE</a:t>
            </a:r>
          </a:p>
        </p:txBody>
      </p:sp>
      <p:sp>
        <p:nvSpPr>
          <p:cNvPr id="2" name="text">
            <a:extLst xmlns:a="http://schemas.openxmlformats.org/drawingml/2006/main">
              <a:ext uri="{FF2B5EF4-FFF2-40B4-BE49-F238E27FC236}">
                <a16:creationId xmlns:a16="http://schemas.microsoft.com/office/drawing/2014/main" id="{7D0291AA-1D02-41AB-A51D-885BFEF62074}"/>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Inject a shock. Keep the base facts visible.</a:t>
            </a:r>
          </a:p>
        </p:txBody>
      </p:sp>
      <p:sp>
        <p:nvSpPr>
          <p:cNvPr id="3" name="text">
            <a:extLst xmlns:a="http://schemas.openxmlformats.org/drawingml/2006/main">
              <a:ext uri="{FF2B5EF4-FFF2-40B4-BE49-F238E27FC236}">
                <a16:creationId xmlns:a16="http://schemas.microsoft.com/office/drawing/2014/main" id="{A3EAAB83-8975-47F8-A9F7-23DFD495891C}"/>
              </a:ext>
            </a:extLst>
          </p:cNvPr>
          <p:cNvSpPr>
            <a:spLocks xmlns:a="http://schemas.openxmlformats.org/drawingml/2006/main" noGrp="1"/>
          </p:cNvSpPr>
          <p:nvPr/>
        </p:nvSpPr>
        <p:spPr>
          <a:xfrm xmlns:a="http://schemas.openxmlformats.org/drawingml/2006/main">
            <a:off x="60960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 · START</a:t>
            </a:r>
          </a:p>
        </p:txBody>
      </p:sp>
      <p:sp>
        <p:nvSpPr>
          <p:cNvPr id="4" name="text">
            <a:extLst xmlns:a="http://schemas.openxmlformats.org/drawingml/2006/main">
              <a:ext uri="{FF2B5EF4-FFF2-40B4-BE49-F238E27FC236}">
                <a16:creationId xmlns:a16="http://schemas.microsoft.com/office/drawing/2014/main" id="{2810D1BE-70FF-4B08-9207-8C560AA3B8E5}"/>
              </a:ext>
            </a:extLst>
          </p:cNvPr>
          <p:cNvSpPr>
            <a:spLocks xmlns:a="http://schemas.openxmlformats.org/drawingml/2006/main" noGrp="1"/>
          </p:cNvSpPr>
          <p:nvPr/>
        </p:nvSpPr>
        <p:spPr>
          <a:xfrm xmlns:a="http://schemas.openxmlformats.org/drawingml/2006/main">
            <a:off x="60960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Budget ₹24 lakh</a:t>
            </a:r>
          </a:p>
        </p:txBody>
      </p:sp>
      <p:sp>
        <p:nvSpPr>
          <p:cNvPr id="5" name="text">
            <a:extLst xmlns:a="http://schemas.openxmlformats.org/drawingml/2006/main">
              <a:ext uri="{FF2B5EF4-FFF2-40B4-BE49-F238E27FC236}">
                <a16:creationId xmlns:a16="http://schemas.microsoft.com/office/drawing/2014/main" id="{619E99B5-0D88-4779-A5AE-D3BD22018899}"/>
              </a:ext>
            </a:extLst>
          </p:cNvPr>
          <p:cNvSpPr>
            <a:spLocks xmlns:a="http://schemas.openxmlformats.org/drawingml/2006/main" noGrp="1"/>
          </p:cNvSpPr>
          <p:nvPr/>
        </p:nvSpPr>
        <p:spPr>
          <a:xfrm xmlns:a="http://schemas.openxmlformats.org/drawingml/2006/main">
            <a:off x="4314825"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 · CHANGE</a:t>
            </a:r>
          </a:p>
        </p:txBody>
      </p:sp>
      <p:sp>
        <p:nvSpPr>
          <p:cNvPr id="6" name="text">
            <a:extLst xmlns:a="http://schemas.openxmlformats.org/drawingml/2006/main">
              <a:ext uri="{FF2B5EF4-FFF2-40B4-BE49-F238E27FC236}">
                <a16:creationId xmlns:a16="http://schemas.microsoft.com/office/drawing/2014/main" id="{AF40DE58-4442-41A8-B10B-045B2D1247D3}"/>
              </a:ext>
            </a:extLst>
          </p:cNvPr>
          <p:cNvSpPr>
            <a:spLocks xmlns:a="http://schemas.openxmlformats.org/drawingml/2006/main" noGrp="1"/>
          </p:cNvSpPr>
          <p:nvPr/>
        </p:nvSpPr>
        <p:spPr>
          <a:xfrm xmlns:a="http://schemas.openxmlformats.org/drawingml/2006/main">
            <a:off x="4314825"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Cut by 25%</a:t>
            </a:r>
          </a:p>
        </p:txBody>
      </p:sp>
      <p:sp>
        <p:nvSpPr>
          <p:cNvPr id="7" name="text">
            <a:extLst xmlns:a="http://schemas.openxmlformats.org/drawingml/2006/main">
              <a:ext uri="{FF2B5EF4-FFF2-40B4-BE49-F238E27FC236}">
                <a16:creationId xmlns:a16="http://schemas.microsoft.com/office/drawing/2014/main" id="{4C6FA73E-E722-4674-8AC1-C150BB9DD806}"/>
              </a:ext>
            </a:extLst>
          </p:cNvPr>
          <p:cNvSpPr>
            <a:spLocks xmlns:a="http://schemas.openxmlformats.org/drawingml/2006/main" noGrp="1"/>
          </p:cNvSpPr>
          <p:nvPr/>
        </p:nvSpPr>
        <p:spPr>
          <a:xfrm xmlns:a="http://schemas.openxmlformats.org/drawingml/2006/main">
            <a:off x="8020050" y="2524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 · CHECK</a:t>
            </a:r>
          </a:p>
        </p:txBody>
      </p:sp>
      <p:sp>
        <p:nvSpPr>
          <p:cNvPr id="8" name="text">
            <a:extLst xmlns:a="http://schemas.openxmlformats.org/drawingml/2006/main">
              <a:ext uri="{FF2B5EF4-FFF2-40B4-BE49-F238E27FC236}">
                <a16:creationId xmlns:a16="http://schemas.microsoft.com/office/drawing/2014/main" id="{73BA0EAE-6BB1-49B0-9CA7-981C379EDBA3}"/>
              </a:ext>
            </a:extLst>
          </p:cNvPr>
          <p:cNvSpPr>
            <a:spLocks xmlns:a="http://schemas.openxmlformats.org/drawingml/2006/main" noGrp="1"/>
          </p:cNvSpPr>
          <p:nvPr/>
        </p:nvSpPr>
        <p:spPr>
          <a:xfrm xmlns:a="http://schemas.openxmlformats.org/drawingml/2006/main">
            <a:off x="8020050" y="3114675"/>
            <a:ext cx="34575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42C38"/>
                </a:solidFill>
                <a:latin typeface="Aptos"/>
                <a:ea typeface="Aptos"/>
                <a:cs typeface="Aptos"/>
              </a:defRPr>
            </a:pPr>
            <a:r>
              <a:rPr sz="3150" b="1">
                <a:solidFill>
                  <a:srgbClr val="142C38"/>
                </a:solidFill>
                <a:latin typeface="Aptos"/>
                <a:ea typeface="Aptos"/>
                <a:cs typeface="Aptos"/>
              </a:rPr>
              <a:t>Budget ₹18 lakh</a:t>
            </a:r>
          </a:p>
        </p:txBody>
      </p:sp>
      <p:sp>
        <p:nvSpPr>
          <p:cNvPr id="9" name="text">
            <a:extLst xmlns:a="http://schemas.openxmlformats.org/drawingml/2006/main">
              <a:ext uri="{FF2B5EF4-FFF2-40B4-BE49-F238E27FC236}">
                <a16:creationId xmlns:a16="http://schemas.microsoft.com/office/drawing/2014/main" id="{0C04DB05-0523-42CB-88C8-1CFE484EF750}"/>
              </a:ext>
            </a:extLst>
          </p:cNvPr>
          <p:cNvSpPr>
            <a:spLocks xmlns:a="http://schemas.openxmlformats.org/drawingml/2006/main" noGrp="1"/>
          </p:cNvSpPr>
          <p:nvPr/>
        </p:nvSpPr>
        <p:spPr>
          <a:xfrm xmlns:a="http://schemas.openxmlformats.org/drawingml/2006/main">
            <a:off x="609600" y="53625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Choose Budget −25%, run the complete swarm, then inspect LEDGER.</a:t>
            </a:r>
          </a:p>
        </p:txBody>
      </p:sp>
      <p:sp>
        <p:nvSpPr>
          <p:cNvPr id="10" name="shape">
            <a:extLst xmlns:a="http://schemas.openxmlformats.org/drawingml/2006/main">
              <a:ext uri="{FF2B5EF4-FFF2-40B4-BE49-F238E27FC236}">
                <a16:creationId xmlns:a16="http://schemas.microsoft.com/office/drawing/2014/main" id="{C7FA3082-8002-4E2E-BFCF-15CC5074C102}"/>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E0EE530-9C0F-4190-B709-86C0FD82091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2" name="text">
            <a:extLst xmlns:a="http://schemas.openxmlformats.org/drawingml/2006/main">
              <a:ext uri="{FF2B5EF4-FFF2-40B4-BE49-F238E27FC236}">
                <a16:creationId xmlns:a16="http://schemas.microsoft.com/office/drawing/2014/main" id="{7B72AD13-72E5-4284-B6E2-4D9A2DFB98D5}"/>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3" name="text">
            <a:extLst xmlns:a="http://schemas.openxmlformats.org/drawingml/2006/main">
              <a:ext uri="{FF2B5EF4-FFF2-40B4-BE49-F238E27FC236}">
                <a16:creationId xmlns:a16="http://schemas.microsoft.com/office/drawing/2014/main" id="{BC7D7494-3CE1-4E90-8EE0-C08420C5F5D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53</a:t>
            </a:r>
          </a:p>
        </p:txBody>
      </p:sp>
    </p:spTree>
    <p:extLst>
      <p:ext uri="{BB962C8B-B14F-4D97-AF65-F5344CB8AC3E}">
        <p14:creationId xmlns:p14="http://schemas.microsoft.com/office/powerpoint/2010/main" val="600998069"/>
      </p:ext>
    </p:extLst>
  </p:cSld>
</p:sld>
</file>

<file path=ppt/slides/slide5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1A6F4238-F60F-47CE-8ED5-374C2FEA06C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OUTCOME CHALLENGE</a:t>
            </a:r>
          </a:p>
        </p:txBody>
      </p:sp>
      <p:sp>
        <p:nvSpPr>
          <p:cNvPr id="2" name="text">
            <a:extLst xmlns:a="http://schemas.openxmlformats.org/drawingml/2006/main">
              <a:ext uri="{FF2B5EF4-FFF2-40B4-BE49-F238E27FC236}">
                <a16:creationId xmlns:a16="http://schemas.microsoft.com/office/drawing/2014/main" id="{BCD87A9B-5E08-4D03-9F1E-7E954E28382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Compare the decision, not just the screen.</a:t>
            </a:r>
          </a:p>
        </p:txBody>
      </p:sp>
      <p:sp>
        <p:nvSpPr>
          <p:cNvPr id="3" name="text">
            <a:extLst xmlns:a="http://schemas.openxmlformats.org/drawingml/2006/main">
              <a:ext uri="{FF2B5EF4-FFF2-40B4-BE49-F238E27FC236}">
                <a16:creationId xmlns:a16="http://schemas.microsoft.com/office/drawing/2014/main" id="{2B93BCC8-DBAF-4E6E-B77D-293F74F181E2}"/>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BASELINE</a:t>
            </a:r>
          </a:p>
        </p:txBody>
      </p:sp>
      <p:sp>
        <p:nvSpPr>
          <p:cNvPr id="4" name="text">
            <a:extLst xmlns:a="http://schemas.openxmlformats.org/drawingml/2006/main">
              <a:ext uri="{FF2B5EF4-FFF2-40B4-BE49-F238E27FC236}">
                <a16:creationId xmlns:a16="http://schemas.microsoft.com/office/drawing/2014/main" id="{59300D01-5AAC-443D-AB86-AD00C711BE79}"/>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BUDGET −25%</a:t>
            </a:r>
          </a:p>
        </p:txBody>
      </p:sp>
      <p:sp>
        <p:nvSpPr>
          <p:cNvPr id="5" name="shape">
            <a:extLst xmlns:a="http://schemas.openxmlformats.org/drawingml/2006/main">
              <a:ext uri="{FF2B5EF4-FFF2-40B4-BE49-F238E27FC236}">
                <a16:creationId xmlns:a16="http://schemas.microsoft.com/office/drawing/2014/main" id="{6334FF7E-50CF-453B-87D4-CA4B877CE850}"/>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A174FC7-3057-4037-BC1E-EA8FEA5195B1}"/>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Budget ₹24,00,000</a:t>
            </a:r>
          </a:p>
        </p:txBody>
      </p:sp>
      <p:sp>
        <p:nvSpPr>
          <p:cNvPr id="7" name="text">
            <a:extLst xmlns:a="http://schemas.openxmlformats.org/drawingml/2006/main">
              <a:ext uri="{FF2B5EF4-FFF2-40B4-BE49-F238E27FC236}">
                <a16:creationId xmlns:a16="http://schemas.microsoft.com/office/drawing/2014/main" id="{CB99CD82-72E1-4E11-A8FA-9F9607677811}"/>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Budget ₹18,00,000</a:t>
            </a:r>
          </a:p>
        </p:txBody>
      </p:sp>
      <p:sp>
        <p:nvSpPr>
          <p:cNvPr id="8" name="shape">
            <a:extLst xmlns:a="http://schemas.openxmlformats.org/drawingml/2006/main">
              <a:ext uri="{FF2B5EF4-FFF2-40B4-BE49-F238E27FC236}">
                <a16:creationId xmlns:a16="http://schemas.microsoft.com/office/drawing/2014/main" id="{2E486590-1529-4D88-A28D-2369D55D0CF9}"/>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0423BFF-1ECB-4567-BDC3-C7CCB85F7836}"/>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Cash needed ₹24,00,000</a:t>
            </a:r>
          </a:p>
        </p:txBody>
      </p:sp>
      <p:sp>
        <p:nvSpPr>
          <p:cNvPr id="10" name="text">
            <a:extLst xmlns:a="http://schemas.openxmlformats.org/drawingml/2006/main">
              <a:ext uri="{FF2B5EF4-FFF2-40B4-BE49-F238E27FC236}">
                <a16:creationId xmlns:a16="http://schemas.microsoft.com/office/drawing/2014/main" id="{EEBD99A5-CF20-4B8A-B761-D7C18B240274}"/>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Cash needed ₹24,00,000</a:t>
            </a:r>
          </a:p>
        </p:txBody>
      </p:sp>
      <p:sp>
        <p:nvSpPr>
          <p:cNvPr id="11" name="shape">
            <a:extLst xmlns:a="http://schemas.openxmlformats.org/drawingml/2006/main">
              <a:ext uri="{FF2B5EF4-FFF2-40B4-BE49-F238E27FC236}">
                <a16:creationId xmlns:a16="http://schemas.microsoft.com/office/drawing/2014/main" id="{FF4FA66F-CB3B-46B7-BCF6-E6A0D85F16EA}"/>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1C35C5D4-E4A8-41F2-A6F1-C96C205DB424}"/>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Funding gap ₹0</a:t>
            </a:r>
          </a:p>
        </p:txBody>
      </p:sp>
      <p:sp>
        <p:nvSpPr>
          <p:cNvPr id="13" name="text">
            <a:extLst xmlns:a="http://schemas.openxmlformats.org/drawingml/2006/main">
              <a:ext uri="{FF2B5EF4-FFF2-40B4-BE49-F238E27FC236}">
                <a16:creationId xmlns:a16="http://schemas.microsoft.com/office/drawing/2014/main" id="{5192C334-4A18-4E1D-9714-1675DA2775E0}"/>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Funding gap ₹6,00,000</a:t>
            </a:r>
          </a:p>
        </p:txBody>
      </p:sp>
      <p:sp>
        <p:nvSpPr>
          <p:cNvPr id="14" name="shape">
            <a:extLst xmlns:a="http://schemas.openxmlformats.org/drawingml/2006/main">
              <a:ext uri="{FF2B5EF4-FFF2-40B4-BE49-F238E27FC236}">
                <a16:creationId xmlns:a16="http://schemas.microsoft.com/office/drawing/2014/main" id="{05903BBF-7C6D-411C-8671-9D2AAB48245F}"/>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50963BB-9221-4C74-90FF-DDBCFAAFBE1D}"/>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CONDITIONAL GO</a:t>
            </a:r>
          </a:p>
        </p:txBody>
      </p:sp>
      <p:sp>
        <p:nvSpPr>
          <p:cNvPr id="16" name="text">
            <a:extLst xmlns:a="http://schemas.openxmlformats.org/drawingml/2006/main">
              <a:ext uri="{FF2B5EF4-FFF2-40B4-BE49-F238E27FC236}">
                <a16:creationId xmlns:a16="http://schemas.microsoft.com/office/drawing/2014/main" id="{87F5B379-C91D-4FDC-80AD-71898B75D642}"/>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HOLD</a:t>
            </a:r>
          </a:p>
        </p:txBody>
      </p:sp>
      <p:sp>
        <p:nvSpPr>
          <p:cNvPr id="17" name="shape">
            <a:extLst xmlns:a="http://schemas.openxmlformats.org/drawingml/2006/main">
              <a:ext uri="{FF2B5EF4-FFF2-40B4-BE49-F238E27FC236}">
                <a16:creationId xmlns:a16="http://schemas.microsoft.com/office/drawing/2014/main" id="{C855D00F-CBBF-4826-8859-24569C91BE21}"/>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2B64BAD4-D9D4-4F56-B550-CCA41AFFE052}"/>
              </a:ext>
            </a:extLst>
          </p:cNvPr>
          <p:cNvSpPr>
            <a:spLocks xmlns:a="http://schemas.openxmlformats.org/drawingml/2006/main" noGrp="1"/>
          </p:cNvSpPr>
          <p:nvPr/>
        </p:nvSpPr>
        <p:spPr>
          <a:xfrm xmlns:a="http://schemas.openxmlformats.org/drawingml/2006/main">
            <a:off x="609600" y="57626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Run Archive → select exactly two completed runs.</a:t>
            </a:r>
          </a:p>
        </p:txBody>
      </p:sp>
      <p:sp>
        <p:nvSpPr>
          <p:cNvPr id="19" name="shape">
            <a:extLst xmlns:a="http://schemas.openxmlformats.org/drawingml/2006/main">
              <a:ext uri="{FF2B5EF4-FFF2-40B4-BE49-F238E27FC236}">
                <a16:creationId xmlns:a16="http://schemas.microsoft.com/office/drawing/2014/main" id="{F6F6785C-C608-46A5-8386-2FEBB6C81D78}"/>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38422B49-707F-494E-8751-21881D1F098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1" name="text">
            <a:extLst xmlns:a="http://schemas.openxmlformats.org/drawingml/2006/main">
              <a:ext uri="{FF2B5EF4-FFF2-40B4-BE49-F238E27FC236}">
                <a16:creationId xmlns:a16="http://schemas.microsoft.com/office/drawing/2014/main" id="{999AC718-ADE8-4143-9943-EDB1DE7D5B31}"/>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22" name="text">
            <a:extLst xmlns:a="http://schemas.openxmlformats.org/drawingml/2006/main">
              <a:ext uri="{FF2B5EF4-FFF2-40B4-BE49-F238E27FC236}">
                <a16:creationId xmlns:a16="http://schemas.microsoft.com/office/drawing/2014/main" id="{6FB15C8E-4148-4975-A7E6-FE733E575FB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54</a:t>
            </a:r>
          </a:p>
        </p:txBody>
      </p:sp>
    </p:spTree>
    <p:extLst>
      <p:ext uri="{BB962C8B-B14F-4D97-AF65-F5344CB8AC3E}">
        <p14:creationId xmlns:p14="http://schemas.microsoft.com/office/powerpoint/2010/main" val="826198649"/>
      </p:ext>
    </p:extLst>
  </p:cSld>
</p:sld>
</file>

<file path=ppt/slides/slide5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11E9437D-C4EB-48E3-B04B-3CC9E44295B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OUTCOME CHALLENGE</a:t>
            </a:r>
          </a:p>
        </p:txBody>
      </p:sp>
      <p:sp>
        <p:nvSpPr>
          <p:cNvPr id="2" name="text">
            <a:extLst xmlns:a="http://schemas.openxmlformats.org/drawingml/2006/main">
              <a:ext uri="{FF2B5EF4-FFF2-40B4-BE49-F238E27FC236}">
                <a16:creationId xmlns:a16="http://schemas.microsoft.com/office/drawing/2014/main" id="{A25FAE75-ACFF-4FAE-8A3F-7F011E51ED3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Different shocks reveal different weak points.</a:t>
            </a:r>
          </a:p>
        </p:txBody>
      </p:sp>
      <p:sp>
        <p:nvSpPr>
          <p:cNvPr id="3" name="text">
            <a:extLst xmlns:a="http://schemas.openxmlformats.org/drawingml/2006/main">
              <a:ext uri="{FF2B5EF4-FFF2-40B4-BE49-F238E27FC236}">
                <a16:creationId xmlns:a16="http://schemas.microsoft.com/office/drawing/2014/main" id="{A8F6CAD3-D15D-4C89-B3A2-37BC802B05B7}"/>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Change</a:t>
            </a:r>
          </a:p>
        </p:txBody>
      </p:sp>
      <p:sp>
        <p:nvSpPr>
          <p:cNvPr id="4" name="text">
            <a:extLst xmlns:a="http://schemas.openxmlformats.org/drawingml/2006/main">
              <a:ext uri="{FF2B5EF4-FFF2-40B4-BE49-F238E27FC236}">
                <a16:creationId xmlns:a16="http://schemas.microsoft.com/office/drawing/2014/main" id="{F1D4C567-C40C-4D3C-B456-2BD98528808E}"/>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Expected default effect</a:t>
            </a:r>
          </a:p>
        </p:txBody>
      </p:sp>
      <p:sp>
        <p:nvSpPr>
          <p:cNvPr id="5" name="text">
            <a:extLst xmlns:a="http://schemas.openxmlformats.org/drawingml/2006/main">
              <a:ext uri="{FF2B5EF4-FFF2-40B4-BE49-F238E27FC236}">
                <a16:creationId xmlns:a16="http://schemas.microsoft.com/office/drawing/2014/main" id="{6AC5A7F1-5B6A-48DB-ACF1-C36D2FEDC8D8}"/>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Executive gate</a:t>
            </a:r>
          </a:p>
        </p:txBody>
      </p:sp>
      <p:sp>
        <p:nvSpPr>
          <p:cNvPr id="6" name="shape">
            <a:extLst xmlns:a="http://schemas.openxmlformats.org/drawingml/2006/main">
              <a:ext uri="{FF2B5EF4-FFF2-40B4-BE49-F238E27FC236}">
                <a16:creationId xmlns:a16="http://schemas.microsoft.com/office/drawing/2014/main" id="{68AB058F-09F0-4277-90C2-6902B2E065C7}"/>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13131424-DD06-4FEA-8F2A-A80DE86D7C57}"/>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Supplier +14 days</a:t>
            </a:r>
          </a:p>
        </p:txBody>
      </p:sp>
      <p:sp>
        <p:nvSpPr>
          <p:cNvPr id="8" name="text">
            <a:extLst xmlns:a="http://schemas.openxmlformats.org/drawingml/2006/main">
              <a:ext uri="{FF2B5EF4-FFF2-40B4-BE49-F238E27FC236}">
                <a16:creationId xmlns:a16="http://schemas.microsoft.com/office/drawing/2014/main" id="{24673B7B-FDA0-4205-80A1-EC1C2D6FA290}"/>
              </a:ext>
            </a:extLst>
          </p:cNvPr>
          <p:cNvSpPr>
            <a:spLocks xmlns:a="http://schemas.openxmlformats.org/drawingml/2006/main" noGrp="1"/>
          </p:cNvSpPr>
          <p:nvPr/>
        </p:nvSpPr>
        <p:spPr>
          <a:xfrm xmlns:a="http://schemas.openxmlformats.org/drawingml/2006/main">
            <a:off x="3162300" y="267652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600 units miss the window</a:t>
            </a:r>
          </a:p>
        </p:txBody>
      </p:sp>
      <p:sp>
        <p:nvSpPr>
          <p:cNvPr id="9" name="text">
            <a:extLst xmlns:a="http://schemas.openxmlformats.org/drawingml/2006/main">
              <a:ext uri="{FF2B5EF4-FFF2-40B4-BE49-F238E27FC236}">
                <a16:creationId xmlns:a16="http://schemas.microsoft.com/office/drawing/2014/main" id="{7B9109FD-16E3-4598-992F-9ADCB3771C03}"/>
              </a:ext>
            </a:extLst>
          </p:cNvPr>
          <p:cNvSpPr>
            <a:spLocks xmlns:a="http://schemas.openxmlformats.org/drawingml/2006/main" noGrp="1"/>
          </p:cNvSpPr>
          <p:nvPr/>
        </p:nvSpPr>
        <p:spPr>
          <a:xfrm xmlns:a="http://schemas.openxmlformats.org/drawingml/2006/main">
            <a:off x="7324725" y="267652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HOLD</a:t>
            </a:r>
          </a:p>
        </p:txBody>
      </p:sp>
      <p:sp>
        <p:nvSpPr>
          <p:cNvPr id="10" name="shape">
            <a:extLst xmlns:a="http://schemas.openxmlformats.org/drawingml/2006/main">
              <a:ext uri="{FF2B5EF4-FFF2-40B4-BE49-F238E27FC236}">
                <a16:creationId xmlns:a16="http://schemas.microsoft.com/office/drawing/2014/main" id="{1A48B300-E57D-40E4-8B64-32C2D1B8FAFC}"/>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1565281-54EB-4D34-9C34-B146DFFBFA82}"/>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Customer trust alert</a:t>
            </a:r>
          </a:p>
        </p:txBody>
      </p:sp>
      <p:sp>
        <p:nvSpPr>
          <p:cNvPr id="12" name="text">
            <a:extLst xmlns:a="http://schemas.openxmlformats.org/drawingml/2006/main">
              <a:ext uri="{FF2B5EF4-FFF2-40B4-BE49-F238E27FC236}">
                <a16:creationId xmlns:a16="http://schemas.microsoft.com/office/drawing/2014/main" id="{4409C6EB-2B45-4039-81B5-1EFA7E07BC5B}"/>
              </a:ext>
            </a:extLst>
          </p:cNvPr>
          <p:cNvSpPr>
            <a:spLocks xmlns:a="http://schemas.openxmlformats.org/drawingml/2006/main" noGrp="1"/>
          </p:cNvSpPr>
          <p:nvPr/>
        </p:nvSpPr>
        <p:spPr>
          <a:xfrm xmlns:a="http://schemas.openxmlformats.org/drawingml/2006/main">
            <a:off x="3162300" y="346710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Labelling concern blocks promotion</a:t>
            </a:r>
          </a:p>
        </p:txBody>
      </p:sp>
      <p:sp>
        <p:nvSpPr>
          <p:cNvPr id="13" name="text">
            <a:extLst xmlns:a="http://schemas.openxmlformats.org/drawingml/2006/main">
              <a:ext uri="{FF2B5EF4-FFF2-40B4-BE49-F238E27FC236}">
                <a16:creationId xmlns:a16="http://schemas.microsoft.com/office/drawing/2014/main" id="{28CC707D-25E1-420A-8179-63DB36E989F7}"/>
              </a:ext>
            </a:extLst>
          </p:cNvPr>
          <p:cNvSpPr>
            <a:spLocks xmlns:a="http://schemas.openxmlformats.org/drawingml/2006/main" noGrp="1"/>
          </p:cNvSpPr>
          <p:nvPr/>
        </p:nvSpPr>
        <p:spPr>
          <a:xfrm xmlns:a="http://schemas.openxmlformats.org/drawingml/2006/main">
            <a:off x="7324725" y="346710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HOLD</a:t>
            </a:r>
          </a:p>
        </p:txBody>
      </p:sp>
      <p:sp>
        <p:nvSpPr>
          <p:cNvPr id="14" name="shape">
            <a:extLst xmlns:a="http://schemas.openxmlformats.org/drawingml/2006/main">
              <a:ext uri="{FF2B5EF4-FFF2-40B4-BE49-F238E27FC236}">
                <a16:creationId xmlns:a16="http://schemas.microsoft.com/office/drawing/2014/main" id="{64640F10-156E-4E38-940E-CD64F9BE0ED5}"/>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BB67991B-2A84-495C-B6B8-23C29F126E50}"/>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Demand +40%</a:t>
            </a:r>
          </a:p>
        </p:txBody>
      </p:sp>
      <p:sp>
        <p:nvSpPr>
          <p:cNvPr id="16" name="text">
            <a:extLst xmlns:a="http://schemas.openxmlformats.org/drawingml/2006/main">
              <a:ext uri="{FF2B5EF4-FFF2-40B4-BE49-F238E27FC236}">
                <a16:creationId xmlns:a16="http://schemas.microsoft.com/office/drawing/2014/main" id="{875C0E82-CF19-4D2B-BE61-A685436FA1D6}"/>
              </a:ext>
            </a:extLst>
          </p:cNvPr>
          <p:cNvSpPr>
            <a:spLocks xmlns:a="http://schemas.openxmlformats.org/drawingml/2006/main" noGrp="1"/>
          </p:cNvSpPr>
          <p:nvPr/>
        </p:nvSpPr>
        <p:spPr>
          <a:xfrm xmlns:a="http://schemas.openxmlformats.org/drawingml/2006/main">
            <a:off x="3162300" y="425767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₹7.8 lakh gap; 4,200 units short</a:t>
            </a:r>
          </a:p>
        </p:txBody>
      </p:sp>
      <p:sp>
        <p:nvSpPr>
          <p:cNvPr id="17" name="text">
            <a:extLst xmlns:a="http://schemas.openxmlformats.org/drawingml/2006/main">
              <a:ext uri="{FF2B5EF4-FFF2-40B4-BE49-F238E27FC236}">
                <a16:creationId xmlns:a16="http://schemas.microsoft.com/office/drawing/2014/main" id="{650141AD-1DD5-4683-9509-270B7AD7BEFF}"/>
              </a:ext>
            </a:extLst>
          </p:cNvPr>
          <p:cNvSpPr>
            <a:spLocks xmlns:a="http://schemas.openxmlformats.org/drawingml/2006/main" noGrp="1"/>
          </p:cNvSpPr>
          <p:nvPr/>
        </p:nvSpPr>
        <p:spPr>
          <a:xfrm xmlns:a="http://schemas.openxmlformats.org/drawingml/2006/main">
            <a:off x="7324725" y="425767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HOLD</a:t>
            </a:r>
          </a:p>
        </p:txBody>
      </p:sp>
      <p:sp>
        <p:nvSpPr>
          <p:cNvPr id="18" name="shape">
            <a:extLst xmlns:a="http://schemas.openxmlformats.org/drawingml/2006/main">
              <a:ext uri="{FF2B5EF4-FFF2-40B4-BE49-F238E27FC236}">
                <a16:creationId xmlns:a16="http://schemas.microsoft.com/office/drawing/2014/main" id="{BE30720D-666C-46F5-991C-A6AA3B03310D}"/>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D732A12-52F5-4C41-80A9-59F5E9043504}"/>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All figures assume an unedited default scenario.</a:t>
            </a:r>
          </a:p>
        </p:txBody>
      </p:sp>
      <p:sp>
        <p:nvSpPr>
          <p:cNvPr id="20" name="shape">
            <a:extLst xmlns:a="http://schemas.openxmlformats.org/drawingml/2006/main">
              <a:ext uri="{FF2B5EF4-FFF2-40B4-BE49-F238E27FC236}">
                <a16:creationId xmlns:a16="http://schemas.microsoft.com/office/drawing/2014/main" id="{28A28D94-0B92-4A60-8258-9C295133845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C14632B8-E437-4C4F-827F-7E0223B3765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2" name="text">
            <a:extLst xmlns:a="http://schemas.openxmlformats.org/drawingml/2006/main">
              <a:ext uri="{FF2B5EF4-FFF2-40B4-BE49-F238E27FC236}">
                <a16:creationId xmlns:a16="http://schemas.microsoft.com/office/drawing/2014/main" id="{09AD553B-FF60-4C8E-88D1-44204A43A712}"/>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55</a:t>
            </a:r>
          </a:p>
        </p:txBody>
      </p:sp>
    </p:spTree>
    <p:extLst>
      <p:ext uri="{BB962C8B-B14F-4D97-AF65-F5344CB8AC3E}">
        <p14:creationId xmlns:p14="http://schemas.microsoft.com/office/powerpoint/2010/main" val="370072841"/>
      </p:ext>
    </p:extLst>
  </p:cSld>
</p:sld>
</file>

<file path=ppt/slides/slide56.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550875ec7ef4e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D6E89A29-CDFF-447F-B754-72C3960FA2DB}"/>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071321"/>
          </a:solidFill>
          <a:ln xmlns:a="http://schemas.openxmlformats.org/drawingml/2006/main" w="0">
            <a:noFill/>
          </a:ln>
        </p:spPr>
      </p:sp>
      <p:sp>
        <p:nvSpPr>
          <p:cNvPr id="3" name="text">
            <a:extLst xmlns:a="http://schemas.openxmlformats.org/drawingml/2006/main">
              <a:ext uri="{FF2B5EF4-FFF2-40B4-BE49-F238E27FC236}">
                <a16:creationId xmlns:a16="http://schemas.microsoft.com/office/drawing/2014/main" id="{AF70F046-CB1A-4BE8-828A-FD58215D97E5}"/>
              </a:ext>
            </a:extLst>
          </p:cNvPr>
          <p:cNvSpPr>
            <a:spLocks xmlns:a="http://schemas.openxmlformats.org/drawingml/2006/main" noGrp="1"/>
          </p:cNvSpPr>
          <p:nvPr/>
        </p:nvSpPr>
        <p:spPr>
          <a:xfrm xmlns:a="http://schemas.openxmlformats.org/drawingml/2006/main">
            <a:off x="609600" y="400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REVIEW &amp; GOVERNANCE</a:t>
            </a:r>
          </a:p>
        </p:txBody>
      </p:sp>
      <p:sp>
        <p:nvSpPr>
          <p:cNvPr id="4" name="text">
            <a:extLst xmlns:a="http://schemas.openxmlformats.org/drawingml/2006/main">
              <a:ext uri="{FF2B5EF4-FFF2-40B4-BE49-F238E27FC236}">
                <a16:creationId xmlns:a16="http://schemas.microsoft.com/office/drawing/2014/main" id="{EBE8ED26-B25E-4B8A-8E30-A36461AE96C5}"/>
              </a:ext>
            </a:extLst>
          </p:cNvPr>
          <p:cNvSpPr>
            <a:spLocks xmlns:a="http://schemas.openxmlformats.org/drawingml/2006/main" noGrp="1"/>
          </p:cNvSpPr>
          <p:nvPr/>
        </p:nvSpPr>
        <p:spPr>
          <a:xfrm xmlns:a="http://schemas.openxmlformats.org/drawingml/2006/main">
            <a:off x="609600" y="1123950"/>
            <a:ext cx="42386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 human review</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is part of</a:t>
            </a:r>
          </a:p>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the system.</a:t>
            </a:r>
          </a:p>
        </p:txBody>
      </p:sp>
      <p:sp>
        <p:nvSpPr>
          <p:cNvPr id="5" name="text">
            <a:extLst xmlns:a="http://schemas.openxmlformats.org/drawingml/2006/main">
              <a:ext uri="{FF2B5EF4-FFF2-40B4-BE49-F238E27FC236}">
                <a16:creationId xmlns:a16="http://schemas.microsoft.com/office/drawing/2014/main" id="{B968C75B-07BF-4DF3-AAFB-FBBA8E4089AA}"/>
              </a:ext>
            </a:extLst>
          </p:cNvPr>
          <p:cNvSpPr>
            <a:spLocks xmlns:a="http://schemas.openxmlformats.org/drawingml/2006/main" noGrp="1"/>
          </p:cNvSpPr>
          <p:nvPr/>
        </p:nvSpPr>
        <p:spPr>
          <a:xfrm xmlns:a="http://schemas.openxmlformats.org/drawingml/2006/main">
            <a:off x="609600" y="3524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01</a:t>
            </a:r>
          </a:p>
        </p:txBody>
      </p:sp>
      <p:sp>
        <p:nvSpPr>
          <p:cNvPr id="6" name="text">
            <a:extLst xmlns:a="http://schemas.openxmlformats.org/drawingml/2006/main">
              <a:ext uri="{FF2B5EF4-FFF2-40B4-BE49-F238E27FC236}">
                <a16:creationId xmlns:a16="http://schemas.microsoft.com/office/drawing/2014/main" id="{3912D3C9-8502-4DA8-B3B1-ADAA85942E2C}"/>
              </a:ext>
            </a:extLst>
          </p:cNvPr>
          <p:cNvSpPr>
            <a:spLocks xmlns:a="http://schemas.openxmlformats.org/drawingml/2006/main" noGrp="1"/>
          </p:cNvSpPr>
          <p:nvPr/>
        </p:nvSpPr>
        <p:spPr>
          <a:xfrm xmlns:a="http://schemas.openxmlformats.org/drawingml/2006/main">
            <a:off x="1314450" y="34956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Check the evidence.</a:t>
            </a:r>
          </a:p>
        </p:txBody>
      </p:sp>
      <p:sp>
        <p:nvSpPr>
          <p:cNvPr id="7" name="text">
            <a:extLst xmlns:a="http://schemas.openxmlformats.org/drawingml/2006/main">
              <a:ext uri="{FF2B5EF4-FFF2-40B4-BE49-F238E27FC236}">
                <a16:creationId xmlns:a16="http://schemas.microsoft.com/office/drawing/2014/main" id="{22186D1E-3F37-4727-9B52-3421791ABFC6}"/>
              </a:ext>
            </a:extLst>
          </p:cNvPr>
          <p:cNvSpPr>
            <a:spLocks xmlns:a="http://schemas.openxmlformats.org/drawingml/2006/main" noGrp="1"/>
          </p:cNvSpPr>
          <p:nvPr/>
        </p:nvSpPr>
        <p:spPr>
          <a:xfrm xmlns:a="http://schemas.openxmlformats.org/drawingml/2006/main">
            <a:off x="609600" y="41148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02</a:t>
            </a:r>
          </a:p>
        </p:txBody>
      </p:sp>
      <p:sp>
        <p:nvSpPr>
          <p:cNvPr id="8" name="text">
            <a:extLst xmlns:a="http://schemas.openxmlformats.org/drawingml/2006/main">
              <a:ext uri="{FF2B5EF4-FFF2-40B4-BE49-F238E27FC236}">
                <a16:creationId xmlns:a16="http://schemas.microsoft.com/office/drawing/2014/main" id="{B9ACA839-BB12-4D27-B664-7058468DAFE5}"/>
              </a:ext>
            </a:extLst>
          </p:cNvPr>
          <p:cNvSpPr>
            <a:spLocks xmlns:a="http://schemas.openxmlformats.org/drawingml/2006/main" noGrp="1"/>
          </p:cNvSpPr>
          <p:nvPr/>
        </p:nvSpPr>
        <p:spPr>
          <a:xfrm xmlns:a="http://schemas.openxmlformats.org/drawingml/2006/main">
            <a:off x="1314450" y="40862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Challenge assumptions.</a:t>
            </a:r>
          </a:p>
        </p:txBody>
      </p:sp>
      <p:sp>
        <p:nvSpPr>
          <p:cNvPr id="9" name="text">
            <a:extLst xmlns:a="http://schemas.openxmlformats.org/drawingml/2006/main">
              <a:ext uri="{FF2B5EF4-FFF2-40B4-BE49-F238E27FC236}">
                <a16:creationId xmlns:a16="http://schemas.microsoft.com/office/drawing/2014/main" id="{EDA76FE2-820D-463E-BF03-F7736FAD0738}"/>
              </a:ext>
            </a:extLst>
          </p:cNvPr>
          <p:cNvSpPr>
            <a:spLocks xmlns:a="http://schemas.openxmlformats.org/drawingml/2006/main" noGrp="1"/>
          </p:cNvSpPr>
          <p:nvPr/>
        </p:nvSpPr>
        <p:spPr>
          <a:xfrm xmlns:a="http://schemas.openxmlformats.org/drawingml/2006/main">
            <a:off x="609600" y="47053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03</a:t>
            </a:r>
          </a:p>
        </p:txBody>
      </p:sp>
      <p:sp>
        <p:nvSpPr>
          <p:cNvPr id="10" name="text">
            <a:extLst xmlns:a="http://schemas.openxmlformats.org/drawingml/2006/main">
              <a:ext uri="{FF2B5EF4-FFF2-40B4-BE49-F238E27FC236}">
                <a16:creationId xmlns:a16="http://schemas.microsoft.com/office/drawing/2014/main" id="{38EE10AB-FCA8-4AC3-933B-97A7F4855354}"/>
              </a:ext>
            </a:extLst>
          </p:cNvPr>
          <p:cNvSpPr>
            <a:spLocks xmlns:a="http://schemas.openxmlformats.org/drawingml/2006/main" noGrp="1"/>
          </p:cNvSpPr>
          <p:nvPr/>
        </p:nvSpPr>
        <p:spPr>
          <a:xfrm xmlns:a="http://schemas.openxmlformats.org/drawingml/2006/main">
            <a:off x="1314450" y="467677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Keep the failed gates.</a:t>
            </a:r>
          </a:p>
        </p:txBody>
      </p:sp>
      <p:sp>
        <p:nvSpPr>
          <p:cNvPr id="11" name="text">
            <a:extLst xmlns:a="http://schemas.openxmlformats.org/drawingml/2006/main">
              <a:ext uri="{FF2B5EF4-FFF2-40B4-BE49-F238E27FC236}">
                <a16:creationId xmlns:a16="http://schemas.microsoft.com/office/drawing/2014/main" id="{DDF59B69-A1CA-4E26-810B-9489FBFC3CD4}"/>
              </a:ext>
            </a:extLst>
          </p:cNvPr>
          <p:cNvSpPr>
            <a:spLocks xmlns:a="http://schemas.openxmlformats.org/drawingml/2006/main" noGrp="1"/>
          </p:cNvSpPr>
          <p:nvPr/>
        </p:nvSpPr>
        <p:spPr>
          <a:xfrm xmlns:a="http://schemas.openxmlformats.org/drawingml/2006/main">
            <a:off x="609600" y="5295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04</a:t>
            </a:r>
          </a:p>
        </p:txBody>
      </p:sp>
      <p:sp>
        <p:nvSpPr>
          <p:cNvPr id="12" name="text">
            <a:extLst xmlns:a="http://schemas.openxmlformats.org/drawingml/2006/main">
              <a:ext uri="{FF2B5EF4-FFF2-40B4-BE49-F238E27FC236}">
                <a16:creationId xmlns:a16="http://schemas.microsoft.com/office/drawing/2014/main" id="{50B09B17-A7A8-4F21-82A4-8652C3569894}"/>
              </a:ext>
            </a:extLst>
          </p:cNvPr>
          <p:cNvSpPr>
            <a:spLocks xmlns:a="http://schemas.openxmlformats.org/drawingml/2006/main" noGrp="1"/>
          </p:cNvSpPr>
          <p:nvPr/>
        </p:nvSpPr>
        <p:spPr>
          <a:xfrm xmlns:a="http://schemas.openxmlformats.org/drawingml/2006/main">
            <a:off x="1314450" y="5267325"/>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DF5F1"/>
                </a:solidFill>
                <a:latin typeface="Aptos"/>
                <a:ea typeface="Aptos"/>
                <a:cs typeface="Aptos"/>
              </a:defRPr>
            </a:pPr>
            <a:r>
              <a:rPr sz="1950" b="0">
                <a:solidFill>
                  <a:srgbClr val="EDF5F1"/>
                </a:solidFill>
                <a:latin typeface="Aptos"/>
                <a:ea typeface="Aptos"/>
                <a:cs typeface="Aptos"/>
              </a:rPr>
              <a:t>Name an accountable owner.</a:t>
            </a:r>
          </a:p>
        </p:txBody>
      </p:sp>
      <p:sp>
        <p:nvSpPr>
          <p:cNvPr id="13" name="shape">
            <a:extLst xmlns:a="http://schemas.openxmlformats.org/drawingml/2006/main">
              <a:ext uri="{FF2B5EF4-FFF2-40B4-BE49-F238E27FC236}">
                <a16:creationId xmlns:a16="http://schemas.microsoft.com/office/drawing/2014/main" id="{A8EE5209-5B6E-4D78-BE93-DC527E5C8AC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92DF54F-B151-4912-A648-1C7D506B038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20F459D1-D2AC-4C83-88BE-E0243EDF6730}"/>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6" name="text">
            <a:extLst xmlns:a="http://schemas.openxmlformats.org/drawingml/2006/main">
              <a:ext uri="{FF2B5EF4-FFF2-40B4-BE49-F238E27FC236}">
                <a16:creationId xmlns:a16="http://schemas.microsoft.com/office/drawing/2014/main" id="{E02ED48D-A8E0-4532-97E0-7ACC27AB479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56</a:t>
            </a:r>
          </a:p>
        </p:txBody>
      </p:sp>
    </p:spTree>
    <p:extLst>
      <p:ext uri="{BB962C8B-B14F-4D97-AF65-F5344CB8AC3E}">
        <p14:creationId xmlns:p14="http://schemas.microsoft.com/office/powerpoint/2010/main" val="334960233"/>
      </p:ext>
    </p:extLst>
  </p:cSld>
</p:sld>
</file>

<file path=ppt/slides/slide5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322BD5F5-0D73-442C-BA01-01FCFCFF5E7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REVIEW &amp; GOVERNANCE</a:t>
            </a:r>
          </a:p>
        </p:txBody>
      </p:sp>
      <p:sp>
        <p:nvSpPr>
          <p:cNvPr id="2" name="text">
            <a:extLst xmlns:a="http://schemas.openxmlformats.org/drawingml/2006/main">
              <a:ext uri="{FF2B5EF4-FFF2-40B4-BE49-F238E27FC236}">
                <a16:creationId xmlns:a16="http://schemas.microsoft.com/office/drawing/2014/main" id="{717E7F6F-84F3-4B1F-8A60-74EAF130D32C}"/>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Try to break the workflow on purpose.</a:t>
            </a:r>
          </a:p>
        </p:txBody>
      </p:sp>
      <p:sp>
        <p:nvSpPr>
          <p:cNvPr id="3" name="text">
            <a:extLst xmlns:a="http://schemas.openxmlformats.org/drawingml/2006/main">
              <a:ext uri="{FF2B5EF4-FFF2-40B4-BE49-F238E27FC236}">
                <a16:creationId xmlns:a16="http://schemas.microsoft.com/office/drawing/2014/main" id="{A26D917E-7B23-445A-9DAB-34DDF695B74C}"/>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Test</a:t>
            </a:r>
          </a:p>
        </p:txBody>
      </p:sp>
      <p:sp>
        <p:nvSpPr>
          <p:cNvPr id="4" name="text">
            <a:extLst xmlns:a="http://schemas.openxmlformats.org/drawingml/2006/main">
              <a:ext uri="{FF2B5EF4-FFF2-40B4-BE49-F238E27FC236}">
                <a16:creationId xmlns:a16="http://schemas.microsoft.com/office/drawing/2014/main" id="{018545D8-D944-4362-B8A6-51EF9C5D5B00}"/>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Try this</a:t>
            </a:r>
          </a:p>
        </p:txBody>
      </p:sp>
      <p:sp>
        <p:nvSpPr>
          <p:cNvPr id="5" name="text">
            <a:extLst xmlns:a="http://schemas.openxmlformats.org/drawingml/2006/main">
              <a:ext uri="{FF2B5EF4-FFF2-40B4-BE49-F238E27FC236}">
                <a16:creationId xmlns:a16="http://schemas.microsoft.com/office/drawing/2014/main" id="{392B71F6-2A11-4091-A3C2-8EDA992EA167}"/>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Expected behavior</a:t>
            </a:r>
          </a:p>
        </p:txBody>
      </p:sp>
      <p:sp>
        <p:nvSpPr>
          <p:cNvPr id="6" name="shape">
            <a:extLst xmlns:a="http://schemas.openxmlformats.org/drawingml/2006/main">
              <a:ext uri="{FF2B5EF4-FFF2-40B4-BE49-F238E27FC236}">
                <a16:creationId xmlns:a16="http://schemas.microsoft.com/office/drawing/2014/main" id="{601CFF4D-C6EB-4728-B5EE-4552B9AE1BE9}"/>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CC9B7076-E961-4418-927C-7D6C2F8D4512}"/>
              </a:ext>
            </a:extLst>
          </p:cNvPr>
          <p:cNvSpPr>
            <a:spLocks xmlns:a="http://schemas.openxmlformats.org/drawingml/2006/main" noGrp="1"/>
          </p:cNvSpPr>
          <p:nvPr/>
        </p:nvSpPr>
        <p:spPr>
          <a:xfrm xmlns:a="http://schemas.openxmlformats.org/drawingml/2006/main">
            <a:off x="609600" y="267652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Invalid data</a:t>
            </a:r>
          </a:p>
        </p:txBody>
      </p:sp>
      <p:sp>
        <p:nvSpPr>
          <p:cNvPr id="8" name="text">
            <a:extLst xmlns:a="http://schemas.openxmlformats.org/drawingml/2006/main">
              <a:ext uri="{FF2B5EF4-FFF2-40B4-BE49-F238E27FC236}">
                <a16:creationId xmlns:a16="http://schemas.microsoft.com/office/drawing/2014/main" id="{9E1986BE-9E0D-492E-8F4B-E4992BAB8FCA}"/>
              </a:ext>
            </a:extLst>
          </p:cNvPr>
          <p:cNvSpPr>
            <a:spLocks xmlns:a="http://schemas.openxmlformats.org/drawingml/2006/main" noGrp="1"/>
          </p:cNvSpPr>
          <p:nvPr/>
        </p:nvSpPr>
        <p:spPr>
          <a:xfrm xmlns:a="http://schemas.openxmlformats.org/drawingml/2006/main">
            <a:off x="3162300" y="267652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Positive responses exceed total</a:t>
            </a:r>
          </a:p>
        </p:txBody>
      </p:sp>
      <p:sp>
        <p:nvSpPr>
          <p:cNvPr id="9" name="text">
            <a:extLst xmlns:a="http://schemas.openxmlformats.org/drawingml/2006/main">
              <a:ext uri="{FF2B5EF4-FFF2-40B4-BE49-F238E27FC236}">
                <a16:creationId xmlns:a16="http://schemas.microsoft.com/office/drawing/2014/main" id="{AF2520F3-B57C-4C3D-89AD-1F6C69589CB3}"/>
              </a:ext>
            </a:extLst>
          </p:cNvPr>
          <p:cNvSpPr>
            <a:spLocks xmlns:a="http://schemas.openxmlformats.org/drawingml/2006/main" noGrp="1"/>
          </p:cNvSpPr>
          <p:nvPr/>
        </p:nvSpPr>
        <p:spPr>
          <a:xfrm xmlns:a="http://schemas.openxmlformats.org/drawingml/2006/main">
            <a:off x="7324725" y="267652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Validation rejects it</a:t>
            </a:r>
          </a:p>
        </p:txBody>
      </p:sp>
      <p:sp>
        <p:nvSpPr>
          <p:cNvPr id="10" name="shape">
            <a:extLst xmlns:a="http://schemas.openxmlformats.org/drawingml/2006/main">
              <a:ext uri="{FF2B5EF4-FFF2-40B4-BE49-F238E27FC236}">
                <a16:creationId xmlns:a16="http://schemas.microsoft.com/office/drawing/2014/main" id="{4047228D-A858-44C4-B4D8-C24886401A3F}"/>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33FB075-FDC9-4F63-BBDF-4696AAF9A76C}"/>
              </a:ext>
            </a:extLst>
          </p:cNvPr>
          <p:cNvSpPr>
            <a:spLocks xmlns:a="http://schemas.openxmlformats.org/drawingml/2006/main" noGrp="1"/>
          </p:cNvSpPr>
          <p:nvPr/>
        </p:nvSpPr>
        <p:spPr>
          <a:xfrm xmlns:a="http://schemas.openxmlformats.org/drawingml/2006/main">
            <a:off x="609600" y="346710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People boundary</a:t>
            </a:r>
          </a:p>
        </p:txBody>
      </p:sp>
      <p:sp>
        <p:nvSpPr>
          <p:cNvPr id="12" name="text">
            <a:extLst xmlns:a="http://schemas.openxmlformats.org/drawingml/2006/main">
              <a:ext uri="{FF2B5EF4-FFF2-40B4-BE49-F238E27FC236}">
                <a16:creationId xmlns:a16="http://schemas.microsoft.com/office/drawing/2014/main" id="{4FADA867-6103-4F8B-A03F-F7FCCE94E530}"/>
              </a:ext>
            </a:extLst>
          </p:cNvPr>
          <p:cNvSpPr>
            <a:spLocks xmlns:a="http://schemas.openxmlformats.org/drawingml/2006/main" noGrp="1"/>
          </p:cNvSpPr>
          <p:nvPr/>
        </p:nvSpPr>
        <p:spPr>
          <a:xfrm xmlns:a="http://schemas.openxmlformats.org/drawingml/2006/main">
            <a:off x="3162300" y="346710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Add age to a candidate JSON</a:t>
            </a:r>
          </a:p>
        </p:txBody>
      </p:sp>
      <p:sp>
        <p:nvSpPr>
          <p:cNvPr id="13" name="text">
            <a:extLst xmlns:a="http://schemas.openxmlformats.org/drawingml/2006/main">
              <a:ext uri="{FF2B5EF4-FFF2-40B4-BE49-F238E27FC236}">
                <a16:creationId xmlns:a16="http://schemas.microsoft.com/office/drawing/2014/main" id="{0613DA30-EF90-4180-A1E8-320A612DA85F}"/>
              </a:ext>
            </a:extLst>
          </p:cNvPr>
          <p:cNvSpPr>
            <a:spLocks xmlns:a="http://schemas.openxmlformats.org/drawingml/2006/main" noGrp="1"/>
          </p:cNvSpPr>
          <p:nvPr/>
        </p:nvSpPr>
        <p:spPr>
          <a:xfrm xmlns:a="http://schemas.openxmlformats.org/drawingml/2006/main">
            <a:off x="7324725" y="346710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Unknown field rejected</a:t>
            </a:r>
          </a:p>
        </p:txBody>
      </p:sp>
      <p:sp>
        <p:nvSpPr>
          <p:cNvPr id="14" name="shape">
            <a:extLst xmlns:a="http://schemas.openxmlformats.org/drawingml/2006/main">
              <a:ext uri="{FF2B5EF4-FFF2-40B4-BE49-F238E27FC236}">
                <a16:creationId xmlns:a16="http://schemas.microsoft.com/office/drawing/2014/main" id="{F4B924F3-5A8F-4300-8DCD-1ADE7D52D1C9}"/>
              </a:ext>
            </a:extLst>
          </p:cNvPr>
          <p:cNvSpPr>
            <a:spLocks xmlns:a="http://schemas.openxmlformats.org/drawingml/2006/main" noGrp="1"/>
          </p:cNvSpPr>
          <p:nvPr/>
        </p:nvSpPr>
        <p:spPr>
          <a:xfrm xmlns:a="http://schemas.openxmlformats.org/drawingml/2006/main">
            <a:off x="609600" y="41529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296468C-AE05-4C74-B77F-5F9F74C93342}"/>
              </a:ext>
            </a:extLst>
          </p:cNvPr>
          <p:cNvSpPr>
            <a:spLocks xmlns:a="http://schemas.openxmlformats.org/drawingml/2006/main" noGrp="1"/>
          </p:cNvSpPr>
          <p:nvPr/>
        </p:nvSpPr>
        <p:spPr>
          <a:xfrm xmlns:a="http://schemas.openxmlformats.org/drawingml/2006/main">
            <a:off x="609600" y="4257675"/>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Unsupported evidence</a:t>
            </a:r>
          </a:p>
        </p:txBody>
      </p:sp>
      <p:sp>
        <p:nvSpPr>
          <p:cNvPr id="16" name="text">
            <a:extLst xmlns:a="http://schemas.openxmlformats.org/drawingml/2006/main">
              <a:ext uri="{FF2B5EF4-FFF2-40B4-BE49-F238E27FC236}">
                <a16:creationId xmlns:a16="http://schemas.microsoft.com/office/drawing/2014/main" id="{DEB023AE-338F-4F0C-B125-ADB270228263}"/>
              </a:ext>
            </a:extLst>
          </p:cNvPr>
          <p:cNvSpPr>
            <a:spLocks xmlns:a="http://schemas.openxmlformats.org/drawingml/2006/main" noGrp="1"/>
          </p:cNvSpPr>
          <p:nvPr/>
        </p:nvSpPr>
        <p:spPr>
          <a:xfrm xmlns:a="http://schemas.openxmlformats.org/drawingml/2006/main">
            <a:off x="3162300" y="4257675"/>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Ask about an absent memory topic</a:t>
            </a:r>
          </a:p>
        </p:txBody>
      </p:sp>
      <p:sp>
        <p:nvSpPr>
          <p:cNvPr id="17" name="text">
            <a:extLst xmlns:a="http://schemas.openxmlformats.org/drawingml/2006/main">
              <a:ext uri="{FF2B5EF4-FFF2-40B4-BE49-F238E27FC236}">
                <a16:creationId xmlns:a16="http://schemas.microsoft.com/office/drawing/2014/main" id="{935E7294-667D-4F5D-81B4-9123A1AAD08F}"/>
              </a:ext>
            </a:extLst>
          </p:cNvPr>
          <p:cNvSpPr>
            <a:spLocks xmlns:a="http://schemas.openxmlformats.org/drawingml/2006/main" noGrp="1"/>
          </p:cNvSpPr>
          <p:nvPr/>
        </p:nvSpPr>
        <p:spPr>
          <a:xfrm xmlns:a="http://schemas.openxmlformats.org/drawingml/2006/main">
            <a:off x="7324725" y="4257675"/>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No matching evidence in rehearsal</a:t>
            </a:r>
          </a:p>
        </p:txBody>
      </p:sp>
      <p:sp>
        <p:nvSpPr>
          <p:cNvPr id="18" name="shape">
            <a:extLst xmlns:a="http://schemas.openxmlformats.org/drawingml/2006/main">
              <a:ext uri="{FF2B5EF4-FFF2-40B4-BE49-F238E27FC236}">
                <a16:creationId xmlns:a16="http://schemas.microsoft.com/office/drawing/2014/main" id="{35545B66-2F78-4B2F-B65F-5DC1D7521B27}"/>
              </a:ext>
            </a:extLst>
          </p:cNvPr>
          <p:cNvSpPr>
            <a:spLocks xmlns:a="http://schemas.openxmlformats.org/drawingml/2006/main" noGrp="1"/>
          </p:cNvSpPr>
          <p:nvPr/>
        </p:nvSpPr>
        <p:spPr>
          <a:xfrm xmlns:a="http://schemas.openxmlformats.org/drawingml/2006/main">
            <a:off x="609600" y="49434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E3CF436-77EF-4385-93C2-49A74A51E44F}"/>
              </a:ext>
            </a:extLst>
          </p:cNvPr>
          <p:cNvSpPr>
            <a:spLocks xmlns:a="http://schemas.openxmlformats.org/drawingml/2006/main" noGrp="1"/>
          </p:cNvSpPr>
          <p:nvPr/>
        </p:nvSpPr>
        <p:spPr>
          <a:xfrm xmlns:a="http://schemas.openxmlformats.org/drawingml/2006/main">
            <a:off x="609600" y="5048250"/>
            <a:ext cx="2343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Prompt injection</a:t>
            </a:r>
          </a:p>
        </p:txBody>
      </p:sp>
      <p:sp>
        <p:nvSpPr>
          <p:cNvPr id="20" name="text">
            <a:extLst xmlns:a="http://schemas.openxmlformats.org/drawingml/2006/main">
              <a:ext uri="{FF2B5EF4-FFF2-40B4-BE49-F238E27FC236}">
                <a16:creationId xmlns:a16="http://schemas.microsoft.com/office/drawing/2014/main" id="{1EB18200-CD21-415B-9FC3-A82476FC00BC}"/>
              </a:ext>
            </a:extLst>
          </p:cNvPr>
          <p:cNvSpPr>
            <a:spLocks xmlns:a="http://schemas.openxmlformats.org/drawingml/2006/main" noGrp="1"/>
          </p:cNvSpPr>
          <p:nvPr/>
        </p:nvSpPr>
        <p:spPr>
          <a:xfrm xmlns:a="http://schemas.openxmlformats.org/drawingml/2006/main">
            <a:off x="3162300" y="5048250"/>
            <a:ext cx="395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Note says “ignore the budget”</a:t>
            </a:r>
          </a:p>
        </p:txBody>
      </p:sp>
      <p:sp>
        <p:nvSpPr>
          <p:cNvPr id="21" name="text">
            <a:extLst xmlns:a="http://schemas.openxmlformats.org/drawingml/2006/main">
              <a:ext uri="{FF2B5EF4-FFF2-40B4-BE49-F238E27FC236}">
                <a16:creationId xmlns:a16="http://schemas.microsoft.com/office/drawing/2014/main" id="{0A35F849-2D07-42A2-811C-F09DB6E267FD}"/>
              </a:ext>
            </a:extLst>
          </p:cNvPr>
          <p:cNvSpPr>
            <a:spLocks xmlns:a="http://schemas.openxmlformats.org/drawingml/2006/main" noGrp="1"/>
          </p:cNvSpPr>
          <p:nvPr/>
        </p:nvSpPr>
        <p:spPr>
          <a:xfrm xmlns:a="http://schemas.openxmlformats.org/drawingml/2006/main">
            <a:off x="7324725" y="5048250"/>
            <a:ext cx="4048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Tool cash and hold gates remain fixed</a:t>
            </a:r>
          </a:p>
        </p:txBody>
      </p:sp>
      <p:sp>
        <p:nvSpPr>
          <p:cNvPr id="22" name="shape">
            <a:extLst xmlns:a="http://schemas.openxmlformats.org/drawingml/2006/main">
              <a:ext uri="{FF2B5EF4-FFF2-40B4-BE49-F238E27FC236}">
                <a16:creationId xmlns:a16="http://schemas.microsoft.com/office/drawing/2014/main" id="{F9AE260E-4AC9-4D5F-BB7D-724B13EECA7B}"/>
              </a:ext>
            </a:extLst>
          </p:cNvPr>
          <p:cNvSpPr>
            <a:spLocks xmlns:a="http://schemas.openxmlformats.org/drawingml/2006/main" noGrp="1"/>
          </p:cNvSpPr>
          <p:nvPr/>
        </p:nvSpPr>
        <p:spPr>
          <a:xfrm xmlns:a="http://schemas.openxmlformats.org/drawingml/2006/main">
            <a:off x="609600" y="57340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shape">
            <a:extLst xmlns:a="http://schemas.openxmlformats.org/drawingml/2006/main">
              <a:ext uri="{FF2B5EF4-FFF2-40B4-BE49-F238E27FC236}">
                <a16:creationId xmlns:a16="http://schemas.microsoft.com/office/drawing/2014/main" id="{F643D370-AE50-4D65-964A-388BA7D8E8D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07D840FD-8B79-4967-85EE-72E86BB4146A}"/>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5" name="text">
            <a:extLst xmlns:a="http://schemas.openxmlformats.org/drawingml/2006/main">
              <a:ext uri="{FF2B5EF4-FFF2-40B4-BE49-F238E27FC236}">
                <a16:creationId xmlns:a16="http://schemas.microsoft.com/office/drawing/2014/main" id="{F41576DF-16A4-4FA6-AAAC-C57E1F07B93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57</a:t>
            </a:r>
          </a:p>
        </p:txBody>
      </p:sp>
    </p:spTree>
    <p:extLst>
      <p:ext uri="{BB962C8B-B14F-4D97-AF65-F5344CB8AC3E}">
        <p14:creationId xmlns:p14="http://schemas.microsoft.com/office/powerpoint/2010/main" val="956146041"/>
      </p:ext>
    </p:extLst>
  </p:cSld>
</p:sld>
</file>

<file path=ppt/slides/slide5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276B4FDC-15D6-4296-AAFB-AC74A5C7256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REVIEW &amp; GOVERNANCE</a:t>
            </a:r>
          </a:p>
        </p:txBody>
      </p:sp>
      <p:sp>
        <p:nvSpPr>
          <p:cNvPr id="2" name="text">
            <a:extLst xmlns:a="http://schemas.openxmlformats.org/drawingml/2006/main">
              <a:ext uri="{FF2B5EF4-FFF2-40B4-BE49-F238E27FC236}">
                <a16:creationId xmlns:a16="http://schemas.microsoft.com/office/drawing/2014/main" id="{1DCDBBC5-5B0A-4D64-8C18-6283166FEC7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 checkmark means one check passed.</a:t>
            </a:r>
          </a:p>
        </p:txBody>
      </p:sp>
      <p:sp>
        <p:nvSpPr>
          <p:cNvPr id="3" name="text">
            <a:extLst xmlns:a="http://schemas.openxmlformats.org/drawingml/2006/main">
              <a:ext uri="{FF2B5EF4-FFF2-40B4-BE49-F238E27FC236}">
                <a16:creationId xmlns:a16="http://schemas.microsoft.com/office/drawing/2014/main" id="{E42AF609-2836-4A0A-8317-1495750C69F0}"/>
              </a:ext>
            </a:extLst>
          </p:cNvPr>
          <p:cNvSpPr>
            <a:spLocks xmlns:a="http://schemas.openxmlformats.org/drawingml/2006/main" noGrp="1"/>
          </p:cNvSpPr>
          <p:nvPr/>
        </p:nvSpPr>
        <p:spPr>
          <a:xfrm xmlns:a="http://schemas.openxmlformats.org/drawingml/2006/main">
            <a:off x="6096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THE CHECKS VERIFY</a:t>
            </a:r>
          </a:p>
        </p:txBody>
      </p:sp>
      <p:sp>
        <p:nvSpPr>
          <p:cNvPr id="4" name="text">
            <a:extLst xmlns:a="http://schemas.openxmlformats.org/drawingml/2006/main">
              <a:ext uri="{FF2B5EF4-FFF2-40B4-BE49-F238E27FC236}">
                <a16:creationId xmlns:a16="http://schemas.microsoft.com/office/drawing/2014/main" id="{C74FA3B3-C64F-4A50-BC9B-34B6FEC4C241}"/>
              </a:ext>
            </a:extLst>
          </p:cNvPr>
          <p:cNvSpPr>
            <a:spLocks xmlns:a="http://schemas.openxmlformats.org/drawingml/2006/main" noGrp="1"/>
          </p:cNvSpPr>
          <p:nvPr/>
        </p:nvSpPr>
        <p:spPr>
          <a:xfrm xmlns:a="http://schemas.openxmlformats.org/drawingml/2006/main">
            <a:off x="6096000" y="2238375"/>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THE CHECKS DO NOT CERTIFY</a:t>
            </a:r>
          </a:p>
        </p:txBody>
      </p:sp>
      <p:sp>
        <p:nvSpPr>
          <p:cNvPr id="5" name="shape">
            <a:extLst xmlns:a="http://schemas.openxmlformats.org/drawingml/2006/main">
              <a:ext uri="{FF2B5EF4-FFF2-40B4-BE49-F238E27FC236}">
                <a16:creationId xmlns:a16="http://schemas.microsoft.com/office/drawing/2014/main" id="{6AE00F00-F9CB-4D0F-921D-8867F6052DF4}"/>
              </a:ext>
            </a:extLst>
          </p:cNvPr>
          <p:cNvSpPr>
            <a:spLocks xmlns:a="http://schemas.openxmlformats.org/drawingml/2006/main" noGrp="1"/>
          </p:cNvSpPr>
          <p:nvPr/>
        </p:nvSpPr>
        <p:spPr>
          <a:xfrm xmlns:a="http://schemas.openxmlformats.org/drawingml/2006/main">
            <a:off x="609600" y="26479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F6774EC5-F4C6-428A-807A-EA98FB0F6058}"/>
              </a:ext>
            </a:extLst>
          </p:cNvPr>
          <p:cNvSpPr>
            <a:spLocks xmlns:a="http://schemas.openxmlformats.org/drawingml/2006/main" noGrp="1"/>
          </p:cNvSpPr>
          <p:nvPr/>
        </p:nvSpPr>
        <p:spPr>
          <a:xfrm xmlns:a="http://schemas.openxmlformats.org/drawingml/2006/main">
            <a:off x="6096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Source fields are present</a:t>
            </a:r>
          </a:p>
        </p:txBody>
      </p:sp>
      <p:sp>
        <p:nvSpPr>
          <p:cNvPr id="7" name="text">
            <a:extLst xmlns:a="http://schemas.openxmlformats.org/drawingml/2006/main">
              <a:ext uri="{FF2B5EF4-FFF2-40B4-BE49-F238E27FC236}">
                <a16:creationId xmlns:a16="http://schemas.microsoft.com/office/drawing/2014/main" id="{D93D87D5-094E-425A-A2BC-3667EAD6CCA2}"/>
              </a:ext>
            </a:extLst>
          </p:cNvPr>
          <p:cNvSpPr>
            <a:spLocks xmlns:a="http://schemas.openxmlformats.org/drawingml/2006/main" noGrp="1"/>
          </p:cNvSpPr>
          <p:nvPr/>
        </p:nvSpPr>
        <p:spPr>
          <a:xfrm xmlns:a="http://schemas.openxmlformats.org/drawingml/2006/main">
            <a:off x="6096000" y="28194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Every source is accurate</a:t>
            </a:r>
          </a:p>
        </p:txBody>
      </p:sp>
      <p:sp>
        <p:nvSpPr>
          <p:cNvPr id="8" name="shape">
            <a:extLst xmlns:a="http://schemas.openxmlformats.org/drawingml/2006/main">
              <a:ext uri="{FF2B5EF4-FFF2-40B4-BE49-F238E27FC236}">
                <a16:creationId xmlns:a16="http://schemas.microsoft.com/office/drawing/2014/main" id="{DA0AD7FF-EAF7-4B59-9413-292617DC80B0}"/>
              </a:ext>
            </a:extLst>
          </p:cNvPr>
          <p:cNvSpPr>
            <a:spLocks xmlns:a="http://schemas.openxmlformats.org/drawingml/2006/main" noGrp="1"/>
          </p:cNvSpPr>
          <p:nvPr/>
        </p:nvSpPr>
        <p:spPr>
          <a:xfrm xmlns:a="http://schemas.openxmlformats.org/drawingml/2006/main">
            <a:off x="609600" y="34004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9A5BD11-C0F0-4733-85D6-67AB27B7C2C1}"/>
              </a:ext>
            </a:extLst>
          </p:cNvPr>
          <p:cNvSpPr>
            <a:spLocks xmlns:a="http://schemas.openxmlformats.org/drawingml/2006/main" noGrp="1"/>
          </p:cNvSpPr>
          <p:nvPr/>
        </p:nvSpPr>
        <p:spPr>
          <a:xfrm xmlns:a="http://schemas.openxmlformats.org/drawingml/2006/main">
            <a:off x="6096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Required tools were called</a:t>
            </a:r>
          </a:p>
        </p:txBody>
      </p:sp>
      <p:sp>
        <p:nvSpPr>
          <p:cNvPr id="10" name="text">
            <a:extLst xmlns:a="http://schemas.openxmlformats.org/drawingml/2006/main">
              <a:ext uri="{FF2B5EF4-FFF2-40B4-BE49-F238E27FC236}">
                <a16:creationId xmlns:a16="http://schemas.microsoft.com/office/drawing/2014/main" id="{01545926-F1D5-46BE-97F4-3AB063B4C7B3}"/>
              </a:ext>
            </a:extLst>
          </p:cNvPr>
          <p:cNvSpPr>
            <a:spLocks xmlns:a="http://schemas.openxmlformats.org/drawingml/2006/main" noGrp="1"/>
          </p:cNvSpPr>
          <p:nvPr/>
        </p:nvSpPr>
        <p:spPr>
          <a:xfrm xmlns:a="http://schemas.openxmlformats.org/drawingml/2006/main">
            <a:off x="6096000" y="35052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Every model claim is grounded</a:t>
            </a:r>
          </a:p>
        </p:txBody>
      </p:sp>
      <p:sp>
        <p:nvSpPr>
          <p:cNvPr id="11" name="shape">
            <a:extLst xmlns:a="http://schemas.openxmlformats.org/drawingml/2006/main">
              <a:ext uri="{FF2B5EF4-FFF2-40B4-BE49-F238E27FC236}">
                <a16:creationId xmlns:a16="http://schemas.microsoft.com/office/drawing/2014/main" id="{BB2F459A-F5B6-423E-949A-07AC7F1310BD}"/>
              </a:ext>
            </a:extLst>
          </p:cNvPr>
          <p:cNvSpPr>
            <a:spLocks xmlns:a="http://schemas.openxmlformats.org/drawingml/2006/main" noGrp="1"/>
          </p:cNvSpPr>
          <p:nvPr/>
        </p:nvSpPr>
        <p:spPr>
          <a:xfrm xmlns:a="http://schemas.openxmlformats.org/drawingml/2006/main">
            <a:off x="609600" y="40862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63D627D-99BE-4958-8EC0-DC828D905C69}"/>
              </a:ext>
            </a:extLst>
          </p:cNvPr>
          <p:cNvSpPr>
            <a:spLocks xmlns:a="http://schemas.openxmlformats.org/drawingml/2006/main" noGrp="1"/>
          </p:cNvSpPr>
          <p:nvPr/>
        </p:nvSpPr>
        <p:spPr>
          <a:xfrm xmlns:a="http://schemas.openxmlformats.org/drawingml/2006/main">
            <a:off x="6096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Assumptions are declared</a:t>
            </a:r>
          </a:p>
        </p:txBody>
      </p:sp>
      <p:sp>
        <p:nvSpPr>
          <p:cNvPr id="13" name="text">
            <a:extLst xmlns:a="http://schemas.openxmlformats.org/drawingml/2006/main">
              <a:ext uri="{FF2B5EF4-FFF2-40B4-BE49-F238E27FC236}">
                <a16:creationId xmlns:a16="http://schemas.microsoft.com/office/drawing/2014/main" id="{4025063B-EC3D-4866-A574-FFEFF80F3852}"/>
              </a:ext>
            </a:extLst>
          </p:cNvPr>
          <p:cNvSpPr>
            <a:spLocks xmlns:a="http://schemas.openxmlformats.org/drawingml/2006/main" noGrp="1"/>
          </p:cNvSpPr>
          <p:nvPr/>
        </p:nvSpPr>
        <p:spPr>
          <a:xfrm xmlns:a="http://schemas.openxmlformats.org/drawingml/2006/main">
            <a:off x="6096000" y="41910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business model is complete</a:t>
            </a:r>
          </a:p>
        </p:txBody>
      </p:sp>
      <p:sp>
        <p:nvSpPr>
          <p:cNvPr id="14" name="shape">
            <a:extLst xmlns:a="http://schemas.openxmlformats.org/drawingml/2006/main">
              <a:ext uri="{FF2B5EF4-FFF2-40B4-BE49-F238E27FC236}">
                <a16:creationId xmlns:a16="http://schemas.microsoft.com/office/drawing/2014/main" id="{C5719B4E-86B7-42FB-8112-5DB5C633C174}"/>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912666D-8BC3-4989-B37D-90BC0D686FF1}"/>
              </a:ext>
            </a:extLst>
          </p:cNvPr>
          <p:cNvSpPr>
            <a:spLocks xmlns:a="http://schemas.openxmlformats.org/drawingml/2006/main" noGrp="1"/>
          </p:cNvSpPr>
          <p:nvPr/>
        </p:nvSpPr>
        <p:spPr>
          <a:xfrm xmlns:a="http://schemas.openxmlformats.org/drawingml/2006/main">
            <a:off x="6096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42C38"/>
                </a:solidFill>
                <a:latin typeface="Aptos"/>
                <a:ea typeface="Aptos"/>
                <a:cs typeface="Aptos"/>
              </a:defRPr>
            </a:pPr>
            <a:r>
              <a:rPr sz="1950" b="1">
                <a:solidFill>
                  <a:srgbClr val="142C38"/>
                </a:solidFill>
                <a:latin typeface="Aptos"/>
                <a:ea typeface="Aptos"/>
                <a:cs typeface="Aptos"/>
              </a:rPr>
              <a:t>HOLD gates propagate</a:t>
            </a:r>
          </a:p>
        </p:txBody>
      </p:sp>
      <p:sp>
        <p:nvSpPr>
          <p:cNvPr id="16" name="text">
            <a:extLst xmlns:a="http://schemas.openxmlformats.org/drawingml/2006/main">
              <a:ext uri="{FF2B5EF4-FFF2-40B4-BE49-F238E27FC236}">
                <a16:creationId xmlns:a16="http://schemas.microsoft.com/office/drawing/2014/main" id="{66543617-957A-45FA-9B33-A8096CF34D56}"/>
              </a:ext>
            </a:extLst>
          </p:cNvPr>
          <p:cNvSpPr>
            <a:spLocks xmlns:a="http://schemas.openxmlformats.org/drawingml/2006/main" noGrp="1"/>
          </p:cNvSpPr>
          <p:nvPr/>
        </p:nvSpPr>
        <p:spPr>
          <a:xfrm xmlns:a="http://schemas.openxmlformats.org/drawingml/2006/main">
            <a:off x="6096000" y="48768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C38"/>
                </a:solidFill>
                <a:latin typeface="Aptos"/>
                <a:ea typeface="Aptos"/>
                <a:cs typeface="Aptos"/>
              </a:defRPr>
            </a:pPr>
            <a:r>
              <a:rPr sz="1950" b="0">
                <a:solidFill>
                  <a:srgbClr val="142C38"/>
                </a:solidFill>
                <a:latin typeface="Aptos"/>
                <a:ea typeface="Aptos"/>
                <a:cs typeface="Aptos"/>
              </a:rPr>
              <a:t>The system is safe for deployment</a:t>
            </a:r>
          </a:p>
        </p:txBody>
      </p:sp>
      <p:sp>
        <p:nvSpPr>
          <p:cNvPr id="17" name="shape">
            <a:extLst xmlns:a="http://schemas.openxmlformats.org/drawingml/2006/main">
              <a:ext uri="{FF2B5EF4-FFF2-40B4-BE49-F238E27FC236}">
                <a16:creationId xmlns:a16="http://schemas.microsoft.com/office/drawing/2014/main" id="{61BFDAE7-85CF-4CEE-970C-84823A02FFFF}"/>
              </a:ext>
            </a:extLst>
          </p:cNvPr>
          <p:cNvSpPr>
            <a:spLocks xmlns:a="http://schemas.openxmlformats.org/drawingml/2006/main" noGrp="1"/>
          </p:cNvSpPr>
          <p:nvPr/>
        </p:nvSpPr>
        <p:spPr>
          <a:xfrm xmlns:a="http://schemas.openxmlformats.org/drawingml/2006/main">
            <a:off x="609600" y="54578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shape">
            <a:extLst xmlns:a="http://schemas.openxmlformats.org/drawingml/2006/main">
              <a:ext uri="{FF2B5EF4-FFF2-40B4-BE49-F238E27FC236}">
                <a16:creationId xmlns:a16="http://schemas.microsoft.com/office/drawing/2014/main" id="{C2B00AF6-1AC1-4F7D-B34C-E6D5AA88FA4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A7CA74CF-3068-44D3-A7FF-3645D89AC196}"/>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0" name="text">
            <a:extLst xmlns:a="http://schemas.openxmlformats.org/drawingml/2006/main">
              <a:ext uri="{FF2B5EF4-FFF2-40B4-BE49-F238E27FC236}">
                <a16:creationId xmlns:a16="http://schemas.microsoft.com/office/drawing/2014/main" id="{3D7D48E9-1CCE-4352-92B2-46EDDEB9948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58</a:t>
            </a:r>
          </a:p>
        </p:txBody>
      </p:sp>
    </p:spTree>
    <p:extLst>
      <p:ext uri="{BB962C8B-B14F-4D97-AF65-F5344CB8AC3E}">
        <p14:creationId xmlns:p14="http://schemas.microsoft.com/office/powerpoint/2010/main" val="1594526439"/>
      </p:ext>
    </p:extLst>
  </p:cSld>
</p:sld>
</file>

<file path=ppt/slides/slide59.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D575EFAF-C3E0-4831-BD9A-2EE9E699859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SAVE THE EVIDENCE</a:t>
            </a:r>
          </a:p>
        </p:txBody>
      </p:sp>
      <p:sp>
        <p:nvSpPr>
          <p:cNvPr id="2" name="text">
            <a:extLst xmlns:a="http://schemas.openxmlformats.org/drawingml/2006/main">
              <a:ext uri="{FF2B5EF4-FFF2-40B4-BE49-F238E27FC236}">
                <a16:creationId xmlns:a16="http://schemas.microsoft.com/office/drawing/2014/main" id="{24B2554C-1904-48B5-8891-9D9887A136B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Export a package someone else can inspect.</a:t>
            </a:r>
          </a:p>
        </p:txBody>
      </p:sp>
      <p:sp>
        <p:nvSpPr>
          <p:cNvPr id="3" name="flow-node">
            <a:extLst xmlns:a="http://schemas.openxmlformats.org/drawingml/2006/main">
              <a:ext uri="{FF2B5EF4-FFF2-40B4-BE49-F238E27FC236}">
                <a16:creationId xmlns:a16="http://schemas.microsoft.com/office/drawing/2014/main" id="{6F5387C9-2DF2-44C2-8345-FDDA94D1B5E5}"/>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Complete the run</a:t>
            </a:r>
          </a:p>
        </p:txBody>
      </p:sp>
      <p:sp>
        <p:nvSpPr>
          <p:cNvPr id="4" name="flow-node">
            <a:extLst xmlns:a="http://schemas.openxmlformats.org/drawingml/2006/main">
              <a:ext uri="{FF2B5EF4-FFF2-40B4-BE49-F238E27FC236}">
                <a16:creationId xmlns:a16="http://schemas.microsoft.com/office/drawing/2014/main" id="{9A5C102E-F3BB-457C-9589-B17C64C2908E}"/>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Export brief / JSON</a:t>
            </a:r>
          </a:p>
        </p:txBody>
      </p:sp>
      <p:sp>
        <p:nvSpPr>
          <p:cNvPr id="5" name="flow-node">
            <a:extLst xmlns:a="http://schemas.openxmlformats.org/drawingml/2006/main">
              <a:ext uri="{FF2B5EF4-FFF2-40B4-BE49-F238E27FC236}">
                <a16:creationId xmlns:a16="http://schemas.microsoft.com/office/drawing/2014/main" id="{D63B4004-AD6E-438E-96AA-428B7D671911}"/>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Read the snapshot</a:t>
            </a:r>
          </a:p>
        </p:txBody>
      </p:sp>
      <p:sp>
        <p:nvSpPr>
          <p:cNvPr id="6" name="flow-node">
            <a:extLst xmlns:a="http://schemas.openxmlformats.org/drawingml/2006/main">
              <a:ext uri="{FF2B5EF4-FFF2-40B4-BE49-F238E27FC236}">
                <a16:creationId xmlns:a16="http://schemas.microsoft.com/office/drawing/2014/main" id="{C3F1C69A-FCC9-45E9-BD5B-B85A0622D7F8}"/>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Save the package</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5CCEDB98-A10F-4ADC-97C1-C0DD76AA497C}"/>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Include the scenario, metrics, sources, assumptions, risks and actions.</a:t>
            </a:r>
          </a:p>
        </p:txBody>
      </p:sp>
      <p:sp>
        <p:nvSpPr>
          <p:cNvPr id="11" name="shape">
            <a:extLst xmlns:a="http://schemas.openxmlformats.org/drawingml/2006/main">
              <a:ext uri="{FF2B5EF4-FFF2-40B4-BE49-F238E27FC236}">
                <a16:creationId xmlns:a16="http://schemas.microsoft.com/office/drawing/2014/main" id="{BDE2696C-C549-4705-ACB4-75B1F89EC20D}"/>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9FEE02C-B839-40EB-B169-37D93F51A82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14733C44-792B-4BB0-91B5-82B9CCCC584E}"/>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BA47E3EB-4EC5-4BBD-9274-BD5D93FF1DBC}"/>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59</a:t>
            </a:r>
          </a:p>
        </p:txBody>
      </p:sp>
    </p:spTree>
    <p:extLst>
      <p:ext uri="{BB962C8B-B14F-4D97-AF65-F5344CB8AC3E}">
        <p14:creationId xmlns:p14="http://schemas.microsoft.com/office/powerpoint/2010/main" val="2010035743"/>
      </p:ext>
    </p:extLst>
  </p:cSld>
</p:sld>
</file>

<file path=ppt/slides/slide6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6307A460-15BE-4B9D-BF59-82DFCADDE74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SAVE THE EVIDENCE</a:t>
            </a:r>
          </a:p>
        </p:txBody>
      </p:sp>
      <p:sp>
        <p:nvSpPr>
          <p:cNvPr id="2" name="text">
            <a:extLst xmlns:a="http://schemas.openxmlformats.org/drawingml/2006/main">
              <a:ext uri="{FF2B5EF4-FFF2-40B4-BE49-F238E27FC236}">
                <a16:creationId xmlns:a16="http://schemas.microsoft.com/office/drawing/2014/main" id="{8C7FC436-A3D5-4DEE-9A6D-C0B6A99F1653}"/>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Use the proposal’s rubric to assess the work.</a:t>
            </a:r>
          </a:p>
        </p:txBody>
      </p:sp>
      <p:sp>
        <p:nvSpPr>
          <p:cNvPr id="3" name="text">
            <a:extLst xmlns:a="http://schemas.openxmlformats.org/drawingml/2006/main">
              <a:ext uri="{FF2B5EF4-FFF2-40B4-BE49-F238E27FC236}">
                <a16:creationId xmlns:a16="http://schemas.microsoft.com/office/drawing/2014/main" id="{B052B5A6-04DE-44D6-B74C-1CC105D52F01}"/>
              </a:ext>
            </a:extLst>
          </p:cNvPr>
          <p:cNvSpPr>
            <a:spLocks xmlns:a="http://schemas.openxmlformats.org/drawingml/2006/main" noGrp="1"/>
          </p:cNvSpPr>
          <p:nvPr/>
        </p:nvSpPr>
        <p:spPr>
          <a:xfrm xmlns:a="http://schemas.openxmlformats.org/drawingml/2006/main">
            <a:off x="609600" y="2209800"/>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Business relevance</a:t>
            </a:r>
          </a:p>
        </p:txBody>
      </p:sp>
      <p:sp>
        <p:nvSpPr>
          <p:cNvPr id="4" name="text">
            <a:extLst xmlns:a="http://schemas.openxmlformats.org/drawingml/2006/main">
              <a:ext uri="{FF2B5EF4-FFF2-40B4-BE49-F238E27FC236}">
                <a16:creationId xmlns:a16="http://schemas.microsoft.com/office/drawing/2014/main" id="{DB5CB80B-D69D-4928-B9D6-467368FAB7F2}"/>
              </a:ext>
            </a:extLst>
          </p:cNvPr>
          <p:cNvSpPr>
            <a:spLocks xmlns:a="http://schemas.openxmlformats.org/drawingml/2006/main" noGrp="1"/>
          </p:cNvSpPr>
          <p:nvPr/>
        </p:nvSpPr>
        <p:spPr>
          <a:xfrm xmlns:a="http://schemas.openxmlformats.org/drawingml/2006/main">
            <a:off x="9810750" y="220980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25%</a:t>
            </a:r>
          </a:p>
        </p:txBody>
      </p:sp>
      <p:sp>
        <p:nvSpPr>
          <p:cNvPr id="5" name="shape">
            <a:extLst xmlns:a="http://schemas.openxmlformats.org/drawingml/2006/main">
              <a:ext uri="{FF2B5EF4-FFF2-40B4-BE49-F238E27FC236}">
                <a16:creationId xmlns:a16="http://schemas.microsoft.com/office/drawing/2014/main" id="{8833C613-8900-4C4B-A7E4-6A97EFA04EB3}"/>
              </a:ext>
            </a:extLst>
          </p:cNvPr>
          <p:cNvSpPr>
            <a:spLocks xmlns:a="http://schemas.openxmlformats.org/drawingml/2006/main" noGrp="1"/>
          </p:cNvSpPr>
          <p:nvPr/>
        </p:nvSpPr>
        <p:spPr>
          <a:xfrm xmlns:a="http://schemas.openxmlformats.org/drawingml/2006/main">
            <a:off x="609600" y="2724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55C1360-8363-4927-BB15-5146AFFB9B58}"/>
              </a:ext>
            </a:extLst>
          </p:cNvPr>
          <p:cNvSpPr>
            <a:spLocks xmlns:a="http://schemas.openxmlformats.org/drawingml/2006/main" noGrp="1"/>
          </p:cNvSpPr>
          <p:nvPr/>
        </p:nvSpPr>
        <p:spPr>
          <a:xfrm xmlns:a="http://schemas.openxmlformats.org/drawingml/2006/main">
            <a:off x="609600" y="2847975"/>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Agent orchestration</a:t>
            </a:r>
          </a:p>
        </p:txBody>
      </p:sp>
      <p:sp>
        <p:nvSpPr>
          <p:cNvPr id="7" name="text">
            <a:extLst xmlns:a="http://schemas.openxmlformats.org/drawingml/2006/main">
              <a:ext uri="{FF2B5EF4-FFF2-40B4-BE49-F238E27FC236}">
                <a16:creationId xmlns:a16="http://schemas.microsoft.com/office/drawing/2014/main" id="{AE116ED7-8C64-463A-8695-25C498133BFC}"/>
              </a:ext>
            </a:extLst>
          </p:cNvPr>
          <p:cNvSpPr>
            <a:spLocks xmlns:a="http://schemas.openxmlformats.org/drawingml/2006/main" noGrp="1"/>
          </p:cNvSpPr>
          <p:nvPr/>
        </p:nvSpPr>
        <p:spPr>
          <a:xfrm xmlns:a="http://schemas.openxmlformats.org/drawingml/2006/main">
            <a:off x="9810750" y="28479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25%</a:t>
            </a:r>
          </a:p>
        </p:txBody>
      </p:sp>
      <p:sp>
        <p:nvSpPr>
          <p:cNvPr id="8" name="shape">
            <a:extLst xmlns:a="http://schemas.openxmlformats.org/drawingml/2006/main">
              <a:ext uri="{FF2B5EF4-FFF2-40B4-BE49-F238E27FC236}">
                <a16:creationId xmlns:a16="http://schemas.microsoft.com/office/drawing/2014/main" id="{EFD40919-EE56-4E80-9C9F-B4C108DBD85B}"/>
              </a:ext>
            </a:extLst>
          </p:cNvPr>
          <p:cNvSpPr>
            <a:spLocks xmlns:a="http://schemas.openxmlformats.org/drawingml/2006/main" noGrp="1"/>
          </p:cNvSpPr>
          <p:nvPr/>
        </p:nvSpPr>
        <p:spPr>
          <a:xfrm xmlns:a="http://schemas.openxmlformats.org/drawingml/2006/main">
            <a:off x="609600" y="33623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30691F3-99F2-40B6-BC26-39E0B7706E24}"/>
              </a:ext>
            </a:extLst>
          </p:cNvPr>
          <p:cNvSpPr>
            <a:spLocks xmlns:a="http://schemas.openxmlformats.org/drawingml/2006/main" noGrp="1"/>
          </p:cNvSpPr>
          <p:nvPr/>
        </p:nvSpPr>
        <p:spPr>
          <a:xfrm xmlns:a="http://schemas.openxmlformats.org/drawingml/2006/main">
            <a:off x="609600" y="3486150"/>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Reliability and evidence</a:t>
            </a:r>
          </a:p>
        </p:txBody>
      </p:sp>
      <p:sp>
        <p:nvSpPr>
          <p:cNvPr id="10" name="text">
            <a:extLst xmlns:a="http://schemas.openxmlformats.org/drawingml/2006/main">
              <a:ext uri="{FF2B5EF4-FFF2-40B4-BE49-F238E27FC236}">
                <a16:creationId xmlns:a16="http://schemas.microsoft.com/office/drawing/2014/main" id="{20DF0BEC-CDDC-499D-BED9-A8B434B1084E}"/>
              </a:ext>
            </a:extLst>
          </p:cNvPr>
          <p:cNvSpPr>
            <a:spLocks xmlns:a="http://schemas.openxmlformats.org/drawingml/2006/main" noGrp="1"/>
          </p:cNvSpPr>
          <p:nvPr/>
        </p:nvSpPr>
        <p:spPr>
          <a:xfrm xmlns:a="http://schemas.openxmlformats.org/drawingml/2006/main">
            <a:off x="9810750" y="348615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20%</a:t>
            </a:r>
          </a:p>
        </p:txBody>
      </p:sp>
      <p:sp>
        <p:nvSpPr>
          <p:cNvPr id="11" name="shape">
            <a:extLst xmlns:a="http://schemas.openxmlformats.org/drawingml/2006/main">
              <a:ext uri="{FF2B5EF4-FFF2-40B4-BE49-F238E27FC236}">
                <a16:creationId xmlns:a16="http://schemas.microsoft.com/office/drawing/2014/main" id="{845B6D73-B1B3-4C5C-83F2-276F86BB92ED}"/>
              </a:ext>
            </a:extLst>
          </p:cNvPr>
          <p:cNvSpPr>
            <a:spLocks xmlns:a="http://schemas.openxmlformats.org/drawingml/2006/main" noGrp="1"/>
          </p:cNvSpPr>
          <p:nvPr/>
        </p:nvSpPr>
        <p:spPr>
          <a:xfrm xmlns:a="http://schemas.openxmlformats.org/drawingml/2006/main">
            <a:off x="609600" y="40005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9A5A967-6A3F-4EF9-8E07-79860FF95E5B}"/>
              </a:ext>
            </a:extLst>
          </p:cNvPr>
          <p:cNvSpPr>
            <a:spLocks xmlns:a="http://schemas.openxmlformats.org/drawingml/2006/main" noGrp="1"/>
          </p:cNvSpPr>
          <p:nvPr/>
        </p:nvSpPr>
        <p:spPr>
          <a:xfrm xmlns:a="http://schemas.openxmlformats.org/drawingml/2006/main">
            <a:off x="609600" y="4124325"/>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Responsible AI</a:t>
            </a:r>
          </a:p>
        </p:txBody>
      </p:sp>
      <p:sp>
        <p:nvSpPr>
          <p:cNvPr id="13" name="text">
            <a:extLst xmlns:a="http://schemas.openxmlformats.org/drawingml/2006/main">
              <a:ext uri="{FF2B5EF4-FFF2-40B4-BE49-F238E27FC236}">
                <a16:creationId xmlns:a16="http://schemas.microsoft.com/office/drawing/2014/main" id="{BFE0C470-4B74-4EFB-8A86-3366637696BC}"/>
              </a:ext>
            </a:extLst>
          </p:cNvPr>
          <p:cNvSpPr>
            <a:spLocks xmlns:a="http://schemas.openxmlformats.org/drawingml/2006/main" noGrp="1"/>
          </p:cNvSpPr>
          <p:nvPr/>
        </p:nvSpPr>
        <p:spPr>
          <a:xfrm xmlns:a="http://schemas.openxmlformats.org/drawingml/2006/main">
            <a:off x="9810750" y="41243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15%</a:t>
            </a:r>
          </a:p>
        </p:txBody>
      </p:sp>
      <p:sp>
        <p:nvSpPr>
          <p:cNvPr id="14" name="shape">
            <a:extLst xmlns:a="http://schemas.openxmlformats.org/drawingml/2006/main">
              <a:ext uri="{FF2B5EF4-FFF2-40B4-BE49-F238E27FC236}">
                <a16:creationId xmlns:a16="http://schemas.microsoft.com/office/drawing/2014/main" id="{F69FC08F-8589-444B-B38D-8127D4EE0B7B}"/>
              </a:ext>
            </a:extLst>
          </p:cNvPr>
          <p:cNvSpPr>
            <a:spLocks xmlns:a="http://schemas.openxmlformats.org/drawingml/2006/main" noGrp="1"/>
          </p:cNvSpPr>
          <p:nvPr/>
        </p:nvSpPr>
        <p:spPr>
          <a:xfrm xmlns:a="http://schemas.openxmlformats.org/drawingml/2006/main">
            <a:off x="609600" y="46386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335BF30E-52BE-48EB-B1FA-EE32DC75073D}"/>
              </a:ext>
            </a:extLst>
          </p:cNvPr>
          <p:cNvSpPr>
            <a:spLocks xmlns:a="http://schemas.openxmlformats.org/drawingml/2006/main" noGrp="1"/>
          </p:cNvSpPr>
          <p:nvPr/>
        </p:nvSpPr>
        <p:spPr>
          <a:xfrm xmlns:a="http://schemas.openxmlformats.org/drawingml/2006/main">
            <a:off x="609600" y="4762500"/>
            <a:ext cx="881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Communication and reflection</a:t>
            </a:r>
          </a:p>
        </p:txBody>
      </p:sp>
      <p:sp>
        <p:nvSpPr>
          <p:cNvPr id="16" name="text">
            <a:extLst xmlns:a="http://schemas.openxmlformats.org/drawingml/2006/main">
              <a:ext uri="{FF2B5EF4-FFF2-40B4-BE49-F238E27FC236}">
                <a16:creationId xmlns:a16="http://schemas.microsoft.com/office/drawing/2014/main" id="{136BDD33-F0B9-4183-9D64-54FFA27DD86B}"/>
              </a:ext>
            </a:extLst>
          </p:cNvPr>
          <p:cNvSpPr>
            <a:spLocks xmlns:a="http://schemas.openxmlformats.org/drawingml/2006/main" noGrp="1"/>
          </p:cNvSpPr>
          <p:nvPr/>
        </p:nvSpPr>
        <p:spPr>
          <a:xfrm xmlns:a="http://schemas.openxmlformats.org/drawingml/2006/main">
            <a:off x="9810750" y="4762500"/>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700" b="1">
                <a:solidFill>
                  <a:srgbClr val="142C38"/>
                </a:solidFill>
                <a:latin typeface="Aptos"/>
                <a:ea typeface="Aptos"/>
                <a:cs typeface="Aptos"/>
              </a:defRPr>
            </a:pPr>
            <a:r>
              <a:rPr sz="2700" b="1">
                <a:solidFill>
                  <a:srgbClr val="142C38"/>
                </a:solidFill>
                <a:latin typeface="Aptos"/>
                <a:ea typeface="Aptos"/>
                <a:cs typeface="Aptos"/>
              </a:rPr>
              <a:t>15%</a:t>
            </a:r>
          </a:p>
        </p:txBody>
      </p:sp>
      <p:sp>
        <p:nvSpPr>
          <p:cNvPr id="17" name="shape">
            <a:extLst xmlns:a="http://schemas.openxmlformats.org/drawingml/2006/main">
              <a:ext uri="{FF2B5EF4-FFF2-40B4-BE49-F238E27FC236}">
                <a16:creationId xmlns:a16="http://schemas.microsoft.com/office/drawing/2014/main" id="{61F70FAD-324B-4D52-AC45-4E5EA27C918D}"/>
              </a:ext>
            </a:extLst>
          </p:cNvPr>
          <p:cNvSpPr>
            <a:spLocks xmlns:a="http://schemas.openxmlformats.org/drawingml/2006/main" noGrp="1"/>
          </p:cNvSpPr>
          <p:nvPr/>
        </p:nvSpPr>
        <p:spPr>
          <a:xfrm xmlns:a="http://schemas.openxmlformats.org/drawingml/2006/main">
            <a:off x="609600" y="5276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EB7FC270-1B83-4738-934A-5D5BD13F440C}"/>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Humans enter 0–5 scores. The app calculates the weighted total.</a:t>
            </a:r>
          </a:p>
        </p:txBody>
      </p:sp>
      <p:sp>
        <p:nvSpPr>
          <p:cNvPr id="19" name="shape">
            <a:extLst xmlns:a="http://schemas.openxmlformats.org/drawingml/2006/main">
              <a:ext uri="{FF2B5EF4-FFF2-40B4-BE49-F238E27FC236}">
                <a16:creationId xmlns:a16="http://schemas.microsoft.com/office/drawing/2014/main" id="{EA7A7494-3443-4A72-847A-C12B7586A46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3FA5A5EA-32AA-4D41-9EED-7F15EAFB1EC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1" name="text">
            <a:extLst xmlns:a="http://schemas.openxmlformats.org/drawingml/2006/main">
              <a:ext uri="{FF2B5EF4-FFF2-40B4-BE49-F238E27FC236}">
                <a16:creationId xmlns:a16="http://schemas.microsoft.com/office/drawing/2014/main" id="{366DC8AB-E61C-4C90-BADC-8E4A7ED8627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60</a:t>
            </a:r>
          </a:p>
        </p:txBody>
      </p:sp>
    </p:spTree>
    <p:extLst>
      <p:ext uri="{BB962C8B-B14F-4D97-AF65-F5344CB8AC3E}">
        <p14:creationId xmlns:p14="http://schemas.microsoft.com/office/powerpoint/2010/main" val="1962464695"/>
      </p:ext>
    </p:extLst>
  </p:cSld>
</p:sld>
</file>

<file path=ppt/slides/slide6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7D260419-91FC-4417-857C-DB3F864B5F1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SHOWCASE</a:t>
            </a:r>
          </a:p>
        </p:txBody>
      </p:sp>
      <p:sp>
        <p:nvSpPr>
          <p:cNvPr id="2" name="text">
            <a:extLst xmlns:a="http://schemas.openxmlformats.org/drawingml/2006/main">
              <a:ext uri="{FF2B5EF4-FFF2-40B4-BE49-F238E27FC236}">
                <a16:creationId xmlns:a16="http://schemas.microsoft.com/office/drawing/2014/main" id="{2357E726-0313-4624-8219-2271CCA0120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Tell the story in three minutes.</a:t>
            </a:r>
          </a:p>
        </p:txBody>
      </p:sp>
      <p:sp>
        <p:nvSpPr>
          <p:cNvPr id="3" name="flow-node">
            <a:extLst xmlns:a="http://schemas.openxmlformats.org/drawingml/2006/main">
              <a:ext uri="{FF2B5EF4-FFF2-40B4-BE49-F238E27FC236}">
                <a16:creationId xmlns:a16="http://schemas.microsoft.com/office/drawing/2014/main" id="{506FC963-3E27-44DD-90EC-38C38E78A972}"/>
              </a:ext>
            </a:extLst>
          </p:cNvPr>
          <p:cNvSpPr>
            <a:spLocks xmlns:a="http://schemas.openxmlformats.org/drawingml/2006/main" noGrp="1"/>
          </p:cNvSpPr>
          <p:nvPr/>
        </p:nvSpPr>
        <p:spPr>
          <a:xfrm xmlns:a="http://schemas.openxmlformats.org/drawingml/2006/main">
            <a:off x="609600"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The business goal</a:t>
            </a:r>
          </a:p>
        </p:txBody>
      </p:sp>
      <p:sp>
        <p:nvSpPr>
          <p:cNvPr id="4" name="flow-node">
            <a:extLst xmlns:a="http://schemas.openxmlformats.org/drawingml/2006/main">
              <a:ext uri="{FF2B5EF4-FFF2-40B4-BE49-F238E27FC236}">
                <a16:creationId xmlns:a16="http://schemas.microsoft.com/office/drawing/2014/main" id="{55A4246E-8994-48E7-A564-5E850B8396DA}"/>
              </a:ext>
            </a:extLst>
          </p:cNvPr>
          <p:cNvSpPr>
            <a:spLocks xmlns:a="http://schemas.openxmlformats.org/drawingml/2006/main" noGrp="1"/>
          </p:cNvSpPr>
          <p:nvPr/>
        </p:nvSpPr>
        <p:spPr>
          <a:xfrm xmlns:a="http://schemas.openxmlformats.org/drawingml/2006/main">
            <a:off x="3424238"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Our single change</a:t>
            </a:r>
          </a:p>
        </p:txBody>
      </p:sp>
      <p:sp>
        <p:nvSpPr>
          <p:cNvPr id="5" name="flow-node">
            <a:extLst xmlns:a="http://schemas.openxmlformats.org/drawingml/2006/main">
              <a:ext uri="{FF2B5EF4-FFF2-40B4-BE49-F238E27FC236}">
                <a16:creationId xmlns:a16="http://schemas.microsoft.com/office/drawing/2014/main" id="{31847157-E0BB-4845-BC65-CA9116461FCF}"/>
              </a:ext>
            </a:extLst>
          </p:cNvPr>
          <p:cNvSpPr>
            <a:spLocks xmlns:a="http://schemas.openxmlformats.org/drawingml/2006/main" noGrp="1"/>
          </p:cNvSpPr>
          <p:nvPr/>
        </p:nvSpPr>
        <p:spPr>
          <a:xfrm xmlns:a="http://schemas.openxmlformats.org/drawingml/2006/main">
            <a:off x="6238875"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The tool evidence</a:t>
            </a:r>
          </a:p>
        </p:txBody>
      </p:sp>
      <p:sp>
        <p:nvSpPr>
          <p:cNvPr id="6" name="flow-node">
            <a:extLst xmlns:a="http://schemas.openxmlformats.org/drawingml/2006/main">
              <a:ext uri="{FF2B5EF4-FFF2-40B4-BE49-F238E27FC236}">
                <a16:creationId xmlns:a16="http://schemas.microsoft.com/office/drawing/2014/main" id="{D694238D-8A42-497D-9CFE-711AB9921FF4}"/>
              </a:ext>
            </a:extLst>
          </p:cNvPr>
          <p:cNvSpPr>
            <a:spLocks xmlns:a="http://schemas.openxmlformats.org/drawingml/2006/main" noGrp="1"/>
          </p:cNvSpPr>
          <p:nvPr/>
        </p:nvSpPr>
        <p:spPr>
          <a:xfrm xmlns:a="http://schemas.openxmlformats.org/drawingml/2006/main">
            <a:off x="9053513" y="2857500"/>
            <a:ext cx="2528888"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2100" b="1">
                <a:solidFill>
                  <a:srgbClr val="EDF5F1"/>
                </a:solidFill>
                <a:latin typeface="Aptos"/>
                <a:ea typeface="Aptos"/>
                <a:cs typeface="Aptos"/>
              </a:defRPr>
            </a:pPr>
            <a:r>
              <a:rPr sz="2100" b="1">
                <a:solidFill>
                  <a:srgbClr val="EDF5F1"/>
                </a:solidFill>
                <a:latin typeface="Aptos"/>
                <a:ea typeface="Aptos"/>
                <a:cs typeface="Aptos"/>
              </a:rPr>
              <a:t>The decision + limit</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3138488"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5953126" y="3390900"/>
            <a:ext cx="285749"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8767763"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0" name="text">
            <a:extLst xmlns:a="http://schemas.openxmlformats.org/drawingml/2006/main">
              <a:ext uri="{FF2B5EF4-FFF2-40B4-BE49-F238E27FC236}">
                <a16:creationId xmlns:a16="http://schemas.microsoft.com/office/drawing/2014/main" id="{20A1E54F-95BA-4B23-96D4-59D298EC1896}"/>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Show the before-and-after result. Explain one uncertainty.</a:t>
            </a:r>
          </a:p>
        </p:txBody>
      </p:sp>
      <p:sp>
        <p:nvSpPr>
          <p:cNvPr id="11" name="shape">
            <a:extLst xmlns:a="http://schemas.openxmlformats.org/drawingml/2006/main">
              <a:ext uri="{FF2B5EF4-FFF2-40B4-BE49-F238E27FC236}">
                <a16:creationId xmlns:a16="http://schemas.microsoft.com/office/drawing/2014/main" id="{C2066FD5-252B-4753-8EAB-0D32B1BCF8F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8DE7DA1-D691-4AC7-AFED-DCF53652B35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062ED62-BDCB-45C0-BB12-87760D8AE97E}"/>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1DFBF"/>
                </a:solidFill>
                <a:latin typeface="Aptos"/>
                <a:ea typeface="Aptos"/>
                <a:cs typeface="Aptos"/>
              </a:defRPr>
            </a:pPr>
            <a:r>
              <a:rPr sz="1125" b="1">
                <a:solidFill>
                  <a:srgbClr val="61DFBF"/>
                </a:solidFill>
                <a:latin typeface="Aptos"/>
                <a:ea typeface="Aptos"/>
                <a:cs typeface="Aptos"/>
              </a:rPr>
              <a:t>90 MIN ROUTE</a:t>
            </a:r>
          </a:p>
        </p:txBody>
      </p:sp>
      <p:sp>
        <p:nvSpPr>
          <p:cNvPr id="14" name="text">
            <a:extLst xmlns:a="http://schemas.openxmlformats.org/drawingml/2006/main">
              <a:ext uri="{FF2B5EF4-FFF2-40B4-BE49-F238E27FC236}">
                <a16:creationId xmlns:a16="http://schemas.microsoft.com/office/drawing/2014/main" id="{63FAB067-CAAC-436B-8BBA-31E0C5C8B1D9}"/>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61</a:t>
            </a:r>
          </a:p>
        </p:txBody>
      </p:sp>
    </p:spTree>
    <p:extLst>
      <p:ext uri="{BB962C8B-B14F-4D97-AF65-F5344CB8AC3E}">
        <p14:creationId xmlns:p14="http://schemas.microsoft.com/office/powerpoint/2010/main" val="1072467065"/>
      </p:ext>
    </p:extLst>
  </p:cSld>
</p:sld>
</file>

<file path=ppt/slides/slide6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7EE0D69D-CCA8-42C4-9905-233512D5660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DRY-RUN SIGN-OFF</a:t>
            </a:r>
          </a:p>
        </p:txBody>
      </p:sp>
      <p:sp>
        <p:nvSpPr>
          <p:cNvPr id="2" name="text">
            <a:extLst xmlns:a="http://schemas.openxmlformats.org/drawingml/2006/main">
              <a:ext uri="{FF2B5EF4-FFF2-40B4-BE49-F238E27FC236}">
                <a16:creationId xmlns:a16="http://schemas.microsoft.com/office/drawing/2014/main" id="{B953D839-075E-4175-B72F-1A2B488080CE}"/>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Decide what is ready for the real workshop.</a:t>
            </a:r>
          </a:p>
        </p:txBody>
      </p:sp>
      <p:sp>
        <p:nvSpPr>
          <p:cNvPr id="3" name="text">
            <a:extLst xmlns:a="http://schemas.openxmlformats.org/drawingml/2006/main">
              <a:ext uri="{FF2B5EF4-FFF2-40B4-BE49-F238E27FC236}">
                <a16:creationId xmlns:a16="http://schemas.microsoft.com/office/drawing/2014/main" id="{3679D775-8517-4029-B051-658C5BDBC512}"/>
              </a:ext>
            </a:extLst>
          </p:cNvPr>
          <p:cNvSpPr>
            <a:spLocks xmlns:a="http://schemas.openxmlformats.org/drawingml/2006/main" noGrp="1"/>
          </p:cNvSpPr>
          <p:nvPr/>
        </p:nvSpPr>
        <p:spPr>
          <a:xfrm xmlns:a="http://schemas.openxmlformats.org/drawingml/2006/main">
            <a:off x="609600" y="22193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01</a:t>
            </a:r>
          </a:p>
        </p:txBody>
      </p:sp>
      <p:sp>
        <p:nvSpPr>
          <p:cNvPr id="4" name="text">
            <a:extLst xmlns:a="http://schemas.openxmlformats.org/drawingml/2006/main">
              <a:ext uri="{FF2B5EF4-FFF2-40B4-BE49-F238E27FC236}">
                <a16:creationId xmlns:a16="http://schemas.microsoft.com/office/drawing/2014/main" id="{B70AE5FF-C98E-435D-B268-24248731B09A}"/>
              </a:ext>
            </a:extLst>
          </p:cNvPr>
          <p:cNvSpPr>
            <a:spLocks xmlns:a="http://schemas.openxmlformats.org/drawingml/2006/main" noGrp="1"/>
          </p:cNvSpPr>
          <p:nvPr/>
        </p:nvSpPr>
        <p:spPr>
          <a:xfrm xmlns:a="http://schemas.openxmlformats.org/drawingml/2006/main">
            <a:off x="1314450" y="21907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Every pair can install and open the app.</a:t>
            </a:r>
          </a:p>
        </p:txBody>
      </p:sp>
      <p:sp>
        <p:nvSpPr>
          <p:cNvPr id="5" name="text">
            <a:extLst xmlns:a="http://schemas.openxmlformats.org/drawingml/2006/main">
              <a:ext uri="{FF2B5EF4-FFF2-40B4-BE49-F238E27FC236}">
                <a16:creationId xmlns:a16="http://schemas.microsoft.com/office/drawing/2014/main" id="{77D88025-5456-4ED6-99CB-8018C4EBC1ED}"/>
              </a:ext>
            </a:extLst>
          </p:cNvPr>
          <p:cNvSpPr>
            <a:spLocks xmlns:a="http://schemas.openxmlformats.org/drawingml/2006/main" noGrp="1"/>
          </p:cNvSpPr>
          <p:nvPr/>
        </p:nvSpPr>
        <p:spPr>
          <a:xfrm xmlns:a="http://schemas.openxmlformats.org/drawingml/2006/main">
            <a:off x="609600" y="29146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02</a:t>
            </a:r>
          </a:p>
        </p:txBody>
      </p:sp>
      <p:sp>
        <p:nvSpPr>
          <p:cNvPr id="6" name="text">
            <a:extLst xmlns:a="http://schemas.openxmlformats.org/drawingml/2006/main">
              <a:ext uri="{FF2B5EF4-FFF2-40B4-BE49-F238E27FC236}">
                <a16:creationId xmlns:a16="http://schemas.microsoft.com/office/drawing/2014/main" id="{97C3707C-C83F-41C2-979E-A6E4D75F4673}"/>
              </a:ext>
            </a:extLst>
          </p:cNvPr>
          <p:cNvSpPr>
            <a:spLocks xmlns:a="http://schemas.openxmlformats.org/drawingml/2006/main" noGrp="1"/>
          </p:cNvSpPr>
          <p:nvPr/>
        </p:nvSpPr>
        <p:spPr>
          <a:xfrm xmlns:a="http://schemas.openxmlformats.org/drawingml/2006/main">
            <a:off x="1314450" y="288607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The baseline and one changed run pass.</a:t>
            </a:r>
          </a:p>
        </p:txBody>
      </p:sp>
      <p:sp>
        <p:nvSpPr>
          <p:cNvPr id="7" name="text">
            <a:extLst xmlns:a="http://schemas.openxmlformats.org/drawingml/2006/main">
              <a:ext uri="{FF2B5EF4-FFF2-40B4-BE49-F238E27FC236}">
                <a16:creationId xmlns:a16="http://schemas.microsoft.com/office/drawing/2014/main" id="{458EBB6E-0924-491A-8CD6-C8EA3E975356}"/>
              </a:ext>
            </a:extLst>
          </p:cNvPr>
          <p:cNvSpPr>
            <a:spLocks xmlns:a="http://schemas.openxmlformats.org/drawingml/2006/main" noGrp="1"/>
          </p:cNvSpPr>
          <p:nvPr/>
        </p:nvSpPr>
        <p:spPr>
          <a:xfrm xmlns:a="http://schemas.openxmlformats.org/drawingml/2006/main">
            <a:off x="609600" y="36099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03</a:t>
            </a:r>
          </a:p>
        </p:txBody>
      </p:sp>
      <p:sp>
        <p:nvSpPr>
          <p:cNvPr id="8" name="text">
            <a:extLst xmlns:a="http://schemas.openxmlformats.org/drawingml/2006/main">
              <a:ext uri="{FF2B5EF4-FFF2-40B4-BE49-F238E27FC236}">
                <a16:creationId xmlns:a16="http://schemas.microsoft.com/office/drawing/2014/main" id="{38C918DF-B8C4-4067-959E-47BDD3ED9548}"/>
              </a:ext>
            </a:extLst>
          </p:cNvPr>
          <p:cNvSpPr>
            <a:spLocks xmlns:a="http://schemas.openxmlformats.org/drawingml/2006/main" noGrp="1"/>
          </p:cNvSpPr>
          <p:nvPr/>
        </p:nvSpPr>
        <p:spPr>
          <a:xfrm xmlns:a="http://schemas.openxmlformats.org/drawingml/2006/main">
            <a:off x="1314450" y="358140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A learner can explain the tool loop simply.</a:t>
            </a:r>
          </a:p>
        </p:txBody>
      </p:sp>
      <p:sp>
        <p:nvSpPr>
          <p:cNvPr id="9" name="text">
            <a:extLst xmlns:a="http://schemas.openxmlformats.org/drawingml/2006/main">
              <a:ext uri="{FF2B5EF4-FFF2-40B4-BE49-F238E27FC236}">
                <a16:creationId xmlns:a16="http://schemas.microsoft.com/office/drawing/2014/main" id="{545117BC-9604-4133-B9F1-4E7B3BF003F0}"/>
              </a:ext>
            </a:extLst>
          </p:cNvPr>
          <p:cNvSpPr>
            <a:spLocks xmlns:a="http://schemas.openxmlformats.org/drawingml/2006/main" noGrp="1"/>
          </p:cNvSpPr>
          <p:nvPr/>
        </p:nvSpPr>
        <p:spPr>
          <a:xfrm xmlns:a="http://schemas.openxmlformats.org/drawingml/2006/main">
            <a:off x="609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04</a:t>
            </a:r>
          </a:p>
        </p:txBody>
      </p:sp>
      <p:sp>
        <p:nvSpPr>
          <p:cNvPr id="10" name="text">
            <a:extLst xmlns:a="http://schemas.openxmlformats.org/drawingml/2006/main">
              <a:ext uri="{FF2B5EF4-FFF2-40B4-BE49-F238E27FC236}">
                <a16:creationId xmlns:a16="http://schemas.microsoft.com/office/drawing/2014/main" id="{3AC99D6D-3C76-4DC3-9B2A-D14B0DB3460B}"/>
              </a:ext>
            </a:extLst>
          </p:cNvPr>
          <p:cNvSpPr>
            <a:spLocks xmlns:a="http://schemas.openxmlformats.org/drawingml/2006/main" noGrp="1"/>
          </p:cNvSpPr>
          <p:nvPr/>
        </p:nvSpPr>
        <p:spPr>
          <a:xfrm xmlns:a="http://schemas.openxmlformats.org/drawingml/2006/main">
            <a:off x="1314450" y="4276725"/>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Memory, comparison and exports are understood.</a:t>
            </a:r>
          </a:p>
        </p:txBody>
      </p:sp>
      <p:sp>
        <p:nvSpPr>
          <p:cNvPr id="11" name="text">
            <a:extLst xmlns:a="http://schemas.openxmlformats.org/drawingml/2006/main">
              <a:ext uri="{FF2B5EF4-FFF2-40B4-BE49-F238E27FC236}">
                <a16:creationId xmlns:a16="http://schemas.microsoft.com/office/drawing/2014/main" id="{5E68E8E4-C62D-49EC-A148-3D5636AC3F6B}"/>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05</a:t>
            </a:r>
          </a:p>
        </p:txBody>
      </p:sp>
      <p:sp>
        <p:nvSpPr>
          <p:cNvPr id="12" name="text">
            <a:extLst xmlns:a="http://schemas.openxmlformats.org/drawingml/2006/main">
              <a:ext uri="{FF2B5EF4-FFF2-40B4-BE49-F238E27FC236}">
                <a16:creationId xmlns:a16="http://schemas.microsoft.com/office/drawing/2014/main" id="{1A188BEF-4484-414A-B03D-F6732E0DB905}"/>
              </a:ext>
            </a:extLst>
          </p:cNvPr>
          <p:cNvSpPr>
            <a:spLocks xmlns:a="http://schemas.openxmlformats.org/drawingml/2006/main" noGrp="1"/>
          </p:cNvSpPr>
          <p:nvPr/>
        </p:nvSpPr>
        <p:spPr>
          <a:xfrm xmlns:a="http://schemas.openxmlformats.org/drawingml/2006/main">
            <a:off x="1314450" y="4972050"/>
            <a:ext cx="1026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C38"/>
                </a:solidFill>
                <a:latin typeface="Aptos"/>
                <a:ea typeface="Aptos"/>
                <a:cs typeface="Aptos"/>
              </a:defRPr>
            </a:pPr>
            <a:r>
              <a:rPr sz="2175" b="0">
                <a:solidFill>
                  <a:srgbClr val="142C38"/>
                </a:solidFill>
                <a:latin typeface="Aptos"/>
                <a:ea typeface="Aptos"/>
                <a:cs typeface="Aptos"/>
              </a:rPr>
              <a:t>Each unresolved issue has an owner and next step.</a:t>
            </a:r>
          </a:p>
        </p:txBody>
      </p:sp>
      <p:sp>
        <p:nvSpPr>
          <p:cNvPr id="13" name="shape">
            <a:extLst xmlns:a="http://schemas.openxmlformats.org/drawingml/2006/main">
              <a:ext uri="{FF2B5EF4-FFF2-40B4-BE49-F238E27FC236}">
                <a16:creationId xmlns:a16="http://schemas.microsoft.com/office/drawing/2014/main" id="{CB3B1DB4-6872-47A7-80ED-7CBA883B908F}"/>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7E7D692-1B28-423A-9E3E-707E7930620E}"/>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4BDD9A2E-06E2-46C2-AE78-28D4C4516774}"/>
              </a:ext>
            </a:extLst>
          </p:cNvPr>
          <p:cNvSpPr>
            <a:spLocks xmlns:a="http://schemas.openxmlformats.org/drawingml/2006/main" noGrp="1"/>
          </p:cNvSpPr>
          <p:nvPr/>
        </p:nvSpPr>
        <p:spPr>
          <a:xfrm xmlns:a="http://schemas.openxmlformats.org/drawingml/2006/main">
            <a:off x="9029700" y="6505575"/>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90 MIN ROUTE</a:t>
            </a:r>
          </a:p>
        </p:txBody>
      </p:sp>
      <p:sp>
        <p:nvSpPr>
          <p:cNvPr id="16" name="text">
            <a:extLst xmlns:a="http://schemas.openxmlformats.org/drawingml/2006/main">
              <a:ext uri="{FF2B5EF4-FFF2-40B4-BE49-F238E27FC236}">
                <a16:creationId xmlns:a16="http://schemas.microsoft.com/office/drawing/2014/main" id="{0533C5A4-1D60-485E-B060-07B5C4F6049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62</a:t>
            </a:r>
          </a:p>
        </p:txBody>
      </p:sp>
    </p:spTree>
    <p:extLst>
      <p:ext uri="{BB962C8B-B14F-4D97-AF65-F5344CB8AC3E}">
        <p14:creationId xmlns:p14="http://schemas.microsoft.com/office/powerpoint/2010/main" val="461500320"/>
      </p:ext>
    </p:extLst>
  </p:cSld>
</p:sld>
</file>

<file path=ppt/slides/slide63.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F5A52057-EF31-4DAA-B6B6-5233AB80F7E9}"/>
              </a:ext>
            </a:extLst>
          </p:cNvPr>
          <p:cNvSpPr>
            <a:spLocks xmlns:a="http://schemas.openxmlformats.org/drawingml/2006/main" noGrp="1"/>
          </p:cNvSpPr>
          <p:nvPr/>
        </p:nvSpPr>
        <p:spPr>
          <a:xfrm xmlns:a="http://schemas.openxmlformats.org/drawingml/2006/main">
            <a:off x="609600" y="4000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YOUR NEXT STEP</a:t>
            </a:r>
          </a:p>
        </p:txBody>
      </p:sp>
      <p:sp>
        <p:nvSpPr>
          <p:cNvPr id="2" name="text">
            <a:extLst xmlns:a="http://schemas.openxmlformats.org/drawingml/2006/main">
              <a:ext uri="{FF2B5EF4-FFF2-40B4-BE49-F238E27FC236}">
                <a16:creationId xmlns:a16="http://schemas.microsoft.com/office/drawing/2014/main" id="{A3D587A4-155B-4BAC-9F4F-E513E9B95A04}"/>
              </a:ext>
            </a:extLst>
          </p:cNvPr>
          <p:cNvSpPr>
            <a:spLocks xmlns:a="http://schemas.openxmlformats.org/drawingml/2006/main" noGrp="1"/>
          </p:cNvSpPr>
          <p:nvPr/>
        </p:nvSpPr>
        <p:spPr>
          <a:xfrm xmlns:a="http://schemas.openxmlformats.org/drawingml/2006/main">
            <a:off x="8096250" y="1143000"/>
            <a:ext cx="3810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BUILD. TEST.</a:t>
            </a:r>
          </a:p>
          <a:p xmlns:a="http://schemas.openxmlformats.org/drawingml/2006/main">
            <a:pPr>
              <a:defRPr sz="5250" b="1">
                <a:solidFill>
                  <a:srgbClr val="173946"/>
                </a:solidFill>
                <a:latin typeface="Aptos"/>
                <a:ea typeface="Aptos"/>
                <a:cs typeface="Aptos"/>
              </a:defRPr>
            </a:pPr>
            <a:r>
              <a:rPr sz="5250" b="1">
                <a:solidFill>
                  <a:srgbClr val="173946"/>
                </a:solidFill>
                <a:latin typeface="Aptos"/>
                <a:ea typeface="Aptos"/>
                <a:cs typeface="Aptos"/>
              </a:rPr>
              <a:t>EXPLAIN.</a:t>
            </a:r>
          </a:p>
        </p:txBody>
      </p:sp>
      <p:sp>
        <p:nvSpPr>
          <p:cNvPr id="3" name="text">
            <a:extLst xmlns:a="http://schemas.openxmlformats.org/drawingml/2006/main">
              <a:ext uri="{FF2B5EF4-FFF2-40B4-BE49-F238E27FC236}">
                <a16:creationId xmlns:a16="http://schemas.microsoft.com/office/drawing/2014/main" id="{6A69F1EB-0522-4CEE-B8A0-8D8399B51396}"/>
              </a:ext>
            </a:extLst>
          </p:cNvPr>
          <p:cNvSpPr>
            <a:spLocks xmlns:a="http://schemas.openxmlformats.org/drawingml/2006/main" noGrp="1"/>
          </p:cNvSpPr>
          <p:nvPr/>
        </p:nvSpPr>
        <p:spPr>
          <a:xfrm xmlns:a="http://schemas.openxmlformats.org/drawingml/2006/main">
            <a:off x="609600" y="1438275"/>
            <a:ext cx="7381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EDF5F1"/>
                </a:solidFill>
                <a:latin typeface="Aptos"/>
                <a:ea typeface="Aptos"/>
                <a:cs typeface="Aptos"/>
              </a:defRPr>
            </a:pPr>
            <a:r>
              <a:rPr sz="4650" b="1">
                <a:solidFill>
                  <a:srgbClr val="EDF5F1"/>
                </a:solidFill>
                <a:latin typeface="Aptos"/>
                <a:ea typeface="Aptos"/>
                <a:cs typeface="Aptos"/>
              </a:rPr>
              <a:t>Keep the evidence. Carry the learning forward.</a:t>
            </a:r>
          </a:p>
        </p:txBody>
      </p:sp>
      <p:sp>
        <p:nvSpPr>
          <p:cNvPr id="4" name="text">
            <a:extLst xmlns:a="http://schemas.openxmlformats.org/drawingml/2006/main">
              <a:ext uri="{FF2B5EF4-FFF2-40B4-BE49-F238E27FC236}">
                <a16:creationId xmlns:a16="http://schemas.microsoft.com/office/drawing/2014/main" id="{FD54DE91-D528-4819-B86B-0483DF5705C3}"/>
              </a:ext>
            </a:extLst>
          </p:cNvPr>
          <p:cNvSpPr>
            <a:spLocks xmlns:a="http://schemas.openxmlformats.org/drawingml/2006/main" noGrp="1"/>
          </p:cNvSpPr>
          <p:nvPr/>
        </p:nvSpPr>
        <p:spPr>
          <a:xfrm xmlns:a="http://schemas.openxmlformats.org/drawingml/2006/main">
            <a:off x="609600" y="376237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01</a:t>
            </a:r>
          </a:p>
        </p:txBody>
      </p:sp>
      <p:sp>
        <p:nvSpPr>
          <p:cNvPr id="5" name="text">
            <a:extLst xmlns:a="http://schemas.openxmlformats.org/drawingml/2006/main">
              <a:ext uri="{FF2B5EF4-FFF2-40B4-BE49-F238E27FC236}">
                <a16:creationId xmlns:a16="http://schemas.microsoft.com/office/drawing/2014/main" id="{E8391CD5-9C2A-4D46-89CF-1D85EFEC1FF6}"/>
              </a:ext>
            </a:extLst>
          </p:cNvPr>
          <p:cNvSpPr>
            <a:spLocks xmlns:a="http://schemas.openxmlformats.org/drawingml/2006/main" noGrp="1"/>
          </p:cNvSpPr>
          <p:nvPr/>
        </p:nvSpPr>
        <p:spPr>
          <a:xfrm xmlns:a="http://schemas.openxmlformats.org/drawingml/2006/main">
            <a:off x="1314450" y="3733800"/>
            <a:ext cx="977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DF5F1"/>
                </a:solidFill>
                <a:latin typeface="Aptos"/>
                <a:ea typeface="Aptos"/>
                <a:cs typeface="Aptos"/>
              </a:defRPr>
            </a:pPr>
            <a:r>
              <a:rPr sz="2175" b="0">
                <a:solidFill>
                  <a:srgbClr val="EDF5F1"/>
                </a:solidFill>
                <a:latin typeface="Aptos"/>
                <a:ea typeface="Aptos"/>
                <a:cs typeface="Aptos"/>
              </a:rPr>
              <a:t>One working tool you can explain.</a:t>
            </a:r>
          </a:p>
        </p:txBody>
      </p:sp>
      <p:sp>
        <p:nvSpPr>
          <p:cNvPr id="6" name="text">
            <a:extLst xmlns:a="http://schemas.openxmlformats.org/drawingml/2006/main">
              <a:ext uri="{FF2B5EF4-FFF2-40B4-BE49-F238E27FC236}">
                <a16:creationId xmlns:a16="http://schemas.microsoft.com/office/drawing/2014/main" id="{1A9C43F1-D88E-4181-AD6A-EC3F02011FF3}"/>
              </a:ext>
            </a:extLst>
          </p:cNvPr>
          <p:cNvSpPr>
            <a:spLocks xmlns:a="http://schemas.openxmlformats.org/drawingml/2006/main" noGrp="1"/>
          </p:cNvSpPr>
          <p:nvPr/>
        </p:nvSpPr>
        <p:spPr>
          <a:xfrm xmlns:a="http://schemas.openxmlformats.org/drawingml/2006/main">
            <a:off x="609600" y="4381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02</a:t>
            </a:r>
          </a:p>
        </p:txBody>
      </p:sp>
      <p:sp>
        <p:nvSpPr>
          <p:cNvPr id="7" name="text">
            <a:extLst xmlns:a="http://schemas.openxmlformats.org/drawingml/2006/main">
              <a:ext uri="{FF2B5EF4-FFF2-40B4-BE49-F238E27FC236}">
                <a16:creationId xmlns:a16="http://schemas.microsoft.com/office/drawing/2014/main" id="{73A9297A-9986-448B-AE48-D04A7F648160}"/>
              </a:ext>
            </a:extLst>
          </p:cNvPr>
          <p:cNvSpPr>
            <a:spLocks xmlns:a="http://schemas.openxmlformats.org/drawingml/2006/main" noGrp="1"/>
          </p:cNvSpPr>
          <p:nvPr/>
        </p:nvSpPr>
        <p:spPr>
          <a:xfrm xmlns:a="http://schemas.openxmlformats.org/drawingml/2006/main">
            <a:off x="1314450" y="4352925"/>
            <a:ext cx="977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DF5F1"/>
                </a:solidFill>
                <a:latin typeface="Aptos"/>
                <a:ea typeface="Aptos"/>
                <a:cs typeface="Aptos"/>
              </a:defRPr>
            </a:pPr>
            <a:r>
              <a:rPr sz="2175" b="0">
                <a:solidFill>
                  <a:srgbClr val="EDF5F1"/>
                </a:solidFill>
                <a:latin typeface="Aptos"/>
                <a:ea typeface="Aptos"/>
                <a:cs typeface="Aptos"/>
              </a:rPr>
              <a:t>Six roles you can coordinate.</a:t>
            </a:r>
          </a:p>
        </p:txBody>
      </p:sp>
      <p:sp>
        <p:nvSpPr>
          <p:cNvPr id="8" name="text">
            <a:extLst xmlns:a="http://schemas.openxmlformats.org/drawingml/2006/main">
              <a:ext uri="{FF2B5EF4-FFF2-40B4-BE49-F238E27FC236}">
                <a16:creationId xmlns:a16="http://schemas.microsoft.com/office/drawing/2014/main" id="{086D12E5-10C6-4A20-8AFF-0284A7200A81}"/>
              </a:ext>
            </a:extLst>
          </p:cNvPr>
          <p:cNvSpPr>
            <a:spLocks xmlns:a="http://schemas.openxmlformats.org/drawingml/2006/main" noGrp="1"/>
          </p:cNvSpPr>
          <p:nvPr/>
        </p:nvSpPr>
        <p:spPr>
          <a:xfrm xmlns:a="http://schemas.openxmlformats.org/drawingml/2006/main">
            <a:off x="609600" y="5000625"/>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03</a:t>
            </a:r>
          </a:p>
        </p:txBody>
      </p:sp>
      <p:sp>
        <p:nvSpPr>
          <p:cNvPr id="9" name="text">
            <a:extLst xmlns:a="http://schemas.openxmlformats.org/drawingml/2006/main">
              <a:ext uri="{FF2B5EF4-FFF2-40B4-BE49-F238E27FC236}">
                <a16:creationId xmlns:a16="http://schemas.microsoft.com/office/drawing/2014/main" id="{7FAB9490-46C6-4DA2-8047-A910FEC8D2CA}"/>
              </a:ext>
            </a:extLst>
          </p:cNvPr>
          <p:cNvSpPr>
            <a:spLocks xmlns:a="http://schemas.openxmlformats.org/drawingml/2006/main" noGrp="1"/>
          </p:cNvSpPr>
          <p:nvPr/>
        </p:nvSpPr>
        <p:spPr>
          <a:xfrm xmlns:a="http://schemas.openxmlformats.org/drawingml/2006/main">
            <a:off x="1314450" y="4972050"/>
            <a:ext cx="977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DF5F1"/>
                </a:solidFill>
                <a:latin typeface="Aptos"/>
                <a:ea typeface="Aptos"/>
                <a:cs typeface="Aptos"/>
              </a:defRPr>
            </a:pPr>
            <a:r>
              <a:rPr sz="2175" b="0">
                <a:solidFill>
                  <a:srgbClr val="EDF5F1"/>
                </a:solidFill>
                <a:latin typeface="Aptos"/>
                <a:ea typeface="Aptos"/>
                <a:cs typeface="Aptos"/>
              </a:rPr>
              <a:t>One business change you can defend.</a:t>
            </a:r>
          </a:p>
        </p:txBody>
      </p:sp>
      <p:sp>
        <p:nvSpPr>
          <p:cNvPr id="10" name="text">
            <a:extLst xmlns:a="http://schemas.openxmlformats.org/drawingml/2006/main">
              <a:ext uri="{FF2B5EF4-FFF2-40B4-BE49-F238E27FC236}">
                <a16:creationId xmlns:a16="http://schemas.microsoft.com/office/drawing/2014/main" id="{D7E976EB-31F7-4A47-809A-44705719E83D}"/>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Agents advise. People stay accountable.</a:t>
            </a:r>
          </a:p>
        </p:txBody>
      </p:sp>
      <p:sp>
        <p:nvSpPr>
          <p:cNvPr id="11" name="shape">
            <a:extLst xmlns:a="http://schemas.openxmlformats.org/drawingml/2006/main">
              <a:ext uri="{FF2B5EF4-FFF2-40B4-BE49-F238E27FC236}">
                <a16:creationId xmlns:a16="http://schemas.microsoft.com/office/drawing/2014/main" id="{FADF066D-B3F2-4E55-B8EE-4F172924EB6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579518C-B42A-4059-BAA6-53712BF33AE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3" name="text">
            <a:extLst xmlns:a="http://schemas.openxmlformats.org/drawingml/2006/main">
              <a:ext uri="{FF2B5EF4-FFF2-40B4-BE49-F238E27FC236}">
                <a16:creationId xmlns:a16="http://schemas.microsoft.com/office/drawing/2014/main" id="{C8F044D6-B5FB-4797-8D4D-7D96FC60B0C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63</a:t>
            </a:r>
          </a:p>
        </p:txBody>
      </p:sp>
    </p:spTree>
    <p:extLst>
      <p:ext uri="{BB962C8B-B14F-4D97-AF65-F5344CB8AC3E}">
        <p14:creationId xmlns:p14="http://schemas.microsoft.com/office/powerpoint/2010/main" val="1939557295"/>
      </p:ext>
    </p:extLst>
  </p:cSld>
</p:sld>
</file>

<file path=ppt/slides/slide6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3CEC1C07-C3B7-49DB-A57A-F8E03B86914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90BBE942-FD47-49B6-B933-F16FB37FD047}"/>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Appendix: the 90-minute route.</a:t>
            </a:r>
          </a:p>
        </p:txBody>
      </p:sp>
      <p:sp>
        <p:nvSpPr>
          <p:cNvPr id="3" name="text">
            <a:extLst xmlns:a="http://schemas.openxmlformats.org/drawingml/2006/main">
              <a:ext uri="{FF2B5EF4-FFF2-40B4-BE49-F238E27FC236}">
                <a16:creationId xmlns:a16="http://schemas.microsoft.com/office/drawing/2014/main" id="{83A356A5-1EA7-4DCD-B162-D89AEADAFEE3}"/>
              </a:ext>
            </a:extLst>
          </p:cNvPr>
          <p:cNvSpPr>
            <a:spLocks xmlns:a="http://schemas.openxmlformats.org/drawingml/2006/main" noGrp="1"/>
          </p:cNvSpPr>
          <p:nvPr/>
        </p:nvSpPr>
        <p:spPr>
          <a:xfrm xmlns:a="http://schemas.openxmlformats.org/drawingml/2006/main">
            <a:off x="609600" y="22955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10 min · Explain   /   20 min · Launch   /   10 min · Code</a:t>
            </a:r>
          </a:p>
        </p:txBody>
      </p:sp>
      <p:sp>
        <p:nvSpPr>
          <p:cNvPr id="4" name="text">
            <a:extLst xmlns:a="http://schemas.openxmlformats.org/drawingml/2006/main">
              <a:ext uri="{FF2B5EF4-FFF2-40B4-BE49-F238E27FC236}">
                <a16:creationId xmlns:a16="http://schemas.microsoft.com/office/drawing/2014/main" id="{8A30B809-F048-4630-89D3-7996AE4A34F8}"/>
              </a:ext>
            </a:extLst>
          </p:cNvPr>
          <p:cNvSpPr>
            <a:spLocks xmlns:a="http://schemas.openxmlformats.org/drawingml/2006/main" noGrp="1"/>
          </p:cNvSpPr>
          <p:nvPr/>
        </p:nvSpPr>
        <p:spPr>
          <a:xfrm xmlns:a="http://schemas.openxmlformats.org/drawingml/2006/main">
            <a:off x="609600" y="30575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42C38"/>
                </a:solidFill>
                <a:latin typeface="Aptos"/>
                <a:ea typeface="Aptos"/>
                <a:cs typeface="Aptos"/>
              </a:defRPr>
            </a:pPr>
            <a:r>
              <a:rPr sz="2250" b="1">
                <a:solidFill>
                  <a:srgbClr val="142C38"/>
                </a:solidFill>
                <a:latin typeface="Aptos"/>
                <a:ea typeface="Aptos"/>
                <a:cs typeface="Aptos"/>
              </a:rPr>
              <a:t>20 min · Connect   /   20 min · Challenge   /   10 min · Demo</a:t>
            </a:r>
          </a:p>
        </p:txBody>
      </p:sp>
      <p:sp>
        <p:nvSpPr>
          <p:cNvPr id="5" name="text">
            <a:extLst xmlns:a="http://schemas.openxmlformats.org/drawingml/2006/main">
              <a:ext uri="{FF2B5EF4-FFF2-40B4-BE49-F238E27FC236}">
                <a16:creationId xmlns:a16="http://schemas.microsoft.com/office/drawing/2014/main" id="{6B0571C2-C03D-4306-8485-7DEEC8A441B9}"/>
              </a:ext>
            </a:extLst>
          </p:cNvPr>
          <p:cNvSpPr>
            <a:spLocks xmlns:a="http://schemas.openxmlformats.org/drawingml/2006/main" noGrp="1"/>
          </p:cNvSpPr>
          <p:nvPr/>
        </p:nvSpPr>
        <p:spPr>
          <a:xfrm xmlns:a="http://schemas.openxmlformats.org/drawingml/2006/main">
            <a:off x="609600" y="40767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SLIDES TO USE</a:t>
            </a:r>
          </a:p>
        </p:txBody>
      </p:sp>
      <p:sp>
        <p:nvSpPr>
          <p:cNvPr id="6" name="text">
            <a:extLst xmlns:a="http://schemas.openxmlformats.org/drawingml/2006/main">
              <a:ext uri="{FF2B5EF4-FFF2-40B4-BE49-F238E27FC236}">
                <a16:creationId xmlns:a16="http://schemas.microsoft.com/office/drawing/2014/main" id="{EFF2EFB5-743B-4C38-A43A-9778A8A34784}"/>
              </a:ext>
            </a:extLst>
          </p:cNvPr>
          <p:cNvSpPr>
            <a:spLocks xmlns:a="http://schemas.openxmlformats.org/drawingml/2006/main" noGrp="1"/>
          </p:cNvSpPr>
          <p:nvPr/>
        </p:nvSpPr>
        <p:spPr>
          <a:xfrm xmlns:a="http://schemas.openxmlformats.org/drawingml/2006/main">
            <a:off x="609600" y="459105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2C38"/>
                </a:solidFill>
                <a:latin typeface="Aptos"/>
                <a:ea typeface="Aptos"/>
                <a:cs typeface="Aptos"/>
              </a:defRPr>
            </a:pPr>
            <a:r>
              <a:rPr sz="1875" b="0">
                <a:solidFill>
                  <a:srgbClr val="142C38"/>
                </a:solidFill>
                <a:latin typeface="Aptos"/>
                <a:ea typeface="Aptos"/>
                <a:cs typeface="Aptos"/>
              </a:rPr>
              <a:t>1  ·  2  ·  3  ·  4  ·  7  ·  9  ·  13  ·  14  ·  16  ·  20  ·  23  ·  24  ·  25  ·  26  ·  27  ·  30  ·  32  ·  34  ·  36  ·  37  ·  40  ·  47  ·  49  ·  51  ·  53  ·  54  ·  56  ·  59  ·  61  ·  62</a:t>
            </a:r>
          </a:p>
        </p:txBody>
      </p:sp>
      <p:sp>
        <p:nvSpPr>
          <p:cNvPr id="7" name="text">
            <a:extLst xmlns:a="http://schemas.openxmlformats.org/drawingml/2006/main">
              <a:ext uri="{FF2B5EF4-FFF2-40B4-BE49-F238E27FC236}">
                <a16:creationId xmlns:a16="http://schemas.microsoft.com/office/drawing/2014/main" id="{86BA01BC-68BE-4899-A663-7D1F785A969A}"/>
              </a:ext>
            </a:extLst>
          </p:cNvPr>
          <p:cNvSpPr>
            <a:spLocks xmlns:a="http://schemas.openxmlformats.org/drawingml/2006/main" noGrp="1"/>
          </p:cNvSpPr>
          <p:nvPr/>
        </p:nvSpPr>
        <p:spPr>
          <a:xfrm xmlns:a="http://schemas.openxmlformats.org/drawingml/2006/main">
            <a:off x="609600" y="5829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Use when Git and uv are already installed. Keep hands-on checkpoints.</a:t>
            </a:r>
          </a:p>
        </p:txBody>
      </p:sp>
      <p:sp>
        <p:nvSpPr>
          <p:cNvPr id="8" name="shape">
            <a:extLst xmlns:a="http://schemas.openxmlformats.org/drawingml/2006/main">
              <a:ext uri="{FF2B5EF4-FFF2-40B4-BE49-F238E27FC236}">
                <a16:creationId xmlns:a16="http://schemas.microsoft.com/office/drawing/2014/main" id="{00FCBFCE-3ABC-4808-8B15-97AD524E119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8F3DCBB-D876-4658-BC81-BD0DE5FDA0D2}"/>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10" name="text">
            <a:extLst xmlns:a="http://schemas.openxmlformats.org/drawingml/2006/main">
              <a:ext uri="{FF2B5EF4-FFF2-40B4-BE49-F238E27FC236}">
                <a16:creationId xmlns:a16="http://schemas.microsoft.com/office/drawing/2014/main" id="{BA640012-539C-4F40-8C0F-87CEE54CF02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64</a:t>
            </a:r>
          </a:p>
        </p:txBody>
      </p:sp>
    </p:spTree>
    <p:extLst>
      <p:ext uri="{BB962C8B-B14F-4D97-AF65-F5344CB8AC3E}">
        <p14:creationId xmlns:p14="http://schemas.microsoft.com/office/powerpoint/2010/main" val="1634031378"/>
      </p:ext>
    </p:extLst>
  </p:cSld>
</p:sld>
</file>

<file path=ppt/slides/slide6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0" name="text">
            <a:extLst xmlns:a="http://schemas.openxmlformats.org/drawingml/2006/main">
              <a:ext uri="{FF2B5EF4-FFF2-40B4-BE49-F238E27FC236}">
                <a16:creationId xmlns:a16="http://schemas.microsoft.com/office/drawing/2014/main" id="{9C78996E-D39E-4E1D-B133-D5F3985A3AE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1FCC6017-E4C2-43BC-AFE8-1D58BDB6E47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When setup breaks, diagnose the layer.</a:t>
            </a:r>
          </a:p>
        </p:txBody>
      </p:sp>
      <p:sp>
        <p:nvSpPr>
          <p:cNvPr id="3" name="text">
            <a:extLst xmlns:a="http://schemas.openxmlformats.org/drawingml/2006/main">
              <a:ext uri="{FF2B5EF4-FFF2-40B4-BE49-F238E27FC236}">
                <a16:creationId xmlns:a16="http://schemas.microsoft.com/office/drawing/2014/main" id="{6B379965-84EC-4A75-AB25-F1F2A1802523}"/>
              </a:ext>
            </a:extLst>
          </p:cNvPr>
          <p:cNvSpPr>
            <a:spLocks xmlns:a="http://schemas.openxmlformats.org/drawingml/2006/main" noGrp="1"/>
          </p:cNvSpPr>
          <p:nvPr/>
        </p:nvSpPr>
        <p:spPr>
          <a:xfrm xmlns:a="http://schemas.openxmlformats.org/drawingml/2006/main">
            <a:off x="609600" y="209550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Symptom</a:t>
            </a:r>
          </a:p>
        </p:txBody>
      </p:sp>
      <p:sp>
        <p:nvSpPr>
          <p:cNvPr id="4" name="text">
            <a:extLst xmlns:a="http://schemas.openxmlformats.org/drawingml/2006/main">
              <a:ext uri="{FF2B5EF4-FFF2-40B4-BE49-F238E27FC236}">
                <a16:creationId xmlns:a16="http://schemas.microsoft.com/office/drawing/2014/main" id="{978D27D2-A4F4-4F24-B799-F08728853BDE}"/>
              </a:ext>
            </a:extLst>
          </p:cNvPr>
          <p:cNvSpPr>
            <a:spLocks xmlns:a="http://schemas.openxmlformats.org/drawingml/2006/main" noGrp="1"/>
          </p:cNvSpPr>
          <p:nvPr/>
        </p:nvSpPr>
        <p:spPr>
          <a:xfrm xmlns:a="http://schemas.openxmlformats.org/drawingml/2006/main">
            <a:off x="3162300" y="2095500"/>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Likely layer</a:t>
            </a:r>
          </a:p>
        </p:txBody>
      </p:sp>
      <p:sp>
        <p:nvSpPr>
          <p:cNvPr id="5" name="text">
            <a:extLst xmlns:a="http://schemas.openxmlformats.org/drawingml/2006/main">
              <a:ext uri="{FF2B5EF4-FFF2-40B4-BE49-F238E27FC236}">
                <a16:creationId xmlns:a16="http://schemas.microsoft.com/office/drawing/2014/main" id="{B8E58196-11D2-4D57-969E-02EBB101BB8C}"/>
              </a:ext>
            </a:extLst>
          </p:cNvPr>
          <p:cNvSpPr>
            <a:spLocks xmlns:a="http://schemas.openxmlformats.org/drawingml/2006/main" noGrp="1"/>
          </p:cNvSpPr>
          <p:nvPr/>
        </p:nvSpPr>
        <p:spPr>
          <a:xfrm xmlns:a="http://schemas.openxmlformats.org/drawingml/2006/main">
            <a:off x="7324725" y="20955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Next step</a:t>
            </a:r>
          </a:p>
        </p:txBody>
      </p:sp>
      <p:sp>
        <p:nvSpPr>
          <p:cNvPr id="6" name="shape">
            <a:extLst xmlns:a="http://schemas.openxmlformats.org/drawingml/2006/main">
              <a:ext uri="{FF2B5EF4-FFF2-40B4-BE49-F238E27FC236}">
                <a16:creationId xmlns:a16="http://schemas.microsoft.com/office/drawing/2014/main" id="{F1F59143-2DB0-4D06-82DC-D669F06C1A41}"/>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D367E601-A133-4FCA-929B-8A82728F03AA}"/>
              </a:ext>
            </a:extLst>
          </p:cNvPr>
          <p:cNvSpPr>
            <a:spLocks xmlns:a="http://schemas.openxmlformats.org/drawingml/2006/main" noGrp="1"/>
          </p:cNvSpPr>
          <p:nvPr/>
        </p:nvSpPr>
        <p:spPr>
          <a:xfrm xmlns:a="http://schemas.openxmlformats.org/drawingml/2006/main">
            <a:off x="609600" y="2676525"/>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uv: command not found</a:t>
            </a:r>
          </a:p>
        </p:txBody>
      </p:sp>
      <p:sp>
        <p:nvSpPr>
          <p:cNvPr id="8" name="text">
            <a:extLst xmlns:a="http://schemas.openxmlformats.org/drawingml/2006/main">
              <a:ext uri="{FF2B5EF4-FFF2-40B4-BE49-F238E27FC236}">
                <a16:creationId xmlns:a16="http://schemas.microsoft.com/office/drawing/2014/main" id="{88841928-89D7-4FCD-9BA0-8C532E11E861}"/>
              </a:ext>
            </a:extLst>
          </p:cNvPr>
          <p:cNvSpPr>
            <a:spLocks xmlns:a="http://schemas.openxmlformats.org/drawingml/2006/main" noGrp="1"/>
          </p:cNvSpPr>
          <p:nvPr/>
        </p:nvSpPr>
        <p:spPr>
          <a:xfrm xmlns:a="http://schemas.openxmlformats.org/drawingml/2006/main">
            <a:off x="3162300" y="2676525"/>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Installation / command path</a:t>
            </a:r>
          </a:p>
        </p:txBody>
      </p:sp>
      <p:sp>
        <p:nvSpPr>
          <p:cNvPr id="9" name="text">
            <a:extLst xmlns:a="http://schemas.openxmlformats.org/drawingml/2006/main">
              <a:ext uri="{FF2B5EF4-FFF2-40B4-BE49-F238E27FC236}">
                <a16:creationId xmlns:a16="http://schemas.microsoft.com/office/drawing/2014/main" id="{DFC224DB-0D60-4EF1-AD3E-567AEA9E0B27}"/>
              </a:ext>
            </a:extLst>
          </p:cNvPr>
          <p:cNvSpPr>
            <a:spLocks xmlns:a="http://schemas.openxmlformats.org/drawingml/2006/main" noGrp="1"/>
          </p:cNvSpPr>
          <p:nvPr/>
        </p:nvSpPr>
        <p:spPr>
          <a:xfrm xmlns:a="http://schemas.openxmlformats.org/drawingml/2006/main">
            <a:off x="7324725" y="2676525"/>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Reopen terminal; verify approved install</a:t>
            </a:r>
          </a:p>
        </p:txBody>
      </p:sp>
      <p:sp>
        <p:nvSpPr>
          <p:cNvPr id="10" name="shape">
            <a:extLst xmlns:a="http://schemas.openxmlformats.org/drawingml/2006/main">
              <a:ext uri="{FF2B5EF4-FFF2-40B4-BE49-F238E27FC236}">
                <a16:creationId xmlns:a16="http://schemas.microsoft.com/office/drawing/2014/main" id="{24134176-042F-488F-9A7A-F6C939989541}"/>
              </a:ext>
            </a:extLst>
          </p:cNvPr>
          <p:cNvSpPr>
            <a:spLocks xmlns:a="http://schemas.openxmlformats.org/drawingml/2006/main" noGrp="1"/>
          </p:cNvSpPr>
          <p:nvPr/>
        </p:nvSpPr>
        <p:spPr>
          <a:xfrm xmlns:a="http://schemas.openxmlformats.org/drawingml/2006/main">
            <a:off x="609600" y="32480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D1A8D9D-D248-438C-ADBF-7E4A6647FC34}"/>
              </a:ext>
            </a:extLst>
          </p:cNvPr>
          <p:cNvSpPr>
            <a:spLocks xmlns:a="http://schemas.openxmlformats.org/drawingml/2006/main" noGrp="1"/>
          </p:cNvSpPr>
          <p:nvPr/>
        </p:nvSpPr>
        <p:spPr>
          <a:xfrm xmlns:a="http://schemas.openxmlformats.org/drawingml/2006/main">
            <a:off x="609600" y="3352800"/>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No pyproject.toml</a:t>
            </a:r>
          </a:p>
        </p:txBody>
      </p:sp>
      <p:sp>
        <p:nvSpPr>
          <p:cNvPr id="12" name="text">
            <a:extLst xmlns:a="http://schemas.openxmlformats.org/drawingml/2006/main">
              <a:ext uri="{FF2B5EF4-FFF2-40B4-BE49-F238E27FC236}">
                <a16:creationId xmlns:a16="http://schemas.microsoft.com/office/drawing/2014/main" id="{D47F0E68-A80A-4FF7-A638-5CA58C2A476F}"/>
              </a:ext>
            </a:extLst>
          </p:cNvPr>
          <p:cNvSpPr>
            <a:spLocks xmlns:a="http://schemas.openxmlformats.org/drawingml/2006/main" noGrp="1"/>
          </p:cNvSpPr>
          <p:nvPr/>
        </p:nvSpPr>
        <p:spPr>
          <a:xfrm xmlns:a="http://schemas.openxmlformats.org/drawingml/2006/main">
            <a:off x="3162300" y="3352800"/>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Wrong folder</a:t>
            </a:r>
          </a:p>
        </p:txBody>
      </p:sp>
      <p:sp>
        <p:nvSpPr>
          <p:cNvPr id="13" name="text">
            <a:extLst xmlns:a="http://schemas.openxmlformats.org/drawingml/2006/main">
              <a:ext uri="{FF2B5EF4-FFF2-40B4-BE49-F238E27FC236}">
                <a16:creationId xmlns:a16="http://schemas.microsoft.com/office/drawing/2014/main" id="{60BF662C-54AC-4B59-89C1-17C0D5BBFB3F}"/>
              </a:ext>
            </a:extLst>
          </p:cNvPr>
          <p:cNvSpPr>
            <a:spLocks xmlns:a="http://schemas.openxmlformats.org/drawingml/2006/main" noGrp="1"/>
          </p:cNvSpPr>
          <p:nvPr/>
        </p:nvSpPr>
        <p:spPr>
          <a:xfrm xmlns:a="http://schemas.openxmlformats.org/drawingml/2006/main">
            <a:off x="7324725" y="3352800"/>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cd into the cloned project root</a:t>
            </a:r>
          </a:p>
        </p:txBody>
      </p:sp>
      <p:sp>
        <p:nvSpPr>
          <p:cNvPr id="14" name="shape">
            <a:extLst xmlns:a="http://schemas.openxmlformats.org/drawingml/2006/main">
              <a:ext uri="{FF2B5EF4-FFF2-40B4-BE49-F238E27FC236}">
                <a16:creationId xmlns:a16="http://schemas.microsoft.com/office/drawing/2014/main" id="{18DF4D7B-93CD-4147-AA53-B58A44AAEFA8}"/>
              </a:ext>
            </a:extLst>
          </p:cNvPr>
          <p:cNvSpPr>
            <a:spLocks xmlns:a="http://schemas.openxmlformats.org/drawingml/2006/main" noGrp="1"/>
          </p:cNvSpPr>
          <p:nvPr/>
        </p:nvSpPr>
        <p:spPr>
          <a:xfrm xmlns:a="http://schemas.openxmlformats.org/drawingml/2006/main">
            <a:off x="609600" y="39243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0AB9A2E-205B-49A4-936A-A529237FC037}"/>
              </a:ext>
            </a:extLst>
          </p:cNvPr>
          <p:cNvSpPr>
            <a:spLocks xmlns:a="http://schemas.openxmlformats.org/drawingml/2006/main" noGrp="1"/>
          </p:cNvSpPr>
          <p:nvPr/>
        </p:nvSpPr>
        <p:spPr>
          <a:xfrm xmlns:a="http://schemas.openxmlformats.org/drawingml/2006/main">
            <a:off x="609600" y="4029075"/>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Package download fails</a:t>
            </a:r>
          </a:p>
        </p:txBody>
      </p:sp>
      <p:sp>
        <p:nvSpPr>
          <p:cNvPr id="16" name="text">
            <a:extLst xmlns:a="http://schemas.openxmlformats.org/drawingml/2006/main">
              <a:ext uri="{FF2B5EF4-FFF2-40B4-BE49-F238E27FC236}">
                <a16:creationId xmlns:a16="http://schemas.microsoft.com/office/drawing/2014/main" id="{37EFD290-A5DA-42F8-B1DE-09398E5D3EE2}"/>
              </a:ext>
            </a:extLst>
          </p:cNvPr>
          <p:cNvSpPr>
            <a:spLocks xmlns:a="http://schemas.openxmlformats.org/drawingml/2006/main" noGrp="1"/>
          </p:cNvSpPr>
          <p:nvPr/>
        </p:nvSpPr>
        <p:spPr>
          <a:xfrm xmlns:a="http://schemas.openxmlformats.org/drawingml/2006/main">
            <a:off x="3162300" y="4029075"/>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Network or access</a:t>
            </a:r>
          </a:p>
        </p:txBody>
      </p:sp>
      <p:sp>
        <p:nvSpPr>
          <p:cNvPr id="17" name="text">
            <a:extLst xmlns:a="http://schemas.openxmlformats.org/drawingml/2006/main">
              <a:ext uri="{FF2B5EF4-FFF2-40B4-BE49-F238E27FC236}">
                <a16:creationId xmlns:a16="http://schemas.microsoft.com/office/drawing/2014/main" id="{BB27C7B9-B492-453E-882A-C43588CB9E2B}"/>
              </a:ext>
            </a:extLst>
          </p:cNvPr>
          <p:cNvSpPr>
            <a:spLocks xmlns:a="http://schemas.openxmlformats.org/drawingml/2006/main" noGrp="1"/>
          </p:cNvSpPr>
          <p:nvPr/>
        </p:nvSpPr>
        <p:spPr>
          <a:xfrm xmlns:a="http://schemas.openxmlformats.org/drawingml/2006/main">
            <a:off x="7324725" y="4029075"/>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Resolve approved access; use prepared pair</a:t>
            </a:r>
          </a:p>
        </p:txBody>
      </p:sp>
      <p:sp>
        <p:nvSpPr>
          <p:cNvPr id="18" name="shape">
            <a:extLst xmlns:a="http://schemas.openxmlformats.org/drawingml/2006/main">
              <a:ext uri="{FF2B5EF4-FFF2-40B4-BE49-F238E27FC236}">
                <a16:creationId xmlns:a16="http://schemas.microsoft.com/office/drawing/2014/main" id="{EDFF80F3-D745-4668-8FC3-E8875C38C0E2}"/>
              </a:ext>
            </a:extLst>
          </p:cNvPr>
          <p:cNvSpPr>
            <a:spLocks xmlns:a="http://schemas.openxmlformats.org/drawingml/2006/main" noGrp="1"/>
          </p:cNvSpPr>
          <p:nvPr/>
        </p:nvSpPr>
        <p:spPr>
          <a:xfrm xmlns:a="http://schemas.openxmlformats.org/drawingml/2006/main">
            <a:off x="609600" y="46005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307DD13-C0BB-42BB-AD23-E49FEE6786E5}"/>
              </a:ext>
            </a:extLst>
          </p:cNvPr>
          <p:cNvSpPr>
            <a:spLocks xmlns:a="http://schemas.openxmlformats.org/drawingml/2006/main" noGrp="1"/>
          </p:cNvSpPr>
          <p:nvPr/>
        </p:nvSpPr>
        <p:spPr>
          <a:xfrm xmlns:a="http://schemas.openxmlformats.org/drawingml/2006/main">
            <a:off x="609600" y="4705350"/>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Address already in use</a:t>
            </a:r>
          </a:p>
        </p:txBody>
      </p:sp>
      <p:sp>
        <p:nvSpPr>
          <p:cNvPr id="20" name="text">
            <a:extLst xmlns:a="http://schemas.openxmlformats.org/drawingml/2006/main">
              <a:ext uri="{FF2B5EF4-FFF2-40B4-BE49-F238E27FC236}">
                <a16:creationId xmlns:a16="http://schemas.microsoft.com/office/drawing/2014/main" id="{8D0B6B4B-F606-4990-84DE-52A5CD652CEF}"/>
              </a:ext>
            </a:extLst>
          </p:cNvPr>
          <p:cNvSpPr>
            <a:spLocks xmlns:a="http://schemas.openxmlformats.org/drawingml/2006/main" noGrp="1"/>
          </p:cNvSpPr>
          <p:nvPr/>
        </p:nvSpPr>
        <p:spPr>
          <a:xfrm xmlns:a="http://schemas.openxmlformats.org/drawingml/2006/main">
            <a:off x="3162300" y="4705350"/>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Local port</a:t>
            </a:r>
          </a:p>
        </p:txBody>
      </p:sp>
      <p:sp>
        <p:nvSpPr>
          <p:cNvPr id="21" name="text">
            <a:extLst xmlns:a="http://schemas.openxmlformats.org/drawingml/2006/main">
              <a:ext uri="{FF2B5EF4-FFF2-40B4-BE49-F238E27FC236}">
                <a16:creationId xmlns:a16="http://schemas.microsoft.com/office/drawing/2014/main" id="{22874FBF-C1A7-478C-935A-7755FC0FC37C}"/>
              </a:ext>
            </a:extLst>
          </p:cNvPr>
          <p:cNvSpPr>
            <a:spLocks xmlns:a="http://schemas.openxmlformats.org/drawingml/2006/main" noGrp="1"/>
          </p:cNvSpPr>
          <p:nvPr/>
        </p:nvSpPr>
        <p:spPr>
          <a:xfrm xmlns:a="http://schemas.openxmlformats.org/drawingml/2006/main">
            <a:off x="7324725" y="4705350"/>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Use web --port 8788 and that URL</a:t>
            </a:r>
          </a:p>
        </p:txBody>
      </p:sp>
      <p:sp>
        <p:nvSpPr>
          <p:cNvPr id="22" name="shape">
            <a:extLst xmlns:a="http://schemas.openxmlformats.org/drawingml/2006/main">
              <a:ext uri="{FF2B5EF4-FFF2-40B4-BE49-F238E27FC236}">
                <a16:creationId xmlns:a16="http://schemas.microsoft.com/office/drawing/2014/main" id="{E5A3CFEB-D2A9-4456-8D33-FC0DAB67051A}"/>
              </a:ext>
            </a:extLst>
          </p:cNvPr>
          <p:cNvSpPr>
            <a:spLocks xmlns:a="http://schemas.openxmlformats.org/drawingml/2006/main" noGrp="1"/>
          </p:cNvSpPr>
          <p:nvPr/>
        </p:nvSpPr>
        <p:spPr>
          <a:xfrm xmlns:a="http://schemas.openxmlformats.org/drawingml/2006/main">
            <a:off x="609600" y="52768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31031393-1446-4474-A63A-D6450A431823}"/>
              </a:ext>
            </a:extLst>
          </p:cNvPr>
          <p:cNvSpPr>
            <a:spLocks xmlns:a="http://schemas.openxmlformats.org/drawingml/2006/main" noGrp="1"/>
          </p:cNvSpPr>
          <p:nvPr/>
        </p:nvSpPr>
        <p:spPr>
          <a:xfrm xmlns:a="http://schemas.openxmlformats.org/drawingml/2006/main">
            <a:off x="609600" y="5381625"/>
            <a:ext cx="2343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Browser cannot connect</a:t>
            </a:r>
          </a:p>
        </p:txBody>
      </p:sp>
      <p:sp>
        <p:nvSpPr>
          <p:cNvPr id="24" name="text">
            <a:extLst xmlns:a="http://schemas.openxmlformats.org/drawingml/2006/main">
              <a:ext uri="{FF2B5EF4-FFF2-40B4-BE49-F238E27FC236}">
                <a16:creationId xmlns:a16="http://schemas.microsoft.com/office/drawing/2014/main" id="{9897E260-C793-4072-ACAD-7D2C534FE44A}"/>
              </a:ext>
            </a:extLst>
          </p:cNvPr>
          <p:cNvSpPr>
            <a:spLocks xmlns:a="http://schemas.openxmlformats.org/drawingml/2006/main" noGrp="1"/>
          </p:cNvSpPr>
          <p:nvPr/>
        </p:nvSpPr>
        <p:spPr>
          <a:xfrm xmlns:a="http://schemas.openxmlformats.org/drawingml/2006/main">
            <a:off x="3162300" y="5381625"/>
            <a:ext cx="395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Server stopped / wrong URL</a:t>
            </a:r>
          </a:p>
        </p:txBody>
      </p:sp>
      <p:sp>
        <p:nvSpPr>
          <p:cNvPr id="25" name="text">
            <a:extLst xmlns:a="http://schemas.openxmlformats.org/drawingml/2006/main">
              <a:ext uri="{FF2B5EF4-FFF2-40B4-BE49-F238E27FC236}">
                <a16:creationId xmlns:a16="http://schemas.microsoft.com/office/drawing/2014/main" id="{24841B43-054D-429A-B32E-85E00A7DCBA3}"/>
              </a:ext>
            </a:extLst>
          </p:cNvPr>
          <p:cNvSpPr>
            <a:spLocks xmlns:a="http://schemas.openxmlformats.org/drawingml/2006/main" noGrp="1"/>
          </p:cNvSpPr>
          <p:nvPr/>
        </p:nvSpPr>
        <p:spPr>
          <a:xfrm xmlns:a="http://schemas.openxmlformats.org/drawingml/2006/main">
            <a:off x="7324725" y="5381625"/>
            <a:ext cx="4048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Start server; verify the terminal message</a:t>
            </a:r>
          </a:p>
        </p:txBody>
      </p:sp>
      <p:sp>
        <p:nvSpPr>
          <p:cNvPr id="26" name="shape">
            <a:extLst xmlns:a="http://schemas.openxmlformats.org/drawingml/2006/main">
              <a:ext uri="{FF2B5EF4-FFF2-40B4-BE49-F238E27FC236}">
                <a16:creationId xmlns:a16="http://schemas.microsoft.com/office/drawing/2014/main" id="{E4BD610E-C8B9-491E-96A7-5FF96CFBAFB2}"/>
              </a:ext>
            </a:extLst>
          </p:cNvPr>
          <p:cNvSpPr>
            <a:spLocks xmlns:a="http://schemas.openxmlformats.org/drawingml/2006/main" noGrp="1"/>
          </p:cNvSpPr>
          <p:nvPr/>
        </p:nvSpPr>
        <p:spPr>
          <a:xfrm xmlns:a="http://schemas.openxmlformats.org/drawingml/2006/main">
            <a:off x="609600" y="595312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shape">
            <a:extLst xmlns:a="http://schemas.openxmlformats.org/drawingml/2006/main">
              <a:ext uri="{FF2B5EF4-FFF2-40B4-BE49-F238E27FC236}">
                <a16:creationId xmlns:a16="http://schemas.microsoft.com/office/drawing/2014/main" id="{276D6962-3538-413F-A551-6EAADDBF1A5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4E6CD710-62DE-4A40-A5CF-5C32198F17C8}"/>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9" name="text">
            <a:extLst xmlns:a="http://schemas.openxmlformats.org/drawingml/2006/main">
              <a:ext uri="{FF2B5EF4-FFF2-40B4-BE49-F238E27FC236}">
                <a16:creationId xmlns:a16="http://schemas.microsoft.com/office/drawing/2014/main" id="{8C7DFA7E-E546-41CC-8FA4-C8D3558DEC66}"/>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65</a:t>
            </a:r>
          </a:p>
        </p:txBody>
      </p:sp>
    </p:spTree>
    <p:extLst>
      <p:ext uri="{BB962C8B-B14F-4D97-AF65-F5344CB8AC3E}">
        <p14:creationId xmlns:p14="http://schemas.microsoft.com/office/powerpoint/2010/main" val="1671927009"/>
      </p:ext>
    </p:extLst>
  </p:cSld>
</p:sld>
</file>

<file path=ppt/slides/slide6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847A965B-F173-4239-85D7-88AFCCA66F8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04EF6607-35BE-4475-BD8D-04FD0430EFD9}"/>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Use offline mode only after preparing it.</a:t>
            </a:r>
          </a:p>
        </p:txBody>
      </p:sp>
      <p:sp>
        <p:nvSpPr>
          <p:cNvPr id="3" name="shape">
            <a:extLst xmlns:a="http://schemas.openxmlformats.org/drawingml/2006/main">
              <a:ext uri="{FF2B5EF4-FFF2-40B4-BE49-F238E27FC236}">
                <a16:creationId xmlns:a16="http://schemas.microsoft.com/office/drawing/2014/main" id="{ADCCD1A7-9BD2-4526-B929-5C62E55F71F4}"/>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A90D64D0-DE84-4F16-B7FD-EC2561741928}"/>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First installation: needs package access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sync --frozen</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Later, with the required cache already present:</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sync --frozen --offline</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--offline agentforge-jarvis web</a:t>
            </a:r>
          </a:p>
        </p:txBody>
      </p:sp>
      <p:sp>
        <p:nvSpPr>
          <p:cNvPr id="5" name="text">
            <a:extLst xmlns:a="http://schemas.openxmlformats.org/drawingml/2006/main">
              <a:ext uri="{FF2B5EF4-FFF2-40B4-BE49-F238E27FC236}">
                <a16:creationId xmlns:a16="http://schemas.microsoft.com/office/drawing/2014/main" id="{A71160E8-DB5A-489E-A2E7-932C91C898F5}"/>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A ZIP includes source files. It does not include every Python dependency.</a:t>
            </a:r>
          </a:p>
        </p:txBody>
      </p:sp>
      <p:sp>
        <p:nvSpPr>
          <p:cNvPr id="6" name="shape">
            <a:extLst xmlns:a="http://schemas.openxmlformats.org/drawingml/2006/main">
              <a:ext uri="{FF2B5EF4-FFF2-40B4-BE49-F238E27FC236}">
                <a16:creationId xmlns:a16="http://schemas.microsoft.com/office/drawing/2014/main" id="{1AE7426F-B012-44BE-9DD8-29740244B465}"/>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66A57126-0080-4B60-87BA-BC64C7D30FB7}"/>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CED55035-9840-4F48-8806-2ED34BC7EFAE}"/>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66</a:t>
            </a:r>
          </a:p>
        </p:txBody>
      </p:sp>
    </p:spTree>
    <p:extLst>
      <p:ext uri="{BB962C8B-B14F-4D97-AF65-F5344CB8AC3E}">
        <p14:creationId xmlns:p14="http://schemas.microsoft.com/office/powerpoint/2010/main" val="708637777"/>
      </p:ext>
    </p:extLst>
  </p:cSld>
</p:sld>
</file>

<file path=ppt/slides/slide6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D29059B-0774-464C-9379-1DA222FD828D}"/>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CF0FAFE5-F9F9-434C-BC93-122E79E8A261}"/>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Stop safely and preserve today’s work.</a:t>
            </a:r>
          </a:p>
        </p:txBody>
      </p:sp>
      <p:sp>
        <p:nvSpPr>
          <p:cNvPr id="3" name="shape">
            <a:extLst xmlns:a="http://schemas.openxmlformats.org/drawingml/2006/main">
              <a:ext uri="{FF2B5EF4-FFF2-40B4-BE49-F238E27FC236}">
                <a16:creationId xmlns:a16="http://schemas.microsoft.com/office/drawing/2014/main" id="{72F64C85-8C02-421A-B711-20FF9E74A1DD}"/>
              </a:ext>
            </a:extLst>
          </p:cNvPr>
          <p:cNvSpPr>
            <a:spLocks xmlns:a="http://schemas.openxmlformats.org/drawingml/2006/main" noGrp="1"/>
          </p:cNvSpPr>
          <p:nvPr/>
        </p:nvSpPr>
        <p:spPr>
          <a:xfrm xmlns:a="http://schemas.openxmlformats.org/drawingml/2006/main">
            <a:off x="609600" y="2143125"/>
            <a:ext cx="10972800" cy="2190750"/>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9EBFE058-469B-4350-8AC0-740D5F109445}"/>
              </a:ext>
            </a:extLst>
          </p:cNvPr>
          <p:cNvSpPr>
            <a:spLocks xmlns:a="http://schemas.openxmlformats.org/drawingml/2006/main" noGrp="1"/>
          </p:cNvSpPr>
          <p:nvPr/>
        </p:nvSpPr>
        <p:spPr>
          <a:xfrm xmlns:a="http://schemas.openxmlformats.org/drawingml/2006/main">
            <a:off x="857250" y="2333625"/>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Stop the running server in its terminal:</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Ctrl+C</a:t>
            </a:r>
          </a:p>
          <a:p xmlns:a="http://schemas.openxmlformats.org/drawingml/2006/main">
            <a:r>
              <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Restart later from the project folder: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p:txBody>
      </p:sp>
      <p:sp>
        <p:nvSpPr>
          <p:cNvPr id="5" name="text">
            <a:extLst xmlns:a="http://schemas.openxmlformats.org/drawingml/2006/main">
              <a:ext uri="{FF2B5EF4-FFF2-40B4-BE49-F238E27FC236}">
                <a16:creationId xmlns:a16="http://schemas.microsoft.com/office/drawing/2014/main" id="{EF525389-8478-40AC-AC7E-4BA89FC692C5}"/>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Keep the same local team ID and the .agentforge data directory.</a:t>
            </a:r>
          </a:p>
        </p:txBody>
      </p:sp>
      <p:sp>
        <p:nvSpPr>
          <p:cNvPr id="6" name="shape">
            <a:extLst xmlns:a="http://schemas.openxmlformats.org/drawingml/2006/main">
              <a:ext uri="{FF2B5EF4-FFF2-40B4-BE49-F238E27FC236}">
                <a16:creationId xmlns:a16="http://schemas.microsoft.com/office/drawing/2014/main" id="{9E187EFD-0499-45A3-9212-785CAC15474B}"/>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89318C01-53EB-4712-B613-9CA5C422D34F}"/>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5E65987E-7A12-45B0-9F23-5D71CE3A596F}"/>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67</a:t>
            </a:r>
          </a:p>
        </p:txBody>
      </p:sp>
    </p:spTree>
    <p:extLst>
      <p:ext uri="{BB962C8B-B14F-4D97-AF65-F5344CB8AC3E}">
        <p14:creationId xmlns:p14="http://schemas.microsoft.com/office/powerpoint/2010/main" val="1251815429"/>
      </p:ext>
    </p:extLst>
  </p:cSld>
</p:sld>
</file>

<file path=ppt/slides/slide68.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D2F45F30-0EB8-489B-9107-DF73297AA59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E38E24B3-4FA3-4553-8FDD-1DFD8ACC6206}"/>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Arthi: publish the prepared project folder.</a:t>
            </a:r>
          </a:p>
        </p:txBody>
      </p:sp>
      <p:sp>
        <p:nvSpPr>
          <p:cNvPr id="3" name="flow-node">
            <a:extLst xmlns:a="http://schemas.openxmlformats.org/drawingml/2006/main">
              <a:ext uri="{FF2B5EF4-FFF2-40B4-BE49-F238E27FC236}">
                <a16:creationId xmlns:a16="http://schemas.microsoft.com/office/drawing/2014/main" id="{4BD313B4-2225-4B45-AB93-07403B0CB746}"/>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Inspect ignored files</a:t>
            </a:r>
          </a:p>
        </p:txBody>
      </p:sp>
      <p:sp>
        <p:nvSpPr>
          <p:cNvPr id="4" name="flow-node">
            <a:extLst xmlns:a="http://schemas.openxmlformats.org/drawingml/2006/main">
              <a:ext uri="{FF2B5EF4-FFF2-40B4-BE49-F238E27FC236}">
                <a16:creationId xmlns:a16="http://schemas.microsoft.com/office/drawing/2014/main" id="{3B210D4D-111F-42C8-8F54-83C6787B7377}"/>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Create empty GitHub repo</a:t>
            </a:r>
          </a:p>
        </p:txBody>
      </p:sp>
      <p:sp>
        <p:nvSpPr>
          <p:cNvPr id="5" name="flow-node">
            <a:extLst xmlns:a="http://schemas.openxmlformats.org/drawingml/2006/main">
              <a:ext uri="{FF2B5EF4-FFF2-40B4-BE49-F238E27FC236}">
                <a16:creationId xmlns:a16="http://schemas.microsoft.com/office/drawing/2014/main" id="{5192D13D-A357-4B55-9C0B-14A346282E61}"/>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Commit local source</a:t>
            </a:r>
          </a:p>
        </p:txBody>
      </p:sp>
      <p:sp>
        <p:nvSpPr>
          <p:cNvPr id="6" name="flow-node">
            <a:extLst xmlns:a="http://schemas.openxmlformats.org/drawingml/2006/main">
              <a:ext uri="{FF2B5EF4-FFF2-40B4-BE49-F238E27FC236}">
                <a16:creationId xmlns:a16="http://schemas.microsoft.com/office/drawing/2014/main" id="{6CF59AAC-5715-48B0-9883-DB7F56D5CB35}"/>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Push to that repo</a:t>
            </a:r>
          </a:p>
        </p:txBody>
      </p:sp>
      <p:sp>
        <p:nvSpPr>
          <p:cNvPr id="7" name="flow-node">
            <a:extLst xmlns:a="http://schemas.openxmlformats.org/drawingml/2006/main">
              <a:ext uri="{FF2B5EF4-FFF2-40B4-BE49-F238E27FC236}">
                <a16:creationId xmlns:a16="http://schemas.microsoft.com/office/drawing/2014/main" id="{945C7F99-7DC3-48A6-BAA4-852B05181B22}"/>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Test a fresh clone</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7C722FD4-F885-45B6-AE44-8E845E762FBF}"/>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Use workshop/PUBLISHING.md. Publish only the agentforge-jarvis project.</a:t>
            </a:r>
          </a:p>
        </p:txBody>
      </p:sp>
      <p:sp>
        <p:nvSpPr>
          <p:cNvPr id="13" name="shape">
            <a:extLst xmlns:a="http://schemas.openxmlformats.org/drawingml/2006/main">
              <a:ext uri="{FF2B5EF4-FFF2-40B4-BE49-F238E27FC236}">
                <a16:creationId xmlns:a16="http://schemas.microsoft.com/office/drawing/2014/main" id="{BEA18C9B-5ECB-4154-9B49-9B433573975A}"/>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E1CD150-167B-4B80-BD2C-7B2C7E150CF0}"/>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6C522CE4-7528-4F37-9C68-49882CAB81DB}"/>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68</a:t>
            </a:r>
          </a:p>
        </p:txBody>
      </p:sp>
    </p:spTree>
    <p:extLst>
      <p:ext uri="{BB962C8B-B14F-4D97-AF65-F5344CB8AC3E}">
        <p14:creationId xmlns:p14="http://schemas.microsoft.com/office/powerpoint/2010/main" val="176477652"/>
      </p:ext>
    </p:extLst>
  </p:cSld>
</p:sld>
</file>

<file path=ppt/slides/slide6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D5E13F36-BEAD-4A5E-8347-8F10D2E6439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98E0A8BD-94DB-4F9B-857A-984D95DE9FF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Test the same path the team will use.</a:t>
            </a:r>
          </a:p>
        </p:txBody>
      </p:sp>
      <p:sp>
        <p:nvSpPr>
          <p:cNvPr id="3" name="shape">
            <a:extLst xmlns:a="http://schemas.openxmlformats.org/drawingml/2006/main">
              <a:ext uri="{FF2B5EF4-FFF2-40B4-BE49-F238E27FC236}">
                <a16:creationId xmlns:a16="http://schemas.microsoft.com/office/drawing/2014/main" id="{9BC4D3AC-4A48-4770-A4C8-B6DC67AB4F11}"/>
              </a:ext>
            </a:extLst>
          </p:cNvPr>
          <p:cNvSpPr>
            <a:spLocks xmlns:a="http://schemas.openxmlformats.org/drawingml/2006/main" noGrp="1"/>
          </p:cNvSpPr>
          <p:nvPr/>
        </p:nvSpPr>
        <p:spPr>
          <a:xfrm xmlns:a="http://schemas.openxmlformats.org/drawingml/2006/main">
            <a:off x="609600" y="2143125"/>
            <a:ext cx="10972800" cy="2200275"/>
          </a:xfrm>
          <a:prstGeom xmlns:a="http://schemas.openxmlformats.org/drawingml/2006/main" prst="rect">
            <a:avLst/>
          </a:prstGeom>
          <a:solidFill xmlns:a="http://schemas.openxmlformats.org/drawingml/2006/main">
            <a:srgbClr val="102735"/>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655E68B9-1FD6-4FD4-844C-DE301B9712E8}"/>
              </a:ext>
            </a:extLst>
          </p:cNvPr>
          <p:cNvSpPr>
            <a:spLocks xmlns:a="http://schemas.openxmlformats.org/drawingml/2006/main" noGrp="1"/>
          </p:cNvSpPr>
          <p:nvPr/>
        </p:nvSpPr>
        <p:spPr>
          <a:xfrm xmlns:a="http://schemas.openxmlformats.org/drawingml/2006/main">
            <a:off x="857250" y="2333625"/>
            <a:ext cx="10477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 After cloning the published repository:</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cd agentforge-jarvis</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sync --frozen</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pytest -q</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doctor</a:t>
            </a:r>
          </a:p>
          <a:p xmlns:a="http://schemas.openxmlformats.org/drawingml/2006/main">
            <a:pPr>
              <a:defRPr sz="1875" b="0">
                <a:solidFill>
                  <a:srgbClr val="EDF5F1"/>
                </a:solidFill>
                <a:latin typeface="Consolas"/>
                <a:ea typeface="Consolas"/>
                <a:cs typeface="Consolas"/>
              </a:defRPr>
            </a:pPr>
            <a:r>
              <a:rPr sz="1875" b="0">
                <a:solidFill>
                  <a:srgbClr val="EDF5F1"/>
                </a:solidFill>
                <a:latin typeface="Consolas"/>
                <a:ea typeface="Consolas"/>
                <a:cs typeface="Consolas"/>
              </a:rPr>
              <a:t>uv run agentforge-jarvis web</a:t>
            </a:r>
          </a:p>
        </p:txBody>
      </p:sp>
      <p:sp>
        <p:nvSpPr>
          <p:cNvPr id="5" name="text">
            <a:extLst xmlns:a="http://schemas.openxmlformats.org/drawingml/2006/main">
              <a:ext uri="{FF2B5EF4-FFF2-40B4-BE49-F238E27FC236}">
                <a16:creationId xmlns:a16="http://schemas.microsoft.com/office/drawing/2014/main" id="{C7BF58D8-AADA-4EAB-8A4A-6A53AB0143B8}"/>
              </a:ext>
            </a:extLst>
          </p:cNvPr>
          <p:cNvSpPr>
            <a:spLocks xmlns:a="http://schemas.openxmlformats.org/drawingml/2006/main" noGrp="1"/>
          </p:cNvSpPr>
          <p:nvPr/>
        </p:nvSpPr>
        <p:spPr>
          <a:xfrm xmlns:a="http://schemas.openxmlformats.org/drawingml/2006/main">
            <a:off x="609600" y="57912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Verify access from a participant account if the repository is private.</a:t>
            </a:r>
          </a:p>
        </p:txBody>
      </p:sp>
      <p:sp>
        <p:nvSpPr>
          <p:cNvPr id="6" name="shape">
            <a:extLst xmlns:a="http://schemas.openxmlformats.org/drawingml/2006/main">
              <a:ext uri="{FF2B5EF4-FFF2-40B4-BE49-F238E27FC236}">
                <a16:creationId xmlns:a16="http://schemas.microsoft.com/office/drawing/2014/main" id="{530B5F17-8A93-43FD-9F15-D600CD1A538E}"/>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761EFF17-8624-4879-B71D-49357CE5AA11}"/>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8" name="text">
            <a:extLst xmlns:a="http://schemas.openxmlformats.org/drawingml/2006/main">
              <a:ext uri="{FF2B5EF4-FFF2-40B4-BE49-F238E27FC236}">
                <a16:creationId xmlns:a16="http://schemas.microsoft.com/office/drawing/2014/main" id="{7FC75B9D-632E-4113-AB33-2626D1F4EB0A}"/>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69</a:t>
            </a:r>
          </a:p>
        </p:txBody>
      </p:sp>
    </p:spTree>
    <p:extLst>
      <p:ext uri="{BB962C8B-B14F-4D97-AF65-F5344CB8AC3E}">
        <p14:creationId xmlns:p14="http://schemas.microsoft.com/office/powerpoint/2010/main" val="708140500"/>
      </p:ext>
    </p:extLst>
  </p:cSld>
</p:sld>
</file>

<file path=ppt/slides/slide7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FB2B199C-A8FC-4481-9D5C-507D77CCBD5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DFBF"/>
                </a:solidFill>
                <a:latin typeface="Aptos"/>
                <a:ea typeface="Aptos"/>
                <a:cs typeface="Aptos"/>
              </a:defRPr>
            </a:pPr>
            <a:r>
              <a:rPr sz="1650" b="1">
                <a:solidFill>
                  <a:srgbClr val="61DFBF"/>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4FF20A84-4C99-4B1B-AF5F-6D84B648A1B2}"/>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EDF5F1"/>
                </a:solidFill>
                <a:latin typeface="Aptos"/>
                <a:ea typeface="Aptos"/>
                <a:cs typeface="Aptos"/>
              </a:defRPr>
            </a:pPr>
            <a:r>
              <a:rPr sz="3600" b="1">
                <a:solidFill>
                  <a:srgbClr val="EDF5F1"/>
                </a:solidFill>
                <a:latin typeface="Aptos"/>
                <a:ea typeface="Aptos"/>
                <a:cs typeface="Aptos"/>
              </a:rPr>
              <a:t>Live AI is a later, separate experiment.</a:t>
            </a:r>
          </a:p>
        </p:txBody>
      </p:sp>
      <p:sp>
        <p:nvSpPr>
          <p:cNvPr id="3" name="flow-node">
            <a:extLst xmlns:a="http://schemas.openxmlformats.org/drawingml/2006/main">
              <a:ext uri="{FF2B5EF4-FFF2-40B4-BE49-F238E27FC236}">
                <a16:creationId xmlns:a16="http://schemas.microsoft.com/office/drawing/2014/main" id="{9D221A5A-3569-4FA8-A06B-50FA17AB9B29}"/>
              </a:ext>
            </a:extLst>
          </p:cNvPr>
          <p:cNvSpPr>
            <a:spLocks xmlns:a="http://schemas.openxmlformats.org/drawingml/2006/main" noGrp="1"/>
          </p:cNvSpPr>
          <p:nvPr/>
        </p:nvSpPr>
        <p:spPr>
          <a:xfrm xmlns:a="http://schemas.openxmlformats.org/drawingml/2006/main">
            <a:off x="60960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Choose a provider</a:t>
            </a:r>
          </a:p>
        </p:txBody>
      </p:sp>
      <p:sp>
        <p:nvSpPr>
          <p:cNvPr id="4" name="flow-node">
            <a:extLst xmlns:a="http://schemas.openxmlformats.org/drawingml/2006/main">
              <a:ext uri="{FF2B5EF4-FFF2-40B4-BE49-F238E27FC236}">
                <a16:creationId xmlns:a16="http://schemas.microsoft.com/office/drawing/2014/main" id="{C3CE7219-A3D6-4BFB-B100-73C29A05B356}"/>
              </a:ext>
            </a:extLst>
          </p:cNvPr>
          <p:cNvSpPr>
            <a:spLocks xmlns:a="http://schemas.openxmlformats.org/drawingml/2006/main" noGrp="1"/>
          </p:cNvSpPr>
          <p:nvPr/>
        </p:nvSpPr>
        <p:spPr>
          <a:xfrm xmlns:a="http://schemas.openxmlformats.org/drawingml/2006/main">
            <a:off x="286131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Configure locally</a:t>
            </a:r>
          </a:p>
        </p:txBody>
      </p:sp>
      <p:sp>
        <p:nvSpPr>
          <p:cNvPr id="5" name="flow-node">
            <a:extLst xmlns:a="http://schemas.openxmlformats.org/drawingml/2006/main">
              <a:ext uri="{FF2B5EF4-FFF2-40B4-BE49-F238E27FC236}">
                <a16:creationId xmlns:a16="http://schemas.microsoft.com/office/drawing/2014/main" id="{9E1C7CA8-4EDE-40AF-B958-BEB74D746E04}"/>
              </a:ext>
            </a:extLst>
          </p:cNvPr>
          <p:cNvSpPr>
            <a:spLocks xmlns:a="http://schemas.openxmlformats.org/drawingml/2006/main" noGrp="1"/>
          </p:cNvSpPr>
          <p:nvPr/>
        </p:nvSpPr>
        <p:spPr>
          <a:xfrm xmlns:a="http://schemas.openxmlformats.org/drawingml/2006/main">
            <a:off x="511302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Restart the server</a:t>
            </a:r>
          </a:p>
        </p:txBody>
      </p:sp>
      <p:sp>
        <p:nvSpPr>
          <p:cNvPr id="6" name="flow-node">
            <a:extLst xmlns:a="http://schemas.openxmlformats.org/drawingml/2006/main">
              <a:ext uri="{FF2B5EF4-FFF2-40B4-BE49-F238E27FC236}">
                <a16:creationId xmlns:a16="http://schemas.microsoft.com/office/drawing/2014/main" id="{B98DA841-2ACC-4AAA-81F5-755FEB3C54F6}"/>
              </a:ext>
            </a:extLst>
          </p:cNvPr>
          <p:cNvSpPr>
            <a:spLocks xmlns:a="http://schemas.openxmlformats.org/drawingml/2006/main" noGrp="1"/>
          </p:cNvSpPr>
          <p:nvPr/>
        </p:nvSpPr>
        <p:spPr>
          <a:xfrm xmlns:a="http://schemas.openxmlformats.org/drawingml/2006/main">
            <a:off x="736473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Run a live test</a:t>
            </a:r>
          </a:p>
        </p:txBody>
      </p:sp>
      <p:sp>
        <p:nvSpPr>
          <p:cNvPr id="7" name="flow-node">
            <a:extLst xmlns:a="http://schemas.openxmlformats.org/drawingml/2006/main">
              <a:ext uri="{FF2B5EF4-FFF2-40B4-BE49-F238E27FC236}">
                <a16:creationId xmlns:a16="http://schemas.microsoft.com/office/drawing/2014/main" id="{265B3F8D-FA8E-4554-89E2-BAAF8803FC8B}"/>
              </a:ext>
            </a:extLst>
          </p:cNvPr>
          <p:cNvSpPr>
            <a:spLocks xmlns:a="http://schemas.openxmlformats.org/drawingml/2006/main" noGrp="1"/>
          </p:cNvSpPr>
          <p:nvPr/>
        </p:nvSpPr>
        <p:spPr>
          <a:xfrm xmlns:a="http://schemas.openxmlformats.org/drawingml/2006/main">
            <a:off x="9616440" y="2857500"/>
            <a:ext cx="1965960" cy="1066800"/>
          </a:xfrm>
          <a:prstGeom xmlns:a="http://schemas.openxmlformats.org/drawingml/2006/main" prst="roundRect">
            <a:avLst>
              <a:gd name="adj" fmla="val 7143"/>
            </a:avLst>
          </a:prstGeom>
          <a:solidFill xmlns:a="http://schemas.openxmlformats.org/drawingml/2006/main">
            <a:srgbClr val="102D39"/>
          </a:solidFill>
          <a:ln xmlns:a="http://schemas.openxmlformats.org/drawingml/2006/main" w="14288">
            <a:solidFill>
              <a:srgbClr val="29464E"/>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defRPr sz="1875" b="1">
                <a:solidFill>
                  <a:srgbClr val="EDF5F1"/>
                </a:solidFill>
                <a:latin typeface="Aptos"/>
                <a:ea typeface="Aptos"/>
                <a:cs typeface="Aptos"/>
              </a:defRPr>
            </a:pPr>
            <a:r>
              <a:rPr sz="1875" b="1">
                <a:solidFill>
                  <a:srgbClr val="EDF5F1"/>
                </a:solidFill>
                <a:latin typeface="Aptos"/>
                <a:ea typeface="Aptos"/>
                <a:cs typeface="Aptos"/>
              </a:rPr>
              <a:t>Review actual behavior</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57556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482727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07898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9330690" y="3390900"/>
            <a:ext cx="285750" cy="0"/>
          </a:xfrm>
          <a:prstGeom xmlns:a="http://schemas.openxmlformats.org/drawingml/2006/main" prst="straightConnector1">
            <a:avLst/>
          </a:prstGeom>
          <a:ln xmlns:a="http://schemas.openxmlformats.org/drawingml/2006/main" w="19050">
            <a:solidFill>
              <a:srgbClr val="61DFBF"/>
            </a:solidFill>
            <a:tailEnd type="arrow" w="med" len="med"/>
          </a:ln>
        </p:spPr>
      </p:cxnSp>
      <p:sp>
        <p:nvSpPr>
          <p:cNvPr id="12" name="text">
            <a:extLst xmlns:a="http://schemas.openxmlformats.org/drawingml/2006/main">
              <a:ext uri="{FF2B5EF4-FFF2-40B4-BE49-F238E27FC236}">
                <a16:creationId xmlns:a16="http://schemas.microsoft.com/office/drawing/2014/main" id="{0E26157F-BF34-4B09-ACD8-CE706299513D}"/>
              </a:ext>
            </a:extLst>
          </p:cNvPr>
          <p:cNvSpPr>
            <a:spLocks xmlns:a="http://schemas.openxmlformats.org/drawingml/2006/main" noGrp="1"/>
          </p:cNvSpPr>
          <p:nvPr/>
        </p:nvSpPr>
        <p:spPr>
          <a:xfrm xmlns:a="http://schemas.openxmlformats.org/drawingml/2006/main">
            <a:off x="609600" y="50673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1DFBF"/>
                </a:solidFill>
                <a:latin typeface="Aptos"/>
                <a:ea typeface="Aptos"/>
                <a:cs typeface="Aptos"/>
              </a:defRPr>
            </a:pPr>
            <a:r>
              <a:rPr sz="1800" b="0">
                <a:solidFill>
                  <a:srgbClr val="61DFBF"/>
                </a:solidFill>
                <a:latin typeface="Aptos"/>
                <a:ea typeface="Aptos"/>
                <a:cs typeface="Aptos"/>
              </a:rPr>
              <a:t>Today’s rehearsal does not verify Gemini, Ollama, cost or live-model safety.</a:t>
            </a:r>
          </a:p>
        </p:txBody>
      </p:sp>
      <p:sp>
        <p:nvSpPr>
          <p:cNvPr id="13" name="shape">
            <a:extLst xmlns:a="http://schemas.openxmlformats.org/drawingml/2006/main">
              <a:ext uri="{FF2B5EF4-FFF2-40B4-BE49-F238E27FC236}">
                <a16:creationId xmlns:a16="http://schemas.microsoft.com/office/drawing/2014/main" id="{17B73C0B-DCE3-43C3-99A6-18F7E4A52729}"/>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29464E"/>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D5A05CC-CF2F-49BF-9DAD-F6670646A17D}"/>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92B1B3"/>
                </a:solidFill>
                <a:latin typeface="Aptos"/>
                <a:ea typeface="Aptos"/>
                <a:cs typeface="Aptos"/>
              </a:defRPr>
            </a:pPr>
            <a:r>
              <a:rPr sz="1125" b="1">
                <a:solidFill>
                  <a:srgbClr val="92B1B3"/>
                </a:solidFill>
                <a:latin typeface="Aptos"/>
                <a:ea typeface="Aptos"/>
                <a:cs typeface="Aptos"/>
              </a:rPr>
              <a:t>LIBA  /  AGENTFORGE JARVIS</a:t>
            </a:r>
          </a:p>
        </p:txBody>
      </p:sp>
      <p:sp>
        <p:nvSpPr>
          <p:cNvPr id="15" name="text">
            <a:extLst xmlns:a="http://schemas.openxmlformats.org/drawingml/2006/main">
              <a:ext uri="{FF2B5EF4-FFF2-40B4-BE49-F238E27FC236}">
                <a16:creationId xmlns:a16="http://schemas.microsoft.com/office/drawing/2014/main" id="{B363DE51-1CDC-42F3-927F-ED06EED40260}"/>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EDF5F1"/>
                </a:solidFill>
                <a:latin typeface="Aptos"/>
                <a:ea typeface="Aptos"/>
                <a:cs typeface="Aptos"/>
              </a:defRPr>
            </a:pPr>
            <a:r>
              <a:rPr sz="1500" b="1">
                <a:solidFill>
                  <a:srgbClr val="EDF5F1"/>
                </a:solidFill>
                <a:latin typeface="Aptos"/>
                <a:ea typeface="Aptos"/>
                <a:cs typeface="Aptos"/>
              </a:rPr>
              <a:t>70</a:t>
            </a:r>
          </a:p>
        </p:txBody>
      </p:sp>
    </p:spTree>
    <p:extLst>
      <p:ext uri="{BB962C8B-B14F-4D97-AF65-F5344CB8AC3E}">
        <p14:creationId xmlns:p14="http://schemas.microsoft.com/office/powerpoint/2010/main" val="2051104436"/>
      </p:ext>
    </p:extLst>
  </p:cSld>
</p:sld>
</file>

<file path=ppt/slides/slide7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34" name="text">
            <a:extLst xmlns:a="http://schemas.openxmlformats.org/drawingml/2006/main">
              <a:ext uri="{FF2B5EF4-FFF2-40B4-BE49-F238E27FC236}">
                <a16:creationId xmlns:a16="http://schemas.microsoft.com/office/drawing/2014/main" id="{F72B9F6A-6B8A-4320-A7D0-83706AE9A78E}"/>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481A35F5-C84C-4B8B-98AD-2FCAE50D2D28}"/>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Translate the jargon into everyday language.</a:t>
            </a:r>
          </a:p>
        </p:txBody>
      </p:sp>
      <p:sp>
        <p:nvSpPr>
          <p:cNvPr id="3" name="text">
            <a:extLst xmlns:a="http://schemas.openxmlformats.org/drawingml/2006/main">
              <a:ext uri="{FF2B5EF4-FFF2-40B4-BE49-F238E27FC236}">
                <a16:creationId xmlns:a16="http://schemas.microsoft.com/office/drawing/2014/main" id="{3F62F36B-C07A-42F6-BF5D-591BAD77777C}"/>
              </a:ext>
            </a:extLst>
          </p:cNvPr>
          <p:cNvSpPr>
            <a:spLocks xmlns:a="http://schemas.openxmlformats.org/drawingml/2006/main" noGrp="1"/>
          </p:cNvSpPr>
          <p:nvPr/>
        </p:nvSpPr>
        <p:spPr>
          <a:xfrm xmlns:a="http://schemas.openxmlformats.org/drawingml/2006/main">
            <a:off x="609600" y="2095500"/>
            <a:ext cx="1790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Term</a:t>
            </a:r>
          </a:p>
        </p:txBody>
      </p:sp>
      <p:sp>
        <p:nvSpPr>
          <p:cNvPr id="4" name="text">
            <a:extLst xmlns:a="http://schemas.openxmlformats.org/drawingml/2006/main">
              <a:ext uri="{FF2B5EF4-FFF2-40B4-BE49-F238E27FC236}">
                <a16:creationId xmlns:a16="http://schemas.microsoft.com/office/drawing/2014/main" id="{99330995-401F-437A-BD63-C01C567D3925}"/>
              </a:ext>
            </a:extLst>
          </p:cNvPr>
          <p:cNvSpPr>
            <a:spLocks xmlns:a="http://schemas.openxmlformats.org/drawingml/2006/main" noGrp="1"/>
          </p:cNvSpPr>
          <p:nvPr/>
        </p:nvSpPr>
        <p:spPr>
          <a:xfrm xmlns:a="http://schemas.openxmlformats.org/drawingml/2006/main">
            <a:off x="2609850" y="2095500"/>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Plain meaning</a:t>
            </a:r>
          </a:p>
        </p:txBody>
      </p:sp>
      <p:sp>
        <p:nvSpPr>
          <p:cNvPr id="5" name="text">
            <a:extLst xmlns:a="http://schemas.openxmlformats.org/drawingml/2006/main">
              <a:ext uri="{FF2B5EF4-FFF2-40B4-BE49-F238E27FC236}">
                <a16:creationId xmlns:a16="http://schemas.microsoft.com/office/drawing/2014/main" id="{8ABC7BCE-2E6D-4B81-B8AA-C091ED8BA0B0}"/>
              </a:ext>
            </a:extLst>
          </p:cNvPr>
          <p:cNvSpPr>
            <a:spLocks xmlns:a="http://schemas.openxmlformats.org/drawingml/2006/main" noGrp="1"/>
          </p:cNvSpPr>
          <p:nvPr/>
        </p:nvSpPr>
        <p:spPr>
          <a:xfrm xmlns:a="http://schemas.openxmlformats.org/drawingml/2006/main">
            <a:off x="8134350" y="20955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Our example</a:t>
            </a:r>
          </a:p>
        </p:txBody>
      </p:sp>
      <p:sp>
        <p:nvSpPr>
          <p:cNvPr id="6" name="shape">
            <a:extLst xmlns:a="http://schemas.openxmlformats.org/drawingml/2006/main">
              <a:ext uri="{FF2B5EF4-FFF2-40B4-BE49-F238E27FC236}">
                <a16:creationId xmlns:a16="http://schemas.microsoft.com/office/drawing/2014/main" id="{0BFC0C3E-3427-414D-9E38-8B219E6BE84B}"/>
              </a:ext>
            </a:extLst>
          </p:cNvPr>
          <p:cNvSpPr>
            <a:spLocks xmlns:a="http://schemas.openxmlformats.org/drawingml/2006/main" noGrp="1"/>
          </p:cNvSpPr>
          <p:nvPr/>
        </p:nvSpPr>
        <p:spPr>
          <a:xfrm xmlns:a="http://schemas.openxmlformats.org/drawingml/2006/main">
            <a:off x="609600" y="25050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2D5BAC5B-6C7F-4718-B2DA-64F0EC19BE28}"/>
              </a:ext>
            </a:extLst>
          </p:cNvPr>
          <p:cNvSpPr>
            <a:spLocks xmlns:a="http://schemas.openxmlformats.org/drawingml/2006/main" noGrp="1"/>
          </p:cNvSpPr>
          <p:nvPr/>
        </p:nvSpPr>
        <p:spPr>
          <a:xfrm xmlns:a="http://schemas.openxmlformats.org/drawingml/2006/main">
            <a:off x="609600" y="2676525"/>
            <a:ext cx="179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Agent</a:t>
            </a:r>
          </a:p>
        </p:txBody>
      </p:sp>
      <p:sp>
        <p:nvSpPr>
          <p:cNvPr id="8" name="text">
            <a:extLst xmlns:a="http://schemas.openxmlformats.org/drawingml/2006/main">
              <a:ext uri="{FF2B5EF4-FFF2-40B4-BE49-F238E27FC236}">
                <a16:creationId xmlns:a16="http://schemas.microsoft.com/office/drawing/2014/main" id="{2E2713B6-A39C-4000-9850-592648D791CA}"/>
              </a:ext>
            </a:extLst>
          </p:cNvPr>
          <p:cNvSpPr>
            <a:spLocks xmlns:a="http://schemas.openxmlformats.org/drawingml/2006/main" noGrp="1"/>
          </p:cNvSpPr>
          <p:nvPr/>
        </p:nvSpPr>
        <p:spPr>
          <a:xfrm xmlns:a="http://schemas.openxmlformats.org/drawingml/2006/main">
            <a:off x="2609850" y="2676525"/>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 goal-led software helper with tools</a:t>
            </a:r>
          </a:p>
        </p:txBody>
      </p:sp>
      <p:sp>
        <p:nvSpPr>
          <p:cNvPr id="9" name="text">
            <a:extLst xmlns:a="http://schemas.openxmlformats.org/drawingml/2006/main">
              <a:ext uri="{FF2B5EF4-FFF2-40B4-BE49-F238E27FC236}">
                <a16:creationId xmlns:a16="http://schemas.microsoft.com/office/drawing/2014/main" id="{54306B30-DDCB-4FAF-BAE1-206CBCE0ECC3}"/>
              </a:ext>
            </a:extLst>
          </p:cNvPr>
          <p:cNvSpPr>
            <a:spLocks xmlns:a="http://schemas.openxmlformats.org/drawingml/2006/main" noGrp="1"/>
          </p:cNvSpPr>
          <p:nvPr/>
        </p:nvSpPr>
        <p:spPr>
          <a:xfrm xmlns:a="http://schemas.openxmlformats.org/drawingml/2006/main">
            <a:off x="8134350" y="26765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LEDGER checks launch cash</a:t>
            </a:r>
          </a:p>
        </p:txBody>
      </p:sp>
      <p:sp>
        <p:nvSpPr>
          <p:cNvPr id="10" name="shape">
            <a:extLst xmlns:a="http://schemas.openxmlformats.org/drawingml/2006/main">
              <a:ext uri="{FF2B5EF4-FFF2-40B4-BE49-F238E27FC236}">
                <a16:creationId xmlns:a16="http://schemas.microsoft.com/office/drawing/2014/main" id="{4CCC7C7E-DECB-41FB-A010-254B97DB04F2}"/>
              </a:ext>
            </a:extLst>
          </p:cNvPr>
          <p:cNvSpPr>
            <a:spLocks xmlns:a="http://schemas.openxmlformats.org/drawingml/2006/main" noGrp="1"/>
          </p:cNvSpPr>
          <p:nvPr/>
        </p:nvSpPr>
        <p:spPr>
          <a:xfrm xmlns:a="http://schemas.openxmlformats.org/drawingml/2006/main">
            <a:off x="609600" y="3143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045B984-3783-4506-892B-86B7DC17C634}"/>
              </a:ext>
            </a:extLst>
          </p:cNvPr>
          <p:cNvSpPr>
            <a:spLocks xmlns:a="http://schemas.openxmlformats.org/drawingml/2006/main" noGrp="1"/>
          </p:cNvSpPr>
          <p:nvPr/>
        </p:nvSpPr>
        <p:spPr>
          <a:xfrm xmlns:a="http://schemas.openxmlformats.org/drawingml/2006/main">
            <a:off x="609600" y="3248025"/>
            <a:ext cx="179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Tool</a:t>
            </a:r>
          </a:p>
        </p:txBody>
      </p:sp>
      <p:sp>
        <p:nvSpPr>
          <p:cNvPr id="12" name="text">
            <a:extLst xmlns:a="http://schemas.openxmlformats.org/drawingml/2006/main">
              <a:ext uri="{FF2B5EF4-FFF2-40B4-BE49-F238E27FC236}">
                <a16:creationId xmlns:a16="http://schemas.microsoft.com/office/drawing/2014/main" id="{E902755D-4C50-4864-AA84-91D1A94469A6}"/>
              </a:ext>
            </a:extLst>
          </p:cNvPr>
          <p:cNvSpPr>
            <a:spLocks xmlns:a="http://schemas.openxmlformats.org/drawingml/2006/main" noGrp="1"/>
          </p:cNvSpPr>
          <p:nvPr/>
        </p:nvSpPr>
        <p:spPr>
          <a:xfrm xmlns:a="http://schemas.openxmlformats.org/drawingml/2006/main">
            <a:off x="2609850" y="3248025"/>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A named function it can call</a:t>
            </a:r>
          </a:p>
        </p:txBody>
      </p:sp>
      <p:sp>
        <p:nvSpPr>
          <p:cNvPr id="13" name="text">
            <a:extLst xmlns:a="http://schemas.openxmlformats.org/drawingml/2006/main">
              <a:ext uri="{FF2B5EF4-FFF2-40B4-BE49-F238E27FC236}">
                <a16:creationId xmlns:a16="http://schemas.microsoft.com/office/drawing/2014/main" id="{F36D427A-34A2-45E2-9B2A-C468426AA0F9}"/>
              </a:ext>
            </a:extLst>
          </p:cNvPr>
          <p:cNvSpPr>
            <a:spLocks xmlns:a="http://schemas.openxmlformats.org/drawingml/2006/main" noGrp="1"/>
          </p:cNvSpPr>
          <p:nvPr/>
        </p:nvSpPr>
        <p:spPr>
          <a:xfrm xmlns:a="http://schemas.openxmlformats.org/drawingml/2006/main">
            <a:off x="8134350" y="32480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model_finances</a:t>
            </a:r>
          </a:p>
        </p:txBody>
      </p:sp>
      <p:sp>
        <p:nvSpPr>
          <p:cNvPr id="14" name="shape">
            <a:extLst xmlns:a="http://schemas.openxmlformats.org/drawingml/2006/main">
              <a:ext uri="{FF2B5EF4-FFF2-40B4-BE49-F238E27FC236}">
                <a16:creationId xmlns:a16="http://schemas.microsoft.com/office/drawing/2014/main" id="{4D7242D4-30E3-425F-A526-FF15DE491EBC}"/>
              </a:ext>
            </a:extLst>
          </p:cNvPr>
          <p:cNvSpPr>
            <a:spLocks xmlns:a="http://schemas.openxmlformats.org/drawingml/2006/main" noGrp="1"/>
          </p:cNvSpPr>
          <p:nvPr/>
        </p:nvSpPr>
        <p:spPr>
          <a:xfrm xmlns:a="http://schemas.openxmlformats.org/drawingml/2006/main">
            <a:off x="609600" y="3714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D8290D7-E2EC-47EC-B443-CBFF1CA7519E}"/>
              </a:ext>
            </a:extLst>
          </p:cNvPr>
          <p:cNvSpPr>
            <a:spLocks xmlns:a="http://schemas.openxmlformats.org/drawingml/2006/main" noGrp="1"/>
          </p:cNvSpPr>
          <p:nvPr/>
        </p:nvSpPr>
        <p:spPr>
          <a:xfrm xmlns:a="http://schemas.openxmlformats.org/drawingml/2006/main">
            <a:off x="609600" y="3819525"/>
            <a:ext cx="179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State</a:t>
            </a:r>
          </a:p>
        </p:txBody>
      </p:sp>
      <p:sp>
        <p:nvSpPr>
          <p:cNvPr id="16" name="text">
            <a:extLst xmlns:a="http://schemas.openxmlformats.org/drawingml/2006/main">
              <a:ext uri="{FF2B5EF4-FFF2-40B4-BE49-F238E27FC236}">
                <a16:creationId xmlns:a16="http://schemas.microsoft.com/office/drawing/2014/main" id="{036DC591-6253-4E77-9BB4-0B3BA235E1DC}"/>
              </a:ext>
            </a:extLst>
          </p:cNvPr>
          <p:cNvSpPr>
            <a:spLocks xmlns:a="http://schemas.openxmlformats.org/drawingml/2006/main" noGrp="1"/>
          </p:cNvSpPr>
          <p:nvPr/>
        </p:nvSpPr>
        <p:spPr>
          <a:xfrm xmlns:a="http://schemas.openxmlformats.org/drawingml/2006/main">
            <a:off x="2609850" y="3819525"/>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The current job’s shared clipboard</a:t>
            </a:r>
          </a:p>
        </p:txBody>
      </p:sp>
      <p:sp>
        <p:nvSpPr>
          <p:cNvPr id="17" name="text">
            <a:extLst xmlns:a="http://schemas.openxmlformats.org/drawingml/2006/main">
              <a:ext uri="{FF2B5EF4-FFF2-40B4-BE49-F238E27FC236}">
                <a16:creationId xmlns:a16="http://schemas.microsoft.com/office/drawing/2014/main" id="{8D3A383D-4307-434F-9CCA-A4F07F9ECD74}"/>
              </a:ext>
            </a:extLst>
          </p:cNvPr>
          <p:cNvSpPr>
            <a:spLocks xmlns:a="http://schemas.openxmlformats.org/drawingml/2006/main" noGrp="1"/>
          </p:cNvSpPr>
          <p:nvPr/>
        </p:nvSpPr>
        <p:spPr>
          <a:xfrm xmlns:a="http://schemas.openxmlformats.org/drawingml/2006/main">
            <a:off x="8134350" y="38195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Facts + specialist reports</a:t>
            </a:r>
          </a:p>
        </p:txBody>
      </p:sp>
      <p:sp>
        <p:nvSpPr>
          <p:cNvPr id="18" name="shape">
            <a:extLst xmlns:a="http://schemas.openxmlformats.org/drawingml/2006/main">
              <a:ext uri="{FF2B5EF4-FFF2-40B4-BE49-F238E27FC236}">
                <a16:creationId xmlns:a16="http://schemas.microsoft.com/office/drawing/2014/main" id="{E98D382C-C1B2-4028-A1DE-56F84DD005ED}"/>
              </a:ext>
            </a:extLst>
          </p:cNvPr>
          <p:cNvSpPr>
            <a:spLocks xmlns:a="http://schemas.openxmlformats.org/drawingml/2006/main" noGrp="1"/>
          </p:cNvSpPr>
          <p:nvPr/>
        </p:nvSpPr>
        <p:spPr>
          <a:xfrm xmlns:a="http://schemas.openxmlformats.org/drawingml/2006/main">
            <a:off x="609600" y="4286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81037D04-5578-4922-8F44-8FBFCB902F5C}"/>
              </a:ext>
            </a:extLst>
          </p:cNvPr>
          <p:cNvSpPr>
            <a:spLocks xmlns:a="http://schemas.openxmlformats.org/drawingml/2006/main" noGrp="1"/>
          </p:cNvSpPr>
          <p:nvPr/>
        </p:nvSpPr>
        <p:spPr>
          <a:xfrm xmlns:a="http://schemas.openxmlformats.org/drawingml/2006/main">
            <a:off x="609600" y="4391025"/>
            <a:ext cx="179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Memory</a:t>
            </a:r>
          </a:p>
        </p:txBody>
      </p:sp>
      <p:sp>
        <p:nvSpPr>
          <p:cNvPr id="20" name="text">
            <a:extLst xmlns:a="http://schemas.openxmlformats.org/drawingml/2006/main">
              <a:ext uri="{FF2B5EF4-FFF2-40B4-BE49-F238E27FC236}">
                <a16:creationId xmlns:a16="http://schemas.microsoft.com/office/drawing/2014/main" id="{0DB99399-BF4A-4B9C-B122-99E3EA5302D6}"/>
              </a:ext>
            </a:extLst>
          </p:cNvPr>
          <p:cNvSpPr>
            <a:spLocks xmlns:a="http://schemas.openxmlformats.org/drawingml/2006/main" noGrp="1"/>
          </p:cNvSpPr>
          <p:nvPr/>
        </p:nvSpPr>
        <p:spPr>
          <a:xfrm xmlns:a="http://schemas.openxmlformats.org/drawingml/2006/main">
            <a:off x="2609850" y="4391025"/>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Saved information for later</a:t>
            </a:r>
          </a:p>
        </p:txBody>
      </p:sp>
      <p:sp>
        <p:nvSpPr>
          <p:cNvPr id="21" name="text">
            <a:extLst xmlns:a="http://schemas.openxmlformats.org/drawingml/2006/main">
              <a:ext uri="{FF2B5EF4-FFF2-40B4-BE49-F238E27FC236}">
                <a16:creationId xmlns:a16="http://schemas.microsoft.com/office/drawing/2014/main" id="{23304C8F-933D-4AAD-8B25-BDBB69D1A5A1}"/>
              </a:ext>
            </a:extLst>
          </p:cNvPr>
          <p:cNvSpPr>
            <a:spLocks xmlns:a="http://schemas.openxmlformats.org/drawingml/2006/main" noGrp="1"/>
          </p:cNvSpPr>
          <p:nvPr/>
        </p:nvSpPr>
        <p:spPr>
          <a:xfrm xmlns:a="http://schemas.openxmlformats.org/drawingml/2006/main">
            <a:off x="8134350" y="43910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Packaging-review note</a:t>
            </a:r>
          </a:p>
        </p:txBody>
      </p:sp>
      <p:sp>
        <p:nvSpPr>
          <p:cNvPr id="22" name="shape">
            <a:extLst xmlns:a="http://schemas.openxmlformats.org/drawingml/2006/main">
              <a:ext uri="{FF2B5EF4-FFF2-40B4-BE49-F238E27FC236}">
                <a16:creationId xmlns:a16="http://schemas.microsoft.com/office/drawing/2014/main" id="{5B3EE50A-B085-46BA-8E83-EB1D20AD6560}"/>
              </a:ext>
            </a:extLst>
          </p:cNvPr>
          <p:cNvSpPr>
            <a:spLocks xmlns:a="http://schemas.openxmlformats.org/drawingml/2006/main" noGrp="1"/>
          </p:cNvSpPr>
          <p:nvPr/>
        </p:nvSpPr>
        <p:spPr>
          <a:xfrm xmlns:a="http://schemas.openxmlformats.org/drawingml/2006/main">
            <a:off x="609600" y="4857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E5D93BE0-CE63-4AD0-AAB8-FC321F3E9149}"/>
              </a:ext>
            </a:extLst>
          </p:cNvPr>
          <p:cNvSpPr>
            <a:spLocks xmlns:a="http://schemas.openxmlformats.org/drawingml/2006/main" noGrp="1"/>
          </p:cNvSpPr>
          <p:nvPr/>
        </p:nvSpPr>
        <p:spPr>
          <a:xfrm xmlns:a="http://schemas.openxmlformats.org/drawingml/2006/main">
            <a:off x="609600" y="4962525"/>
            <a:ext cx="179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Schema</a:t>
            </a:r>
          </a:p>
        </p:txBody>
      </p:sp>
      <p:sp>
        <p:nvSpPr>
          <p:cNvPr id="24" name="text">
            <a:extLst xmlns:a="http://schemas.openxmlformats.org/drawingml/2006/main">
              <a:ext uri="{FF2B5EF4-FFF2-40B4-BE49-F238E27FC236}">
                <a16:creationId xmlns:a16="http://schemas.microsoft.com/office/drawing/2014/main" id="{72707FD3-AA61-4D6C-A158-B1BA307CF41A}"/>
              </a:ext>
            </a:extLst>
          </p:cNvPr>
          <p:cNvSpPr>
            <a:spLocks xmlns:a="http://schemas.openxmlformats.org/drawingml/2006/main" noGrp="1"/>
          </p:cNvSpPr>
          <p:nvPr/>
        </p:nvSpPr>
        <p:spPr>
          <a:xfrm xmlns:a="http://schemas.openxmlformats.org/drawingml/2006/main">
            <a:off x="2609850" y="4962525"/>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The required form and allowed fields</a:t>
            </a:r>
          </a:p>
        </p:txBody>
      </p:sp>
      <p:sp>
        <p:nvSpPr>
          <p:cNvPr id="25" name="text">
            <a:extLst xmlns:a="http://schemas.openxmlformats.org/drawingml/2006/main">
              <a:ext uri="{FF2B5EF4-FFF2-40B4-BE49-F238E27FC236}">
                <a16:creationId xmlns:a16="http://schemas.microsoft.com/office/drawing/2014/main" id="{B19AD257-07FF-4B33-B8A0-5B0F595956A9}"/>
              </a:ext>
            </a:extLst>
          </p:cNvPr>
          <p:cNvSpPr>
            <a:spLocks xmlns:a="http://schemas.openxmlformats.org/drawingml/2006/main" noGrp="1"/>
          </p:cNvSpPr>
          <p:nvPr/>
        </p:nvSpPr>
        <p:spPr>
          <a:xfrm xmlns:a="http://schemas.openxmlformats.org/drawingml/2006/main">
            <a:off x="8134350" y="49625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Validated scenario JSON</a:t>
            </a:r>
          </a:p>
        </p:txBody>
      </p:sp>
      <p:sp>
        <p:nvSpPr>
          <p:cNvPr id="26" name="shape">
            <a:extLst xmlns:a="http://schemas.openxmlformats.org/drawingml/2006/main">
              <a:ext uri="{FF2B5EF4-FFF2-40B4-BE49-F238E27FC236}">
                <a16:creationId xmlns:a16="http://schemas.microsoft.com/office/drawing/2014/main" id="{B1EE4759-9EF8-42F2-A6BE-8165D503897B}"/>
              </a:ext>
            </a:extLst>
          </p:cNvPr>
          <p:cNvSpPr>
            <a:spLocks xmlns:a="http://schemas.openxmlformats.org/drawingml/2006/main" noGrp="1"/>
          </p:cNvSpPr>
          <p:nvPr/>
        </p:nvSpPr>
        <p:spPr>
          <a:xfrm xmlns:a="http://schemas.openxmlformats.org/drawingml/2006/main">
            <a:off x="609600" y="5429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C75F5681-359D-4F89-A45E-C09BD8232D98}"/>
              </a:ext>
            </a:extLst>
          </p:cNvPr>
          <p:cNvSpPr>
            <a:spLocks xmlns:a="http://schemas.openxmlformats.org/drawingml/2006/main" noGrp="1"/>
          </p:cNvSpPr>
          <p:nvPr/>
        </p:nvSpPr>
        <p:spPr>
          <a:xfrm xmlns:a="http://schemas.openxmlformats.org/drawingml/2006/main">
            <a:off x="609600" y="5534025"/>
            <a:ext cx="1790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Orchestration</a:t>
            </a:r>
          </a:p>
        </p:txBody>
      </p:sp>
      <p:sp>
        <p:nvSpPr>
          <p:cNvPr id="28" name="text">
            <a:extLst xmlns:a="http://schemas.openxmlformats.org/drawingml/2006/main">
              <a:ext uri="{FF2B5EF4-FFF2-40B4-BE49-F238E27FC236}">
                <a16:creationId xmlns:a16="http://schemas.microsoft.com/office/drawing/2014/main" id="{4BB4A157-C55F-47AF-B563-0635A9E24CAA}"/>
              </a:ext>
            </a:extLst>
          </p:cNvPr>
          <p:cNvSpPr>
            <a:spLocks xmlns:a="http://schemas.openxmlformats.org/drawingml/2006/main" noGrp="1"/>
          </p:cNvSpPr>
          <p:nvPr/>
        </p:nvSpPr>
        <p:spPr>
          <a:xfrm xmlns:a="http://schemas.openxmlformats.org/drawingml/2006/main">
            <a:off x="2609850" y="5534025"/>
            <a:ext cx="5314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The order and hand-offs</a:t>
            </a:r>
          </a:p>
        </p:txBody>
      </p:sp>
      <p:sp>
        <p:nvSpPr>
          <p:cNvPr id="29" name="text">
            <a:extLst xmlns:a="http://schemas.openxmlformats.org/drawingml/2006/main">
              <a:ext uri="{FF2B5EF4-FFF2-40B4-BE49-F238E27FC236}">
                <a16:creationId xmlns:a16="http://schemas.microsoft.com/office/drawing/2014/main" id="{9CAE3804-C008-4EF7-9D25-E8E3E47ADACC}"/>
              </a:ext>
            </a:extLst>
          </p:cNvPr>
          <p:cNvSpPr>
            <a:spLocks xmlns:a="http://schemas.openxmlformats.org/drawingml/2006/main" noGrp="1"/>
          </p:cNvSpPr>
          <p:nvPr/>
        </p:nvSpPr>
        <p:spPr>
          <a:xfrm xmlns:a="http://schemas.openxmlformats.org/drawingml/2006/main">
            <a:off x="8134350" y="55340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PRISM → team → JARVIS</a:t>
            </a:r>
          </a:p>
        </p:txBody>
      </p:sp>
      <p:sp>
        <p:nvSpPr>
          <p:cNvPr id="30" name="shape">
            <a:extLst xmlns:a="http://schemas.openxmlformats.org/drawingml/2006/main">
              <a:ext uri="{FF2B5EF4-FFF2-40B4-BE49-F238E27FC236}">
                <a16:creationId xmlns:a16="http://schemas.microsoft.com/office/drawing/2014/main" id="{5E86B3CC-FA34-431D-B7EC-BAA428804EF5}"/>
              </a:ext>
            </a:extLst>
          </p:cNvPr>
          <p:cNvSpPr>
            <a:spLocks xmlns:a="http://schemas.openxmlformats.org/drawingml/2006/main" noGrp="1"/>
          </p:cNvSpPr>
          <p:nvPr/>
        </p:nvSpPr>
        <p:spPr>
          <a:xfrm xmlns:a="http://schemas.openxmlformats.org/drawingml/2006/main">
            <a:off x="609600" y="60007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1" name="shape">
            <a:extLst xmlns:a="http://schemas.openxmlformats.org/drawingml/2006/main">
              <a:ext uri="{FF2B5EF4-FFF2-40B4-BE49-F238E27FC236}">
                <a16:creationId xmlns:a16="http://schemas.microsoft.com/office/drawing/2014/main" id="{0483FCE9-AD32-45B6-8DD5-3AE231B738D6}"/>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32" name="text">
            <a:extLst xmlns:a="http://schemas.openxmlformats.org/drawingml/2006/main">
              <a:ext uri="{FF2B5EF4-FFF2-40B4-BE49-F238E27FC236}">
                <a16:creationId xmlns:a16="http://schemas.microsoft.com/office/drawing/2014/main" id="{600CB5D1-7485-47FB-9540-38F3575A23AB}"/>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33" name="text">
            <a:extLst xmlns:a="http://schemas.openxmlformats.org/drawingml/2006/main">
              <a:ext uri="{FF2B5EF4-FFF2-40B4-BE49-F238E27FC236}">
                <a16:creationId xmlns:a16="http://schemas.microsoft.com/office/drawing/2014/main" id="{1692EAC6-3C42-4655-9305-A18D9444F1D5}"/>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71</a:t>
            </a:r>
          </a:p>
        </p:txBody>
      </p:sp>
    </p:spTree>
    <p:extLst>
      <p:ext uri="{BB962C8B-B14F-4D97-AF65-F5344CB8AC3E}">
        <p14:creationId xmlns:p14="http://schemas.microsoft.com/office/powerpoint/2010/main" val="1240100658"/>
      </p:ext>
    </p:extLst>
  </p:cSld>
</p:sld>
</file>

<file path=ppt/slides/slide7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CCB96D48-1F2D-44A1-8A51-B361E898511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537078"/>
                </a:solidFill>
                <a:latin typeface="Aptos"/>
                <a:ea typeface="Aptos"/>
                <a:cs typeface="Aptos"/>
              </a:defRPr>
            </a:pPr>
            <a:r>
              <a:rPr sz="1650" b="1">
                <a:solidFill>
                  <a:srgbClr val="537078"/>
                </a:solidFill>
                <a:latin typeface="Aptos"/>
                <a:ea typeface="Aptos"/>
                <a:cs typeface="Aptos"/>
              </a:rPr>
              <a:t>FACILITATOR REFERENCE</a:t>
            </a:r>
          </a:p>
        </p:txBody>
      </p:sp>
      <p:sp>
        <p:nvSpPr>
          <p:cNvPr id="2" name="text">
            <a:extLst xmlns:a="http://schemas.openxmlformats.org/drawingml/2006/main">
              <a:ext uri="{FF2B5EF4-FFF2-40B4-BE49-F238E27FC236}">
                <a16:creationId xmlns:a16="http://schemas.microsoft.com/office/drawing/2014/main" id="{930A69AA-704B-4229-B232-DEB01A5FEEC5}"/>
              </a:ext>
            </a:extLst>
          </p:cNvPr>
          <p:cNvSpPr>
            <a:spLocks xmlns:a="http://schemas.openxmlformats.org/drawingml/2006/main" noGrp="1"/>
          </p:cNvSpPr>
          <p:nvPr/>
        </p:nvSpPr>
        <p:spPr>
          <a:xfrm xmlns:a="http://schemas.openxmlformats.org/drawingml/2006/main">
            <a:off x="609600" y="866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2C38"/>
                </a:solidFill>
                <a:latin typeface="Aptos"/>
                <a:ea typeface="Aptos"/>
                <a:cs typeface="Aptos"/>
              </a:defRPr>
            </a:pPr>
            <a:r>
              <a:rPr sz="3600" b="1">
                <a:solidFill>
                  <a:srgbClr val="142C38"/>
                </a:solidFill>
                <a:latin typeface="Aptos"/>
                <a:ea typeface="Aptos"/>
                <a:cs typeface="Aptos"/>
              </a:rPr>
              <a:t>Keep the source instructions close at hand.</a:t>
            </a:r>
          </a:p>
        </p:txBody>
      </p:sp>
      <p:sp>
        <p:nvSpPr>
          <p:cNvPr id="3" name="text">
            <a:extLst xmlns:a="http://schemas.openxmlformats.org/drawingml/2006/main">
              <a:ext uri="{FF2B5EF4-FFF2-40B4-BE49-F238E27FC236}">
                <a16:creationId xmlns:a16="http://schemas.microsoft.com/office/drawing/2014/main" id="{B8C5E25B-6C8F-4483-A34B-E73DB45911D4}"/>
              </a:ext>
            </a:extLst>
          </p:cNvPr>
          <p:cNvSpPr>
            <a:spLocks xmlns:a="http://schemas.openxmlformats.org/drawingml/2006/main" noGrp="1"/>
          </p:cNvSpPr>
          <p:nvPr/>
        </p:nvSpPr>
        <p:spPr>
          <a:xfrm xmlns:a="http://schemas.openxmlformats.org/drawingml/2006/main">
            <a:off x="609600" y="220027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Project setup and limitations</a:t>
            </a:r>
          </a:p>
        </p:txBody>
      </p:sp>
      <p:sp>
        <p:nvSpPr>
          <p:cNvPr id="4" name="text">
            <a:extLst xmlns:a="http://schemas.openxmlformats.org/drawingml/2006/main">
              <a:ext uri="{FF2B5EF4-FFF2-40B4-BE49-F238E27FC236}">
                <a16:creationId xmlns:a16="http://schemas.microsoft.com/office/drawing/2014/main" id="{F693D262-C55A-4C18-81F8-32430E2F2FED}"/>
              </a:ext>
            </a:extLst>
          </p:cNvPr>
          <p:cNvSpPr>
            <a:spLocks xmlns:a="http://schemas.openxmlformats.org/drawingml/2006/main" noGrp="1"/>
          </p:cNvSpPr>
          <p:nvPr/>
        </p:nvSpPr>
        <p:spPr>
          <a:xfrm xmlns:a="http://schemas.openxmlformats.org/drawingml/2006/main">
            <a:off x="6229350" y="22002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README.md</a:t>
            </a:r>
          </a:p>
        </p:txBody>
      </p:sp>
      <p:sp>
        <p:nvSpPr>
          <p:cNvPr id="5" name="shape">
            <a:extLst xmlns:a="http://schemas.openxmlformats.org/drawingml/2006/main">
              <a:ext uri="{FF2B5EF4-FFF2-40B4-BE49-F238E27FC236}">
                <a16:creationId xmlns:a16="http://schemas.microsoft.com/office/drawing/2014/main" id="{93C50946-6762-4383-B249-6B0D44A35140}"/>
              </a:ext>
            </a:extLst>
          </p:cNvPr>
          <p:cNvSpPr>
            <a:spLocks xmlns:a="http://schemas.openxmlformats.org/drawingml/2006/main" noGrp="1"/>
          </p:cNvSpPr>
          <p:nvPr/>
        </p:nvSpPr>
        <p:spPr>
          <a:xfrm xmlns:a="http://schemas.openxmlformats.org/drawingml/2006/main">
            <a:off x="609600" y="26860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6F380E2-FA37-4674-989E-0D8A1DA446BB}"/>
              </a:ext>
            </a:extLst>
          </p:cNvPr>
          <p:cNvSpPr>
            <a:spLocks xmlns:a="http://schemas.openxmlformats.org/drawingml/2006/main" noGrp="1"/>
          </p:cNvSpPr>
          <p:nvPr/>
        </p:nvSpPr>
        <p:spPr>
          <a:xfrm xmlns:a="http://schemas.openxmlformats.org/drawingml/2006/main">
            <a:off x="609600" y="279082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Participant commands and checkpoints</a:t>
            </a:r>
          </a:p>
        </p:txBody>
      </p:sp>
      <p:sp>
        <p:nvSpPr>
          <p:cNvPr id="7" name="text">
            <a:extLst xmlns:a="http://schemas.openxmlformats.org/drawingml/2006/main">
              <a:ext uri="{FF2B5EF4-FFF2-40B4-BE49-F238E27FC236}">
                <a16:creationId xmlns:a16="http://schemas.microsoft.com/office/drawing/2014/main" id="{0BE3D79A-0275-45C8-907D-5D5E22354D22}"/>
              </a:ext>
            </a:extLst>
          </p:cNvPr>
          <p:cNvSpPr>
            <a:spLocks xmlns:a="http://schemas.openxmlformats.org/drawingml/2006/main" noGrp="1"/>
          </p:cNvSpPr>
          <p:nvPr/>
        </p:nvSpPr>
        <p:spPr>
          <a:xfrm xmlns:a="http://schemas.openxmlformats.org/drawingml/2006/main">
            <a:off x="6229350" y="27908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workshop/QUICKSTART.md</a:t>
            </a:r>
          </a:p>
        </p:txBody>
      </p:sp>
      <p:sp>
        <p:nvSpPr>
          <p:cNvPr id="8" name="shape">
            <a:extLst xmlns:a="http://schemas.openxmlformats.org/drawingml/2006/main">
              <a:ext uri="{FF2B5EF4-FFF2-40B4-BE49-F238E27FC236}">
                <a16:creationId xmlns:a16="http://schemas.microsoft.com/office/drawing/2014/main" id="{F97DED14-812D-416E-91C6-789FBC09CD21}"/>
              </a:ext>
            </a:extLst>
          </p:cNvPr>
          <p:cNvSpPr>
            <a:spLocks xmlns:a="http://schemas.openxmlformats.org/drawingml/2006/main" noGrp="1"/>
          </p:cNvSpPr>
          <p:nvPr/>
        </p:nvSpPr>
        <p:spPr>
          <a:xfrm xmlns:a="http://schemas.openxmlformats.org/drawingml/2006/main">
            <a:off x="609600" y="32766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791EFF2-8D9E-41CE-9C74-3A495DFC08CC}"/>
              </a:ext>
            </a:extLst>
          </p:cNvPr>
          <p:cNvSpPr>
            <a:spLocks xmlns:a="http://schemas.openxmlformats.org/drawingml/2006/main" noGrp="1"/>
          </p:cNvSpPr>
          <p:nvPr/>
        </p:nvSpPr>
        <p:spPr>
          <a:xfrm xmlns:a="http://schemas.openxmlformats.org/drawingml/2006/main">
            <a:off x="609600" y="338137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Facilitator run sheet and slide notes</a:t>
            </a:r>
          </a:p>
        </p:txBody>
      </p:sp>
      <p:sp>
        <p:nvSpPr>
          <p:cNvPr id="10" name="text">
            <a:extLst xmlns:a="http://schemas.openxmlformats.org/drawingml/2006/main">
              <a:ext uri="{FF2B5EF4-FFF2-40B4-BE49-F238E27FC236}">
                <a16:creationId xmlns:a16="http://schemas.microsoft.com/office/drawing/2014/main" id="{B34A9487-AD4D-46C7-8601-D269FADCBF68}"/>
              </a:ext>
            </a:extLst>
          </p:cNvPr>
          <p:cNvSpPr>
            <a:spLocks xmlns:a="http://schemas.openxmlformats.org/drawingml/2006/main" noGrp="1"/>
          </p:cNvSpPr>
          <p:nvPr/>
        </p:nvSpPr>
        <p:spPr>
          <a:xfrm xmlns:a="http://schemas.openxmlformats.org/drawingml/2006/main">
            <a:off x="6229350" y="33813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workshop/FACILITATOR_GUIDE.md</a:t>
            </a:r>
          </a:p>
        </p:txBody>
      </p:sp>
      <p:sp>
        <p:nvSpPr>
          <p:cNvPr id="11" name="shape">
            <a:extLst xmlns:a="http://schemas.openxmlformats.org/drawingml/2006/main">
              <a:ext uri="{FF2B5EF4-FFF2-40B4-BE49-F238E27FC236}">
                <a16:creationId xmlns:a16="http://schemas.microsoft.com/office/drawing/2014/main" id="{0688DA09-D238-425B-8E23-AEB6379FB2A4}"/>
              </a:ext>
            </a:extLst>
          </p:cNvPr>
          <p:cNvSpPr>
            <a:spLocks xmlns:a="http://schemas.openxmlformats.org/drawingml/2006/main" noGrp="1"/>
          </p:cNvSpPr>
          <p:nvPr/>
        </p:nvSpPr>
        <p:spPr>
          <a:xfrm xmlns:a="http://schemas.openxmlformats.org/drawingml/2006/main">
            <a:off x="609600" y="38671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01906AE-E165-4912-B3D1-ECD41C1F3260}"/>
              </a:ext>
            </a:extLst>
          </p:cNvPr>
          <p:cNvSpPr>
            <a:spLocks xmlns:a="http://schemas.openxmlformats.org/drawingml/2006/main" noGrp="1"/>
          </p:cNvSpPr>
          <p:nvPr/>
        </p:nvSpPr>
        <p:spPr>
          <a:xfrm xmlns:a="http://schemas.openxmlformats.org/drawingml/2006/main">
            <a:off x="609600" y="397192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Publishing and clone preparation</a:t>
            </a:r>
          </a:p>
        </p:txBody>
      </p:sp>
      <p:sp>
        <p:nvSpPr>
          <p:cNvPr id="13" name="text">
            <a:extLst xmlns:a="http://schemas.openxmlformats.org/drawingml/2006/main">
              <a:ext uri="{FF2B5EF4-FFF2-40B4-BE49-F238E27FC236}">
                <a16:creationId xmlns:a16="http://schemas.microsoft.com/office/drawing/2014/main" id="{F33881FB-30B0-4843-9516-AA8E82D2135A}"/>
              </a:ext>
            </a:extLst>
          </p:cNvPr>
          <p:cNvSpPr>
            <a:spLocks xmlns:a="http://schemas.openxmlformats.org/drawingml/2006/main" noGrp="1"/>
          </p:cNvSpPr>
          <p:nvPr/>
        </p:nvSpPr>
        <p:spPr>
          <a:xfrm xmlns:a="http://schemas.openxmlformats.org/drawingml/2006/main">
            <a:off x="6229350" y="39719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workshop/PUBLISHING.md</a:t>
            </a:r>
          </a:p>
        </p:txBody>
      </p:sp>
      <p:sp>
        <p:nvSpPr>
          <p:cNvPr id="14" name="shape">
            <a:extLst xmlns:a="http://schemas.openxmlformats.org/drawingml/2006/main">
              <a:ext uri="{FF2B5EF4-FFF2-40B4-BE49-F238E27FC236}">
                <a16:creationId xmlns:a16="http://schemas.microsoft.com/office/drawing/2014/main" id="{E8C1F0FC-CEC3-43F9-A3FE-F357680A9ACA}"/>
              </a:ext>
            </a:extLst>
          </p:cNvPr>
          <p:cNvSpPr>
            <a:spLocks xmlns:a="http://schemas.openxmlformats.org/drawingml/2006/main" noGrp="1"/>
          </p:cNvSpPr>
          <p:nvPr/>
        </p:nvSpPr>
        <p:spPr>
          <a:xfrm xmlns:a="http://schemas.openxmlformats.org/drawingml/2006/main">
            <a:off x="609600" y="44577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4E16B1B-4AD1-4A1C-A294-088391B90402}"/>
              </a:ext>
            </a:extLst>
          </p:cNvPr>
          <p:cNvSpPr>
            <a:spLocks xmlns:a="http://schemas.openxmlformats.org/drawingml/2006/main" noGrp="1"/>
          </p:cNvSpPr>
          <p:nvPr/>
        </p:nvSpPr>
        <p:spPr>
          <a:xfrm xmlns:a="http://schemas.openxmlformats.org/drawingml/2006/main">
            <a:off x="609600" y="456247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LangChain / LangGraph concepts</a:t>
            </a:r>
          </a:p>
        </p:txBody>
      </p:sp>
      <p:sp>
        <p:nvSpPr>
          <p:cNvPr id="16" name="text">
            <a:extLst xmlns:a="http://schemas.openxmlformats.org/drawingml/2006/main">
              <a:ext uri="{FF2B5EF4-FFF2-40B4-BE49-F238E27FC236}">
                <a16:creationId xmlns:a16="http://schemas.microsoft.com/office/drawing/2014/main" id="{91F0DB91-4ECB-43BD-A4A8-26F29F06EF4D}"/>
              </a:ext>
            </a:extLst>
          </p:cNvPr>
          <p:cNvSpPr>
            <a:spLocks xmlns:a="http://schemas.openxmlformats.org/drawingml/2006/main" noGrp="1"/>
          </p:cNvSpPr>
          <p:nvPr/>
        </p:nvSpPr>
        <p:spPr>
          <a:xfrm xmlns:a="http://schemas.openxmlformats.org/drawingml/2006/main">
            <a:off x="6229350" y="45624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Official framework docs in speaker notes</a:t>
            </a:r>
          </a:p>
        </p:txBody>
      </p:sp>
      <p:sp>
        <p:nvSpPr>
          <p:cNvPr id="17" name="shape">
            <a:extLst xmlns:a="http://schemas.openxmlformats.org/drawingml/2006/main">
              <a:ext uri="{FF2B5EF4-FFF2-40B4-BE49-F238E27FC236}">
                <a16:creationId xmlns:a16="http://schemas.microsoft.com/office/drawing/2014/main" id="{6A3501AD-C02C-4BEF-8BF0-140A1DFB0360}"/>
              </a:ext>
            </a:extLst>
          </p:cNvPr>
          <p:cNvSpPr>
            <a:spLocks xmlns:a="http://schemas.openxmlformats.org/drawingml/2006/main" noGrp="1"/>
          </p:cNvSpPr>
          <p:nvPr/>
        </p:nvSpPr>
        <p:spPr>
          <a:xfrm xmlns:a="http://schemas.openxmlformats.org/drawingml/2006/main">
            <a:off x="609600" y="504825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B8D3552F-8DFE-4AC0-9EE5-1CFE4390A5BC}"/>
              </a:ext>
            </a:extLst>
          </p:cNvPr>
          <p:cNvSpPr>
            <a:spLocks xmlns:a="http://schemas.openxmlformats.org/drawingml/2006/main" noGrp="1"/>
          </p:cNvSpPr>
          <p:nvPr/>
        </p:nvSpPr>
        <p:spPr>
          <a:xfrm xmlns:a="http://schemas.openxmlformats.org/drawingml/2006/main">
            <a:off x="609600" y="5153025"/>
            <a:ext cx="541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2C38"/>
                </a:solidFill>
                <a:latin typeface="Aptos"/>
                <a:ea typeface="Aptos"/>
                <a:cs typeface="Aptos"/>
              </a:defRPr>
            </a:pPr>
            <a:r>
              <a:rPr sz="1800" b="1">
                <a:solidFill>
                  <a:srgbClr val="142C38"/>
                </a:solidFill>
                <a:latin typeface="Aptos"/>
                <a:ea typeface="Aptos"/>
                <a:cs typeface="Aptos"/>
              </a:rPr>
              <a:t>Git / uv installation</a:t>
            </a:r>
          </a:p>
        </p:txBody>
      </p:sp>
      <p:sp>
        <p:nvSpPr>
          <p:cNvPr id="19" name="text">
            <a:extLst xmlns:a="http://schemas.openxmlformats.org/drawingml/2006/main">
              <a:ext uri="{FF2B5EF4-FFF2-40B4-BE49-F238E27FC236}">
                <a16:creationId xmlns:a16="http://schemas.microsoft.com/office/drawing/2014/main" id="{9EFB2C9A-9920-4B6B-8F52-DCC874F36B95}"/>
              </a:ext>
            </a:extLst>
          </p:cNvPr>
          <p:cNvSpPr>
            <a:spLocks xmlns:a="http://schemas.openxmlformats.org/drawingml/2006/main" noGrp="1"/>
          </p:cNvSpPr>
          <p:nvPr/>
        </p:nvSpPr>
        <p:spPr>
          <a:xfrm xmlns:a="http://schemas.openxmlformats.org/drawingml/2006/main">
            <a:off x="6229350" y="51530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C38"/>
                </a:solidFill>
                <a:latin typeface="Aptos"/>
                <a:ea typeface="Aptos"/>
                <a:cs typeface="Aptos"/>
              </a:defRPr>
            </a:pPr>
            <a:r>
              <a:rPr sz="1800" b="0">
                <a:solidFill>
                  <a:srgbClr val="142C38"/>
                </a:solidFill>
                <a:latin typeface="Aptos"/>
                <a:ea typeface="Aptos"/>
                <a:cs typeface="Aptos"/>
              </a:rPr>
              <a:t>Official installation docs in speaker notes</a:t>
            </a:r>
          </a:p>
        </p:txBody>
      </p:sp>
      <p:sp>
        <p:nvSpPr>
          <p:cNvPr id="20" name="shape">
            <a:extLst xmlns:a="http://schemas.openxmlformats.org/drawingml/2006/main">
              <a:ext uri="{FF2B5EF4-FFF2-40B4-BE49-F238E27FC236}">
                <a16:creationId xmlns:a16="http://schemas.microsoft.com/office/drawing/2014/main" id="{36AD9E6E-8D42-4CD9-8F83-1704D20B7A5B}"/>
              </a:ext>
            </a:extLst>
          </p:cNvPr>
          <p:cNvSpPr>
            <a:spLocks xmlns:a="http://schemas.openxmlformats.org/drawingml/2006/main" noGrp="1"/>
          </p:cNvSpPr>
          <p:nvPr/>
        </p:nvSpPr>
        <p:spPr>
          <a:xfrm xmlns:a="http://schemas.openxmlformats.org/drawingml/2006/main">
            <a:off x="609600" y="5638800"/>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249FB40C-7136-4613-A798-B98E9B1B580A}"/>
              </a:ext>
            </a:extLst>
          </p:cNvPr>
          <p:cNvSpPr>
            <a:spLocks xmlns:a="http://schemas.openxmlformats.org/drawingml/2006/main" noGrp="1"/>
          </p:cNvSpPr>
          <p:nvPr/>
        </p:nvSpPr>
        <p:spPr>
          <a:xfrm xmlns:a="http://schemas.openxmlformats.org/drawingml/2006/main">
            <a:off x="609600" y="58388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7078"/>
                </a:solidFill>
                <a:latin typeface="Aptos"/>
                <a:ea typeface="Aptos"/>
                <a:cs typeface="Aptos"/>
              </a:defRPr>
            </a:pPr>
            <a:r>
              <a:rPr sz="1800" b="0">
                <a:solidFill>
                  <a:srgbClr val="537078"/>
                </a:solidFill>
                <a:latin typeface="Aptos"/>
                <a:ea typeface="Aptos"/>
                <a:cs typeface="Aptos"/>
              </a:rPr>
              <a:t>Generated illustrations are illustrative; business figures come from the local tools.</a:t>
            </a:r>
          </a:p>
        </p:txBody>
      </p:sp>
      <p:sp>
        <p:nvSpPr>
          <p:cNvPr id="22" name="shape">
            <a:extLst xmlns:a="http://schemas.openxmlformats.org/drawingml/2006/main">
              <a:ext uri="{FF2B5EF4-FFF2-40B4-BE49-F238E27FC236}">
                <a16:creationId xmlns:a16="http://schemas.microsoft.com/office/drawing/2014/main" id="{40A19F46-D9C8-45C4-B6BE-8976AEBF9E1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C6D3CC"/>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9D6B4756-8AC1-46A8-B990-F792B4AE1123}"/>
              </a:ext>
            </a:extLst>
          </p:cNvPr>
          <p:cNvSpPr>
            <a:spLocks xmlns:a="http://schemas.openxmlformats.org/drawingml/2006/main" noGrp="1"/>
          </p:cNvSpPr>
          <p:nvPr/>
        </p:nvSpPr>
        <p:spPr>
          <a:xfrm xmlns:a="http://schemas.openxmlformats.org/drawingml/2006/main">
            <a:off x="609600" y="6505575"/>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537078"/>
                </a:solidFill>
                <a:latin typeface="Aptos"/>
                <a:ea typeface="Aptos"/>
                <a:cs typeface="Aptos"/>
              </a:defRPr>
            </a:pPr>
            <a:r>
              <a:rPr sz="1125" b="1">
                <a:solidFill>
                  <a:srgbClr val="537078"/>
                </a:solidFill>
                <a:latin typeface="Aptos"/>
                <a:ea typeface="Aptos"/>
                <a:cs typeface="Aptos"/>
              </a:rPr>
              <a:t>LIBA  /  AGENTFORGE JARVIS</a:t>
            </a:r>
          </a:p>
        </p:txBody>
      </p:sp>
      <p:sp>
        <p:nvSpPr>
          <p:cNvPr id="24" name="text">
            <a:extLst xmlns:a="http://schemas.openxmlformats.org/drawingml/2006/main">
              <a:ext uri="{FF2B5EF4-FFF2-40B4-BE49-F238E27FC236}">
                <a16:creationId xmlns:a16="http://schemas.microsoft.com/office/drawing/2014/main" id="{0C7BD775-C2B5-4048-8288-71FC60A3ED07}"/>
              </a:ext>
            </a:extLst>
          </p:cNvPr>
          <p:cNvSpPr>
            <a:spLocks xmlns:a="http://schemas.openxmlformats.org/drawingml/2006/main" noGrp="1"/>
          </p:cNvSpPr>
          <p:nvPr/>
        </p:nvSpPr>
        <p:spPr>
          <a:xfrm xmlns:a="http://schemas.openxmlformats.org/drawingml/2006/main">
            <a:off x="11049000" y="64770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1">
                <a:solidFill>
                  <a:srgbClr val="142C38"/>
                </a:solidFill>
                <a:latin typeface="Aptos"/>
                <a:ea typeface="Aptos"/>
                <a:cs typeface="Aptos"/>
              </a:defRPr>
            </a:pPr>
            <a:r>
              <a:rPr sz="1500" b="1">
                <a:solidFill>
                  <a:srgbClr val="142C38"/>
                </a:solidFill>
                <a:latin typeface="Aptos"/>
                <a:ea typeface="Aptos"/>
                <a:cs typeface="Aptos"/>
              </a:rPr>
              <a:t>72</a:t>
            </a:r>
          </a:p>
        </p:txBody>
      </p:sp>
    </p:spTree>
    <p:extLst>
      <p:ext uri="{BB962C8B-B14F-4D97-AF65-F5344CB8AC3E}">
        <p14:creationId xmlns:p14="http://schemas.microsoft.com/office/powerpoint/2010/main" val="246404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2026-09-03T04:39:44.1300000Z</dcterms:created>
  <dcterms:modified xsi:type="dcterms:W3CDTF">2026-09-03T04:39:44.1300000Z</dcterms:modified>
</coreProperties>
</file>