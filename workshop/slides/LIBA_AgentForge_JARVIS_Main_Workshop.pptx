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08260f280294a49" /><Relationship Type="http://schemas.openxmlformats.org/officeDocument/2006/relationships/extended-properties" Target="/docProps/app.xml" Id="R51a44a0a1ac0458c" /><Relationship Type="http://schemas.openxmlformats.org/officeDocument/2006/relationships/officeDocument" Target="/ppt/presentation.xml" Id="R2989915574634070" /></Relationships>
</file>

<file path=ppt/presentation.xml><?xml version="1.0" encoding="utf-8"?>
<p:presentation xmlns:p="http://schemas.openxmlformats.org/presentationml/2006/main">
  <p:sldMasterIdLst>
    <p:sldMasterId xmlns:r="http://schemas.openxmlformats.org/officeDocument/2006/relationships" id="2147483648" r:id="Ree8b5cb995944f52"/>
  </p:sldMasterIdLst>
  <p:notesMasterIdLst>
    <p:notesMasterId xmlns:r="http://schemas.openxmlformats.org/officeDocument/2006/relationships" r:id="R5ddcf7afc9b64ce1"/>
  </p:notesMasterIdLst>
  <p:sldIdLst>
    <p:sldId xmlns:r="http://schemas.openxmlformats.org/officeDocument/2006/relationships" id="256" r:id="R17215cfafdcb4c09"/>
    <p:sldId xmlns:r="http://schemas.openxmlformats.org/officeDocument/2006/relationships" id="257" r:id="Reb1179ef3e6f4752"/>
    <p:sldId xmlns:r="http://schemas.openxmlformats.org/officeDocument/2006/relationships" id="258" r:id="Rf8b7ecf0eafa46b2"/>
    <p:sldId xmlns:r="http://schemas.openxmlformats.org/officeDocument/2006/relationships" id="259" r:id="Rec31c14ec8ed4a0b"/>
    <p:sldId xmlns:r="http://schemas.openxmlformats.org/officeDocument/2006/relationships" id="260" r:id="Rccbbf68b637746fc"/>
    <p:sldId xmlns:r="http://schemas.openxmlformats.org/officeDocument/2006/relationships" id="261" r:id="Rfc844e67133043d0"/>
    <p:sldId xmlns:r="http://schemas.openxmlformats.org/officeDocument/2006/relationships" id="262" r:id="Rfd7d69a6dc124adb"/>
    <p:sldId xmlns:r="http://schemas.openxmlformats.org/officeDocument/2006/relationships" id="263" r:id="R498157576233415b"/>
    <p:sldId xmlns:r="http://schemas.openxmlformats.org/officeDocument/2006/relationships" id="264" r:id="R40b7142dc0114e0f"/>
    <p:sldId xmlns:r="http://schemas.openxmlformats.org/officeDocument/2006/relationships" id="265" r:id="R8534163950cc45dd"/>
    <p:sldId xmlns:r="http://schemas.openxmlformats.org/officeDocument/2006/relationships" id="266" r:id="Rcef30b837838429b"/>
    <p:sldId xmlns:r="http://schemas.openxmlformats.org/officeDocument/2006/relationships" id="267" r:id="R7333d5e659824ccb"/>
    <p:sldId xmlns:r="http://schemas.openxmlformats.org/officeDocument/2006/relationships" id="268" r:id="R023e7c28e418486e"/>
    <p:sldId xmlns:r="http://schemas.openxmlformats.org/officeDocument/2006/relationships" id="269" r:id="Re208218f84ae47cc"/>
    <p:sldId xmlns:r="http://schemas.openxmlformats.org/officeDocument/2006/relationships" id="270" r:id="R5848878e75cd43c5"/>
    <p:sldId xmlns:r="http://schemas.openxmlformats.org/officeDocument/2006/relationships" id="271" r:id="Rb7b1fdb2ae9644f9"/>
    <p:sldId xmlns:r="http://schemas.openxmlformats.org/officeDocument/2006/relationships" id="272" r:id="R5298499eed894bc2"/>
    <p:sldId xmlns:r="http://schemas.openxmlformats.org/officeDocument/2006/relationships" id="273" r:id="Rf50bb9f9d9084c9d"/>
    <p:sldId xmlns:r="http://schemas.openxmlformats.org/officeDocument/2006/relationships" id="274" r:id="Rb0dd8cdd109e45f0"/>
    <p:sldId xmlns:r="http://schemas.openxmlformats.org/officeDocument/2006/relationships" id="275" r:id="Rfb298fd0eca54766"/>
    <p:sldId xmlns:r="http://schemas.openxmlformats.org/officeDocument/2006/relationships" id="276" r:id="Rbbf01bfbdd684a07"/>
    <p:sldId xmlns:r="http://schemas.openxmlformats.org/officeDocument/2006/relationships" id="277" r:id="R1db76b70e4eb4c52"/>
    <p:sldId xmlns:r="http://schemas.openxmlformats.org/officeDocument/2006/relationships" id="278" r:id="R48c359d8aafd4b94"/>
    <p:sldId xmlns:r="http://schemas.openxmlformats.org/officeDocument/2006/relationships" id="279" r:id="Ra8e4fafd568a4fa4"/>
    <p:sldId xmlns:r="http://schemas.openxmlformats.org/officeDocument/2006/relationships" id="280" r:id="Rc8f942310bca4702"/>
    <p:sldId xmlns:r="http://schemas.openxmlformats.org/officeDocument/2006/relationships" id="281" r:id="R652c964da0884427"/>
    <p:sldId xmlns:r="http://schemas.openxmlformats.org/officeDocument/2006/relationships" id="282" r:id="R70f52ed58be149c9"/>
    <p:sldId xmlns:r="http://schemas.openxmlformats.org/officeDocument/2006/relationships" id="283" r:id="Rb3885a5378f64a65"/>
    <p:sldId xmlns:r="http://schemas.openxmlformats.org/officeDocument/2006/relationships" id="284" r:id="R6a19ab05fe304056"/>
    <p:sldId xmlns:r="http://schemas.openxmlformats.org/officeDocument/2006/relationships" id="285" r:id="R7bd4bdc49e184b3a"/>
    <p:sldId xmlns:r="http://schemas.openxmlformats.org/officeDocument/2006/relationships" id="286" r:id="R5d90a75aad4a42fc"/>
    <p:sldId xmlns:r="http://schemas.openxmlformats.org/officeDocument/2006/relationships" id="287" r:id="R5aef0f699ee94a51"/>
    <p:sldId xmlns:r="http://schemas.openxmlformats.org/officeDocument/2006/relationships" id="288" r:id="R3d89bab4b45e46b0"/>
    <p:sldId xmlns:r="http://schemas.openxmlformats.org/officeDocument/2006/relationships" id="289" r:id="Rf6ee493eaeef4362"/>
    <p:sldId xmlns:r="http://schemas.openxmlformats.org/officeDocument/2006/relationships" id="290" r:id="R9f5eb417b0f54517"/>
    <p:sldId xmlns:r="http://schemas.openxmlformats.org/officeDocument/2006/relationships" id="291" r:id="R1e4389a2db2e46fc"/>
    <p:sldId xmlns:r="http://schemas.openxmlformats.org/officeDocument/2006/relationships" id="292" r:id="Rccb13958946b4db3"/>
    <p:sldId xmlns:r="http://schemas.openxmlformats.org/officeDocument/2006/relationships" id="293" r:id="R68efd4b30c744c39"/>
    <p:sldId xmlns:r="http://schemas.openxmlformats.org/officeDocument/2006/relationships" id="294" r:id="Rcef5f22ffdf040d7"/>
    <p:sldId xmlns:r="http://schemas.openxmlformats.org/officeDocument/2006/relationships" id="295" r:id="R7a835934fbfb4180"/>
    <p:sldId xmlns:r="http://schemas.openxmlformats.org/officeDocument/2006/relationships" id="296" r:id="R49a4b3680392495f"/>
    <p:sldId xmlns:r="http://schemas.openxmlformats.org/officeDocument/2006/relationships" id="297" r:id="R22d0d8ddcd564658"/>
    <p:sldId xmlns:r="http://schemas.openxmlformats.org/officeDocument/2006/relationships" id="298" r:id="R0ede5aba09944ef1"/>
    <p:sldId xmlns:r="http://schemas.openxmlformats.org/officeDocument/2006/relationships" id="299" r:id="R6c58c63bf0b241fa"/>
    <p:sldId xmlns:r="http://schemas.openxmlformats.org/officeDocument/2006/relationships" id="300" r:id="R78bedc105b7e498e"/>
    <p:sldId xmlns:r="http://schemas.openxmlformats.org/officeDocument/2006/relationships" id="301" r:id="R87a35372a9154cad"/>
    <p:sldId xmlns:r="http://schemas.openxmlformats.org/officeDocument/2006/relationships" id="302" r:id="Ra9ee778cf2174bb9"/>
    <p:sldId xmlns:r="http://schemas.openxmlformats.org/officeDocument/2006/relationships" id="303" r:id="Rdacc9dd57c89469f"/>
    <p:sldId xmlns:r="http://schemas.openxmlformats.org/officeDocument/2006/relationships" id="304" r:id="Rc41dc3b8ef9b4f0b"/>
    <p:sldId xmlns:r="http://schemas.openxmlformats.org/officeDocument/2006/relationships" id="305" r:id="R56f8f947712f41a4"/>
    <p:sldId xmlns:r="http://schemas.openxmlformats.org/officeDocument/2006/relationships" id="306" r:id="R8af39e74467c4744"/>
    <p:sldId xmlns:r="http://schemas.openxmlformats.org/officeDocument/2006/relationships" id="307" r:id="R596d83ebebf64143"/>
    <p:sldId xmlns:r="http://schemas.openxmlformats.org/officeDocument/2006/relationships" id="308" r:id="R2fb9f34fe13d41cb"/>
    <p:sldId xmlns:r="http://schemas.openxmlformats.org/officeDocument/2006/relationships" id="309" r:id="Rcc50f334c575496f"/>
    <p:sldId xmlns:r="http://schemas.openxmlformats.org/officeDocument/2006/relationships" id="310" r:id="R79bfe9403e6a4f22"/>
    <p:sldId xmlns:r="http://schemas.openxmlformats.org/officeDocument/2006/relationships" id="311" r:id="R45dbcc2318d24d49"/>
    <p:sldId xmlns:r="http://schemas.openxmlformats.org/officeDocument/2006/relationships" id="312" r:id="Ra53757b627ff4c53"/>
    <p:sldId xmlns:r="http://schemas.openxmlformats.org/officeDocument/2006/relationships" id="313" r:id="R26bf6bd9a19a4e9b"/>
    <p:sldId xmlns:r="http://schemas.openxmlformats.org/officeDocument/2006/relationships" id="314" r:id="Rd934f0b6074c4be4"/>
    <p:sldId xmlns:r="http://schemas.openxmlformats.org/officeDocument/2006/relationships" id="315" r:id="R1841484af5f04fa5"/>
    <p:sldId xmlns:r="http://schemas.openxmlformats.org/officeDocument/2006/relationships" id="316" r:id="Rbb68513de8a04bd0"/>
    <p:sldId xmlns:r="http://schemas.openxmlformats.org/officeDocument/2006/relationships" id="317" r:id="R738d5caed4f143d9"/>
    <p:sldId xmlns:r="http://schemas.openxmlformats.org/officeDocument/2006/relationships" id="318" r:id="R45cfca9f158741e3"/>
    <p:sldId xmlns:r="http://schemas.openxmlformats.org/officeDocument/2006/relationships" id="319" r:id="R88b346176ab147ab"/>
    <p:sldId xmlns:r="http://schemas.openxmlformats.org/officeDocument/2006/relationships" id="320" r:id="R384e95c7a5254212"/>
    <p:sldId xmlns:r="http://schemas.openxmlformats.org/officeDocument/2006/relationships" id="321" r:id="R37d58efd4ac64e12"/>
    <p:sldId xmlns:r="http://schemas.openxmlformats.org/officeDocument/2006/relationships" id="322" r:id="R4092ec55e1ab4173"/>
    <p:sldId xmlns:r="http://schemas.openxmlformats.org/officeDocument/2006/relationships" id="323" r:id="R612aa9a0094a4fb1"/>
    <p:sldId xmlns:r="http://schemas.openxmlformats.org/officeDocument/2006/relationships" id="324" r:id="R3ac76db830374fce"/>
    <p:sldId xmlns:r="http://schemas.openxmlformats.org/officeDocument/2006/relationships" id="325" r:id="Rae6cbd367ed447e8"/>
    <p:sldId xmlns:r="http://schemas.openxmlformats.org/officeDocument/2006/relationships" id="326" r:id="R28a0a1924ba744fe"/>
    <p:sldId xmlns:r="http://schemas.openxmlformats.org/officeDocument/2006/relationships" id="327" r:id="R57e3cea1a1294a59"/>
    <p:sldId xmlns:r="http://schemas.openxmlformats.org/officeDocument/2006/relationships" id="328" r:id="R5c9bffaf8e8e4409"/>
    <p:sldId xmlns:r="http://schemas.openxmlformats.org/officeDocument/2006/relationships" id="329" r:id="R71ab020d920f4883"/>
    <p:sldId xmlns:r="http://schemas.openxmlformats.org/officeDocument/2006/relationships" id="330" r:id="R39d442db6e70496c"/>
    <p:sldId xmlns:r="http://schemas.openxmlformats.org/officeDocument/2006/relationships" id="331" r:id="R7740460d026e4b8c"/>
    <p:sldId xmlns:r="http://schemas.openxmlformats.org/officeDocument/2006/relationships" id="332" r:id="Ree6da153d463453e"/>
    <p:sldId xmlns:r="http://schemas.openxmlformats.org/officeDocument/2006/relationships" id="333" r:id="R18afb086b20444c1"/>
    <p:sldId xmlns:r="http://schemas.openxmlformats.org/officeDocument/2006/relationships" id="334" r:id="R5a4e2baf2fb74987"/>
    <p:sldId xmlns:r="http://schemas.openxmlformats.org/officeDocument/2006/relationships" id="335" r:id="Rb8ddc067b3724f6d"/>
    <p:sldId xmlns:r="http://schemas.openxmlformats.org/officeDocument/2006/relationships" id="336" r:id="R40f8ac2c54684db5"/>
    <p:sldId xmlns:r="http://schemas.openxmlformats.org/officeDocument/2006/relationships" id="337" r:id="R8a0b9048ac4e43e0"/>
    <p:sldId xmlns:r="http://schemas.openxmlformats.org/officeDocument/2006/relationships" id="338" r:id="R2cce00069d6a4f6a"/>
    <p:sldId xmlns:r="http://schemas.openxmlformats.org/officeDocument/2006/relationships" id="339" r:id="Rd1c8ca95c58e42f6"/>
    <p:sldId xmlns:r="http://schemas.openxmlformats.org/officeDocument/2006/relationships" id="340" r:id="R74753419302b4486"/>
    <p:sldId xmlns:r="http://schemas.openxmlformats.org/officeDocument/2006/relationships" id="341" r:id="Rb3ff1b44a9f24e99"/>
    <p:sldId xmlns:r="http://schemas.openxmlformats.org/officeDocument/2006/relationships" id="342" r:id="R1913ecd5902f41c1"/>
    <p:sldId xmlns:r="http://schemas.openxmlformats.org/officeDocument/2006/relationships" id="343" r:id="R1a0b57267ed04e40"/>
    <p:sldId xmlns:r="http://schemas.openxmlformats.org/officeDocument/2006/relationships" id="344" r:id="R65ad892ed4d2441f"/>
    <p:sldId xmlns:r="http://schemas.openxmlformats.org/officeDocument/2006/relationships" id="345" r:id="R741986535f1d4116"/>
    <p:sldId xmlns:r="http://schemas.openxmlformats.org/officeDocument/2006/relationships" id="346" r:id="Rb5b474876eb147e0"/>
    <p:sldId xmlns:r="http://schemas.openxmlformats.org/officeDocument/2006/relationships" id="347" r:id="Rdc0f8cea075146b1"/>
    <p:sldId xmlns:r="http://schemas.openxmlformats.org/officeDocument/2006/relationships" id="348" r:id="Rfc60ed24ba3746b0"/>
    <p:sldId xmlns:r="http://schemas.openxmlformats.org/officeDocument/2006/relationships" id="349" r:id="Rf8f5880cbc224e6e"/>
    <p:sldId xmlns:r="http://schemas.openxmlformats.org/officeDocument/2006/relationships" id="350" r:id="R5a1ec95132df45da"/>
    <p:sldId xmlns:r="http://schemas.openxmlformats.org/officeDocument/2006/relationships" id="351" r:id="R477a53c3cfdf4dd1"/>
    <p:sldId xmlns:r="http://schemas.openxmlformats.org/officeDocument/2006/relationships" id="352" r:id="R66869dd65a394d99"/>
    <p:sldId xmlns:r="http://schemas.openxmlformats.org/officeDocument/2006/relationships" id="353" r:id="Rc35323ecbf5244e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268b62233734365" /><Relationship Type="http://schemas.openxmlformats.org/officeDocument/2006/relationships/slideMaster" Target="/ppt/slideMasters/slideMaster1.xml" Id="Ree8b5cb995944f52" /><Relationship Type="http://schemas.openxmlformats.org/officeDocument/2006/relationships/notesMaster" Target="/ppt/notesMasters/notesMaster1.xml" Id="R5ddcf7afc9b64ce1" /><Relationship Type="http://schemas.openxmlformats.org/officeDocument/2006/relationships/presProps" Target="/ppt/presProps.xml" Id="Rb5ee61ba24e84ce5" /><Relationship Type="http://schemas.openxmlformats.org/officeDocument/2006/relationships/tableStyles" Target="/ppt/tableStyles.xml" Id="Rb972067f3c6a4b01" /><Relationship Type="http://schemas.openxmlformats.org/officeDocument/2006/relationships/slide" Target="/ppt/slides/slide1.xml" Id="R17215cfafdcb4c09" /><Relationship Type="http://schemas.openxmlformats.org/officeDocument/2006/relationships/slide" Target="/ppt/slides/slide2.xml" Id="Reb1179ef3e6f4752" /><Relationship Type="http://schemas.openxmlformats.org/officeDocument/2006/relationships/slide" Target="/ppt/slides/slide3.xml" Id="Rf8b7ecf0eafa46b2" /><Relationship Type="http://schemas.openxmlformats.org/officeDocument/2006/relationships/slide" Target="/ppt/slides/slide4.xml" Id="Rec31c14ec8ed4a0b" /><Relationship Type="http://schemas.openxmlformats.org/officeDocument/2006/relationships/slide" Target="/ppt/slides/slide5.xml" Id="Rccbbf68b637746fc" /><Relationship Type="http://schemas.openxmlformats.org/officeDocument/2006/relationships/slide" Target="/ppt/slides/slide6.xml" Id="Rfc844e67133043d0" /><Relationship Type="http://schemas.openxmlformats.org/officeDocument/2006/relationships/slide" Target="/ppt/slides/slide7.xml" Id="Rfd7d69a6dc124adb" /><Relationship Type="http://schemas.openxmlformats.org/officeDocument/2006/relationships/slide" Target="/ppt/slides/slide8.xml" Id="R498157576233415b" /><Relationship Type="http://schemas.openxmlformats.org/officeDocument/2006/relationships/slide" Target="/ppt/slides/slide9.xml" Id="R40b7142dc0114e0f" /><Relationship Type="http://schemas.openxmlformats.org/officeDocument/2006/relationships/slide" Target="/ppt/slides/slide10.xml" Id="R8534163950cc45dd" /><Relationship Type="http://schemas.openxmlformats.org/officeDocument/2006/relationships/slide" Target="/ppt/slides/slide11.xml" Id="Rcef30b837838429b" /><Relationship Type="http://schemas.openxmlformats.org/officeDocument/2006/relationships/slide" Target="/ppt/slides/slide12.xml" Id="R7333d5e659824ccb" /><Relationship Type="http://schemas.openxmlformats.org/officeDocument/2006/relationships/slide" Target="/ppt/slides/slide13.xml" Id="R023e7c28e418486e" /><Relationship Type="http://schemas.openxmlformats.org/officeDocument/2006/relationships/slide" Target="/ppt/slides/slide14.xml" Id="Re208218f84ae47cc" /><Relationship Type="http://schemas.openxmlformats.org/officeDocument/2006/relationships/slide" Target="/ppt/slides/slide15.xml" Id="R5848878e75cd43c5" /><Relationship Type="http://schemas.openxmlformats.org/officeDocument/2006/relationships/slide" Target="/ppt/slides/slide16.xml" Id="Rb7b1fdb2ae9644f9" /><Relationship Type="http://schemas.openxmlformats.org/officeDocument/2006/relationships/slide" Target="/ppt/slides/slide17.xml" Id="R5298499eed894bc2" /><Relationship Type="http://schemas.openxmlformats.org/officeDocument/2006/relationships/slide" Target="/ppt/slides/slide18.xml" Id="Rf50bb9f9d9084c9d" /><Relationship Type="http://schemas.openxmlformats.org/officeDocument/2006/relationships/slide" Target="/ppt/slides/slide19.xml" Id="Rb0dd8cdd109e45f0" /><Relationship Type="http://schemas.openxmlformats.org/officeDocument/2006/relationships/slide" Target="/ppt/slides/slide20.xml" Id="Rfb298fd0eca54766" /><Relationship Type="http://schemas.openxmlformats.org/officeDocument/2006/relationships/slide" Target="/ppt/slides/slide21.xml" Id="Rbbf01bfbdd684a07" /><Relationship Type="http://schemas.openxmlformats.org/officeDocument/2006/relationships/slide" Target="/ppt/slides/slide22.xml" Id="R1db76b70e4eb4c52" /><Relationship Type="http://schemas.openxmlformats.org/officeDocument/2006/relationships/slide" Target="/ppt/slides/slide23.xml" Id="R48c359d8aafd4b94" /><Relationship Type="http://schemas.openxmlformats.org/officeDocument/2006/relationships/slide" Target="/ppt/slides/slide24.xml" Id="Ra8e4fafd568a4fa4" /><Relationship Type="http://schemas.openxmlformats.org/officeDocument/2006/relationships/slide" Target="/ppt/slides/slide25.xml" Id="Rc8f942310bca4702" /><Relationship Type="http://schemas.openxmlformats.org/officeDocument/2006/relationships/slide" Target="/ppt/slides/slide26.xml" Id="R652c964da0884427" /><Relationship Type="http://schemas.openxmlformats.org/officeDocument/2006/relationships/slide" Target="/ppt/slides/slide27.xml" Id="R70f52ed58be149c9" /><Relationship Type="http://schemas.openxmlformats.org/officeDocument/2006/relationships/slide" Target="/ppt/slides/slide28.xml" Id="Rb3885a5378f64a65" /><Relationship Type="http://schemas.openxmlformats.org/officeDocument/2006/relationships/slide" Target="/ppt/slides/slide29.xml" Id="R6a19ab05fe304056" /><Relationship Type="http://schemas.openxmlformats.org/officeDocument/2006/relationships/slide" Target="/ppt/slides/slide30.xml" Id="R7bd4bdc49e184b3a" /><Relationship Type="http://schemas.openxmlformats.org/officeDocument/2006/relationships/slide" Target="/ppt/slides/slide31.xml" Id="R5d90a75aad4a42fc" /><Relationship Type="http://schemas.openxmlformats.org/officeDocument/2006/relationships/slide" Target="/ppt/slides/slide32.xml" Id="R5aef0f699ee94a51" /><Relationship Type="http://schemas.openxmlformats.org/officeDocument/2006/relationships/slide" Target="/ppt/slides/slide33.xml" Id="R3d89bab4b45e46b0" /><Relationship Type="http://schemas.openxmlformats.org/officeDocument/2006/relationships/slide" Target="/ppt/slides/slide34.xml" Id="Rf6ee493eaeef4362" /><Relationship Type="http://schemas.openxmlformats.org/officeDocument/2006/relationships/slide" Target="/ppt/slides/slide35.xml" Id="R9f5eb417b0f54517" /><Relationship Type="http://schemas.openxmlformats.org/officeDocument/2006/relationships/slide" Target="/ppt/slides/slide36.xml" Id="R1e4389a2db2e46fc" /><Relationship Type="http://schemas.openxmlformats.org/officeDocument/2006/relationships/slide" Target="/ppt/slides/slide37.xml" Id="Rccb13958946b4db3" /><Relationship Type="http://schemas.openxmlformats.org/officeDocument/2006/relationships/slide" Target="/ppt/slides/slide38.xml" Id="R68efd4b30c744c39" /><Relationship Type="http://schemas.openxmlformats.org/officeDocument/2006/relationships/slide" Target="/ppt/slides/slide39.xml" Id="Rcef5f22ffdf040d7" /><Relationship Type="http://schemas.openxmlformats.org/officeDocument/2006/relationships/slide" Target="/ppt/slides/slide40.xml" Id="R7a835934fbfb4180" /><Relationship Type="http://schemas.openxmlformats.org/officeDocument/2006/relationships/slide" Target="/ppt/slides/slide41.xml" Id="R49a4b3680392495f" /><Relationship Type="http://schemas.openxmlformats.org/officeDocument/2006/relationships/slide" Target="/ppt/slides/slide42.xml" Id="R22d0d8ddcd564658" /><Relationship Type="http://schemas.openxmlformats.org/officeDocument/2006/relationships/slide" Target="/ppt/slides/slide43.xml" Id="R0ede5aba09944ef1" /><Relationship Type="http://schemas.openxmlformats.org/officeDocument/2006/relationships/slide" Target="/ppt/slides/slide44.xml" Id="R6c58c63bf0b241fa" /><Relationship Type="http://schemas.openxmlformats.org/officeDocument/2006/relationships/slide" Target="/ppt/slides/slide45.xml" Id="R78bedc105b7e498e" /><Relationship Type="http://schemas.openxmlformats.org/officeDocument/2006/relationships/slide" Target="/ppt/slides/slide46.xml" Id="R87a35372a9154cad" /><Relationship Type="http://schemas.openxmlformats.org/officeDocument/2006/relationships/slide" Target="/ppt/slides/slide47.xml" Id="Ra9ee778cf2174bb9" /><Relationship Type="http://schemas.openxmlformats.org/officeDocument/2006/relationships/slide" Target="/ppt/slides/slide48.xml" Id="Rdacc9dd57c89469f" /><Relationship Type="http://schemas.openxmlformats.org/officeDocument/2006/relationships/slide" Target="/ppt/slides/slide49.xml" Id="Rc41dc3b8ef9b4f0b" /><Relationship Type="http://schemas.openxmlformats.org/officeDocument/2006/relationships/slide" Target="/ppt/slides/slide50.xml" Id="R56f8f947712f41a4" /><Relationship Type="http://schemas.openxmlformats.org/officeDocument/2006/relationships/slide" Target="/ppt/slides/slide51.xml" Id="R8af39e74467c4744" /><Relationship Type="http://schemas.openxmlformats.org/officeDocument/2006/relationships/slide" Target="/ppt/slides/slide52.xml" Id="R596d83ebebf64143" /><Relationship Type="http://schemas.openxmlformats.org/officeDocument/2006/relationships/slide" Target="/ppt/slides/slide53.xml" Id="R2fb9f34fe13d41cb" /><Relationship Type="http://schemas.openxmlformats.org/officeDocument/2006/relationships/slide" Target="/ppt/slides/slide54.xml" Id="Rcc50f334c575496f" /><Relationship Type="http://schemas.openxmlformats.org/officeDocument/2006/relationships/slide" Target="/ppt/slides/slide55.xml" Id="R79bfe9403e6a4f22" /><Relationship Type="http://schemas.openxmlformats.org/officeDocument/2006/relationships/slide" Target="/ppt/slides/slide56.xml" Id="R45dbcc2318d24d49" /><Relationship Type="http://schemas.openxmlformats.org/officeDocument/2006/relationships/slide" Target="/ppt/slides/slide57.xml" Id="Ra53757b627ff4c53" /><Relationship Type="http://schemas.openxmlformats.org/officeDocument/2006/relationships/slide" Target="/ppt/slides/slide58.xml" Id="R26bf6bd9a19a4e9b" /><Relationship Type="http://schemas.openxmlformats.org/officeDocument/2006/relationships/slide" Target="/ppt/slides/slide59.xml" Id="Rd934f0b6074c4be4" /><Relationship Type="http://schemas.openxmlformats.org/officeDocument/2006/relationships/slide" Target="/ppt/slides/slide60.xml" Id="R1841484af5f04fa5" /><Relationship Type="http://schemas.openxmlformats.org/officeDocument/2006/relationships/slide" Target="/ppt/slides/slide61.xml" Id="Rbb68513de8a04bd0" /><Relationship Type="http://schemas.openxmlformats.org/officeDocument/2006/relationships/slide" Target="/ppt/slides/slide62.xml" Id="R738d5caed4f143d9" /><Relationship Type="http://schemas.openxmlformats.org/officeDocument/2006/relationships/slide" Target="/ppt/slides/slide63.xml" Id="R45cfca9f158741e3" /><Relationship Type="http://schemas.openxmlformats.org/officeDocument/2006/relationships/slide" Target="/ppt/slides/slide64.xml" Id="R88b346176ab147ab" /><Relationship Type="http://schemas.openxmlformats.org/officeDocument/2006/relationships/slide" Target="/ppt/slides/slide65.xml" Id="R384e95c7a5254212" /><Relationship Type="http://schemas.openxmlformats.org/officeDocument/2006/relationships/slide" Target="/ppt/slides/slide66.xml" Id="R37d58efd4ac64e12" /><Relationship Type="http://schemas.openxmlformats.org/officeDocument/2006/relationships/slide" Target="/ppt/slides/slide67.xml" Id="R4092ec55e1ab4173" /><Relationship Type="http://schemas.openxmlformats.org/officeDocument/2006/relationships/slide" Target="/ppt/slides/slide68.xml" Id="R612aa9a0094a4fb1" /><Relationship Type="http://schemas.openxmlformats.org/officeDocument/2006/relationships/slide" Target="/ppt/slides/slide69.xml" Id="R3ac76db830374fce" /><Relationship Type="http://schemas.openxmlformats.org/officeDocument/2006/relationships/slide" Target="/ppt/slides/slide70.xml" Id="Rae6cbd367ed447e8" /><Relationship Type="http://schemas.openxmlformats.org/officeDocument/2006/relationships/slide" Target="/ppt/slides/slide71.xml" Id="R28a0a1924ba744fe" /><Relationship Type="http://schemas.openxmlformats.org/officeDocument/2006/relationships/slide" Target="/ppt/slides/slide72.xml" Id="R57e3cea1a1294a59" /><Relationship Type="http://schemas.openxmlformats.org/officeDocument/2006/relationships/slide" Target="/ppt/slides/slide73.xml" Id="R5c9bffaf8e8e4409" /><Relationship Type="http://schemas.openxmlformats.org/officeDocument/2006/relationships/slide" Target="/ppt/slides/slide74.xml" Id="R71ab020d920f4883" /><Relationship Type="http://schemas.openxmlformats.org/officeDocument/2006/relationships/slide" Target="/ppt/slides/slide75.xml" Id="R39d442db6e70496c" /><Relationship Type="http://schemas.openxmlformats.org/officeDocument/2006/relationships/slide" Target="/ppt/slides/slide76.xml" Id="R7740460d026e4b8c" /><Relationship Type="http://schemas.openxmlformats.org/officeDocument/2006/relationships/slide" Target="/ppt/slides/slide77.xml" Id="Ree6da153d463453e" /><Relationship Type="http://schemas.openxmlformats.org/officeDocument/2006/relationships/slide" Target="/ppt/slides/slide78.xml" Id="R18afb086b20444c1" /><Relationship Type="http://schemas.openxmlformats.org/officeDocument/2006/relationships/slide" Target="/ppt/slides/slide79.xml" Id="R5a4e2baf2fb74987" /><Relationship Type="http://schemas.openxmlformats.org/officeDocument/2006/relationships/slide" Target="/ppt/slides/slide80.xml" Id="Rb8ddc067b3724f6d" /><Relationship Type="http://schemas.openxmlformats.org/officeDocument/2006/relationships/slide" Target="/ppt/slides/slide81.xml" Id="R40f8ac2c54684db5" /><Relationship Type="http://schemas.openxmlformats.org/officeDocument/2006/relationships/slide" Target="/ppt/slides/slide82.xml" Id="R8a0b9048ac4e43e0" /><Relationship Type="http://schemas.openxmlformats.org/officeDocument/2006/relationships/slide" Target="/ppt/slides/slide83.xml" Id="R2cce00069d6a4f6a" /><Relationship Type="http://schemas.openxmlformats.org/officeDocument/2006/relationships/slide" Target="/ppt/slides/slide84.xml" Id="Rd1c8ca95c58e42f6" /><Relationship Type="http://schemas.openxmlformats.org/officeDocument/2006/relationships/slide" Target="/ppt/slides/slide85.xml" Id="R74753419302b4486" /><Relationship Type="http://schemas.openxmlformats.org/officeDocument/2006/relationships/slide" Target="/ppt/slides/slide86.xml" Id="Rb3ff1b44a9f24e99" /><Relationship Type="http://schemas.openxmlformats.org/officeDocument/2006/relationships/slide" Target="/ppt/slides/slide87.xml" Id="R1913ecd5902f41c1" /><Relationship Type="http://schemas.openxmlformats.org/officeDocument/2006/relationships/slide" Target="/ppt/slides/slide88.xml" Id="R1a0b57267ed04e40" /><Relationship Type="http://schemas.openxmlformats.org/officeDocument/2006/relationships/slide" Target="/ppt/slides/slide89.xml" Id="R65ad892ed4d2441f" /><Relationship Type="http://schemas.openxmlformats.org/officeDocument/2006/relationships/slide" Target="/ppt/slides/slide90.xml" Id="R741986535f1d4116" /><Relationship Type="http://schemas.openxmlformats.org/officeDocument/2006/relationships/slide" Target="/ppt/slides/slide91.xml" Id="Rb5b474876eb147e0" /><Relationship Type="http://schemas.openxmlformats.org/officeDocument/2006/relationships/slide" Target="/ppt/slides/slide92.xml" Id="Rdc0f8cea075146b1" /><Relationship Type="http://schemas.openxmlformats.org/officeDocument/2006/relationships/slide" Target="/ppt/slides/slide93.xml" Id="Rfc60ed24ba3746b0" /><Relationship Type="http://schemas.openxmlformats.org/officeDocument/2006/relationships/slide" Target="/ppt/slides/slide94.xml" Id="Rf8f5880cbc224e6e" /><Relationship Type="http://schemas.openxmlformats.org/officeDocument/2006/relationships/slide" Target="/ppt/slides/slide95.xml" Id="R5a1ec95132df45da" /><Relationship Type="http://schemas.openxmlformats.org/officeDocument/2006/relationships/slide" Target="/ppt/slides/slide96.xml" Id="R477a53c3cfdf4dd1" /><Relationship Type="http://schemas.openxmlformats.org/officeDocument/2006/relationships/slide" Target="/ppt/slides/slide97.xml" Id="R66869dd65a394d99" /><Relationship Type="http://schemas.openxmlformats.org/officeDocument/2006/relationships/slide" Target="/ppt/slides/slide98.xml" Id="Rc35323ecbf5244e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caead303abb494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72033870b9e4157" /><Relationship Type="http://schemas.openxmlformats.org/officeDocument/2006/relationships/notesMaster" Target="/ppt/notesMasters/notesMaster1.xml" Id="Rc7b6e00dfe2349cf" /></Relationships>
</file>

<file path=ppt/notesSlides/_rels/notesSlide2.xml.rels>&#65279;<?xml version="1.0" encoding="utf-8"?><Relationships xmlns="http://schemas.openxmlformats.org/package/2006/relationships"><Relationship Type="http://schemas.openxmlformats.org/officeDocument/2006/relationships/slide" Target="/ppt/slides/slide2.xml" Id="R8e551e9fe06c471b" /><Relationship Type="http://schemas.openxmlformats.org/officeDocument/2006/relationships/notesMaster" Target="/ppt/notesMasters/notesMaster1.xml" Id="Rb1abf8e05a354e50" /></Relationships>
</file>

<file path=ppt/notesSlides/_rels/notesSlide3.xml.rels>&#65279;<?xml version="1.0" encoding="utf-8"?><Relationships xmlns="http://schemas.openxmlformats.org/package/2006/relationships"><Relationship Type="http://schemas.openxmlformats.org/officeDocument/2006/relationships/slide" Target="/ppt/slides/slide3.xml" Id="Rcbe620cfaedd49ed" /><Relationship Type="http://schemas.openxmlformats.org/officeDocument/2006/relationships/notesMaster" Target="/ppt/notesMasters/notesMaster1.xml" Id="Rcbd377f5390b4737" /></Relationships>
</file>

<file path=ppt/notesSlides/_rels/notesSlide4.xml.rels>&#65279;<?xml version="1.0" encoding="utf-8"?><Relationships xmlns="http://schemas.openxmlformats.org/package/2006/relationships"><Relationship Type="http://schemas.openxmlformats.org/officeDocument/2006/relationships/slide" Target="/ppt/slides/slide4.xml" Id="R31fd36dc08c44236" /><Relationship Type="http://schemas.openxmlformats.org/officeDocument/2006/relationships/notesMaster" Target="/ppt/notesMasters/notesMaster1.xml" Id="R29e00ed4a668492c" /></Relationships>
</file>

<file path=ppt/notesSlides/_rels/notesSlide5.xml.rels>&#65279;<?xml version="1.0" encoding="utf-8"?><Relationships xmlns="http://schemas.openxmlformats.org/package/2006/relationships"><Relationship Type="http://schemas.openxmlformats.org/officeDocument/2006/relationships/slide" Target="/ppt/slides/slide5.xml" Id="Rec45b593998d4bec" /><Relationship Type="http://schemas.openxmlformats.org/officeDocument/2006/relationships/notesMaster" Target="/ppt/notesMasters/notesMaster1.xml" Id="Rc7041dbd2cac4836" /></Relationships>
</file>

<file path=ppt/notesSlides/_rels/notesSlide6.xml.rels>&#65279;<?xml version="1.0" encoding="utf-8"?><Relationships xmlns="http://schemas.openxmlformats.org/package/2006/relationships"><Relationship Type="http://schemas.openxmlformats.org/officeDocument/2006/relationships/slide" Target="/ppt/slides/slide6.xml" Id="Rbc99a8e0a3144e40" /><Relationship Type="http://schemas.openxmlformats.org/officeDocument/2006/relationships/notesMaster" Target="/ppt/notesMasters/notesMaster1.xml" Id="R3c8c55aefb6144f4" /></Relationships>
</file>

<file path=ppt/notesSlides/_rels/notesSlide7.xml.rels>&#65279;<?xml version="1.0" encoding="utf-8"?><Relationships xmlns="http://schemas.openxmlformats.org/package/2006/relationships"><Relationship Type="http://schemas.openxmlformats.org/officeDocument/2006/relationships/slide" Target="/ppt/slides/slide7.xml" Id="Rdfb4cc4d6cc64a0b" /><Relationship Type="http://schemas.openxmlformats.org/officeDocument/2006/relationships/notesMaster" Target="/ppt/notesMasters/notesMaster1.xml" Id="R4b9be4e6063d4c39" /></Relationships>
</file>

<file path=ppt/notesSlides/_rels/notesSlide8.xml.rels>&#65279;<?xml version="1.0" encoding="utf-8"?><Relationships xmlns="http://schemas.openxmlformats.org/package/2006/relationships"><Relationship Type="http://schemas.openxmlformats.org/officeDocument/2006/relationships/slide" Target="/ppt/slides/slide8.xml" Id="R8f1a05fb0396487d" /><Relationship Type="http://schemas.openxmlformats.org/officeDocument/2006/relationships/notesMaster" Target="/ppt/notesMasters/notesMaster1.xml" Id="Rc3cb4867b57d483b" /></Relationships>
</file>

<file path=ppt/notesSlides/_rels/notesSlide9.xml.rels>&#65279;<?xml version="1.0" encoding="utf-8"?><Relationships xmlns="http://schemas.openxmlformats.org/package/2006/relationships"><Relationship Type="http://schemas.openxmlformats.org/officeDocument/2006/relationships/slide" Target="/ppt/slides/slide9.xml" Id="Rcd66e1cd3b3f4f24" /><Relationship Type="http://schemas.openxmlformats.org/officeDocument/2006/relationships/notesMaster" Target="/ppt/notesMasters/notesMaster1.xml" Id="R268338510e8f44b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e0b504e06574126" /><Relationship Type="http://schemas.openxmlformats.org/officeDocument/2006/relationships/notesMaster" Target="/ppt/notesMasters/notesMaster1.xml" Id="Raa81dc656cef411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d67392d6e374800" /><Relationship Type="http://schemas.openxmlformats.org/officeDocument/2006/relationships/notesMaster" Target="/ppt/notesMasters/notesMaster1.xml" Id="R53b64d967b6b490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ade5d2a49074725" /><Relationship Type="http://schemas.openxmlformats.org/officeDocument/2006/relationships/notesMaster" Target="/ppt/notesMasters/notesMaster1.xml" Id="R04fffd0659eb45c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4c215f2ce9949dc" /><Relationship Type="http://schemas.openxmlformats.org/officeDocument/2006/relationships/notesMaster" Target="/ppt/notesMasters/notesMaster1.xml" Id="R9cf1cb055c194b7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639b17823bf487d" /><Relationship Type="http://schemas.openxmlformats.org/officeDocument/2006/relationships/notesMaster" Target="/ppt/notesMasters/notesMaster1.xml" Id="R8804ca7af3b346c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7c9672fdb674081" /><Relationship Type="http://schemas.openxmlformats.org/officeDocument/2006/relationships/notesMaster" Target="/ppt/notesMasters/notesMaster1.xml" Id="R0ce1fbbff0c64ca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49596b19efd4172" /><Relationship Type="http://schemas.openxmlformats.org/officeDocument/2006/relationships/notesMaster" Target="/ppt/notesMasters/notesMaster1.xml" Id="R4e2c460dc99c4a0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c8595c154ba45a6" /><Relationship Type="http://schemas.openxmlformats.org/officeDocument/2006/relationships/notesMaster" Target="/ppt/notesMasters/notesMaster1.xml" Id="R1a3bbfc88e61416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0d8dbc9fc7e455f" /><Relationship Type="http://schemas.openxmlformats.org/officeDocument/2006/relationships/notesMaster" Target="/ppt/notesMasters/notesMaster1.xml" Id="R061d7eb073b642c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5a399e9b30c451a" /><Relationship Type="http://schemas.openxmlformats.org/officeDocument/2006/relationships/notesMaster" Target="/ppt/notesMasters/notesMaster1.xml" Id="R310776c7c86347d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85ad4f32cd3469e" /><Relationship Type="http://schemas.openxmlformats.org/officeDocument/2006/relationships/notesMaster" Target="/ppt/notesMasters/notesMaster1.xml" Id="R5b48d55d4868446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78543ebf0e849b4" /><Relationship Type="http://schemas.openxmlformats.org/officeDocument/2006/relationships/notesMaster" Target="/ppt/notesMasters/notesMaster1.xml" Id="R32f298e0c177496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f9cdb8a2f184945" /><Relationship Type="http://schemas.openxmlformats.org/officeDocument/2006/relationships/notesMaster" Target="/ppt/notesMasters/notesMaster1.xml" Id="Rc1aa8360390c4ba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c36ec7b5d2240db" /><Relationship Type="http://schemas.openxmlformats.org/officeDocument/2006/relationships/notesMaster" Target="/ppt/notesMasters/notesMaster1.xml" Id="R69f3cc4dfd4d4fd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f7a3f1cd6094eb6" /><Relationship Type="http://schemas.openxmlformats.org/officeDocument/2006/relationships/notesMaster" Target="/ppt/notesMasters/notesMaster1.xml" Id="R5d5c54f0729a43e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8848c9ff0c9416d" /><Relationship Type="http://schemas.openxmlformats.org/officeDocument/2006/relationships/notesMaster" Target="/ppt/notesMasters/notesMaster1.xml" Id="R8b8f07195c9a49a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c7a2b75b6404f7d" /><Relationship Type="http://schemas.openxmlformats.org/officeDocument/2006/relationships/notesMaster" Target="/ppt/notesMasters/notesMaster1.xml" Id="R376d9efdd7fc4c7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9f09bd73d2b45d6" /><Relationship Type="http://schemas.openxmlformats.org/officeDocument/2006/relationships/notesMaster" Target="/ppt/notesMasters/notesMaster1.xml" Id="R611be96a26ef475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1e42f23f3164751" /><Relationship Type="http://schemas.openxmlformats.org/officeDocument/2006/relationships/notesMaster" Target="/ppt/notesMasters/notesMaster1.xml" Id="Redd4be240ca946b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d45f57f50b14b0d" /><Relationship Type="http://schemas.openxmlformats.org/officeDocument/2006/relationships/notesMaster" Target="/ppt/notesMasters/notesMaster1.xml" Id="Rc370a5e9bf214fa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604f7dff5444dc4" /><Relationship Type="http://schemas.openxmlformats.org/officeDocument/2006/relationships/notesMaster" Target="/ppt/notesMasters/notesMaster1.xml" Id="Re0bbd122bd27475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0daf3a2707e4e61" /><Relationship Type="http://schemas.openxmlformats.org/officeDocument/2006/relationships/notesMaster" Target="/ppt/notesMasters/notesMaster1.xml" Id="R38934acb68ca454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c1787a7d1724e0b" /><Relationship Type="http://schemas.openxmlformats.org/officeDocument/2006/relationships/notesMaster" Target="/ppt/notesMasters/notesMaster1.xml" Id="Rf9ab67a9a42c4074"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bc37d3908444a16" /><Relationship Type="http://schemas.openxmlformats.org/officeDocument/2006/relationships/notesMaster" Target="/ppt/notesMasters/notesMaster1.xml" Id="R23f9000d09774f5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0e87bb4a1b54d14" /><Relationship Type="http://schemas.openxmlformats.org/officeDocument/2006/relationships/notesMaster" Target="/ppt/notesMasters/notesMaster1.xml" Id="Reff49c64848142b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c81b71dabb64d35" /><Relationship Type="http://schemas.openxmlformats.org/officeDocument/2006/relationships/notesMaster" Target="/ppt/notesMasters/notesMaster1.xml" Id="Rbaf99b1a3e91486b"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72f0a6546e741a2" /><Relationship Type="http://schemas.openxmlformats.org/officeDocument/2006/relationships/notesMaster" Target="/ppt/notesMasters/notesMaster1.xml" Id="R5359106c95984c57"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f480dbcb41ac42ba" /><Relationship Type="http://schemas.openxmlformats.org/officeDocument/2006/relationships/notesMaster" Target="/ppt/notesMasters/notesMaster1.xml" Id="Rcdef71c708cf4ae3"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9aa06ad26b6545cb" /><Relationship Type="http://schemas.openxmlformats.org/officeDocument/2006/relationships/notesMaster" Target="/ppt/notesMasters/notesMaster1.xml" Id="R7cb83de4d5aa4b2e"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40a838c5d050434c" /><Relationship Type="http://schemas.openxmlformats.org/officeDocument/2006/relationships/notesMaster" Target="/ppt/notesMasters/notesMaster1.xml" Id="Rd8b6ec4a56974ed7"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a510bc743bbd424e" /><Relationship Type="http://schemas.openxmlformats.org/officeDocument/2006/relationships/notesMaster" Target="/ppt/notesMasters/notesMaster1.xml" Id="R22f13fc46d7c43d7"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fbe356ee7b774bc0" /><Relationship Type="http://schemas.openxmlformats.org/officeDocument/2006/relationships/notesMaster" Target="/ppt/notesMasters/notesMaster1.xml" Id="Rcb2bf7e942824120"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34b19b4ce2534759" /><Relationship Type="http://schemas.openxmlformats.org/officeDocument/2006/relationships/notesMaster" Target="/ppt/notesMasters/notesMaster1.xml" Id="Rbb43fa6754354a33"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909a3c4ba67c4bb4" /><Relationship Type="http://schemas.openxmlformats.org/officeDocument/2006/relationships/notesMaster" Target="/ppt/notesMasters/notesMaster1.xml" Id="R8f4d0c6933414151"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2aec38bebea748da" /><Relationship Type="http://schemas.openxmlformats.org/officeDocument/2006/relationships/notesMaster" Target="/ppt/notesMasters/notesMaster1.xml" Id="R19619a4205864d1a"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99aa9e912ffd47f8" /><Relationship Type="http://schemas.openxmlformats.org/officeDocument/2006/relationships/notesMaster" Target="/ppt/notesMasters/notesMaster1.xml" Id="Rdad12b23f8ff40e2"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1fbd151f73b04bff" /><Relationship Type="http://schemas.openxmlformats.org/officeDocument/2006/relationships/notesMaster" Target="/ppt/notesMasters/notesMaster1.xml" Id="Rb8f2d55059ec46bf"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919cac0e96ff4caa" /><Relationship Type="http://schemas.openxmlformats.org/officeDocument/2006/relationships/notesMaster" Target="/ppt/notesMasters/notesMaster1.xml" Id="Ra9c72eb8a50b4733"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12438d03cce14179" /><Relationship Type="http://schemas.openxmlformats.org/officeDocument/2006/relationships/notesMaster" Target="/ppt/notesMasters/notesMaster1.xml" Id="R999ae920e1004c45"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39e9ca3ab6d7423a" /><Relationship Type="http://schemas.openxmlformats.org/officeDocument/2006/relationships/notesMaster" Target="/ppt/notesMasters/notesMaster1.xml" Id="Rfed97889ca16477f"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c3415598bad747a7" /><Relationship Type="http://schemas.openxmlformats.org/officeDocument/2006/relationships/notesMaster" Target="/ppt/notesMasters/notesMaster1.xml" Id="Rdb7e75d0355a42e1"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a4cd2d7dfebc494e" /><Relationship Type="http://schemas.openxmlformats.org/officeDocument/2006/relationships/notesMaster" Target="/ppt/notesMasters/notesMaster1.xml" Id="R04a317318b8d48ae"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a89173dc04474f53" /><Relationship Type="http://schemas.openxmlformats.org/officeDocument/2006/relationships/notesMaster" Target="/ppt/notesMasters/notesMaster1.xml" Id="R7d3c8995f4dd48c1"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77049cffb5e54a00" /><Relationship Type="http://schemas.openxmlformats.org/officeDocument/2006/relationships/notesMaster" Target="/ppt/notesMasters/notesMaster1.xml" Id="R19fdddf714984d57"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a4150925c75e4f91" /><Relationship Type="http://schemas.openxmlformats.org/officeDocument/2006/relationships/notesMaster" Target="/ppt/notesMasters/notesMaster1.xml" Id="R21264c63ebf34143"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38ecbe9e16e2412c" /><Relationship Type="http://schemas.openxmlformats.org/officeDocument/2006/relationships/notesMaster" Target="/ppt/notesMasters/notesMaster1.xml" Id="R0b9f208a0fe94125"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b6a378e59ff6464f" /><Relationship Type="http://schemas.openxmlformats.org/officeDocument/2006/relationships/notesMaster" Target="/ppt/notesMasters/notesMaster1.xml" Id="R12cf448f60954d74"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d0105631af6d4c05" /><Relationship Type="http://schemas.openxmlformats.org/officeDocument/2006/relationships/notesMaster" Target="/ppt/notesMasters/notesMaster1.xml" Id="R31639779b5c24d68"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3bb07a38d6454ee5" /><Relationship Type="http://schemas.openxmlformats.org/officeDocument/2006/relationships/notesMaster" Target="/ppt/notesMasters/notesMaster1.xml" Id="Rf6aa0a6c117f433c"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d97430902ece4426" /><Relationship Type="http://schemas.openxmlformats.org/officeDocument/2006/relationships/notesMaster" Target="/ppt/notesMasters/notesMaster1.xml" Id="R4d926dc7fb654e60"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bb98ffd28c1f4edb" /><Relationship Type="http://schemas.openxmlformats.org/officeDocument/2006/relationships/notesMaster" Target="/ppt/notesMasters/notesMaster1.xml" Id="Rc2384cd32e694b85"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14b9b144bea04e05" /><Relationship Type="http://schemas.openxmlformats.org/officeDocument/2006/relationships/notesMaster" Target="/ppt/notesMasters/notesMaster1.xml" Id="R9053de95970a4f19"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d4481198e3b24757" /><Relationship Type="http://schemas.openxmlformats.org/officeDocument/2006/relationships/notesMaster" Target="/ppt/notesMasters/notesMaster1.xml" Id="R4e21ef8b649c45c3"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abc5b9351d1b4d84" /><Relationship Type="http://schemas.openxmlformats.org/officeDocument/2006/relationships/notesMaster" Target="/ppt/notesMasters/notesMaster1.xml" Id="R332a1710051848d3"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20ad964fbbf844b9" /><Relationship Type="http://schemas.openxmlformats.org/officeDocument/2006/relationships/notesMaster" Target="/ppt/notesMasters/notesMaster1.xml" Id="R15d5fa335cb8477e"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b8508bfff0024a5d" /><Relationship Type="http://schemas.openxmlformats.org/officeDocument/2006/relationships/notesMaster" Target="/ppt/notesMasters/notesMaster1.xml" Id="Rce90b47c48bd4f88"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b3a9a57eae4345f9" /><Relationship Type="http://schemas.openxmlformats.org/officeDocument/2006/relationships/notesMaster" Target="/ppt/notesMasters/notesMaster1.xml" Id="R5bbd6533dff24ac2"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06684cb56a82424e" /><Relationship Type="http://schemas.openxmlformats.org/officeDocument/2006/relationships/notesMaster" Target="/ppt/notesMasters/notesMaster1.xml" Id="R8bb9505334134f6b"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83d507b66b274ea9" /><Relationship Type="http://schemas.openxmlformats.org/officeDocument/2006/relationships/notesMaster" Target="/ppt/notesMasters/notesMaster1.xml" Id="R4bdb624144a945b6"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e8371764d26c45d6" /><Relationship Type="http://schemas.openxmlformats.org/officeDocument/2006/relationships/notesMaster" Target="/ppt/notesMasters/notesMaster1.xml" Id="Rda4b58e90c534540"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6d929a5e2347455a" /><Relationship Type="http://schemas.openxmlformats.org/officeDocument/2006/relationships/notesMaster" Target="/ppt/notesMasters/notesMaster1.xml" Id="Rc939c06679234668"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cdcf2af6bf454ead" /><Relationship Type="http://schemas.openxmlformats.org/officeDocument/2006/relationships/notesMaster" Target="/ppt/notesMasters/notesMaster1.xml" Id="R4a057e16d8dd4d2b"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142dd6e0be194014" /><Relationship Type="http://schemas.openxmlformats.org/officeDocument/2006/relationships/notesMaster" Target="/ppt/notesMasters/notesMaster1.xml" Id="R4851e2763a1a42c6"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8a22ad02e9f143c2" /><Relationship Type="http://schemas.openxmlformats.org/officeDocument/2006/relationships/notesMaster" Target="/ppt/notesMasters/notesMaster1.xml" Id="R873bec8fdcda465b"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a90625b74c0a4ec2" /><Relationship Type="http://schemas.openxmlformats.org/officeDocument/2006/relationships/notesMaster" Target="/ppt/notesMasters/notesMaster1.xml" Id="R2663aa5914e54d2e"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9f411624816c44a8" /><Relationship Type="http://schemas.openxmlformats.org/officeDocument/2006/relationships/notesMaster" Target="/ppt/notesMasters/notesMaster1.xml" Id="Rdf209799c7f8498c"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3878de0da3b345ac" /><Relationship Type="http://schemas.openxmlformats.org/officeDocument/2006/relationships/notesMaster" Target="/ppt/notesMasters/notesMaster1.xml" Id="R323826f2d6bb477a"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6be052b3b23b454e" /><Relationship Type="http://schemas.openxmlformats.org/officeDocument/2006/relationships/notesMaster" Target="/ppt/notesMasters/notesMaster1.xml" Id="R34113b6821aa4973"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794bd36fe5a542d1" /><Relationship Type="http://schemas.openxmlformats.org/officeDocument/2006/relationships/notesMaster" Target="/ppt/notesMasters/notesMaster1.xml" Id="R29666d6d91a84bd4"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5af00d5393864964" /><Relationship Type="http://schemas.openxmlformats.org/officeDocument/2006/relationships/notesMaster" Target="/ppt/notesMasters/notesMaster1.xml" Id="Rbb503f548ed746b2"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836acdd8d3854008" /><Relationship Type="http://schemas.openxmlformats.org/officeDocument/2006/relationships/notesMaster" Target="/ppt/notesMasters/notesMaster1.xml" Id="R1a357b1394f041ae"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c98b6ef2e8c24b8b" /><Relationship Type="http://schemas.openxmlformats.org/officeDocument/2006/relationships/notesMaster" Target="/ppt/notesMasters/notesMaster1.xml" Id="Recc23c8fc0764b97"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6d1b97eb148f4067" /><Relationship Type="http://schemas.openxmlformats.org/officeDocument/2006/relationships/notesMaster" Target="/ppt/notesMasters/notesMaster1.xml" Id="Rf9f692999cb747b0"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3ed2f23312984e66" /><Relationship Type="http://schemas.openxmlformats.org/officeDocument/2006/relationships/notesMaster" Target="/ppt/notesMasters/notesMaster1.xml" Id="Rb153458c4e0d4ee5"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42b4516117054257" /><Relationship Type="http://schemas.openxmlformats.org/officeDocument/2006/relationships/notesMaster" Target="/ppt/notesMasters/notesMaster1.xml" Id="R95e04eeab5a34187"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990de1b9e7a5478d" /><Relationship Type="http://schemas.openxmlformats.org/officeDocument/2006/relationships/notesMaster" Target="/ppt/notesMasters/notesMaster1.xml" Id="Rcd96537d5113487c"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1d0a5055c48e43bd" /><Relationship Type="http://schemas.openxmlformats.org/officeDocument/2006/relationships/notesMaster" Target="/ppt/notesMasters/notesMaster1.xml" Id="R6d18bb3a78184377"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962d3ddebfbf4a77" /><Relationship Type="http://schemas.openxmlformats.org/officeDocument/2006/relationships/notesMaster" Target="/ppt/notesMasters/notesMaster1.xml" Id="Ra2fe09aba1eb42e8"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b9ea57a34f9c4e0b" /><Relationship Type="http://schemas.openxmlformats.org/officeDocument/2006/relationships/notesMaster" Target="/ppt/notesMasters/notesMaster1.xml" Id="R262e1965b5ec41d5"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a4facb561851476b" /><Relationship Type="http://schemas.openxmlformats.org/officeDocument/2006/relationships/notesMaster" Target="/ppt/notesMasters/notesMaster1.xml" Id="R77e3fd2be46e4466"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448fc9cd31084e08" /><Relationship Type="http://schemas.openxmlformats.org/officeDocument/2006/relationships/notesMaster" Target="/ppt/notesMasters/notesMaster1.xml" Id="Rd862a214e7a8415e"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1974b1094ab74892" /><Relationship Type="http://schemas.openxmlformats.org/officeDocument/2006/relationships/notesMaster" Target="/ppt/notesMasters/notesMaster1.xml" Id="R4f46b95905284f10"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b9881f028d594854" /><Relationship Type="http://schemas.openxmlformats.org/officeDocument/2006/relationships/notesMaster" Target="/ppt/notesMasters/notesMaster1.xml" Id="R7f56b29302564c8f"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fb58972e54a445b9" /><Relationship Type="http://schemas.openxmlformats.org/officeDocument/2006/relationships/notesMaster" Target="/ppt/notesMasters/notesMaster1.xml" Id="R9ccaa86336ce494e"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1ba1d9f886b840df" /><Relationship Type="http://schemas.openxmlformats.org/officeDocument/2006/relationships/notesMaster" Target="/ppt/notesMasters/notesMaster1.xml" Id="R64cd5ee11b65482a"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47d497e26c844191" /><Relationship Type="http://schemas.openxmlformats.org/officeDocument/2006/relationships/notesMaster" Target="/ppt/notesMasters/notesMaster1.xml" Id="R19b7bfa2c4bb4a3f"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3d47369cd7ad4a99" /><Relationship Type="http://schemas.openxmlformats.org/officeDocument/2006/relationships/notesMaster" Target="/ppt/notesMasters/notesMaster1.xml" Id="R2c510aecb61a49d1"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294ba4779b784d24" /><Relationship Type="http://schemas.openxmlformats.org/officeDocument/2006/relationships/notesMaster" Target="/ppt/notesMasters/notesMaster1.xml" Id="Re86e42af151d4d71"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bfe4edea87a04a3d" /><Relationship Type="http://schemas.openxmlformats.org/officeDocument/2006/relationships/notesMaster" Target="/ppt/notesMasters/notesMaster1.xml" Id="R31fef07998c844e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Welcome. We will build real tool-using agents, test business assumptions and defend a coordinated launch decision. Gemini generates the language; Python tools calculate the facts.</a:t>
            </a:r>
          </a:p>
          <a:p xmlns:a="http://schemas.openxmlformats.org/drawingml/2006/main">
            <a:r>
              <a:t/>
            </a:r>
          </a:p>
          <a:p xmlns:a="http://schemas.openxmlformats.org/drawingml/2006/main">
            <a:r>
              <a:t>DEMONSTRATE / BUILD TOGETHER</a:t>
            </a:r>
          </a:p>
          <a:p xmlns:a="http://schemas.openxmlformats.org/drawingml/2006/main">
            <a:r>
              <a:t>Open the live app, editor and terminal. Explain driver/navigator roles. Every learner keeps their own project or joins an approved hosted team.</a:t>
            </a:r>
          </a:p>
          <a:p xmlns:a="http://schemas.openxmlformats.org/drawingml/2006/main">
            <a:r>
              <a:t/>
            </a:r>
          </a:p>
          <a:p xmlns:a="http://schemas.openxmlformats.org/drawingml/2006/main">
            <a:r>
              <a:t>ASK THE ROOM</a:t>
            </a:r>
          </a:p>
          <a:p xmlns:a="http://schemas.openxmlformats.org/drawingml/2006/main">
            <a:r>
              <a:t>What business task would you delegate if you could inspect every action?</a:t>
            </a:r>
          </a:p>
          <a:p xmlns:a="http://schemas.openxmlformats.org/drawingml/2006/main">
            <a:r>
              <a:t/>
            </a:r>
          </a:p>
          <a:p xmlns:a="http://schemas.openxmlformats.org/drawingml/2006/main">
            <a:r>
              <a:t>EXPECTED EVIDENCE</a:t>
            </a:r>
          </a:p>
          <a:p xmlns:a="http://schemas.openxmlformats.org/drawingml/2006/main">
            <a:r>
              <a:t>One concrete task with a measurable output.</a:t>
            </a:r>
          </a:p>
          <a:p xmlns:a="http://schemas.openxmlformats.org/drawingml/2006/main">
            <a:r>
              <a:t/>
            </a:r>
          </a:p>
          <a:p xmlns:a="http://schemas.openxmlformats.org/drawingml/2006/main">
            <a:r>
              <a:t>IF STUCK</a:t>
            </a:r>
          </a:p>
          <a:p xmlns:a="http://schemas.openxmlformats.org/drawingml/2006/main">
            <a:r>
              <a:t>Check the current folder, saved file and exact input. Pair with a ready team while resolving setup.</a:t>
            </a:r>
          </a:p>
          <a:p xmlns:a="http://schemas.openxmlformats.org/drawingml/2006/main">
            <a:r>
              <a:t/>
            </a:r>
          </a:p>
          <a:p xmlns:a="http://schemas.openxmlformats.org/drawingml/2006/main">
            <a:r>
              <a:t>[Sources]</a:t>
            </a:r>
          </a:p>
          <a:p xmlns:a="http://schemas.openxmlformats.org/drawingml/2006/main">
            <a:r>
              <a:t>Source: agentforge-jarvis/src/agentforge_jarvis/ and workshop/ live lab; inspected 3 September 2026.</a:t>
            </a:r>
          </a:p>
          <a:p xmlns:a="http://schemas.openxmlformats.org/drawingml/2006/main">
            <a:r>
              <a:t>Original generated command-core illustration from the prior AgentForge deck.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This is a guided build from working templates. You will edit code and inputs, observe real Gemini tool calls, and explain your own evidence.</a:t>
            </a:r>
          </a:p>
          <a:p xmlns:a="http://schemas.openxmlformats.org/drawingml/2006/main">
            <a:r>
              <a:t/>
            </a:r>
          </a:p>
          <a:p xmlns:a="http://schemas.openxmlformats.org/drawingml/2006/main">
            <a:r>
              <a:t>DEMONSTRATE / BUILD TOGETHER</a:t>
            </a:r>
          </a:p>
          <a:p xmlns:a="http://schemas.openxmlformats.org/drawingml/2006/main">
            <a:r>
              <a:t>Show the final portfolio checklist: agent blueprint, domain output, multimodal test, swarm map, red-team card, final package and reflection.</a:t>
            </a:r>
          </a:p>
          <a:p xmlns:a="http://schemas.openxmlformats.org/drawingml/2006/main">
            <a:r>
              <a:t/>
            </a:r>
          </a:p>
          <a:p xmlns:a="http://schemas.openxmlformats.org/drawingml/2006/main">
            <a:r>
              <a:t>ASK THE ROOM</a:t>
            </a:r>
          </a:p>
          <a:p xmlns:a="http://schemas.openxmlformats.org/drawingml/2006/main">
            <a:r>
              <a:t>What would demonstrate understanding beyond clicking Run?</a:t>
            </a:r>
          </a:p>
          <a:p xmlns:a="http://schemas.openxmlformats.org/drawingml/2006/main">
            <a:r>
              <a:t/>
            </a:r>
          </a:p>
          <a:p xmlns:a="http://schemas.openxmlformats.org/drawingml/2006/main">
            <a:r>
              <a:t>EXPECTED EVIDENCE</a:t>
            </a:r>
          </a:p>
          <a:p xmlns:a="http://schemas.openxmlformats.org/drawingml/2006/main">
            <a:r>
              <a:t>A prediction, code or input change, tool result and justified decision.</a:t>
            </a:r>
          </a:p>
          <a:p xmlns:a="http://schemas.openxmlformats.org/drawingml/2006/main">
            <a:r>
              <a:t/>
            </a:r>
          </a:p>
          <a:p xmlns:a="http://schemas.openxmlformats.org/drawingml/2006/main">
            <a:r>
              <a:t>IF STUCK</a:t>
            </a:r>
          </a:p>
          <a:p xmlns:a="http://schemas.openxmlformats.org/drawingml/2006/main">
            <a:r>
              <a:t>Check the current folder, saved file and exact input. Pair with a ready team while resolving setup.</a:t>
            </a:r>
          </a:p>
          <a:p xmlns:a="http://schemas.openxmlformats.org/drawingml/2006/main">
            <a:r>
              <a:t/>
            </a:r>
          </a:p>
          <a:p xmlns:a="http://schemas.openxmlformats.org/drawingml/2006/main">
            <a:r>
              <a:t>[Sources]</a:t>
            </a:r>
          </a:p>
          <a:p xmlns:a="http://schemas.openxmlformats.org/drawingml/2006/main">
            <a:r>
              <a:t>Source: LIBA_AgentForgeWorkshop_Proposal_Revised_2-Day.pdf, sessions 1–8 and outcome rubric.</a:t>
            </a:r>
          </a:p>
          <a:p xmlns:a="http://schemas.openxmlformats.org/drawingml/2006/main">
            <a:r>
              <a:t>Source: agentforge-jarvis/src/agentforge_jarvis/ and workshop/ live lab; inspected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Each session is ninety minutes. Coffee is 10:30–10:45, lunch 12:15–13:15, and the afternoon break 14:45–15:00. Each day ends at 16:30.</a:t>
            </a:r>
          </a:p>
          <a:p xmlns:a="http://schemas.openxmlformats.org/drawingml/2006/main">
            <a:r>
              <a:t/>
            </a:r>
          </a:p>
          <a:p xmlns:a="http://schemas.openxmlformats.org/drawingml/2006/main">
            <a:r>
              <a:t>DEMONSTRATE / BUILD TOGETHER</a:t>
            </a:r>
          </a:p>
          <a:p xmlns:a="http://schemas.openxmlformats.org/drawingml/2006/main">
            <a:r>
              <a:t>Show this route. Keep the same files, account and team ID for Day 2.</a:t>
            </a:r>
          </a:p>
          <a:p xmlns:a="http://schemas.openxmlformats.org/drawingml/2006/main">
            <a:r>
              <a:t/>
            </a:r>
          </a:p>
          <a:p xmlns:a="http://schemas.openxmlformats.org/drawingml/2006/main">
            <a:r>
              <a:t>ASK THE ROOM</a:t>
            </a:r>
          </a:p>
          <a:p xmlns:a="http://schemas.openxmlformats.org/drawingml/2006/main">
            <a:r>
              <a:t>Which Day 1 outputs will Day 2 depend on?</a:t>
            </a:r>
          </a:p>
          <a:p xmlns:a="http://schemas.openxmlformats.org/drawingml/2006/main">
            <a:r>
              <a:t/>
            </a:r>
          </a:p>
          <a:p xmlns:a="http://schemas.openxmlformats.org/drawingml/2006/main">
            <a:r>
              <a:t>EXPECTED EVIDENCE</a:t>
            </a:r>
          </a:p>
          <a:p xmlns:a="http://schemas.openxmlformats.org/drawingml/2006/main">
            <a:r>
              <a:t>Saved code, blueprints, notes, scenario and working provider access.</a:t>
            </a:r>
          </a:p>
          <a:p xmlns:a="http://schemas.openxmlformats.org/drawingml/2006/main">
            <a:r>
              <a:t/>
            </a:r>
          </a:p>
          <a:p xmlns:a="http://schemas.openxmlformats.org/drawingml/2006/main">
            <a:r>
              <a:t>IF STUCK</a:t>
            </a:r>
          </a:p>
          <a:p xmlns:a="http://schemas.openxmlformats.org/drawingml/2006/main">
            <a:r>
              <a:t>Check the current folder, saved file and exact input. Pair with a ready team while resolving setup.</a:t>
            </a:r>
          </a:p>
          <a:p xmlns:a="http://schemas.openxmlformats.org/drawingml/2006/main">
            <a:r>
              <a:t/>
            </a:r>
          </a:p>
          <a:p xmlns:a="http://schemas.openxmlformats.org/drawingml/2006/main">
            <a:r>
              <a:t>[Sources]</a:t>
            </a:r>
          </a:p>
          <a:p xmlns:a="http://schemas.openxmlformats.org/drawingml/2006/main">
            <a:r>
              <a:t>Source: LIBA_AgentForgeWorkshop_Proposal_Revised_2-Day.pdf, sessions 1–8 and outcome rubric.</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This session has one practical deliverable. Deliverable: a goal, a tool, and a clear success check.</a:t>
            </a:r>
          </a:p>
          <a:p xmlns:a="http://schemas.openxmlformats.org/drawingml/2006/main">
            <a:r>
              <a:t/>
            </a:r>
          </a:p>
          <a:p xmlns:a="http://schemas.openxmlformats.org/drawingml/2006/main">
            <a:r>
              <a:t>DEMONSTRATE / BUILD TOGETHER</a:t>
            </a:r>
          </a:p>
          <a:p xmlns:a="http://schemas.openxmlformats.org/drawingml/2006/main">
            <a:r>
              <a:t>0–15: goals and analogy. 15–35: tools and loops. 35–55: memory and teamwork. 55–75: map a business task. 75–90: share a blueprint and check understanding.</a:t>
            </a:r>
          </a:p>
          <a:p xmlns:a="http://schemas.openxmlformats.org/drawingml/2006/main">
            <a:r>
              <a:t/>
            </a:r>
          </a:p>
          <a:p xmlns:a="http://schemas.openxmlformats.org/drawingml/2006/main">
            <a:r>
              <a:t>ASK THE ROOM</a:t>
            </a:r>
          </a:p>
          <a:p xmlns:a="http://schemas.openxmlformats.org/drawingml/2006/main">
            <a:r>
              <a:t>What will we show before the break?</a:t>
            </a:r>
          </a:p>
          <a:p xmlns:a="http://schemas.openxmlformats.org/drawingml/2006/main">
            <a:r>
              <a:t/>
            </a:r>
          </a:p>
          <a:p xmlns:a="http://schemas.openxmlformats.org/drawingml/2006/main">
            <a:r>
              <a:t>EXPECTED EVIDENCE</a:t>
            </a:r>
          </a:p>
          <a:p xmlns:a="http://schemas.openxmlformats.org/drawingml/2006/main">
            <a:r>
              <a:t>Deliverable: a goal, a tool, and a clear success check.</a:t>
            </a:r>
          </a:p>
          <a:p xmlns:a="http://schemas.openxmlformats.org/drawingml/2006/main">
            <a:r>
              <a:t/>
            </a:r>
          </a:p>
          <a:p xmlns:a="http://schemas.openxmlformats.org/drawingml/2006/main">
            <a:r>
              <a:t>IF STUCK</a:t>
            </a:r>
          </a:p>
          <a:p xmlns:a="http://schemas.openxmlformats.org/drawingml/2006/main">
            <a:r>
              <a:t>Check the current folder, saved file and exact input. Pair with a ready team while resolving setup.</a:t>
            </a:r>
          </a:p>
          <a:p xmlns:a="http://schemas.openxmlformats.org/drawingml/2006/main">
            <a:r>
              <a:t/>
            </a:r>
          </a:p>
          <a:p xmlns:a="http://schemas.openxmlformats.org/drawingml/2006/main">
            <a:r>
              <a:t>[Sources]</a:t>
            </a:r>
          </a:p>
          <a:p xmlns:a="http://schemas.openxmlformats.org/drawingml/2006/main">
            <a:r>
              <a:t>Source: LIBA_AgentForgeWorkshop_Proposal_Revised_2-Day.pdf, sessions 1–8 and outcome rubric.</a:t>
            </a:r>
          </a:p>
          <a:p xmlns:a="http://schemas.openxmlformats.org/drawingml/2006/main">
            <a:r>
              <a:t>Source: agentforge-jarvis/src/agentforge_jarvis/ and workshop/ live lab; inspected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A restaurant works because different specialists share an order and use the right equipment. One person does not have to do everything. Our business agents are software roles, not employees with judgment or accountability.</a:t>
            </a:r>
          </a:p>
          <a:p xmlns:a="http://schemas.openxmlformats.org/drawingml/2006/main">
            <a:r>
              <a:t/>
            </a:r>
          </a:p>
          <a:p xmlns:a="http://schemas.openxmlformats.org/drawingml/2006/main">
            <a:r>
              <a:t>DEMONSTRATE / DO TOGETHER</a:t>
            </a:r>
          </a:p>
          <a:p xmlns:a="http://schemas.openxmlformats.org/drawingml/2006/main">
            <a:r>
              <a:t>Use the illustration to point out the order rail, specialists and head chef. Map Finance to checking costs, Operations to timing, and General Management to coordinating the final decision.</a:t>
            </a:r>
          </a:p>
          <a:p xmlns:a="http://schemas.openxmlformats.org/drawingml/2006/main">
            <a:r>
              <a:t/>
            </a:r>
          </a:p>
          <a:p xmlns:a="http://schemas.openxmlformats.org/drawingml/2006/main">
            <a:r>
              <a:t>ASK THE ROOM</a:t>
            </a:r>
          </a:p>
          <a:p xmlns:a="http://schemas.openxmlformats.org/drawingml/2006/main">
            <a:r>
              <a:t>What happens if each chef works from a different order?</a:t>
            </a:r>
          </a:p>
          <a:p xmlns:a="http://schemas.openxmlformats.org/drawingml/2006/main">
            <a:r>
              <a:t/>
            </a:r>
          </a:p>
          <a:p xmlns:a="http://schemas.openxmlformats.org/drawingml/2006/main">
            <a:r>
              <a:t>EXPECTED EVIDENCE</a:t>
            </a:r>
          </a:p>
          <a:p xmlns:a="http://schemas.openxmlformats.org/drawingml/2006/main">
            <a:r>
              <a:t>The outputs conflict. That is why our agents receive shared facts.</a:t>
            </a:r>
          </a:p>
          <a:p xmlns:a="http://schemas.openxmlformats.org/drawingml/2006/main">
            <a:r>
              <a:t/>
            </a:r>
          </a:p>
          <a:p xmlns:a="http://schemas.openxmlformats.org/drawingml/2006/main">
            <a:r>
              <a:t>IF SOMEONE IS STUCK</a:t>
            </a:r>
          </a:p>
          <a:p xmlns:a="http://schemas.openxmlformats.org/drawingml/2006/main">
            <a:r>
              <a:t>Keep the analogy short. A software agent has no human intention, common sense or responsibility.</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Live workshop implementation; consult the acceptance record for verified calls.</a:t>
            </a:r>
          </a:p>
          <a:p xmlns:a="http://schemas.openxmlformats.org/drawingml/2006/main">
            <a:r>
              <a:t>Original kitchen-team illustration generated with built-in image_gen, 3 September 2026. Asset: workshop/assets/kitchen-team.png.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A chatbot can explain a formula. An agent workflow can call a calculator-like function, read its result, and then respond. Tool use is an observable action; it is not a magical guarantee of correctness.</a:t>
            </a:r>
          </a:p>
          <a:p xmlns:a="http://schemas.openxmlformats.org/drawingml/2006/main">
            <a:r>
              <a:t/>
            </a:r>
          </a:p>
          <a:p xmlns:a="http://schemas.openxmlformats.org/drawingml/2006/main">
            <a:r>
              <a:t>DEMONSTRATE / DO TOGETHER</a:t>
            </a:r>
          </a:p>
          <a:p xmlns:a="http://schemas.openxmlformats.org/drawingml/2006/main">
            <a:r>
              <a:t>Read each arrow aloud. Use “calculate launch cash” as the concrete example.</a:t>
            </a:r>
          </a:p>
          <a:p xmlns:a="http://schemas.openxmlformats.org/drawingml/2006/main">
            <a:r>
              <a:t/>
            </a:r>
          </a:p>
          <a:p xmlns:a="http://schemas.openxmlformats.org/drawingml/2006/main">
            <a:r>
              <a:t>ASK THE ROOM</a:t>
            </a:r>
          </a:p>
          <a:p xmlns:a="http://schemas.openxmlformats.org/drawingml/2006/main">
            <a:r>
              <a:t>Which path gives us an arithmetic result we can inspect?</a:t>
            </a:r>
          </a:p>
          <a:p xmlns:a="http://schemas.openxmlformats.org/drawingml/2006/main">
            <a:r>
              <a:t/>
            </a:r>
          </a:p>
          <a:p xmlns:a="http://schemas.openxmlformats.org/drawingml/2006/main">
            <a:r>
              <a:t>EXPECTED EVIDENCE</a:t>
            </a:r>
          </a:p>
          <a:p xmlns:a="http://schemas.openxmlformats.org/drawingml/2006/main">
            <a:r>
              <a:t>The tool path. The tool and its inputs must still be checked.</a:t>
            </a:r>
          </a:p>
          <a:p xmlns:a="http://schemas.openxmlformats.org/drawingml/2006/main">
            <a:r>
              <a:t/>
            </a:r>
          </a:p>
          <a:p xmlns:a="http://schemas.openxmlformats.org/drawingml/2006/main">
            <a:r>
              <a:t>IF SOMEONE IS STUCK</a:t>
            </a:r>
          </a:p>
          <a:p xmlns:a="http://schemas.openxmlformats.org/drawingml/2006/main">
            <a:r>
              <a:t>Pause for one pair to show the checkpoint before continuing.</a:t>
            </a:r>
          </a:p>
          <a:p xmlns:a="http://schemas.openxmlformats.org/drawingml/2006/main">
            <a:r>
              <a:t/>
            </a:r>
          </a:p>
          <a:p xmlns:a="http://schemas.openxmlformats.org/drawingml/2006/main">
            <a:r>
              <a:t>[Sources]</a:t>
            </a:r>
          </a:p>
          <a:p xmlns:a="http://schemas.openxmlformats.org/drawingml/2006/main">
            <a:r>
              <a:t>https://docs.langchain.com/oss/python/langchain/agents</a:t>
            </a:r>
          </a:p>
          <a:p xmlns:a="http://schemas.openxmlformats.org/drawingml/2006/main">
            <a:r>
              <a:t>Local source: agentforge-jarvis/src/agentforge_jarvis/engine.py; business.py; models.py; providers.py; app.py. Live workshop implementation; consult the acceptance record for verified calls.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Imagine onboarding a new assistant. “Help with business” is vague. “Compare launch cash against the approved budget and show the arithmetic” is testable.</a:t>
            </a:r>
          </a:p>
          <a:p xmlns:a="http://schemas.openxmlformats.org/drawingml/2006/main">
            <a:r>
              <a:t/>
            </a:r>
          </a:p>
          <a:p xmlns:a="http://schemas.openxmlformats.org/drawingml/2006/main">
            <a:r>
              <a:t>DEMONSTRATE / DO TOGETHER</a:t>
            </a:r>
          </a:p>
          <a:p xmlns:a="http://schemas.openxmlformats.org/drawingml/2006/main">
            <a:r>
              <a:t>Ask participants to draft one sentence for a Finance assistant. Keep the output specific: cash needed, gap and human review.</a:t>
            </a:r>
          </a:p>
          <a:p xmlns:a="http://schemas.openxmlformats.org/drawingml/2006/main">
            <a:r>
              <a:t/>
            </a:r>
          </a:p>
          <a:p xmlns:a="http://schemas.openxmlformats.org/drawingml/2006/main">
            <a:r>
              <a:t>ASK THE ROOM</a:t>
            </a:r>
          </a:p>
          <a:p xmlns:a="http://schemas.openxmlformats.org/drawingml/2006/main">
            <a:r>
              <a:t>What is missing from “be a helpful Finance agent”?</a:t>
            </a:r>
          </a:p>
          <a:p xmlns:a="http://schemas.openxmlformats.org/drawingml/2006/main">
            <a:r>
              <a:t/>
            </a:r>
          </a:p>
          <a:p xmlns:a="http://schemas.openxmlformats.org/drawingml/2006/main">
            <a:r>
              <a:t>EXPECTED EVIDENCE</a:t>
            </a:r>
          </a:p>
          <a:p xmlns:a="http://schemas.openxmlformats.org/drawingml/2006/main">
            <a:r>
              <a:t>A clear goal, defined inputs, permitted tools, constraints and success criteria.</a:t>
            </a:r>
          </a:p>
          <a:p xmlns:a="http://schemas.openxmlformats.org/drawingml/2006/main">
            <a:r>
              <a:t/>
            </a:r>
          </a:p>
          <a:p xmlns:a="http://schemas.openxmlformats.org/drawingml/2006/main">
            <a:r>
              <a:t>IF SOMEONE IS STUCK</a:t>
            </a:r>
          </a:p>
          <a:p xmlns:a="http://schemas.openxmlformats.org/drawingml/2006/main">
            <a:r>
              <a:t>Use the completed agent blueprint in the app as a template; do not ask beginners to invent a system from a blank page.</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Live workshop implementation; consult the acceptance record for verified calls.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The live model can decide to call a tool, inspect the result and continue. Our app requires a brief read, domain calculation and memory search before accepting a report.</a:t>
            </a:r>
          </a:p>
          <a:p xmlns:a="http://schemas.openxmlformats.org/drawingml/2006/main">
            <a:r>
              <a:t/>
            </a:r>
          </a:p>
          <a:p xmlns:a="http://schemas.openxmlformats.org/drawingml/2006/main">
            <a:r>
              <a:t>DEMONSTRATE / BUILD TOGETHER</a:t>
            </a:r>
          </a:p>
          <a:p xmlns:a="http://schemas.openxmlformats.org/drawingml/2006/main">
            <a:r>
              <a:t>Trace one request. The activity stream records actions, not hidden thoughts. If a tool is skipped, one correction turn asks Gemini to complete it.</a:t>
            </a:r>
          </a:p>
          <a:p xmlns:a="http://schemas.openxmlformats.org/drawingml/2006/main">
            <a:r>
              <a:t/>
            </a:r>
          </a:p>
          <a:p xmlns:a="http://schemas.openxmlformats.org/drawingml/2006/main">
            <a:r>
              <a:t>ASK THE ROOM</a:t>
            </a:r>
          </a:p>
          <a:p xmlns:a="http://schemas.openxmlformats.org/drawingml/2006/main">
            <a:r>
              <a:t>What is the difference between a model saying it calculated and a recorded tool result?</a:t>
            </a:r>
          </a:p>
          <a:p xmlns:a="http://schemas.openxmlformats.org/drawingml/2006/main">
            <a:r>
              <a:t/>
            </a:r>
          </a:p>
          <a:p xmlns:a="http://schemas.openxmlformats.org/drawingml/2006/main">
            <a:r>
              <a:t>EXPECTED EVIDENCE</a:t>
            </a:r>
          </a:p>
          <a:p xmlns:a="http://schemas.openxmlformats.org/drawingml/2006/main">
            <a:r>
              <a:t>The latter identifies an executed function and result.</a:t>
            </a:r>
          </a:p>
          <a:p xmlns:a="http://schemas.openxmlformats.org/drawingml/2006/main">
            <a:r>
              <a:t/>
            </a:r>
          </a:p>
          <a:p xmlns:a="http://schemas.openxmlformats.org/drawingml/2006/main">
            <a:r>
              <a:t>IF STUCK</a:t>
            </a:r>
          </a:p>
          <a:p xmlns:a="http://schemas.openxmlformats.org/drawingml/2006/main">
            <a:r>
              <a:t>Check the current folder, saved file and exact input. Pair with a ready team while resolving setup.</a:t>
            </a:r>
          </a:p>
          <a:p xmlns:a="http://schemas.openxmlformats.org/drawingml/2006/main">
            <a:r>
              <a:t/>
            </a:r>
          </a:p>
          <a:p xmlns:a="http://schemas.openxmlformats.org/drawingml/2006/main">
            <a:r>
              <a:t>[Sources]</a:t>
            </a:r>
          </a:p>
          <a:p xmlns:a="http://schemas.openxmlformats.org/drawingml/2006/main">
            <a:r>
              <a:t>https://docs.langchain.com/oss/python/langchain/agents</a:t>
            </a:r>
          </a:p>
          <a:p xmlns:a="http://schemas.openxmlformats.org/drawingml/2006/main">
            <a:r>
              <a:t>Source: agentforge-jarvis/src/agentforge_jarvis/ and workshop/ live lab; inspected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Planning is like writing a shopping list. Execution buys the ingredients. Reflection checks whether anything is missing. Not every task needs a separate planning agent.</a:t>
            </a:r>
          </a:p>
          <a:p xmlns:a="http://schemas.openxmlformats.org/drawingml/2006/main">
            <a:r>
              <a:t/>
            </a:r>
          </a:p>
          <a:p xmlns:a="http://schemas.openxmlformats.org/drawingml/2006/main">
            <a:r>
              <a:t>DEMONSTRATE / BUILD TOGETHER</a:t>
            </a:r>
          </a:p>
          <a:p xmlns:a="http://schemas.openxmlformats.org/drawingml/2006/main">
            <a:r>
              <a:t>Ask pairs to map a campaign brief into three steps and define the check after each. Our implemented swarm uses a defined route and human review rather than an unrestricted autonomous planner.</a:t>
            </a:r>
          </a:p>
          <a:p xmlns:a="http://schemas.openxmlformats.org/drawingml/2006/main">
            <a:r>
              <a:t/>
            </a:r>
          </a:p>
          <a:p xmlns:a="http://schemas.openxmlformats.org/drawingml/2006/main">
            <a:r>
              <a:t>ASK THE ROOM</a:t>
            </a:r>
          </a:p>
          <a:p xmlns:a="http://schemas.openxmlformats.org/drawingml/2006/main">
            <a:r>
              <a:t>When should the loop stop?</a:t>
            </a:r>
          </a:p>
          <a:p xmlns:a="http://schemas.openxmlformats.org/drawingml/2006/main">
            <a:r>
              <a:t/>
            </a:r>
          </a:p>
          <a:p xmlns:a="http://schemas.openxmlformats.org/drawingml/2006/main">
            <a:r>
              <a:t>EXPECTED EVIDENCE</a:t>
            </a:r>
          </a:p>
          <a:p xmlns:a="http://schemas.openxmlformats.org/drawingml/2006/main">
            <a:r>
              <a:t>When the requested deliverable meets the check or a clear blocker requires a person.</a:t>
            </a:r>
          </a:p>
          <a:p xmlns:a="http://schemas.openxmlformats.org/drawingml/2006/main">
            <a:r>
              <a:t/>
            </a:r>
          </a:p>
          <a:p xmlns:a="http://schemas.openxmlformats.org/drawingml/2006/main">
            <a:r>
              <a:t>IF STUCK</a:t>
            </a:r>
          </a:p>
          <a:p xmlns:a="http://schemas.openxmlformats.org/drawingml/2006/main">
            <a:r>
              <a:t>Check the current folder, saved file and exact input. Pair with a ready team while resolving setup.</a:t>
            </a:r>
          </a:p>
          <a:p xmlns:a="http://schemas.openxmlformats.org/drawingml/2006/main">
            <a:r>
              <a:t/>
            </a:r>
          </a:p>
          <a:p xmlns:a="http://schemas.openxmlformats.org/drawingml/2006/main">
            <a:r>
              <a:t>[Sources]</a:t>
            </a:r>
          </a:p>
          <a:p xmlns:a="http://schemas.openxmlformats.org/drawingml/2006/main">
            <a:r>
              <a:t>https://docs.langchain.com/oss/python/langchain/agents</a:t>
            </a:r>
          </a:p>
          <a:p xmlns:a="http://schemas.openxmlformats.org/drawingml/2006/main">
            <a:r>
              <a:t>Source: agentforge-jarvis/src/agentforge_jarvis/ and workshop/ live lab; inspected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Think of LangChain as connectors and wiring, not as the intelligence itself. We provide the model and tools. create_agent assembles them into a runnable agent.</a:t>
            </a:r>
          </a:p>
          <a:p xmlns:a="http://schemas.openxmlformats.org/drawingml/2006/main">
            <a:r>
              <a:t/>
            </a:r>
          </a:p>
          <a:p xmlns:a="http://schemas.openxmlformats.org/drawingml/2006/main">
            <a:r>
              <a:t>DEMONSTRATE / DO TOGETHER</a:t>
            </a:r>
          </a:p>
          <a:p xmlns:a="http://schemas.openxmlformats.org/drawingml/2006/main">
            <a:r>
              <a:t>Explain each word without diving into package internals. The model is the response engine; the adapter is the plug that lets the framework talk to it.</a:t>
            </a:r>
          </a:p>
          <a:p xmlns:a="http://schemas.openxmlformats.org/drawingml/2006/main">
            <a:r>
              <a:t/>
            </a:r>
          </a:p>
          <a:p xmlns:a="http://schemas.openxmlformats.org/drawingml/2006/main">
            <a:r>
              <a:t>ASK THE ROOM</a:t>
            </a:r>
          </a:p>
          <a:p xmlns:a="http://schemas.openxmlformats.org/drawingml/2006/main">
            <a:r>
              <a:t>Where does our business arithmetic live?</a:t>
            </a:r>
          </a:p>
          <a:p xmlns:a="http://schemas.openxmlformats.org/drawingml/2006/main">
            <a:r>
              <a:t/>
            </a:r>
          </a:p>
          <a:p xmlns:a="http://schemas.openxmlformats.org/drawingml/2006/main">
            <a:r>
              <a:t>EXPECTED EVIDENCE</a:t>
            </a:r>
          </a:p>
          <a:p xmlns:a="http://schemas.openxmlformats.org/drawingml/2006/main">
            <a:r>
              <a:t>In Python tools, not inside the LangChain package or a guessed model answer.</a:t>
            </a:r>
          </a:p>
          <a:p xmlns:a="http://schemas.openxmlformats.org/drawingml/2006/main">
            <a:r>
              <a:t/>
            </a:r>
          </a:p>
          <a:p xmlns:a="http://schemas.openxmlformats.org/drawingml/2006/main">
            <a:r>
              <a:t>IF SOMEONE IS STUCK</a:t>
            </a:r>
          </a:p>
          <a:p xmlns:a="http://schemas.openxmlformats.org/drawingml/2006/main">
            <a:r>
              <a:t>Pause for one pair to show the checkpoint before continuing.</a:t>
            </a:r>
          </a:p>
          <a:p xmlns:a="http://schemas.openxmlformats.org/drawingml/2006/main">
            <a:r>
              <a:t/>
            </a:r>
          </a:p>
          <a:p xmlns:a="http://schemas.openxmlformats.org/drawingml/2006/main">
            <a:r>
              <a:t>[Sources]</a:t>
            </a:r>
          </a:p>
          <a:p xmlns:a="http://schemas.openxmlformats.org/drawingml/2006/main">
            <a:r>
              <a:t>https://docs.langchain.com/oss/python/langchain/agents</a:t>
            </a:r>
          </a:p>
          <a:p xmlns:a="http://schemas.openxmlformats.org/drawingml/2006/main">
            <a:r>
              <a:t>Local source: agentforge-jarvis/src/agentforge_jarvis/engine.py; business.py; models.py; providers.py; app.py. Live workshop implementation; consult the acceptance record for verified calls.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LangChain helps us create an individual agent. LangGraph helps us define what happens next and what information travels between steps. In this app the outer workflow runs agents in a predictable sequence.</a:t>
            </a:r>
          </a:p>
          <a:p xmlns:a="http://schemas.openxmlformats.org/drawingml/2006/main">
            <a:r>
              <a:t/>
            </a:r>
          </a:p>
          <a:p xmlns:a="http://schemas.openxmlformats.org/drawingml/2006/main">
            <a:r>
              <a:t>DEMONSTRATE / DO TOGETHER</a:t>
            </a:r>
          </a:p>
          <a:p xmlns:a="http://schemas.openxmlformats.org/drawingml/2006/main">
            <a:r>
              <a:t>Draw an everyday approval route: analyst → manager → decision. Explain nodes as steps, edges as routes and state as shared information.</a:t>
            </a:r>
          </a:p>
          <a:p xmlns:a="http://schemas.openxmlformats.org/drawingml/2006/main">
            <a:r>
              <a:t/>
            </a:r>
          </a:p>
          <a:p xmlns:a="http://schemas.openxmlformats.org/drawingml/2006/main">
            <a:r>
              <a:t>ASK THE ROOM</a:t>
            </a:r>
          </a:p>
          <a:p xmlns:a="http://schemas.openxmlformats.org/drawingml/2006/main">
            <a:r>
              <a:t>Why should Finance see delivery capacity before estimating sales?</a:t>
            </a:r>
          </a:p>
          <a:p xmlns:a="http://schemas.openxmlformats.org/drawingml/2006/main">
            <a:r>
              <a:t/>
            </a:r>
          </a:p>
          <a:p xmlns:a="http://schemas.openxmlformats.org/drawingml/2006/main">
            <a:r>
              <a:t>EXPECTED EVIDENCE</a:t>
            </a:r>
          </a:p>
          <a:p xmlns:a="http://schemas.openxmlformats.org/drawingml/2006/main">
            <a:r>
              <a:t>It should not count units Operations cannot deliver.</a:t>
            </a:r>
          </a:p>
          <a:p xmlns:a="http://schemas.openxmlformats.org/drawingml/2006/main">
            <a:r>
              <a:t/>
            </a:r>
          </a:p>
          <a:p xmlns:a="http://schemas.openxmlformats.org/drawingml/2006/main">
            <a:r>
              <a:t>IF SOMEONE IS STUCK</a:t>
            </a:r>
          </a:p>
          <a:p xmlns:a="http://schemas.openxmlformats.org/drawingml/2006/main">
            <a:r>
              <a:t>Pause for one pair to show the checkpoint before continuing.</a:t>
            </a:r>
          </a:p>
          <a:p xmlns:a="http://schemas.openxmlformats.org/drawingml/2006/main">
            <a:r>
              <a:t/>
            </a:r>
          </a:p>
          <a:p xmlns:a="http://schemas.openxmlformats.org/drawingml/2006/main">
            <a:r>
              <a:t>[Sources]</a:t>
            </a:r>
          </a:p>
          <a:p xmlns:a="http://schemas.openxmlformats.org/drawingml/2006/main">
            <a:r>
              <a:t>https://docs.langchain.com/oss/python/langchain/agents</a:t>
            </a:r>
          </a:p>
          <a:p xmlns:a="http://schemas.openxmlformats.org/drawingml/2006/main">
            <a:r>
              <a:t>https://docs.langchain.com/oss/python/langgraph/overview</a:t>
            </a:r>
          </a:p>
          <a:p xmlns:a="http://schemas.openxmlformats.org/drawingml/2006/main">
            <a:r>
              <a:t>Local source: agentforge-jarvis/src/agentforge_jarvis/engine.py; business.py; models.py; providers.py; app.py. Live workshop implementation; consult the acceptance record for verified calls.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The clipboard travels with this job. It starts with scenario facts and collects reports. Memory is different: it is a saved filing cabinet that survives a restart.</a:t>
            </a:r>
          </a:p>
          <a:p xmlns:a="http://schemas.openxmlformats.org/drawingml/2006/main">
            <a:r>
              <a:t/>
            </a:r>
          </a:p>
          <a:p xmlns:a="http://schemas.openxmlformats.org/drawingml/2006/main">
            <a:r>
              <a:t>DEMONSTRATE / DO TOGETHER</a:t>
            </a:r>
          </a:p>
          <a:p xmlns:a="http://schemas.openxmlformats.org/drawingml/2006/main">
            <a:r>
              <a:t>Use one example: the current budget goes on the clipboard; a packaging-review note goes in Memory Vault.</a:t>
            </a:r>
          </a:p>
          <a:p xmlns:a="http://schemas.openxmlformats.org/drawingml/2006/main">
            <a:r>
              <a:t/>
            </a:r>
          </a:p>
          <a:p xmlns:a="http://schemas.openxmlformats.org/drawingml/2006/main">
            <a:r>
              <a:t>ASK THE ROOM</a:t>
            </a:r>
          </a:p>
          <a:p xmlns:a="http://schemas.openxmlformats.org/drawingml/2006/main">
            <a:r>
              <a:t>Will the same team ID on two laptops share a clipboard?</a:t>
            </a:r>
          </a:p>
          <a:p xmlns:a="http://schemas.openxmlformats.org/drawingml/2006/main">
            <a:r>
              <a:t/>
            </a:r>
          </a:p>
          <a:p xmlns:a="http://schemas.openxmlformats.org/drawingml/2006/main">
            <a:r>
              <a:t>EXPECTED EVIDENCE</a:t>
            </a:r>
          </a:p>
          <a:p xmlns:a="http://schemas.openxmlformats.org/drawingml/2006/main">
            <a:r>
              <a:t>No. Each local app has its own database. IDs label local workspaces; they do not create network synchronization.</a:t>
            </a:r>
          </a:p>
          <a:p xmlns:a="http://schemas.openxmlformats.org/drawingml/2006/main">
            <a:r>
              <a:t/>
            </a:r>
          </a:p>
          <a:p xmlns:a="http://schemas.openxmlformats.org/drawingml/2006/main">
            <a:r>
              <a:t>IF SOMEONE IS STUCK</a:t>
            </a:r>
          </a:p>
          <a:p xmlns:a="http://schemas.openxmlformats.org/drawingml/2006/main">
            <a:r>
              <a:t>Pause for one pair to show the checkpoint before continuing.</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Live workshop implementation; consult the acceptance record for verified calls.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These are the six specialization roles in the proposal. JARVIS also names the chat interface, but the command assistant and the General Management synthesis agent are separate agent instances.</a:t>
            </a:r>
          </a:p>
          <a:p xmlns:a="http://schemas.openxmlformats.org/drawingml/2006/main">
            <a:r>
              <a:t/>
            </a:r>
          </a:p>
          <a:p xmlns:a="http://schemas.openxmlformats.org/drawingml/2006/main">
            <a:r>
              <a:t>DEMONSTRATE / DO TOGETHER</a:t>
            </a:r>
          </a:p>
          <a:p xmlns:a="http://schemas.openxmlformats.org/drawingml/2006/main">
            <a:r>
              <a:t>Ask each pair to pick a specialist to explain later. Everyone clones the whole app; they do not need six separate installations.</a:t>
            </a:r>
          </a:p>
          <a:p xmlns:a="http://schemas.openxmlformats.org/drawingml/2006/main">
            <a:r>
              <a:t/>
            </a:r>
          </a:p>
          <a:p xmlns:a="http://schemas.openxmlformats.org/drawingml/2006/main">
            <a:r>
              <a:t>ASK THE ROOM</a:t>
            </a:r>
          </a:p>
          <a:p xmlns:a="http://schemas.openxmlformats.org/drawingml/2006/main">
            <a:r>
              <a:t>Which role should own the final human launch approval?</a:t>
            </a:r>
          </a:p>
          <a:p xmlns:a="http://schemas.openxmlformats.org/drawingml/2006/main">
            <a:r>
              <a:t/>
            </a:r>
          </a:p>
          <a:p xmlns:a="http://schemas.openxmlformats.org/drawingml/2006/main">
            <a:r>
              <a:t>EXPECTED EVIDENCE</a:t>
            </a:r>
          </a:p>
          <a:p xmlns:a="http://schemas.openxmlformats.org/drawingml/2006/main">
            <a:r>
              <a:t>A person. JARVIS proposes a recommendation; it cannot approve spending or launch the company.</a:t>
            </a:r>
          </a:p>
          <a:p xmlns:a="http://schemas.openxmlformats.org/drawingml/2006/main">
            <a:r>
              <a:t/>
            </a:r>
          </a:p>
          <a:p xmlns:a="http://schemas.openxmlformats.org/drawingml/2006/main">
            <a:r>
              <a:t>IF SOMEONE IS STUCK</a:t>
            </a:r>
          </a:p>
          <a:p xmlns:a="http://schemas.openxmlformats.org/drawingml/2006/main">
            <a:r>
              <a:t>Pause for one pair to show the checkpoint before continuing.</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Live workshop implementation; consult the acceptance record for verified calls.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We are launching a shelf-stable millet snack in Chennai and Bengaluru. Every number is fictional. The point is to learn how different functions reason from the same facts.</a:t>
            </a:r>
          </a:p>
          <a:p xmlns:a="http://schemas.openxmlformats.org/drawingml/2006/main">
            <a:r>
              <a:t/>
            </a:r>
          </a:p>
          <a:p xmlns:a="http://schemas.openxmlformats.org/drawingml/2006/main">
            <a:r>
              <a:t>DEMONSTRATE / DO TOGETHER</a:t>
            </a:r>
          </a:p>
          <a:p xmlns:a="http://schemas.openxmlformats.org/drawingml/2006/main">
            <a:r>
              <a:t>Open the scenario briefly and show the budget, units, price and unit cost. Mention that additional launch costs total ₹4.5 lakh under the default assumptions.</a:t>
            </a:r>
          </a:p>
          <a:p xmlns:a="http://schemas.openxmlformats.org/drawingml/2006/main">
            <a:r>
              <a:t/>
            </a:r>
          </a:p>
          <a:p xmlns:a="http://schemas.openxmlformats.org/drawingml/2006/main">
            <a:r>
              <a:t>ASK THE ROOM</a:t>
            </a:r>
          </a:p>
          <a:p xmlns:a="http://schemas.openxmlformats.org/drawingml/2006/main">
            <a:r>
              <a:t>What could go wrong if Marketing promises more than Operations can produce?</a:t>
            </a:r>
          </a:p>
          <a:p xmlns:a="http://schemas.openxmlformats.org/drawingml/2006/main">
            <a:r>
              <a:t/>
            </a:r>
          </a:p>
          <a:p xmlns:a="http://schemas.openxmlformats.org/drawingml/2006/main">
            <a:r>
              <a:t>EXPECTED EVIDENCE</a:t>
            </a:r>
          </a:p>
          <a:p xmlns:a="http://schemas.openxmlformats.org/drawingml/2006/main">
            <a:r>
              <a:t>The campaign, capacity plan and revenue forecast would contradict each other.</a:t>
            </a:r>
          </a:p>
          <a:p xmlns:a="http://schemas.openxmlformats.org/drawingml/2006/main">
            <a:r>
              <a:t/>
            </a:r>
          </a:p>
          <a:p xmlns:a="http://schemas.openxmlformats.org/drawingml/2006/main">
            <a:r>
              <a:t>IF SOMEONE IS STUCK</a:t>
            </a:r>
          </a:p>
          <a:p xmlns:a="http://schemas.openxmlformats.org/drawingml/2006/main">
            <a:r>
              <a:t>Pause for one pair to show the checkpoint before continuing.</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Live workshop implementation; consult the acceptance record for verified calls.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The initial plan uses the full budget. Other launch costs combine ₹2.5 lakh fixed costs, ₹1.8 lakh marketing and ₹20,000 staffing allowance. No cash headroom is left under these simplified assumptions.</a:t>
            </a:r>
          </a:p>
          <a:p xmlns:a="http://schemas.openxmlformats.org/drawingml/2006/main">
            <a:r>
              <a:t/>
            </a:r>
          </a:p>
          <a:p xmlns:a="http://schemas.openxmlformats.org/drawingml/2006/main">
            <a:r>
              <a:t>DEMONSTRATE / DO TOGETHER</a:t>
            </a:r>
          </a:p>
          <a:p xmlns:a="http://schemas.openxmlformats.org/drawingml/2006/main">
            <a:r>
              <a:t>Ask someone to calculate 30,000 times 65. Then add the other costs. This gives the class an independent expected result before running any code.</a:t>
            </a:r>
          </a:p>
          <a:p xmlns:a="http://schemas.openxmlformats.org/drawingml/2006/main">
            <a:r>
              <a:t/>
            </a:r>
          </a:p>
          <a:p xmlns:a="http://schemas.openxmlformats.org/drawingml/2006/main">
            <a:r>
              <a:t>ASK THE ROOM</a:t>
            </a:r>
          </a:p>
          <a:p xmlns:a="http://schemas.openxmlformats.org/drawingml/2006/main">
            <a:r>
              <a:t>Does “fits the budget” mean “safe to launch”?</a:t>
            </a:r>
          </a:p>
          <a:p xmlns:a="http://schemas.openxmlformats.org/drawingml/2006/main">
            <a:r>
              <a:t/>
            </a:r>
          </a:p>
          <a:p xmlns:a="http://schemas.openxmlformats.org/drawingml/2006/main">
            <a:r>
              <a:t>EXPECTED EVIDENCE</a:t>
            </a:r>
          </a:p>
          <a:p xmlns:a="http://schemas.openxmlformats.org/drawingml/2006/main">
            <a:r>
              <a:t>No. Supply, margin, customer trust and human sign-off still matter.</a:t>
            </a:r>
          </a:p>
          <a:p xmlns:a="http://schemas.openxmlformats.org/drawingml/2006/main">
            <a:r>
              <a:t/>
            </a:r>
          </a:p>
          <a:p xmlns:a="http://schemas.openxmlformats.org/drawingml/2006/main">
            <a:r>
              <a:t>IF SOMEONE IS STUCK</a:t>
            </a:r>
          </a:p>
          <a:p xmlns:a="http://schemas.openxmlformats.org/drawingml/2006/main">
            <a:r>
              <a:t>Pause for one pair to show the checkpoint before continuing.</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Live workshop implementation; consult the acceptance record for verified calls.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A useful job description names an observable result. The agent is not accountable for the business; a person is.</a:t>
            </a:r>
          </a:p>
          <a:p xmlns:a="http://schemas.openxmlformats.org/drawingml/2006/main">
            <a:r>
              <a:t/>
            </a:r>
          </a:p>
          <a:p xmlns:a="http://schemas.openxmlformats.org/drawingml/2006/main">
            <a:r>
              <a:t>DEMONSTRATE / BUILD TOGETHER</a:t>
            </a:r>
          </a:p>
          <a:p xmlns:a="http://schemas.openxmlformats.org/drawingml/2006/main">
            <a:r>
              <a:t>Ten minutes: each pair writes goal, inputs, allowed tool, output and failure condition. Swap with a neighboring pair for critique.</a:t>
            </a:r>
          </a:p>
          <a:p xmlns:a="http://schemas.openxmlformats.org/drawingml/2006/main">
            <a:r>
              <a:t/>
            </a:r>
          </a:p>
          <a:p xmlns:a="http://schemas.openxmlformats.org/drawingml/2006/main">
            <a:r>
              <a:t>ASK THE ROOM</a:t>
            </a:r>
          </a:p>
          <a:p xmlns:a="http://schemas.openxmlformats.org/drawingml/2006/main">
            <a:r>
              <a:t>How will you know the agent failed?</a:t>
            </a:r>
          </a:p>
          <a:p xmlns:a="http://schemas.openxmlformats.org/drawingml/2006/main">
            <a:r>
              <a:t/>
            </a:r>
          </a:p>
          <a:p xmlns:a="http://schemas.openxmlformats.org/drawingml/2006/main">
            <a:r>
              <a:t>EXPECTED EVIDENCE</a:t>
            </a:r>
          </a:p>
          <a:p xmlns:a="http://schemas.openxmlformats.org/drawingml/2006/main">
            <a:r>
              <a:t>A missing tool, incorrect arithmetic, absent evidence or unsupported approval.</a:t>
            </a:r>
          </a:p>
          <a:p xmlns:a="http://schemas.openxmlformats.org/drawingml/2006/main">
            <a:r>
              <a:t/>
            </a:r>
          </a:p>
          <a:p xmlns:a="http://schemas.openxmlformats.org/drawingml/2006/main">
            <a:r>
              <a:t>IF STUCK</a:t>
            </a:r>
          </a:p>
          <a:p xmlns:a="http://schemas.openxmlformats.org/drawingml/2006/main">
            <a:r>
              <a:t>Check the current folder, saved file and exact input. Pair with a ready team while resolving setup.</a:t>
            </a:r>
          </a:p>
          <a:p xmlns:a="http://schemas.openxmlformats.org/drawingml/2006/main">
            <a:r>
              <a:t/>
            </a:r>
          </a:p>
          <a:p xmlns:a="http://schemas.openxmlformats.org/drawingml/2006/main">
            <a:r>
              <a:t>[Sources]</a:t>
            </a:r>
          </a:p>
          <a:p xmlns:a="http://schemas.openxmlformats.org/drawingml/2006/main">
            <a:r>
              <a:t>https://docs.langchain.com/oss/python/langchain/agents</a:t>
            </a:r>
          </a:p>
          <a:p xmlns:a="http://schemas.openxmlformats.org/drawingml/2006/main">
            <a:r>
              <a:t>Source: LIBA_AgentForgeWorkshop_Proposal_Revised_2-Day.pdf, sessions 1–8 and outcome rubric.</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Explain one concept to a partner as if they have never coded. Avoid saying the software thinks like a person.</a:t>
            </a:r>
          </a:p>
          <a:p xmlns:a="http://schemas.openxmlformats.org/drawingml/2006/main">
            <a:r>
              <a:t/>
            </a:r>
          </a:p>
          <a:p xmlns:a="http://schemas.openxmlformats.org/drawingml/2006/main">
            <a:r>
              <a:t>DEMONSTRATE / BUILD TOGETHER</a:t>
            </a:r>
          </a:p>
          <a:p xmlns:a="http://schemas.openxmlformats.org/drawingml/2006/main">
            <a:r>
              <a:t>Let three learners give examples from different specializations. Save the blueprint to workshop/TEAM_WORKBOOK.md.</a:t>
            </a:r>
          </a:p>
          <a:p xmlns:a="http://schemas.openxmlformats.org/drawingml/2006/main">
            <a:r>
              <a:t/>
            </a:r>
          </a:p>
          <a:p xmlns:a="http://schemas.openxmlformats.org/drawingml/2006/main">
            <a:r>
              <a:t>ASK THE ROOM</a:t>
            </a:r>
          </a:p>
          <a:p xmlns:a="http://schemas.openxmlformats.org/drawingml/2006/main">
            <a:r>
              <a:t>Can you explain the tool loop in thirty seconds?</a:t>
            </a:r>
          </a:p>
          <a:p xmlns:a="http://schemas.openxmlformats.org/drawingml/2006/main">
            <a:r>
              <a:t/>
            </a:r>
          </a:p>
          <a:p xmlns:a="http://schemas.openxmlformats.org/drawingml/2006/main">
            <a:r>
              <a:t>EXPECTED EVIDENCE</a:t>
            </a:r>
          </a:p>
          <a:p xmlns:a="http://schemas.openxmlformats.org/drawingml/2006/main">
            <a:r>
              <a:t>An accurate everyday explanation plus a concrete check.</a:t>
            </a:r>
          </a:p>
          <a:p xmlns:a="http://schemas.openxmlformats.org/drawingml/2006/main">
            <a:r>
              <a:t/>
            </a:r>
          </a:p>
          <a:p xmlns:a="http://schemas.openxmlformats.org/drawingml/2006/main">
            <a:r>
              <a:t>IF STUCK</a:t>
            </a:r>
          </a:p>
          <a:p xmlns:a="http://schemas.openxmlformats.org/drawingml/2006/main">
            <a:r>
              <a:t>Check the current folder, saved file and exact input. Pair with a ready team while resolving setup.</a:t>
            </a:r>
          </a:p>
          <a:p xmlns:a="http://schemas.openxmlformats.org/drawingml/2006/main">
            <a:r>
              <a:t/>
            </a:r>
          </a:p>
          <a:p xmlns:a="http://schemas.openxmlformats.org/drawingml/2006/main">
            <a:r>
              <a:t>[Sources]</a:t>
            </a:r>
          </a:p>
          <a:p xmlns:a="http://schemas.openxmlformats.org/drawingml/2006/main">
            <a:r>
              <a:t>Source: agentforge-jarvis/src/agentforge_jarvis/ and workshop/ live lab; inspected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This session has one practical deliverable. Deliverable: working Python code that calls Gemini and a real tool.</a:t>
            </a:r>
          </a:p>
          <a:p xmlns:a="http://schemas.openxmlformats.org/drawingml/2006/main">
            <a:r>
              <a:t/>
            </a:r>
          </a:p>
          <a:p xmlns:a="http://schemas.openxmlformats.org/drawingml/2006/main">
            <a:r>
              <a:t>DEMONSTRATE / BUILD TOGETHER</a:t>
            </a:r>
          </a:p>
          <a:p xmlns:a="http://schemas.openxmlformats.org/drawingml/2006/main">
            <a:r>
              <a:t>0–20: clone and install. 20–35: configure Gemini and test access. 35–60: complete the starter. 60–75: experiment. 75–90: save a specialist blueprint.</a:t>
            </a:r>
          </a:p>
          <a:p xmlns:a="http://schemas.openxmlformats.org/drawingml/2006/main">
            <a:r>
              <a:t/>
            </a:r>
          </a:p>
          <a:p xmlns:a="http://schemas.openxmlformats.org/drawingml/2006/main">
            <a:r>
              <a:t>ASK THE ROOM</a:t>
            </a:r>
          </a:p>
          <a:p xmlns:a="http://schemas.openxmlformats.org/drawingml/2006/main">
            <a:r>
              <a:t>What will we show before the break?</a:t>
            </a:r>
          </a:p>
          <a:p xmlns:a="http://schemas.openxmlformats.org/drawingml/2006/main">
            <a:r>
              <a:t/>
            </a:r>
          </a:p>
          <a:p xmlns:a="http://schemas.openxmlformats.org/drawingml/2006/main">
            <a:r>
              <a:t>EXPECTED EVIDENCE</a:t>
            </a:r>
          </a:p>
          <a:p xmlns:a="http://schemas.openxmlformats.org/drawingml/2006/main">
            <a:r>
              <a:t>Deliverable: working Python code that calls Gemini and a real tool.</a:t>
            </a:r>
          </a:p>
          <a:p xmlns:a="http://schemas.openxmlformats.org/drawingml/2006/main">
            <a:r>
              <a:t/>
            </a:r>
          </a:p>
          <a:p xmlns:a="http://schemas.openxmlformats.org/drawingml/2006/main">
            <a:r>
              <a:t>IF STUCK</a:t>
            </a:r>
          </a:p>
          <a:p xmlns:a="http://schemas.openxmlformats.org/drawingml/2006/main">
            <a:r>
              <a:t>Check the current folder, saved file and exact input. Pair with a ready team while resolving setup.</a:t>
            </a:r>
          </a:p>
          <a:p xmlns:a="http://schemas.openxmlformats.org/drawingml/2006/main">
            <a:r>
              <a:t/>
            </a:r>
          </a:p>
          <a:p xmlns:a="http://schemas.openxmlformats.org/drawingml/2006/main">
            <a:r>
              <a:t>[Sources]</a:t>
            </a:r>
          </a:p>
          <a:p xmlns:a="http://schemas.openxmlformats.org/drawingml/2006/main">
            <a:r>
              <a:t>Source: LIBA_AgentForgeWorkshop_Proposal_Revised_2-Day.pdf, sessions 1–8 and outcome rubric.</a:t>
            </a:r>
          </a:p>
          <a:p xmlns:a="http://schemas.openxmlformats.org/drawingml/2006/main">
            <a:r>
              <a:t>Source: agentforge-jarvis/src/agentforge_jarvis/ and workshop/ live lab; inspected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The live workshop needs model access and internet. GitHub access and Gemini access are different. A paid subscription to a chatbot does not itself prove API quota.</a:t>
            </a:r>
          </a:p>
          <a:p xmlns:a="http://schemas.openxmlformats.org/drawingml/2006/main">
            <a:r>
              <a:t/>
            </a:r>
          </a:p>
          <a:p xmlns:a="http://schemas.openxmlformats.org/drawingml/2006/main">
            <a:r>
              <a:t>DEMONSTRATE / BUILD TOGETHER</a:t>
            </a:r>
          </a:p>
          <a:p xmlns:a="http://schemas.openxmlformats.org/drawingml/2006/main">
            <a:r>
              <a:t>Check Git and uv versions. Use your own approved API key for your local clone, or the facilitator-provided hosted team login.</a:t>
            </a:r>
          </a:p>
          <a:p xmlns:a="http://schemas.openxmlformats.org/drawingml/2006/main">
            <a:r>
              <a:t/>
            </a:r>
          </a:p>
          <a:p xmlns:a="http://schemas.openxmlformats.org/drawingml/2006/main">
            <a:r>
              <a:t>ASK THE ROOM</a:t>
            </a:r>
          </a:p>
          <a:p xmlns:a="http://schemas.openxmlformats.org/drawingml/2006/main">
            <a:r>
              <a:t>Where does the API key belong?</a:t>
            </a:r>
          </a:p>
          <a:p xmlns:a="http://schemas.openxmlformats.org/drawingml/2006/main">
            <a:r>
              <a:t/>
            </a:r>
          </a:p>
          <a:p xmlns:a="http://schemas.openxmlformats.org/drawingml/2006/main">
            <a:r>
              <a:t>EXPECTED EVIDENCE</a:t>
            </a:r>
          </a:p>
          <a:p xmlns:a="http://schemas.openxmlformats.org/drawingml/2006/main">
            <a:r>
              <a:t>In the local server .env, not slides, Memory Vault or a shared repository.</a:t>
            </a:r>
          </a:p>
          <a:p xmlns:a="http://schemas.openxmlformats.org/drawingml/2006/main">
            <a:r>
              <a:t/>
            </a:r>
          </a:p>
          <a:p xmlns:a="http://schemas.openxmlformats.org/drawingml/2006/main">
            <a:r>
              <a:t>IF STUCK</a:t>
            </a:r>
          </a:p>
          <a:p xmlns:a="http://schemas.openxmlformats.org/drawingml/2006/main">
            <a:r>
              <a:t>Check the current folder, saved file and exact input. Pair with a ready team while resolving setup.</a:t>
            </a:r>
          </a:p>
          <a:p xmlns:a="http://schemas.openxmlformats.org/drawingml/2006/main">
            <a:r>
              <a:t/>
            </a:r>
          </a:p>
          <a:p xmlns:a="http://schemas.openxmlformats.org/drawingml/2006/main">
            <a:r>
              <a:t>[Sources]</a:t>
            </a:r>
          </a:p>
          <a:p xmlns:a="http://schemas.openxmlformats.org/drawingml/2006/main">
            <a:r>
              <a:t>Source: agentforge-jarvis/src/agentforge_jarvis/ and workshop/ live lab; inspected 3 September 2026.</a:t>
            </a:r>
          </a:p>
          <a:p xmlns:a="http://schemas.openxmlformats.org/drawingml/2006/main">
            <a:r>
              <a:t>https://ai.google.dev/gemini-api/docs/api-key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Git is the change-tracking tool. GitHub hosts a repository online. Cloning makes a local copy that you can run and edit. Cloning does not change Arthi’s copy.</a:t>
            </a:r>
          </a:p>
          <a:p xmlns:a="http://schemas.openxmlformats.org/drawingml/2006/main">
            <a:r>
              <a:t/>
            </a:r>
          </a:p>
          <a:p xmlns:a="http://schemas.openxmlformats.org/drawingml/2006/main">
            <a:r>
              <a:t>DEMONSTRATE / DO TOGETHER</a:t>
            </a:r>
          </a:p>
          <a:p xmlns:a="http://schemas.openxmlformats.org/drawingml/2006/main">
            <a:r>
              <a:t>Show a repository’s green Code menu and the HTTPS copy option after the final repository is published. If private, confirm each participant has access before the session.</a:t>
            </a:r>
          </a:p>
          <a:p xmlns:a="http://schemas.openxmlformats.org/drawingml/2006/main">
            <a:r>
              <a:t/>
            </a:r>
          </a:p>
          <a:p xmlns:a="http://schemas.openxmlformats.org/drawingml/2006/main">
            <a:r>
              <a:t>ASK THE ROOM</a:t>
            </a:r>
          </a:p>
          <a:p xmlns:a="http://schemas.openxmlformats.org/drawingml/2006/main">
            <a:r>
              <a:t>Do your experimental edits automatically change the shared repository?</a:t>
            </a:r>
          </a:p>
          <a:p xmlns:a="http://schemas.openxmlformats.org/drawingml/2006/main">
            <a:r>
              <a:t/>
            </a:r>
          </a:p>
          <a:p xmlns:a="http://schemas.openxmlformats.org/drawingml/2006/main">
            <a:r>
              <a:t>EXPECTED EVIDENCE</a:t>
            </a:r>
          </a:p>
          <a:p xmlns:a="http://schemas.openxmlformats.org/drawingml/2006/main">
            <a:r>
              <a:t>No. A push or other deliberate sharing action is required.</a:t>
            </a:r>
          </a:p>
          <a:p xmlns:a="http://schemas.openxmlformats.org/drawingml/2006/main">
            <a:r>
              <a:t/>
            </a:r>
          </a:p>
          <a:p xmlns:a="http://schemas.openxmlformats.org/drawingml/2006/main">
            <a:r>
              <a:t>IF SOMEONE IS STUCK</a:t>
            </a:r>
          </a:p>
          <a:p xmlns:a="http://schemas.openxmlformats.org/drawingml/2006/main">
            <a:r>
              <a:t>Pause for one pair to show the checkpoint before continuing.</a:t>
            </a:r>
          </a:p>
          <a:p xmlns:a="http://schemas.openxmlformats.org/drawingml/2006/main">
            <a:r>
              <a:t/>
            </a:r>
          </a:p>
          <a:p xmlns:a="http://schemas.openxmlformats.org/drawingml/2006/main">
            <a:r>
              <a:t>[Sources]</a:t>
            </a:r>
          </a:p>
          <a:p xmlns:a="http://schemas.openxmlformats.org/drawingml/2006/main">
            <a:r>
              <a:t>https://docs.github.com/en/repositories/creating-and-managing-repositories/cloning-a-repository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Version checks tell us whether installation is needed. Do not reinstall tools that already work. The Git installer may open a macOS dialog; finish that normally.</a:t>
            </a:r>
          </a:p>
          <a:p xmlns:a="http://schemas.openxmlformats.org/drawingml/2006/main">
            <a:r>
              <a:t/>
            </a:r>
          </a:p>
          <a:p xmlns:a="http://schemas.openxmlformats.org/drawingml/2006/main">
            <a:r>
              <a:t>DEMONSTRATE / DO TOGETHER</a:t>
            </a:r>
          </a:p>
          <a:p xmlns:a="http://schemas.openxmlformats.org/drawingml/2006/main">
            <a:r>
              <a:t>Demonstrate the two version checks. For missing Git use the Apple command-line-tools route documented by Git. For uv use the official installer or the institution’s approved package manager.</a:t>
            </a:r>
          </a:p>
          <a:p xmlns:a="http://schemas.openxmlformats.org/drawingml/2006/main">
            <a:r>
              <a:t/>
            </a:r>
          </a:p>
          <a:p xmlns:a="http://schemas.openxmlformats.org/drawingml/2006/main">
            <a:r>
              <a:t>ASK THE ROOM</a:t>
            </a:r>
          </a:p>
          <a:p xmlns:a="http://schemas.openxmlformats.org/drawingml/2006/main">
            <a:r>
              <a:t>What should you do if uv is installed but the terminal cannot find it?</a:t>
            </a:r>
          </a:p>
          <a:p xmlns:a="http://schemas.openxmlformats.org/drawingml/2006/main">
            <a:r>
              <a:t/>
            </a:r>
          </a:p>
          <a:p xmlns:a="http://schemas.openxmlformats.org/drawingml/2006/main">
            <a:r>
              <a:t>EXPECTED EVIDENCE</a:t>
            </a:r>
          </a:p>
          <a:p xmlns:a="http://schemas.openxmlformats.org/drawingml/2006/main">
            <a:r>
              <a:t>Open a fresh terminal and check again.</a:t>
            </a:r>
          </a:p>
          <a:p xmlns:a="http://schemas.openxmlformats.org/drawingml/2006/main">
            <a:r>
              <a:t/>
            </a:r>
          </a:p>
          <a:p xmlns:a="http://schemas.openxmlformats.org/drawingml/2006/main">
            <a:r>
              <a:t>IF SOMEONE IS STUCK</a:t>
            </a:r>
          </a:p>
          <a:p xmlns:a="http://schemas.openxmlformats.org/drawingml/2006/main">
            <a:r>
              <a:t>Do not change system policy to work around managed-device restrictions. Use a prepared partner machine if necessary.</a:t>
            </a:r>
          </a:p>
          <a:p xmlns:a="http://schemas.openxmlformats.org/drawingml/2006/main">
            <a:r>
              <a:t/>
            </a:r>
          </a:p>
          <a:p xmlns:a="http://schemas.openxmlformats.org/drawingml/2006/main">
            <a:r>
              <a:t>[Sources]</a:t>
            </a:r>
          </a:p>
          <a:p xmlns:a="http://schemas.openxmlformats.org/drawingml/2006/main">
            <a:r>
              <a:t>https://git-scm.com/install/mac</a:t>
            </a:r>
          </a:p>
          <a:p xmlns:a="http://schemas.openxmlformats.org/drawingml/2006/main">
            <a:r>
              <a:t>https://docs.astral.sh/uv/getting-started/installation/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PowerShell is the Windows command window used in this deck. The commands begin with the tool name; do not copy a prompt symbol such as a dollar sign from a website.</a:t>
            </a:r>
          </a:p>
          <a:p xmlns:a="http://schemas.openxmlformats.org/drawingml/2006/main">
            <a:r>
              <a:t/>
            </a:r>
          </a:p>
          <a:p xmlns:a="http://schemas.openxmlformats.org/drawingml/2006/main">
            <a:r>
              <a:t>DEMONSTRATE / DO TOGETHER</a:t>
            </a:r>
          </a:p>
          <a:p xmlns:a="http://schemas.openxmlformats.org/drawingml/2006/main">
            <a:r>
              <a:t>Check versions, then install only missing tools. If winget is unavailable, use the official Git and uv installation pages linked in these notes and ask IT for the approved route.</a:t>
            </a:r>
          </a:p>
          <a:p xmlns:a="http://schemas.openxmlformats.org/drawingml/2006/main">
            <a:r>
              <a:t/>
            </a:r>
          </a:p>
          <a:p xmlns:a="http://schemas.openxmlformats.org/drawingml/2006/main">
            <a:r>
              <a:t>ASK THE ROOM</a:t>
            </a:r>
          </a:p>
          <a:p xmlns:a="http://schemas.openxmlformats.org/drawingml/2006/main">
            <a:r>
              <a:t>Why do we open a fresh terminal after installation?</a:t>
            </a:r>
          </a:p>
          <a:p xmlns:a="http://schemas.openxmlformats.org/drawingml/2006/main">
            <a:r>
              <a:t/>
            </a:r>
          </a:p>
          <a:p xmlns:a="http://schemas.openxmlformats.org/drawingml/2006/main">
            <a:r>
              <a:t>EXPECTED EVIDENCE</a:t>
            </a:r>
          </a:p>
          <a:p xmlns:a="http://schemas.openxmlformats.org/drawingml/2006/main">
            <a:r>
              <a:t>The new terminal picks up the updated command search path.</a:t>
            </a:r>
          </a:p>
          <a:p xmlns:a="http://schemas.openxmlformats.org/drawingml/2006/main">
            <a:r>
              <a:t/>
            </a:r>
          </a:p>
          <a:p xmlns:a="http://schemas.openxmlformats.org/drawingml/2006/main">
            <a:r>
              <a:t>IF SOMEONE IS STUCK</a:t>
            </a:r>
          </a:p>
          <a:p xmlns:a="http://schemas.openxmlformats.org/drawingml/2006/main">
            <a:r>
              <a:t>Do not paste macOS shell commands into PowerShell. Use the Windows-specific instructions.</a:t>
            </a:r>
          </a:p>
          <a:p xmlns:a="http://schemas.openxmlformats.org/drawingml/2006/main">
            <a:r>
              <a:t/>
            </a:r>
          </a:p>
          <a:p xmlns:a="http://schemas.openxmlformats.org/drawingml/2006/main">
            <a:r>
              <a:t>[Sources]</a:t>
            </a:r>
          </a:p>
          <a:p xmlns:a="http://schemas.openxmlformats.org/drawingml/2006/main">
            <a:r>
              <a:t>https://git-scm.com/install/windows</a:t>
            </a:r>
          </a:p>
          <a:p xmlns:a="http://schemas.openxmlformats.org/drawingml/2006/main">
            <a:r>
              <a:t>https://docs.astral.sh/uv/getting-started/installation/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Clone the actual workshop repository; the inspiration repo is a different application.</a:t>
            </a:r>
          </a:p>
          <a:p xmlns:a="http://schemas.openxmlformats.org/drawingml/2006/main">
            <a:r>
              <a:t/>
            </a:r>
          </a:p>
          <a:p xmlns:a="http://schemas.openxmlformats.org/drawingml/2006/main">
            <a:r>
              <a:t>DEMONSTRATE / BUILD TOGETHER</a:t>
            </a:r>
          </a:p>
          <a:p xmlns:a="http://schemas.openxmlformats.org/drawingml/2006/main">
            <a:r>
              <a:t>Type git clone, paste the tested HTTPS URL, add agentforge-jarvis, then enter that folder. Use workshop/LIVE_QUICKSTART.md for copyable commands.</a:t>
            </a:r>
          </a:p>
          <a:p xmlns:a="http://schemas.openxmlformats.org/drawingml/2006/main">
            <a:r>
              <a:t/>
            </a:r>
          </a:p>
          <a:p xmlns:a="http://schemas.openxmlformats.org/drawingml/2006/main">
            <a:r>
              <a:t>ASK THE ROOM</a:t>
            </a:r>
          </a:p>
          <a:p xmlns:a="http://schemas.openxmlformats.org/drawingml/2006/main">
            <a:r>
              <a:t>Which file identifies the project root?</a:t>
            </a:r>
          </a:p>
          <a:p xmlns:a="http://schemas.openxmlformats.org/drawingml/2006/main">
            <a:r>
              <a:t/>
            </a:r>
          </a:p>
          <a:p xmlns:a="http://schemas.openxmlformats.org/drawingml/2006/main">
            <a:r>
              <a:t>EXPECTED EVIDENCE</a:t>
            </a:r>
          </a:p>
          <a:p xmlns:a="http://schemas.openxmlformats.org/drawingml/2006/main">
            <a:r>
              <a:t>pyproject.toml and uv.lock.</a:t>
            </a:r>
          </a:p>
          <a:p xmlns:a="http://schemas.openxmlformats.org/drawingml/2006/main">
            <a:r>
              <a:t/>
            </a:r>
          </a:p>
          <a:p xmlns:a="http://schemas.openxmlformats.org/drawingml/2006/main">
            <a:r>
              <a:t>IF STUCK</a:t>
            </a:r>
          </a:p>
          <a:p xmlns:a="http://schemas.openxmlformats.org/drawingml/2006/main">
            <a:r>
              <a:t>Check the current folder, saved file and exact input. Pair with a ready team while resolving setup.</a:t>
            </a:r>
          </a:p>
          <a:p xmlns:a="http://schemas.openxmlformats.org/drawingml/2006/main">
            <a:r>
              <a:t/>
            </a:r>
          </a:p>
          <a:p xmlns:a="http://schemas.openxmlformats.org/drawingml/2006/main">
            <a:r>
              <a:t>[Sources]</a:t>
            </a:r>
          </a:p>
          <a:p xmlns:a="http://schemas.openxmlformats.org/drawingml/2006/main">
            <a:r>
              <a:t>https://docs.github.com/en/repositories/creating-and-managing-repositories/cloning-a-repository</a:t>
            </a:r>
          </a:p>
          <a:p xmlns:a="http://schemas.openxmlformats.org/drawingml/2006/main">
            <a:r>
              <a:t>Local source: agentforge-jarvis/src/agentforge_jarvis/engine.py; business.py; models.py; providers.py; app.py. Live workshop implementation; consult the acceptance record for verified calls.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A repository can look intimidating. We will use only a few files. The workshop folder is our small coding lab; the main source folder contains the complete app.</a:t>
            </a:r>
          </a:p>
          <a:p xmlns:a="http://schemas.openxmlformats.org/drawingml/2006/main">
            <a:r>
              <a:t/>
            </a:r>
          </a:p>
          <a:p xmlns:a="http://schemas.openxmlformats.org/drawingml/2006/main">
            <a:r>
              <a:t>DEMONSTRATE / DO TOGETHER</a:t>
            </a:r>
          </a:p>
          <a:p xmlns:a="http://schemas.openxmlformats.org/drawingml/2006/main">
            <a:r>
              <a:t>Open the project in the editor. Show the folder tree without reading every file. Explain that .agentforge is created locally when the application stores data and is ignored by Git.</a:t>
            </a:r>
          </a:p>
          <a:p xmlns:a="http://schemas.openxmlformats.org/drawingml/2006/main">
            <a:r>
              <a:t/>
            </a:r>
          </a:p>
          <a:p xmlns:a="http://schemas.openxmlformats.org/drawingml/2006/main">
            <a:r>
              <a:t>ASK THE ROOM</a:t>
            </a:r>
          </a:p>
          <a:p xmlns:a="http://schemas.openxmlformats.org/drawingml/2006/main">
            <a:r>
              <a:t>Which file should we avoid uploading if it contains a key?</a:t>
            </a:r>
          </a:p>
          <a:p xmlns:a="http://schemas.openxmlformats.org/drawingml/2006/main">
            <a:r>
              <a:t/>
            </a:r>
          </a:p>
          <a:p xmlns:a="http://schemas.openxmlformats.org/drawingml/2006/main">
            <a:r>
              <a:t>EXPECTED EVIDENCE</a:t>
            </a:r>
          </a:p>
          <a:p xmlns:a="http://schemas.openxmlformats.org/drawingml/2006/main">
            <a:r>
              <a:t>The local .env file. It is ignored by Git; never put keys into notes or screenshots either.</a:t>
            </a:r>
          </a:p>
          <a:p xmlns:a="http://schemas.openxmlformats.org/drawingml/2006/main">
            <a:r>
              <a:t/>
            </a:r>
          </a:p>
          <a:p xmlns:a="http://schemas.openxmlformats.org/drawingml/2006/main">
            <a:r>
              <a:t>IF SOMEONE IS STUCK</a:t>
            </a:r>
          </a:p>
          <a:p xmlns:a="http://schemas.openxmlformats.org/drawingml/2006/main">
            <a:r>
              <a:t>Pause for one pair to show the checkpoint before continuing.</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Live workshop implementation; consult the acceptance record for verified calls.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Think of .venv as a toolbox reserved for this project. uv reads what the project needs and installs matching versions. The lockfile keeps classmates on the same tested dependency set.</a:t>
            </a:r>
          </a:p>
          <a:p xmlns:a="http://schemas.openxmlformats.org/drawingml/2006/main">
            <a:r>
              <a:t/>
            </a:r>
          </a:p>
          <a:p xmlns:a="http://schemas.openxmlformats.org/drawingml/2006/main">
            <a:r>
              <a:t>DEMONSTRATE / DO TOGETHER</a:t>
            </a:r>
          </a:p>
          <a:p xmlns:a="http://schemas.openxmlformats.org/drawingml/2006/main">
            <a:r>
              <a:t>Explain --frozen as “use the existing lockfile; do not resolve a different set of versions.” Do not describe it as a guarantee that network access is unnecessary.</a:t>
            </a:r>
          </a:p>
          <a:p xmlns:a="http://schemas.openxmlformats.org/drawingml/2006/main">
            <a:r>
              <a:t/>
            </a:r>
          </a:p>
          <a:p xmlns:a="http://schemas.openxmlformats.org/drawingml/2006/main">
            <a:r>
              <a:t>ASK THE ROOM</a:t>
            </a:r>
          </a:p>
          <a:p xmlns:a="http://schemas.openxmlformats.org/drawingml/2006/main">
            <a:r>
              <a:t>Why not install random package versions by hand during the session?</a:t>
            </a:r>
          </a:p>
          <a:p xmlns:a="http://schemas.openxmlformats.org/drawingml/2006/main">
            <a:r>
              <a:t/>
            </a:r>
          </a:p>
          <a:p xmlns:a="http://schemas.openxmlformats.org/drawingml/2006/main">
            <a:r>
              <a:t>EXPECTED EVIDENCE</a:t>
            </a:r>
          </a:p>
          <a:p xmlns:a="http://schemas.openxmlformats.org/drawingml/2006/main">
            <a:r>
              <a:t>Different versions create different behavior and make group debugging harder.</a:t>
            </a:r>
          </a:p>
          <a:p xmlns:a="http://schemas.openxmlformats.org/drawingml/2006/main">
            <a:r>
              <a:t/>
            </a:r>
          </a:p>
          <a:p xmlns:a="http://schemas.openxmlformats.org/drawingml/2006/main">
            <a:r>
              <a:t>IF SOMEONE IS STUCK</a:t>
            </a:r>
          </a:p>
          <a:p xmlns:a="http://schemas.openxmlformats.org/drawingml/2006/main">
            <a:r>
              <a:t>Pause for one pair to show the checkpoint before continuing.</a:t>
            </a:r>
          </a:p>
          <a:p xmlns:a="http://schemas.openxmlformats.org/drawingml/2006/main">
            <a:r>
              <a:t/>
            </a:r>
          </a:p>
          <a:p xmlns:a="http://schemas.openxmlformats.org/drawingml/2006/main">
            <a:r>
              <a:t>[Sources]</a:t>
            </a:r>
          </a:p>
          <a:p xmlns:a="http://schemas.openxmlformats.org/drawingml/2006/main">
            <a:r>
              <a:t>https://docs.astral.sh/uv/getting-started/installation/</a:t>
            </a:r>
          </a:p>
          <a:p xmlns:a="http://schemas.openxmlformats.org/drawingml/2006/main">
            <a:r>
              <a:t>https://docs.astral.sh/uv/concepts/projects/sync/</a:t>
            </a:r>
          </a:p>
          <a:p xmlns:a="http://schemas.openxmlformats.org/drawingml/2006/main">
            <a:r>
              <a:t>Local source: agentforge-jarvis/src/agentforge_jarvis/engine.py; business.py; models.py; providers.py; app.py. Live workshop implementation; consult the acceptance record for verified calls.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The lockfile selects the tested dependency versions. Tests here use controlled inputs, so running pytest does not spend model quota.</a:t>
            </a:r>
          </a:p>
          <a:p xmlns:a="http://schemas.openxmlformats.org/drawingml/2006/main">
            <a:r>
              <a:t/>
            </a:r>
          </a:p>
          <a:p xmlns:a="http://schemas.openxmlformats.org/drawingml/2006/main">
            <a:r>
              <a:t>DEMONSTRATE / BUILD TOGETHER</a:t>
            </a:r>
          </a:p>
          <a:p xmlns:a="http://schemas.openxmlformats.org/drawingml/2006/main">
            <a:r>
              <a:t>Run uv sync --frozen, then uv run pytest -q. Inspect the final summary.</a:t>
            </a:r>
          </a:p>
          <a:p xmlns:a="http://schemas.openxmlformats.org/drawingml/2006/main">
            <a:r>
              <a:t/>
            </a:r>
          </a:p>
          <a:p xmlns:a="http://schemas.openxmlformats.org/drawingml/2006/main">
            <a:r>
              <a:t>ASK THE ROOM</a:t>
            </a:r>
          </a:p>
          <a:p xmlns:a="http://schemas.openxmlformats.org/drawingml/2006/main">
            <a:r>
              <a:t>Does passing offline tests prove Gemini is reachable?</a:t>
            </a:r>
          </a:p>
          <a:p xmlns:a="http://schemas.openxmlformats.org/drawingml/2006/main">
            <a:r>
              <a:t/>
            </a:r>
          </a:p>
          <a:p xmlns:a="http://schemas.openxmlformats.org/drawingml/2006/main">
            <a:r>
              <a:t>EXPECTED EVIDENCE</a:t>
            </a:r>
          </a:p>
          <a:p xmlns:a="http://schemas.openxmlformats.org/drawingml/2006/main">
            <a:r>
              <a:t>No. The next check must make a real provider call.</a:t>
            </a:r>
          </a:p>
          <a:p xmlns:a="http://schemas.openxmlformats.org/drawingml/2006/main">
            <a:r>
              <a:t/>
            </a:r>
          </a:p>
          <a:p xmlns:a="http://schemas.openxmlformats.org/drawingml/2006/main">
            <a:r>
              <a:t>IF STUCK</a:t>
            </a:r>
          </a:p>
          <a:p xmlns:a="http://schemas.openxmlformats.org/drawingml/2006/main">
            <a:r>
              <a:t>Check the current folder, saved file and exact input. Pair with a ready team while resolving setup.</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Live workshop implementation; consult the acceptance record for verified calls.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This slide contains a placeholder, never the facilitator key. .env is a small local configuration file. The selected model was available during preparation; access and quota can differ by account.</a:t>
            </a:r>
          </a:p>
          <a:p xmlns:a="http://schemas.openxmlformats.org/drawingml/2006/main">
            <a:r>
              <a:t/>
            </a:r>
          </a:p>
          <a:p xmlns:a="http://schemas.openxmlformats.org/drawingml/2006/main">
            <a:r>
              <a:t>DEMONSTRATE / BUILD TOGETHER</a:t>
            </a:r>
          </a:p>
          <a:p xmlns:a="http://schemas.openxmlformats.org/drawingml/2006/main">
            <a:r>
              <a:t>On Mac run cp .env.example .env; on PowerShell use Copy-Item .env.example .env. Open .env privately in the editor and enter your approved key. Ensure old AGENTFORGE_PROVIDER shell overrides are removed.</a:t>
            </a:r>
          </a:p>
          <a:p xmlns:a="http://schemas.openxmlformats.org/drawingml/2006/main">
            <a:r>
              <a:t/>
            </a:r>
          </a:p>
          <a:p xmlns:a="http://schemas.openxmlformats.org/drawingml/2006/main">
            <a:r>
              <a:t>ASK THE ROOM</a:t>
            </a:r>
          </a:p>
          <a:p xmlns:a="http://schemas.openxmlformats.org/drawingml/2006/main">
            <a:r>
              <a:t>Will a GitHub clone include Arthi’s secret?</a:t>
            </a:r>
          </a:p>
          <a:p xmlns:a="http://schemas.openxmlformats.org/drawingml/2006/main">
            <a:r>
              <a:t/>
            </a:r>
          </a:p>
          <a:p xmlns:a="http://schemas.openxmlformats.org/drawingml/2006/main">
            <a:r>
              <a:t>EXPECTED EVIDENCE</a:t>
            </a:r>
          </a:p>
          <a:p xmlns:a="http://schemas.openxmlformats.org/drawingml/2006/main">
            <a:r>
              <a:t>No. Each local clone needs approved access. Hosted participants use their team login and the server holds the model key.</a:t>
            </a:r>
          </a:p>
          <a:p xmlns:a="http://schemas.openxmlformats.org/drawingml/2006/main">
            <a:r>
              <a:t/>
            </a:r>
          </a:p>
          <a:p xmlns:a="http://schemas.openxmlformats.org/drawingml/2006/main">
            <a:r>
              <a:t>IF STUCK</a:t>
            </a:r>
          </a:p>
          <a:p xmlns:a="http://schemas.openxmlformats.org/drawingml/2006/main">
            <a:r>
              <a:t>Check the current folder, saved file and exact input. Pair with a ready team while resolving setup.</a:t>
            </a:r>
          </a:p>
          <a:p xmlns:a="http://schemas.openxmlformats.org/drawingml/2006/main">
            <a:r>
              <a:t/>
            </a:r>
          </a:p>
          <a:p xmlns:a="http://schemas.openxmlformats.org/drawingml/2006/main">
            <a:r>
              <a:t>[Sources]</a:t>
            </a:r>
          </a:p>
          <a:p xmlns:a="http://schemas.openxmlformats.org/drawingml/2006/main">
            <a:r>
              <a:t>https://ai.google.dev/gemini-api/docs/api-key</a:t>
            </a:r>
          </a:p>
          <a:p xmlns:a="http://schemas.openxmlformats.org/drawingml/2006/main">
            <a:r>
              <a:t>Source: agentforge-jarvis/src/agentforge_jarvis/ and workshop/ live lab; inspected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Doctor validates configuration without a provider call. The completed reference then makes a live Gemini request and exposes a small tool. The third command starts the browser app.</a:t>
            </a:r>
          </a:p>
          <a:p xmlns:a="http://schemas.openxmlformats.org/drawingml/2006/main">
            <a:r>
              <a:t/>
            </a:r>
          </a:p>
          <a:p xmlns:a="http://schemas.openxmlformats.org/drawingml/2006/main">
            <a:r>
              <a:t>DEMONSTRATE / BUILD TOGETHER</a:t>
            </a:r>
          </a:p>
          <a:p xmlns:a="http://schemas.openxmlformats.org/drawingml/2006/main">
            <a:r>
              <a:t>Run the reference privately, confirm cash2400000 and gap0 in the answer, and open http://127.0.0.1:8787. Keep that server terminal open.</a:t>
            </a:r>
          </a:p>
          <a:p xmlns:a="http://schemas.openxmlformats.org/drawingml/2006/main">
            <a:r>
              <a:t/>
            </a:r>
          </a:p>
          <a:p xmlns:a="http://schemas.openxmlformats.org/drawingml/2006/main">
            <a:r>
              <a:t>ASK THE ROOM</a:t>
            </a:r>
          </a:p>
          <a:p xmlns:a="http://schemas.openxmlformats.org/drawingml/2006/main">
            <a:r>
              <a:t>What happens if a key is valid but the project has no remaining quota?</a:t>
            </a:r>
          </a:p>
          <a:p xmlns:a="http://schemas.openxmlformats.org/drawingml/2006/main">
            <a:r>
              <a:t/>
            </a:r>
          </a:p>
          <a:p xmlns:a="http://schemas.openxmlformats.org/drawingml/2006/main">
            <a:r>
              <a:t>EXPECTED EVIDENCE</a:t>
            </a:r>
          </a:p>
          <a:p xmlns:a="http://schemas.openxmlformats.org/drawingml/2006/main">
            <a:r>
              <a:t>A quota error. Check AI Studio and follow the facilitator schedule; do not call a simulated answer live.</a:t>
            </a:r>
          </a:p>
          <a:p xmlns:a="http://schemas.openxmlformats.org/drawingml/2006/main">
            <a:r>
              <a:t/>
            </a:r>
          </a:p>
          <a:p xmlns:a="http://schemas.openxmlformats.org/drawingml/2006/main">
            <a:r>
              <a:t>IF STUCK</a:t>
            </a:r>
          </a:p>
          <a:p xmlns:a="http://schemas.openxmlformats.org/drawingml/2006/main">
            <a:r>
              <a:t>Check the current folder, saved file and exact input. Pair with a ready team while resolving setup.</a:t>
            </a:r>
          </a:p>
          <a:p xmlns:a="http://schemas.openxmlformats.org/drawingml/2006/main">
            <a:r>
              <a:t/>
            </a:r>
          </a:p>
          <a:p xmlns:a="http://schemas.openxmlformats.org/drawingml/2006/main">
            <a:r>
              <a:t>[Sources]</a:t>
            </a:r>
          </a:p>
          <a:p xmlns:a="http://schemas.openxmlformats.org/drawingml/2006/main">
            <a:r>
              <a:t>Source: agentforge-jarvis/src/agentforge_jarvis/ and workshop/ live lab; inspected 3 September 2026.</a:t>
            </a:r>
          </a:p>
          <a:p xmlns:a="http://schemas.openxmlformats.org/drawingml/2006/main">
            <a:r>
              <a:t>https://ai.google.dev/gemini-api/docs/api-key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If the facilitator provides an HTTPS workshop server, the model key stays on that server. You log into your assigned team. A local clone is still needed for the coding lab unless you pair with a ready machine.</a:t>
            </a:r>
          </a:p>
          <a:p xmlns:a="http://schemas.openxmlformats.org/drawingml/2006/main">
            <a:r>
              <a:t/>
            </a:r>
          </a:p>
          <a:p xmlns:a="http://schemas.openxmlformats.org/drawingml/2006/main">
            <a:r>
              <a:t>DEMONSTRATE / BUILD TOGETHER</a:t>
            </a:r>
          </a:p>
          <a:p xmlns:a="http://schemas.openxmlformats.org/drawingml/2006/main">
            <a:r>
              <a:t>Show the login screen if hosted deployment is in use. Explain twelve-hour sessions and private team codes. On local loopback without authentication, team IDs are only workspace labels.</a:t>
            </a:r>
          </a:p>
          <a:p xmlns:a="http://schemas.openxmlformats.org/drawingml/2006/main">
            <a:r>
              <a:t/>
            </a:r>
          </a:p>
          <a:p xmlns:a="http://schemas.openxmlformats.org/drawingml/2006/main">
            <a:r>
              <a:t>ASK THE ROOM</a:t>
            </a:r>
          </a:p>
          <a:p xmlns:a="http://schemas.openxmlformats.org/drawingml/2006/main">
            <a:r>
              <a:t>Can a signed-in team choose another team ID to read its data?</a:t>
            </a:r>
          </a:p>
          <a:p xmlns:a="http://schemas.openxmlformats.org/drawingml/2006/main">
            <a:r>
              <a:t/>
            </a:r>
          </a:p>
          <a:p xmlns:a="http://schemas.openxmlformats.org/drawingml/2006/main">
            <a:r>
              <a:t>EXPECTED EVIDENCE</a:t>
            </a:r>
          </a:p>
          <a:p xmlns:a="http://schemas.openxmlformats.org/drawingml/2006/main">
            <a:r>
              <a:t>The authenticated server rejects cross-team requests. Verify this on the actual deployment before class.</a:t>
            </a:r>
          </a:p>
          <a:p xmlns:a="http://schemas.openxmlformats.org/drawingml/2006/main">
            <a:r>
              <a:t/>
            </a:r>
          </a:p>
          <a:p xmlns:a="http://schemas.openxmlformats.org/drawingml/2006/main">
            <a:r>
              <a:t>IF STUCK</a:t>
            </a:r>
          </a:p>
          <a:p xmlns:a="http://schemas.openxmlformats.org/drawingml/2006/main">
            <a:r>
              <a:t>Check the current folder, saved file and exact input. Pair with a ready team while resolving setup.</a:t>
            </a:r>
          </a:p>
          <a:p xmlns:a="http://schemas.openxmlformats.org/drawingml/2006/main">
            <a:r>
              <a:t/>
            </a:r>
          </a:p>
          <a:p xmlns:a="http://schemas.openxmlformats.org/drawingml/2006/main">
            <a:r>
              <a:t>[Sources]</a:t>
            </a:r>
          </a:p>
          <a:p xmlns:a="http://schemas.openxmlformats.org/drawingml/2006/main">
            <a:r>
              <a:t>Source: agentforge-jarvis/src/agentforge_jarvis/ and workshop/ live lab; inspected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We provide the imports and adapter so you can focus on a useful tool. You will complete two calculations and run a live agent.</a:t>
            </a:r>
          </a:p>
          <a:p xmlns:a="http://schemas.openxmlformats.org/drawingml/2006/main">
            <a:r>
              <a:t/>
            </a:r>
          </a:p>
          <a:p xmlns:a="http://schemas.openxmlformats.org/drawingml/2006/main">
            <a:r>
              <a:t>DEMONSTRATE / BUILD TOGETHER</a:t>
            </a:r>
          </a:p>
          <a:p xmlns:a="http://schemas.openxmlformats.org/drawingml/2006/main">
            <a:r>
              <a:t>Open workshop/first_agent_starter_live.py. Use a second terminal in the project root.</a:t>
            </a:r>
          </a:p>
          <a:p xmlns:a="http://schemas.openxmlformats.org/drawingml/2006/main">
            <a:r>
              <a:t/>
            </a:r>
          </a:p>
          <a:p xmlns:a="http://schemas.openxmlformats.org/drawingml/2006/main">
            <a:r>
              <a:t>ASK THE ROOM</a:t>
            </a:r>
          </a:p>
          <a:p xmlns:a="http://schemas.openxmlformats.org/drawingml/2006/main">
            <a:r>
              <a:t>Which parts do you expect to find?</a:t>
            </a:r>
          </a:p>
          <a:p xmlns:a="http://schemas.openxmlformats.org/drawingml/2006/main">
            <a:r>
              <a:t/>
            </a:r>
          </a:p>
          <a:p xmlns:a="http://schemas.openxmlformats.org/drawingml/2006/main">
            <a:r>
              <a:t>EXPECTED EVIDENCE</a:t>
            </a:r>
          </a:p>
          <a:p xmlns:a="http://schemas.openxmlformats.org/drawingml/2006/main">
            <a:r>
              <a:t>A model adapter, tool function, role prompt and create_agent.</a:t>
            </a:r>
          </a:p>
          <a:p xmlns:a="http://schemas.openxmlformats.org/drawingml/2006/main">
            <a:r>
              <a:t/>
            </a:r>
          </a:p>
          <a:p xmlns:a="http://schemas.openxmlformats.org/drawingml/2006/main">
            <a:r>
              <a:t>IF STUCK</a:t>
            </a:r>
          </a:p>
          <a:p xmlns:a="http://schemas.openxmlformats.org/drawingml/2006/main">
            <a:r>
              <a:t>Check the current folder, saved file and exact input. Pair with a ready team while resolving setup.</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Live workshop implementation; consult the acceptance record for verified calls.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The starter has two None values, meaning deliberately empty calculations. Large numbers use underscores for readability.</a:t>
            </a:r>
          </a:p>
          <a:p xmlns:a="http://schemas.openxmlformats.org/drawingml/2006/main">
            <a:r>
              <a:t/>
            </a:r>
          </a:p>
          <a:p xmlns:a="http://schemas.openxmlformats.org/drawingml/2006/main">
            <a:r>
              <a:t>DEMONSTRATE / BUILD TOGETHER</a:t>
            </a:r>
          </a:p>
          <a:p xmlns:a="http://schemas.openxmlformats.org/drawingml/2006/main">
            <a:r>
              <a:t>Find cash_needed and funding_gap. Keep the surrounding indentation.</a:t>
            </a:r>
          </a:p>
          <a:p xmlns:a="http://schemas.openxmlformats.org/drawingml/2006/main">
            <a:r>
              <a:t/>
            </a:r>
          </a:p>
          <a:p xmlns:a="http://schemas.openxmlformats.org/drawingml/2006/main">
            <a:r>
              <a:t>ASK THE ROOM</a:t>
            </a:r>
          </a:p>
          <a:p xmlns:a="http://schemas.openxmlformats.org/drawingml/2006/main">
            <a:r>
              <a:t>What should the completed formula return?</a:t>
            </a:r>
          </a:p>
          <a:p xmlns:a="http://schemas.openxmlformats.org/drawingml/2006/main">
            <a:r>
              <a:t/>
            </a:r>
          </a:p>
          <a:p xmlns:a="http://schemas.openxmlformats.org/drawingml/2006/main">
            <a:r>
              <a:t>EXPECTED EVIDENCE</a:t>
            </a:r>
          </a:p>
          <a:p xmlns:a="http://schemas.openxmlformats.org/drawingml/2006/main">
            <a:r>
              <a:t>Cash needed2400000 and gap0.</a:t>
            </a:r>
          </a:p>
          <a:p xmlns:a="http://schemas.openxmlformats.org/drawingml/2006/main">
            <a:r>
              <a:t/>
            </a:r>
          </a:p>
          <a:p xmlns:a="http://schemas.openxmlformats.org/drawingml/2006/main">
            <a:r>
              <a:t>IF STUCK</a:t>
            </a:r>
          </a:p>
          <a:p xmlns:a="http://schemas.openxmlformats.org/drawingml/2006/main">
            <a:r>
              <a:t>Check the current folder, saved file and exact input. Pair with a ready team while resolving setup.</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Live workshop implementation; consult the acceptance record for verified calls.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The first line calculates all the upfront cash. The second reports a gap only if the requirement exceeds the budget. These are ordinary Python calculations.</a:t>
            </a:r>
          </a:p>
          <a:p xmlns:a="http://schemas.openxmlformats.org/drawingml/2006/main">
            <a:r>
              <a:t/>
            </a:r>
          </a:p>
          <a:p xmlns:a="http://schemas.openxmlformats.org/drawingml/2006/main">
            <a:r>
              <a:t>DEMONSTRATE / DO TOGETHER</a:t>
            </a:r>
          </a:p>
          <a:p xmlns:a="http://schemas.openxmlformats.org/drawingml/2006/main">
            <a:r>
              <a:t>Replace only the two None values in the starter and save. Keep the indentation already present. Explain multiplication and subtraction using the earlier handwritten calculation.</a:t>
            </a:r>
          </a:p>
          <a:p xmlns:a="http://schemas.openxmlformats.org/drawingml/2006/main">
            <a:r>
              <a:t/>
            </a:r>
          </a:p>
          <a:p xmlns:a="http://schemas.openxmlformats.org/drawingml/2006/main">
            <a:r>
              <a:t>ASK THE ROOM</a:t>
            </a:r>
          </a:p>
          <a:p xmlns:a="http://schemas.openxmlformats.org/drawingml/2006/main">
            <a:r>
              <a:t>If cash needed is ₹24 lakh and budget is ₹18 lakh, what is funding_gap?</a:t>
            </a:r>
          </a:p>
          <a:p xmlns:a="http://schemas.openxmlformats.org/drawingml/2006/main">
            <a:r>
              <a:t/>
            </a:r>
          </a:p>
          <a:p xmlns:a="http://schemas.openxmlformats.org/drawingml/2006/main">
            <a:r>
              <a:t>EXPECTED EVIDENCE</a:t>
            </a:r>
          </a:p>
          <a:p xmlns:a="http://schemas.openxmlformats.org/drawingml/2006/main">
            <a:r>
              <a:t>₹6 lakh, stored as 600000.</a:t>
            </a:r>
          </a:p>
          <a:p xmlns:a="http://schemas.openxmlformats.org/drawingml/2006/main">
            <a:r>
              <a:t/>
            </a:r>
          </a:p>
          <a:p xmlns:a="http://schemas.openxmlformats.org/drawingml/2006/main">
            <a:r>
              <a:t>IF SOMEONE IS STUCK</a:t>
            </a:r>
          </a:p>
          <a:p xmlns:a="http://schemas.openxmlformats.org/drawingml/2006/main">
            <a:r>
              <a:t>Check spelling, uppercase variable names and indentation. Do not paste smart quotation marks from a messaging app.</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Live workshop implementation; consult the acceptance record for verified calls.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The decorator is like attaching a label and instruction card to a machine. LangChain can discover the tool’s name and description. The docstring explains what the tool does.</a:t>
            </a:r>
          </a:p>
          <a:p xmlns:a="http://schemas.openxmlformats.org/drawingml/2006/main">
            <a:r>
              <a:t/>
            </a:r>
          </a:p>
          <a:p xmlns:a="http://schemas.openxmlformats.org/drawingml/2006/main">
            <a:r>
              <a:t>DEMONSTRATE / DO TOGETHER</a:t>
            </a:r>
          </a:p>
          <a:p xmlns:a="http://schemas.openxmlformats.org/drawingml/2006/main">
            <a:r>
              <a:t>Point to @tool, the function name, the description and the arithmetic. Explain dict as a small labelled result, like a form with named fields.</a:t>
            </a:r>
          </a:p>
          <a:p xmlns:a="http://schemas.openxmlformats.org/drawingml/2006/main">
            <a:r>
              <a:t/>
            </a:r>
          </a:p>
          <a:p xmlns:a="http://schemas.openxmlformats.org/drawingml/2006/main">
            <a:r>
              <a:t>ASK THE ROOM</a:t>
            </a:r>
          </a:p>
          <a:p xmlns:a="http://schemas.openxmlformats.org/drawingml/2006/main">
            <a:r>
              <a:t>Does @tool automatically verify our formula?</a:t>
            </a:r>
          </a:p>
          <a:p xmlns:a="http://schemas.openxmlformats.org/drawingml/2006/main">
            <a:r>
              <a:t/>
            </a:r>
          </a:p>
          <a:p xmlns:a="http://schemas.openxmlformats.org/drawingml/2006/main">
            <a:r>
              <a:t>EXPECTED EVIDENCE</a:t>
            </a:r>
          </a:p>
          <a:p xmlns:a="http://schemas.openxmlformats.org/drawingml/2006/main">
            <a:r>
              <a:t>No. It exposes the function as a tool. We still write and test the function correctly.</a:t>
            </a:r>
          </a:p>
          <a:p xmlns:a="http://schemas.openxmlformats.org/drawingml/2006/main">
            <a:r>
              <a:t/>
            </a:r>
          </a:p>
          <a:p xmlns:a="http://schemas.openxmlformats.org/drawingml/2006/main">
            <a:r>
              <a:t>IF SOMEONE IS STUCK</a:t>
            </a:r>
          </a:p>
          <a:p xmlns:a="http://schemas.openxmlformats.org/drawingml/2006/main">
            <a:r>
              <a:t>Pause for one pair to show the checkpoint before continuing.</a:t>
            </a:r>
          </a:p>
          <a:p xmlns:a="http://schemas.openxmlformats.org/drawingml/2006/main">
            <a:r>
              <a:t/>
            </a:r>
          </a:p>
          <a:p xmlns:a="http://schemas.openxmlformats.org/drawingml/2006/main">
            <a:r>
              <a:t>[Sources]</a:t>
            </a:r>
          </a:p>
          <a:p xmlns:a="http://schemas.openxmlformats.org/drawingml/2006/main">
            <a:r>
              <a:t>https://docs.langchain.com/oss/python/langchain/agents</a:t>
            </a:r>
          </a:p>
          <a:p xmlns:a="http://schemas.openxmlformats.org/drawingml/2006/main">
            <a:r>
              <a:t>Local source: agentforge-jarvis/src/agentforge_jarvis/engine.py; business.py; models.py; providers.py; app.py. Live workshop implementation; consult the acceptance record for verified calls.</a:t>
            </a:r>
          </a:p>
          <a:p xmlns:a="http://schemas.openxmlformats.org/drawingml/2006/main">
            <a:r>
              <a:t>Local teaching source: workshop/first_agent_starter.py and workshop/first_agent.py.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Read it as a sentence: create an agent with this live model, this permitted tool and this instruction. The adapter is the plug between Gemini and LangChain.</a:t>
            </a:r>
          </a:p>
          <a:p xmlns:a="http://schemas.openxmlformats.org/drawingml/2006/main">
            <a:r>
              <a:t/>
            </a:r>
          </a:p>
          <a:p xmlns:a="http://schemas.openxmlformats.org/drawingml/2006/main">
            <a:r>
              <a:t>DEMONSTRATE / BUILD TOGETHER</a:t>
            </a:r>
          </a:p>
          <a:p xmlns:a="http://schemas.openxmlformats.org/drawingml/2006/main">
            <a:r>
              <a:t>Show workshop/live_model.py. It loads .env and calls the same model factory as the app.</a:t>
            </a:r>
          </a:p>
          <a:p xmlns:a="http://schemas.openxmlformats.org/drawingml/2006/main">
            <a:r>
              <a:t/>
            </a:r>
          </a:p>
          <a:p xmlns:a="http://schemas.openxmlformats.org/drawingml/2006/main">
            <a:r>
              <a:t>ASK THE ROOM</a:t>
            </a:r>
          </a:p>
          <a:p xmlns:a="http://schemas.openxmlformats.org/drawingml/2006/main">
            <a:r>
              <a:t>Where is the cash formula executed?</a:t>
            </a:r>
          </a:p>
          <a:p xmlns:a="http://schemas.openxmlformats.org/drawingml/2006/main">
            <a:r>
              <a:t/>
            </a:r>
          </a:p>
          <a:p xmlns:a="http://schemas.openxmlformats.org/drawingml/2006/main">
            <a:r>
              <a:t>EXPECTED EVIDENCE</a:t>
            </a:r>
          </a:p>
          <a:p xmlns:a="http://schemas.openxmlformats.org/drawingml/2006/main">
            <a:r>
              <a:t>In your Python tool, not in a guessed language-model answer.</a:t>
            </a:r>
          </a:p>
          <a:p xmlns:a="http://schemas.openxmlformats.org/drawingml/2006/main">
            <a:r>
              <a:t/>
            </a:r>
          </a:p>
          <a:p xmlns:a="http://schemas.openxmlformats.org/drawingml/2006/main">
            <a:r>
              <a:t>IF STUCK</a:t>
            </a:r>
          </a:p>
          <a:p xmlns:a="http://schemas.openxmlformats.org/drawingml/2006/main">
            <a:r>
              <a:t>Check the current folder, saved file and exact input. Pair with a ready team while resolving setup.</a:t>
            </a:r>
          </a:p>
          <a:p xmlns:a="http://schemas.openxmlformats.org/drawingml/2006/main">
            <a:r>
              <a:t/>
            </a:r>
          </a:p>
          <a:p xmlns:a="http://schemas.openxmlformats.org/drawingml/2006/main">
            <a:r>
              <a:t>[Sources]</a:t>
            </a:r>
          </a:p>
          <a:p xmlns:a="http://schemas.openxmlformats.org/drawingml/2006/main">
            <a:r>
              <a:t>https://docs.langchain.com/oss/python/langchain/agents</a:t>
            </a:r>
          </a:p>
          <a:p xmlns:a="http://schemas.openxmlformats.org/drawingml/2006/main">
            <a:r>
              <a:t>Source: agentforge-jarvis/src/agentforge_jarvis/ and workshop/ live lab; inspected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Invoke simply means “run this agent with these inputs.” We send one user message and print the final response after the tool call finishes.</a:t>
            </a:r>
          </a:p>
          <a:p xmlns:a="http://schemas.openxmlformats.org/drawingml/2006/main">
            <a:r>
              <a:t/>
            </a:r>
          </a:p>
          <a:p xmlns:a="http://schemas.openxmlformats.org/drawingml/2006/main">
            <a:r>
              <a:t>DEMONSTRATE / DO TOGETHER</a:t>
            </a:r>
          </a:p>
          <a:p xmlns:a="http://schemas.openxmlformats.org/drawingml/2006/main">
            <a:r>
              <a:t>Read the braces as a labelled input object. Point out role and content. Avoid introducing every Python collection concept at once.</a:t>
            </a:r>
          </a:p>
          <a:p xmlns:a="http://schemas.openxmlformats.org/drawingml/2006/main">
            <a:r>
              <a:t/>
            </a:r>
          </a:p>
          <a:p xmlns:a="http://schemas.openxmlformats.org/drawingml/2006/main">
            <a:r>
              <a:t>ASK THE ROOM</a:t>
            </a:r>
          </a:p>
          <a:p xmlns:a="http://schemas.openxmlformats.org/drawingml/2006/main">
            <a:r>
              <a:t>Which result do we print: the first instruction or the final answer?</a:t>
            </a:r>
          </a:p>
          <a:p xmlns:a="http://schemas.openxmlformats.org/drawingml/2006/main">
            <a:r>
              <a:t/>
            </a:r>
          </a:p>
          <a:p xmlns:a="http://schemas.openxmlformats.org/drawingml/2006/main">
            <a:r>
              <a:t>EXPECTED EVIDENCE</a:t>
            </a:r>
          </a:p>
          <a:p xmlns:a="http://schemas.openxmlformats.org/drawingml/2006/main">
            <a:r>
              <a:t>The final message, selected with -1.</a:t>
            </a:r>
          </a:p>
          <a:p xmlns:a="http://schemas.openxmlformats.org/drawingml/2006/main">
            <a:r>
              <a:t/>
            </a:r>
          </a:p>
          <a:p xmlns:a="http://schemas.openxmlformats.org/drawingml/2006/main">
            <a:r>
              <a:t>IF SOMEONE IS STUCK</a:t>
            </a:r>
          </a:p>
          <a:p xmlns:a="http://schemas.openxmlformats.org/drawingml/2006/main">
            <a:r>
              <a:t>The starter already contains this code. Ask learners to inspect it; do not require manual retyping.</a:t>
            </a:r>
          </a:p>
          <a:p xmlns:a="http://schemas.openxmlformats.org/drawingml/2006/main">
            <a:r>
              <a:t/>
            </a:r>
          </a:p>
          <a:p xmlns:a="http://schemas.openxmlformats.org/drawingml/2006/main">
            <a:r>
              <a:t>[Sources]</a:t>
            </a:r>
          </a:p>
          <a:p xmlns:a="http://schemas.openxmlformats.org/drawingml/2006/main">
            <a:r>
              <a:t>https://docs.langchain.com/oss/python/langchain/agents</a:t>
            </a:r>
          </a:p>
          <a:p xmlns:a="http://schemas.openxmlformats.org/drawingml/2006/main">
            <a:r>
              <a:t>Local teaching source: workshop/first_agent.py.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The final wording can vary because Gemini generates it. Verify the tool result, not an exact sentence.</a:t>
            </a:r>
          </a:p>
          <a:p xmlns:a="http://schemas.openxmlformats.org/drawingml/2006/main">
            <a:r>
              <a:t/>
            </a:r>
          </a:p>
          <a:p xmlns:a="http://schemas.openxmlformats.org/drawingml/2006/main">
            <a:r>
              <a:t>DEMONSTRATE / BUILD TOGETHER</a:t>
            </a:r>
          </a:p>
          <a:p xmlns:a="http://schemas.openxmlformats.org/drawingml/2006/main">
            <a:r>
              <a:t>Save the completed file and run the command. Compare to the manual arithmetic. The completed reference is first_agent_live.py.</a:t>
            </a:r>
          </a:p>
          <a:p xmlns:a="http://schemas.openxmlformats.org/drawingml/2006/main">
            <a:r>
              <a:t/>
            </a:r>
          </a:p>
          <a:p xmlns:a="http://schemas.openxmlformats.org/drawingml/2006/main">
            <a:r>
              <a:t>ASK THE ROOM</a:t>
            </a:r>
          </a:p>
          <a:p xmlns:a="http://schemas.openxmlformats.org/drawingml/2006/main">
            <a:r>
              <a:t>What makes this a live test?</a:t>
            </a:r>
          </a:p>
          <a:p xmlns:a="http://schemas.openxmlformats.org/drawingml/2006/main">
            <a:r>
              <a:t/>
            </a:r>
          </a:p>
          <a:p xmlns:a="http://schemas.openxmlformats.org/drawingml/2006/main">
            <a:r>
              <a:t>EXPECTED EVIDENCE</a:t>
            </a:r>
          </a:p>
          <a:p xmlns:a="http://schemas.openxmlformats.org/drawingml/2006/main">
            <a:r>
              <a:t>The configured Gemini API returned a response through LangChain; the cash tool ran in Python.</a:t>
            </a:r>
          </a:p>
          <a:p xmlns:a="http://schemas.openxmlformats.org/drawingml/2006/main">
            <a:r>
              <a:t/>
            </a:r>
          </a:p>
          <a:p xmlns:a="http://schemas.openxmlformats.org/drawingml/2006/main">
            <a:r>
              <a:t>IF STUCK</a:t>
            </a:r>
          </a:p>
          <a:p xmlns:a="http://schemas.openxmlformats.org/drawingml/2006/main">
            <a:r>
              <a:t>Check the current folder, saved file and exact input. Pair with a ready team while resolving setup.</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Live workshop implementation; consult the acceptance record for verified calls.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Predict first. Changing one number gives a clean experiment. The cash requirement stays fixed while the approved budget shrinks.</a:t>
            </a:r>
          </a:p>
          <a:p xmlns:a="http://schemas.openxmlformats.org/drawingml/2006/main">
            <a:r>
              <a:t/>
            </a:r>
          </a:p>
          <a:p xmlns:a="http://schemas.openxmlformats.org/drawingml/2006/main">
            <a:r>
              <a:t>DEMONSTRATE / BUILD TOGETHER</a:t>
            </a:r>
          </a:p>
          <a:p xmlns:a="http://schemas.openxmlformats.org/drawingml/2006/main">
            <a:r>
              <a:t>Set BUDGET=1_800_000, save and rerun the live starter. Check gap600000 and HOLD. Restore the original or save a named variant.</a:t>
            </a:r>
          </a:p>
          <a:p xmlns:a="http://schemas.openxmlformats.org/drawingml/2006/main">
            <a:r>
              <a:t/>
            </a:r>
          </a:p>
          <a:p xmlns:a="http://schemas.openxmlformats.org/drawingml/2006/main">
            <a:r>
              <a:t>ASK THE ROOM</a:t>
            </a:r>
          </a:p>
          <a:p xmlns:a="http://schemas.openxmlformats.org/drawingml/2006/main">
            <a:r>
              <a:t>Can a persuasive prompt remove the actual cash shortfall?</a:t>
            </a:r>
          </a:p>
          <a:p xmlns:a="http://schemas.openxmlformats.org/drawingml/2006/main">
            <a:r>
              <a:t/>
            </a:r>
          </a:p>
          <a:p xmlns:a="http://schemas.openxmlformats.org/drawingml/2006/main">
            <a:r>
              <a:t>EXPECTED EVIDENCE</a:t>
            </a:r>
          </a:p>
          <a:p xmlns:a="http://schemas.openxmlformats.org/drawingml/2006/main">
            <a:r>
              <a:t>No. The business input or plan must change.</a:t>
            </a:r>
          </a:p>
          <a:p xmlns:a="http://schemas.openxmlformats.org/drawingml/2006/main">
            <a:r>
              <a:t/>
            </a:r>
          </a:p>
          <a:p xmlns:a="http://schemas.openxmlformats.org/drawingml/2006/main">
            <a:r>
              <a:t>IF STUCK</a:t>
            </a:r>
          </a:p>
          <a:p xmlns:a="http://schemas.openxmlformats.org/drawingml/2006/main">
            <a:r>
              <a:t>Check the current folder, saved file and exact input. Pair with a ready team while resolving setup.</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Live workshop implementation; consult the acceptance record for verified calls.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We used a miniature to understand the pieces. The full app extends the same pattern with schemas, memory, graph orchestration, persistence and a browser interface.</a:t>
            </a:r>
          </a:p>
          <a:p xmlns:a="http://schemas.openxmlformats.org/drawingml/2006/main">
            <a:r>
              <a:t/>
            </a:r>
          </a:p>
          <a:p xmlns:a="http://schemas.openxmlformats.org/drawingml/2006/main">
            <a:r>
              <a:t>DEMONSTRATE / DO TOGETHER</a:t>
            </a:r>
          </a:p>
          <a:p xmlns:a="http://schemas.openxmlformats.org/drawingml/2006/main">
            <a:r>
              <a:t>Point to the two folders. Make sure nobody expects their starter’s BUDGET edit to change the command center automatically.</a:t>
            </a:r>
          </a:p>
          <a:p xmlns:a="http://schemas.openxmlformats.org/drawingml/2006/main">
            <a:r>
              <a:t/>
            </a:r>
          </a:p>
          <a:p xmlns:a="http://schemas.openxmlformats.org/drawingml/2006/main">
            <a:r>
              <a:t>ASK THE ROOM</a:t>
            </a:r>
          </a:p>
          <a:p xmlns:a="http://schemas.openxmlformats.org/drawingml/2006/main">
            <a:r>
              <a:t>Where do we change the full app’s budget?</a:t>
            </a:r>
          </a:p>
          <a:p xmlns:a="http://schemas.openxmlformats.org/drawingml/2006/main">
            <a:r>
              <a:t/>
            </a:r>
          </a:p>
          <a:p xmlns:a="http://schemas.openxmlformats.org/drawingml/2006/main">
            <a:r>
              <a:t>EXPECTED EVIDENCE</a:t>
            </a:r>
          </a:p>
          <a:p xmlns:a="http://schemas.openxmlformats.org/drawingml/2006/main">
            <a:r>
              <a:t>In Edit brief, or by selecting the budget-cut challenge.</a:t>
            </a:r>
          </a:p>
          <a:p xmlns:a="http://schemas.openxmlformats.org/drawingml/2006/main">
            <a:r>
              <a:t/>
            </a:r>
          </a:p>
          <a:p xmlns:a="http://schemas.openxmlformats.org/drawingml/2006/main">
            <a:r>
              <a:t>IF SOMEONE IS STUCK</a:t>
            </a:r>
          </a:p>
          <a:p xmlns:a="http://schemas.openxmlformats.org/drawingml/2006/main">
            <a:r>
              <a:t>If the app seems unchanged after a starter edit, that is expected. These are separate runnable examples.</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Live workshop implementation; consult the acceptance record for verified calls.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The blueprint adds team preferences to the agent’s role. It can change presentation and requested emphasis. It cannot rewrite authoritative calculation tools or remove review gates.</a:t>
            </a:r>
          </a:p>
          <a:p xmlns:a="http://schemas.openxmlformats.org/drawingml/2006/main">
            <a:r>
              <a:t/>
            </a:r>
          </a:p>
          <a:p xmlns:a="http://schemas.openxmlformats.org/drawingml/2006/main">
            <a:r>
              <a:t>DEMONSTRATE / BUILD TOGETHER</a:t>
            </a:r>
          </a:p>
          <a:p xmlns:a="http://schemas.openxmlformats.org/drawingml/2006/main">
            <a:r>
              <a:t>Save: Begin with a three-bullet business summary; name the largest uncertainty. Run the specialist again and compare its narrative with the previous response.</a:t>
            </a:r>
          </a:p>
          <a:p xmlns:a="http://schemas.openxmlformats.org/drawingml/2006/main">
            <a:r>
              <a:t/>
            </a:r>
          </a:p>
          <a:p xmlns:a="http://schemas.openxmlformats.org/drawingml/2006/main">
            <a:r>
              <a:t>ASK THE ROOM</a:t>
            </a:r>
          </a:p>
          <a:p xmlns:a="http://schemas.openxmlformats.org/drawingml/2006/main">
            <a:r>
              <a:t>Which change should stay stable?</a:t>
            </a:r>
          </a:p>
          <a:p xmlns:a="http://schemas.openxmlformats.org/drawingml/2006/main">
            <a:r>
              <a:t/>
            </a:r>
          </a:p>
          <a:p xmlns:a="http://schemas.openxmlformats.org/drawingml/2006/main">
            <a:r>
              <a:t>EXPECTED EVIDENCE</a:t>
            </a:r>
          </a:p>
          <a:p xmlns:a="http://schemas.openxmlformats.org/drawingml/2006/main">
            <a:r>
              <a:t>Calculated metrics remain tied to the same scenario and Python tool.</a:t>
            </a:r>
          </a:p>
          <a:p xmlns:a="http://schemas.openxmlformats.org/drawingml/2006/main">
            <a:r>
              <a:t/>
            </a:r>
          </a:p>
          <a:p xmlns:a="http://schemas.openxmlformats.org/drawingml/2006/main">
            <a:r>
              <a:t>IF STUCK</a:t>
            </a:r>
          </a:p>
          <a:p xmlns:a="http://schemas.openxmlformats.org/drawingml/2006/main">
            <a:r>
              <a:t>Check the current folder, saved file and exact input. Pair with a ready team while resolving setup.</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Live workshop implementation; consult the acceptance record for verified calls.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This session has one practical deliverable. Deliverable: a domain agent with a tested improvement.</a:t>
            </a:r>
          </a:p>
          <a:p xmlns:a="http://schemas.openxmlformats.org/drawingml/2006/main">
            <a:r>
              <a:t/>
            </a:r>
          </a:p>
          <a:p xmlns:a="http://schemas.openxmlformats.org/drawingml/2006/main">
            <a:r>
              <a:t>DEMONSTRATE / BUILD TOGETHER</a:t>
            </a:r>
          </a:p>
          <a:p xmlns:a="http://schemas.openxmlformats.org/drawingml/2006/main">
            <a:r>
              <a:t>0–15: choose domain and inspect contract. 15–50: run controlled experiments. 50–70: add a useful instruction or source. 70–90: peer review and demonstrate.</a:t>
            </a:r>
          </a:p>
          <a:p xmlns:a="http://schemas.openxmlformats.org/drawingml/2006/main">
            <a:r>
              <a:t/>
            </a:r>
          </a:p>
          <a:p xmlns:a="http://schemas.openxmlformats.org/drawingml/2006/main">
            <a:r>
              <a:t>ASK THE ROOM</a:t>
            </a:r>
          </a:p>
          <a:p xmlns:a="http://schemas.openxmlformats.org/drawingml/2006/main">
            <a:r>
              <a:t>What will we show before the break?</a:t>
            </a:r>
          </a:p>
          <a:p xmlns:a="http://schemas.openxmlformats.org/drawingml/2006/main">
            <a:r>
              <a:t/>
            </a:r>
          </a:p>
          <a:p xmlns:a="http://schemas.openxmlformats.org/drawingml/2006/main">
            <a:r>
              <a:t>EXPECTED EVIDENCE</a:t>
            </a:r>
          </a:p>
          <a:p xmlns:a="http://schemas.openxmlformats.org/drawingml/2006/main">
            <a:r>
              <a:t>Deliverable: a domain agent with a tested improvement.</a:t>
            </a:r>
          </a:p>
          <a:p xmlns:a="http://schemas.openxmlformats.org/drawingml/2006/main">
            <a:r>
              <a:t/>
            </a:r>
          </a:p>
          <a:p xmlns:a="http://schemas.openxmlformats.org/drawingml/2006/main">
            <a:r>
              <a:t>IF STUCK</a:t>
            </a:r>
          </a:p>
          <a:p xmlns:a="http://schemas.openxmlformats.org/drawingml/2006/main">
            <a:r>
              <a:t>Check the current folder, saved file and exact input. Pair with a ready team while resolving setup.</a:t>
            </a:r>
          </a:p>
          <a:p xmlns:a="http://schemas.openxmlformats.org/drawingml/2006/main">
            <a:r>
              <a:t/>
            </a:r>
          </a:p>
          <a:p xmlns:a="http://schemas.openxmlformats.org/drawingml/2006/main">
            <a:r>
              <a:t>[Sources]</a:t>
            </a:r>
          </a:p>
          <a:p xmlns:a="http://schemas.openxmlformats.org/drawingml/2006/main">
            <a:r>
              <a:t>Source: LIBA_AgentForgeWorkshop_Proposal_Revised_2-Day.pdf, sessions 1–8 and outcome rubric.</a:t>
            </a:r>
          </a:p>
          <a:p xmlns:a="http://schemas.openxmlformats.org/drawingml/2006/main">
            <a:r>
              <a:t>Source: agentforge-jarvis/src/agentforge_jarvis/ and workshop/ live lab; inspected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Scenario changes and challenge chips combine. To understand one effect, choose Baseline, change only the intended field, and restore the default JSON afterward.</a:t>
            </a:r>
          </a:p>
          <a:p xmlns:a="http://schemas.openxmlformats.org/drawingml/2006/main">
            <a:r>
              <a:t/>
            </a:r>
          </a:p>
          <a:p xmlns:a="http://schemas.openxmlformats.org/drawingml/2006/main">
            <a:r>
              <a:t>DEMONSTRATE / DO TOGETHER</a:t>
            </a:r>
          </a:p>
          <a:p xmlns:a="http://schemas.openxmlformats.org/drawingml/2006/main">
            <a:r>
              <a:t>Open Edit brief. Download the scenario template or use examples/project-monsoon.json. Show that Apply validates the structure before accepting it. Click a specialist, open its blueprint and use Run specialist + dependencies.</a:t>
            </a:r>
          </a:p>
          <a:p xmlns:a="http://schemas.openxmlformats.org/drawingml/2006/main">
            <a:r>
              <a:t/>
            </a:r>
          </a:p>
          <a:p xmlns:a="http://schemas.openxmlformats.org/drawingml/2006/main">
            <a:r>
              <a:t>ASK THE ROOM</a:t>
            </a:r>
          </a:p>
          <a:p xmlns:a="http://schemas.openxmlformats.org/drawingml/2006/main">
            <a:r>
              <a:t>Why might a second experiment produce unexpected results?</a:t>
            </a:r>
          </a:p>
          <a:p xmlns:a="http://schemas.openxmlformats.org/drawingml/2006/main">
            <a:r>
              <a:t/>
            </a:r>
          </a:p>
          <a:p xmlns:a="http://schemas.openxmlformats.org/drawingml/2006/main">
            <a:r>
              <a:t>EXPECTED EVIDENCE</a:t>
            </a:r>
          </a:p>
          <a:p xmlns:a="http://schemas.openxmlformats.org/drawingml/2006/main">
            <a:r>
              <a:t>A previous edit or challenge may still be active.</a:t>
            </a:r>
          </a:p>
          <a:p xmlns:a="http://schemas.openxmlformats.org/drawingml/2006/main">
            <a:r>
              <a:t/>
            </a:r>
          </a:p>
          <a:p xmlns:a="http://schemas.openxmlformats.org/drawingml/2006/main">
            <a:r>
              <a:t>IF SOMEONE IS STUCK</a:t>
            </a:r>
          </a:p>
          <a:p xmlns:a="http://schemas.openxmlformats.org/drawingml/2006/main">
            <a:r>
              <a:t>Do not upload real candidate or customer data. Use the fictional scenario file.</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Live workshop implementation; consult the acceptance record for verified calls.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PRISM adds positive responses and divides by total responses. It also compares supplied prior rates and reports a descriptive uncertainty interval. We do not need interval mathematics to understand that sample evidence has limits.</a:t>
            </a:r>
          </a:p>
          <a:p xmlns:a="http://schemas.openxmlformats.org/drawingml/2006/main">
            <a:r>
              <a:t/>
            </a:r>
          </a:p>
          <a:p xmlns:a="http://schemas.openxmlformats.org/drawingml/2006/main">
            <a:r>
              <a:t>DEMONSTRATE / DO TOGETHER</a:t>
            </a:r>
          </a:p>
          <a:p xmlns:a="http://schemas.openxmlformats.org/drawingml/2006/main">
            <a:r>
              <a:t>Restore the default JSON, choose Baseline, change the first positive count to 60, and run PRISM. Check 229 positives out of 360 responses.</a:t>
            </a:r>
          </a:p>
          <a:p xmlns:a="http://schemas.openxmlformats.org/drawingml/2006/main">
            <a:r>
              <a:t/>
            </a:r>
          </a:p>
          <a:p xmlns:a="http://schemas.openxmlformats.org/drawingml/2006/main">
            <a:r>
              <a:t>ASK THE ROOM</a:t>
            </a:r>
          </a:p>
          <a:p xmlns:a="http://schemas.openxmlformats.org/drawingml/2006/main">
            <a:r>
              <a:t>Can we say 63.6% of the whole city will buy?</a:t>
            </a:r>
          </a:p>
          <a:p xmlns:a="http://schemas.openxmlformats.org/drawingml/2006/main">
            <a:r>
              <a:t/>
            </a:r>
          </a:p>
          <a:p xmlns:a="http://schemas.openxmlformats.org/drawingml/2006/main">
            <a:r>
              <a:t>EXPECTED EVIDENCE</a:t>
            </a:r>
          </a:p>
          <a:p xmlns:a="http://schemas.openxmlformats.org/drawingml/2006/main">
            <a:r>
              <a:t>No. These are fictional survey responses from a convenience sample, not a representative sales forecast.</a:t>
            </a:r>
          </a:p>
          <a:p xmlns:a="http://schemas.openxmlformats.org/drawingml/2006/main">
            <a:r>
              <a:t/>
            </a:r>
          </a:p>
          <a:p xmlns:a="http://schemas.openxmlformats.org/drawingml/2006/main">
            <a:r>
              <a:t>IF SOMEONE IS STUCK</a:t>
            </a:r>
          </a:p>
          <a:p xmlns:a="http://schemas.openxmlformats.org/drawingml/2006/main">
            <a:r>
              <a:t>The value must not exceed the response count. Validation rejects impossible counts.</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Live workshop implementation; consult the acceptance record for verified calls.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PULSE uses the supplied channel signals to allocate an experimental budget and prepare draft messaging. It does not prove which channel causes sales.</a:t>
            </a:r>
          </a:p>
          <a:p xmlns:a="http://schemas.openxmlformats.org/drawingml/2006/main">
            <a:r>
              <a:t/>
            </a:r>
          </a:p>
          <a:p xmlns:a="http://schemas.openxmlformats.org/drawingml/2006/main">
            <a:r>
              <a:t>DEMONSTRATE / DO TOGETHER</a:t>
            </a:r>
          </a:p>
          <a:p xmlns:a="http://schemas.openxmlformats.org/drawingml/2006/main">
            <a:r>
              <a:t>Inspect the channel rows and add the allocated amounts. Point to the draft label and customer-claim review gate. Restore defaults after the exercise.</a:t>
            </a:r>
          </a:p>
          <a:p xmlns:a="http://schemas.openxmlformats.org/drawingml/2006/main">
            <a:r>
              <a:t/>
            </a:r>
          </a:p>
          <a:p xmlns:a="http://schemas.openxmlformats.org/drawingml/2006/main">
            <a:r>
              <a:t>ASK THE ROOM</a:t>
            </a:r>
          </a:p>
          <a:p xmlns:a="http://schemas.openxmlformats.org/drawingml/2006/main">
            <a:r>
              <a:t>What should we measure before scaling the campaign?</a:t>
            </a:r>
          </a:p>
          <a:p xmlns:a="http://schemas.openxmlformats.org/drawingml/2006/main">
            <a:r>
              <a:t/>
            </a:r>
          </a:p>
          <a:p xmlns:a="http://schemas.openxmlformats.org/drawingml/2006/main">
            <a:r>
              <a:t>EXPECTED EVIDENCE</a:t>
            </a:r>
          </a:p>
          <a:p xmlns:a="http://schemas.openxmlformats.org/drawingml/2006/main">
            <a:r>
              <a:t>Actual conversion with denominators, customer feedback and credible cost information.</a:t>
            </a:r>
          </a:p>
          <a:p xmlns:a="http://schemas.openxmlformats.org/drawingml/2006/main">
            <a:r>
              <a:t/>
            </a:r>
          </a:p>
          <a:p xmlns:a="http://schemas.openxmlformats.org/drawingml/2006/main">
            <a:r>
              <a:t>IF SOMEONE IS STUCK</a:t>
            </a:r>
          </a:p>
          <a:p xmlns:a="http://schemas.openxmlformats.org/drawingml/2006/main">
            <a:r>
              <a:t>Do not treat a survey’s positive count as observed revenue. The tool explicitly labels this as a heuristic.</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Live workshop implementation; consult the acceptance record for verified calls.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FTE means full-time-equivalent capacity: two half-time contributions can count as one FTE. NOVA also shows a worksheet using job skills and work samples. Excluding demographic fields does not establish fairness.</a:t>
            </a:r>
          </a:p>
          <a:p xmlns:a="http://schemas.openxmlformats.org/drawingml/2006/main">
            <a:r>
              <a:t/>
            </a:r>
          </a:p>
          <a:p xmlns:a="http://schemas.openxmlformats.org/drawingml/2006/main">
            <a:r>
              <a:t>DEMONSTRATE / DO TOGETHER</a:t>
            </a:r>
          </a:p>
          <a:p xmlns:a="http://schemas.openxmlformats.org/drawingml/2006/main">
            <a:r>
              <a:t>Change required_fte to 12. Show the four-FTE gap and the simple one-time allowance of ₹10,000 per gap FTE. It is not a salary estimate. Read the human-review label for every candidate.</a:t>
            </a:r>
          </a:p>
          <a:p xmlns:a="http://schemas.openxmlformats.org/drawingml/2006/main">
            <a:r>
              <a:t/>
            </a:r>
          </a:p>
          <a:p xmlns:a="http://schemas.openxmlformats.org/drawingml/2006/main">
            <a:r>
              <a:t>ASK THE ROOM</a:t>
            </a:r>
          </a:p>
          <a:p xmlns:a="http://schemas.openxmlformats.org/drawingml/2006/main">
            <a:r>
              <a:t>Can we automatically reject the lowest worksheet score?</a:t>
            </a:r>
          </a:p>
          <a:p xmlns:a="http://schemas.openxmlformats.org/drawingml/2006/main">
            <a:r>
              <a:t/>
            </a:r>
          </a:p>
          <a:p xmlns:a="http://schemas.openxmlformats.org/drawingml/2006/main">
            <a:r>
              <a:t>EXPECTED EVIDENCE</a:t>
            </a:r>
          </a:p>
          <a:p xmlns:a="http://schemas.openxmlformats.org/drawingml/2006/main">
            <a:r>
              <a:t>No. The workflow requires contextual human review, calibration and accessibility checks.</a:t>
            </a:r>
          </a:p>
          <a:p xmlns:a="http://schemas.openxmlformats.org/drawingml/2006/main">
            <a:r>
              <a:t/>
            </a:r>
          </a:p>
          <a:p xmlns:a="http://schemas.openxmlformats.org/drawingml/2006/main">
            <a:r>
              <a:t>IF SOMEONE IS STUCK</a:t>
            </a:r>
          </a:p>
          <a:p xmlns:a="http://schemas.openxmlformats.org/drawingml/2006/main">
            <a:r>
              <a:t>Do not add age, gender or other protected attributes. The scenario schema rejects unrecognized candidate fields.</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Live workshop implementation; consult the acceptance record for verified calls.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At 400 units per day, producing 30,000 units takes 75 days. With 21 supplier days, completion takes 96 days. Only 63 production days fit inside the 84-day launch window, giving 25,200 units.</a:t>
            </a:r>
          </a:p>
          <a:p xmlns:a="http://schemas.openxmlformats.org/drawingml/2006/main">
            <a:r>
              <a:t/>
            </a:r>
          </a:p>
          <a:p xmlns:a="http://schemas.openxmlformats.org/drawingml/2006/main">
            <a:r>
              <a:t>DEMONSTRATE / DO TOGETHER</a:t>
            </a:r>
          </a:p>
          <a:p xmlns:a="http://schemas.openxmlformats.org/drawingml/2006/main">
            <a:r>
              <a:t>Ask learners to calculate 84 minus 21, then multiply by 400. Show the 4,800-unit difference and the fallback action.</a:t>
            </a:r>
          </a:p>
          <a:p xmlns:a="http://schemas.openxmlformats.org/drawingml/2006/main">
            <a:r>
              <a:t/>
            </a:r>
          </a:p>
          <a:p xmlns:a="http://schemas.openxmlformats.org/drawingml/2006/main">
            <a:r>
              <a:t>ASK THE ROOM</a:t>
            </a:r>
          </a:p>
          <a:p xmlns:a="http://schemas.openxmlformats.org/drawingml/2006/main">
            <a:r>
              <a:t>Should Marketing still promise all 30,000 units by day 84?</a:t>
            </a:r>
          </a:p>
          <a:p xmlns:a="http://schemas.openxmlformats.org/drawingml/2006/main">
            <a:r>
              <a:t/>
            </a:r>
          </a:p>
          <a:p xmlns:a="http://schemas.openxmlformats.org/drawingml/2006/main">
            <a:r>
              <a:t>EXPECTED EVIDENCE</a:t>
            </a:r>
          </a:p>
          <a:p xmlns:a="http://schemas.openxmlformats.org/drawingml/2006/main">
            <a:r>
              <a:t>No. Adjust scope, time or credible capacity before making the promise.</a:t>
            </a:r>
          </a:p>
          <a:p xmlns:a="http://schemas.openxmlformats.org/drawingml/2006/main">
            <a:r>
              <a:t/>
            </a:r>
          </a:p>
          <a:p xmlns:a="http://schemas.openxmlformats.org/drawingml/2006/main">
            <a:r>
              <a:t>IF SOMEONE IS STUCK</a:t>
            </a:r>
          </a:p>
          <a:p xmlns:a="http://schemas.openxmlformats.org/drawingml/2006/main">
            <a:r>
              <a:t>We assume constant capacity and sequential supply/production phases. Real delivery plans need more detail.</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Live workshop implementation; consult the acceptance record for verified calls.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Gross margin is the share of selling price left after unit production cost. With price 90 and cost 65, the difference is 25; 25 divided by 90 is about 27.8%. The target is 38%.</a:t>
            </a:r>
          </a:p>
          <a:p xmlns:a="http://schemas.openxmlformats.org/drawingml/2006/main">
            <a:r>
              <a:t/>
            </a:r>
          </a:p>
          <a:p xmlns:a="http://schemas.openxmlformats.org/drawingml/2006/main">
            <a:r>
              <a:t>DEMONSTRATE / DO TOGETHER</a:t>
            </a:r>
          </a:p>
          <a:p xmlns:a="http://schemas.openxmlformats.org/drawingml/2006/main">
            <a:r>
              <a:t>Show cash and margin side by side. The price edit does not change upfront production cost, but it weakens unit economics.</a:t>
            </a:r>
          </a:p>
          <a:p xmlns:a="http://schemas.openxmlformats.org/drawingml/2006/main">
            <a:r>
              <a:t/>
            </a:r>
          </a:p>
          <a:p xmlns:a="http://schemas.openxmlformats.org/drawingml/2006/main">
            <a:r>
              <a:t>ASK THE ROOM</a:t>
            </a:r>
          </a:p>
          <a:p xmlns:a="http://schemas.openxmlformats.org/drawingml/2006/main">
            <a:r>
              <a:t>Why can LEDGER return HOLD with no funding gap?</a:t>
            </a:r>
          </a:p>
          <a:p xmlns:a="http://schemas.openxmlformats.org/drawingml/2006/main">
            <a:r>
              <a:t/>
            </a:r>
          </a:p>
          <a:p xmlns:a="http://schemas.openxmlformats.org/drawingml/2006/main">
            <a:r>
              <a:t>EXPECTED EVIDENCE</a:t>
            </a:r>
          </a:p>
          <a:p xmlns:a="http://schemas.openxmlformats.org/drawingml/2006/main">
            <a:r>
              <a:t>Because a different financial gate, the margin target, failed.</a:t>
            </a:r>
          </a:p>
          <a:p xmlns:a="http://schemas.openxmlformats.org/drawingml/2006/main">
            <a:r>
              <a:t/>
            </a:r>
          </a:p>
          <a:p xmlns:a="http://schemas.openxmlformats.org/drawingml/2006/main">
            <a:r>
              <a:t>IF SOMEONE IS STUCK</a:t>
            </a:r>
          </a:p>
          <a:p xmlns:a="http://schemas.openxmlformats.org/drawingml/2006/main">
            <a:r>
              <a:t>This is a fictional business exercise, not investment advice or a complete accounting model.</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Live workshop implementation; consult the acceptance record for verified calls.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General Management does not average away a serious blocker. It identifies the conflict and names what must be resolved. The current tool cannot override a failed specialist gate with an optimistic paragraph.</a:t>
            </a:r>
          </a:p>
          <a:p xmlns:a="http://schemas.openxmlformats.org/drawingml/2006/main">
            <a:r>
              <a:t/>
            </a:r>
          </a:p>
          <a:p xmlns:a="http://schemas.openxmlformats.org/drawingml/2006/main">
            <a:r>
              <a:t>DEMONSTRATE / DO TOGETHER</a:t>
            </a:r>
          </a:p>
          <a:p xmlns:a="http://schemas.openxmlformats.org/drawingml/2006/main">
            <a:r>
              <a:t>Use one held scenario from the previous exercises and run the full swarm. Show which specialist caused the executive hold and who owns the next action.</a:t>
            </a:r>
          </a:p>
          <a:p xmlns:a="http://schemas.openxmlformats.org/drawingml/2006/main">
            <a:r>
              <a:t/>
            </a:r>
          </a:p>
          <a:p xmlns:a="http://schemas.openxmlformats.org/drawingml/2006/main">
            <a:r>
              <a:t>ASK THE ROOM</a:t>
            </a:r>
          </a:p>
          <a:p xmlns:a="http://schemas.openxmlformats.org/drawingml/2006/main">
            <a:r>
              <a:t>Is JARVIS the chief executive who can approve launch?</a:t>
            </a:r>
          </a:p>
          <a:p xmlns:a="http://schemas.openxmlformats.org/drawingml/2006/main">
            <a:r>
              <a:t/>
            </a:r>
          </a:p>
          <a:p xmlns:a="http://schemas.openxmlformats.org/drawingml/2006/main">
            <a:r>
              <a:t>EXPECTED EVIDENCE</a:t>
            </a:r>
          </a:p>
          <a:p xmlns:a="http://schemas.openxmlformats.org/drawingml/2006/main">
            <a:r>
              <a:t>No. It is a synthesis agent. A human remains accountable.</a:t>
            </a:r>
          </a:p>
          <a:p xmlns:a="http://schemas.openxmlformats.org/drawingml/2006/main">
            <a:r>
              <a:t/>
            </a:r>
          </a:p>
          <a:p xmlns:a="http://schemas.openxmlformats.org/drawingml/2006/main">
            <a:r>
              <a:t>IF SOMEONE IS STUCK</a:t>
            </a:r>
          </a:p>
          <a:p xmlns:a="http://schemas.openxmlformats.org/drawingml/2006/main">
            <a:r>
              <a:t>Pause for one pair to show the checkpoint before continuing.</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Live workshop implementation; consult the acceptance record for verified calls.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A professional workflow connects behavior to a specific file. The UI is an entry point, not the whole system.</a:t>
            </a:r>
          </a:p>
          <a:p xmlns:a="http://schemas.openxmlformats.org/drawingml/2006/main">
            <a:r>
              <a:t/>
            </a:r>
          </a:p>
          <a:p xmlns:a="http://schemas.openxmlformats.org/drawingml/2006/main">
            <a:r>
              <a:t>DEMONSTRATE / BUILD TOGETHER</a:t>
            </a:r>
          </a:p>
          <a:p xmlns:a="http://schemas.openxmlformats.org/drawingml/2006/main">
            <a:r>
              <a:t>Open catalog.py and trace one domain tool name into engine.py and business.py. Advanced pairs can propose a tool-rule change with a test; beginners use scenario and prompt edits.</a:t>
            </a:r>
          </a:p>
          <a:p xmlns:a="http://schemas.openxmlformats.org/drawingml/2006/main">
            <a:r>
              <a:t/>
            </a:r>
          </a:p>
          <a:p xmlns:a="http://schemas.openxmlformats.org/drawingml/2006/main">
            <a:r>
              <a:t>ASK THE ROOM</a:t>
            </a:r>
          </a:p>
          <a:p xmlns:a="http://schemas.openxmlformats.org/drawingml/2006/main">
            <a:r>
              <a:t>Which file should change if the company changes its margin target field?</a:t>
            </a:r>
          </a:p>
          <a:p xmlns:a="http://schemas.openxmlformats.org/drawingml/2006/main">
            <a:r>
              <a:t/>
            </a:r>
          </a:p>
          <a:p xmlns:a="http://schemas.openxmlformats.org/drawingml/2006/main">
            <a:r>
              <a:t>EXPECTED EVIDENCE</a:t>
            </a:r>
          </a:p>
          <a:p xmlns:a="http://schemas.openxmlformats.org/drawingml/2006/main">
            <a:r>
              <a:t>Usually the scenario input; code changes only if the business rule or schema itself changes.</a:t>
            </a:r>
          </a:p>
          <a:p xmlns:a="http://schemas.openxmlformats.org/drawingml/2006/main">
            <a:r>
              <a:t/>
            </a:r>
          </a:p>
          <a:p xmlns:a="http://schemas.openxmlformats.org/drawingml/2006/main">
            <a:r>
              <a:t>IF STUCK</a:t>
            </a:r>
          </a:p>
          <a:p xmlns:a="http://schemas.openxmlformats.org/drawingml/2006/main">
            <a:r>
              <a:t>Check the current folder, saved file and exact input. Pair with a ready team while resolving setup.</a:t>
            </a:r>
          </a:p>
          <a:p xmlns:a="http://schemas.openxmlformats.org/drawingml/2006/main">
            <a:r>
              <a:t/>
            </a:r>
          </a:p>
          <a:p xmlns:a="http://schemas.openxmlformats.org/drawingml/2006/main">
            <a:r>
              <a:t>[Sources]</a:t>
            </a:r>
          </a:p>
          <a:p xmlns:a="http://schemas.openxmlformats.org/drawingml/2006/main">
            <a:r>
              <a:t>Source: agentforge-jarvis/src/agentforge_jarvis/ and workshop/ live lab; inspected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A single success is not enough. Use a normal case, an invalid case and a meaningful changed business condition.</a:t>
            </a:r>
          </a:p>
          <a:p xmlns:a="http://schemas.openxmlformats.org/drawingml/2006/main">
            <a:r>
              <a:t/>
            </a:r>
          </a:p>
          <a:p xmlns:a="http://schemas.openxmlformats.org/drawingml/2006/main">
            <a:r>
              <a:t>DEMONSTRATE / BUILD TOGETHER</a:t>
            </a:r>
          </a:p>
          <a:p xmlns:a="http://schemas.openxmlformats.org/drawingml/2006/main">
            <a:r>
              <a:t>Use TEAM_WORKBOOK.md to record all three cases. Do not broaden into real candidate or customer data.</a:t>
            </a:r>
          </a:p>
          <a:p xmlns:a="http://schemas.openxmlformats.org/drawingml/2006/main">
            <a:r>
              <a:t/>
            </a:r>
          </a:p>
          <a:p xmlns:a="http://schemas.openxmlformats.org/drawingml/2006/main">
            <a:r>
              <a:t>ASK THE ROOM</a:t>
            </a:r>
          </a:p>
          <a:p xmlns:a="http://schemas.openxmlformats.org/drawingml/2006/main">
            <a:r>
              <a:t>What happens to an impossible survey count?</a:t>
            </a:r>
          </a:p>
          <a:p xmlns:a="http://schemas.openxmlformats.org/drawingml/2006/main">
            <a:r>
              <a:t/>
            </a:r>
          </a:p>
          <a:p xmlns:a="http://schemas.openxmlformats.org/drawingml/2006/main">
            <a:r>
              <a:t>EXPECTED EVIDENCE</a:t>
            </a:r>
          </a:p>
          <a:p xmlns:a="http://schemas.openxmlformats.org/drawingml/2006/main">
            <a:r>
              <a:t>Validation rejects positive responses above total responses before a report is accepted.</a:t>
            </a:r>
          </a:p>
          <a:p xmlns:a="http://schemas.openxmlformats.org/drawingml/2006/main">
            <a:r>
              <a:t/>
            </a:r>
          </a:p>
          <a:p xmlns:a="http://schemas.openxmlformats.org/drawingml/2006/main">
            <a:r>
              <a:t>IF STUCK</a:t>
            </a:r>
          </a:p>
          <a:p xmlns:a="http://schemas.openxmlformats.org/drawingml/2006/main">
            <a:r>
              <a:t>Check the current folder, saved file and exact input. Pair with a ready team while resolving setup.</a:t>
            </a:r>
          </a:p>
          <a:p xmlns:a="http://schemas.openxmlformats.org/drawingml/2006/main">
            <a:r>
              <a:t/>
            </a:r>
          </a:p>
          <a:p xmlns:a="http://schemas.openxmlformats.org/drawingml/2006/main">
            <a:r>
              <a:t>[Sources]</a:t>
            </a:r>
          </a:p>
          <a:p xmlns:a="http://schemas.openxmlformats.org/drawingml/2006/main">
            <a:r>
              <a:t>Source: agentforge-jarvis/src/agentforge_jarvis/ and workshop/ live lab; inspected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Each pair will now explain one specialist in plain English. You do not need to describe every class or library. Show one input, one calculation and one consequence.</a:t>
            </a:r>
          </a:p>
          <a:p xmlns:a="http://schemas.openxmlformats.org/drawingml/2006/main">
            <a:r>
              <a:t/>
            </a:r>
          </a:p>
          <a:p xmlns:a="http://schemas.openxmlformats.org/drawingml/2006/main">
            <a:r>
              <a:t>DEMONSTRATE / DO TOGETHER</a:t>
            </a:r>
          </a:p>
          <a:p xmlns:a="http://schemas.openxmlformats.org/drawingml/2006/main">
            <a:r>
              <a:t>Give pairs two minutes to prepare and invite several brief reports. Ensure all six roles are covered across the room; rotate which pair speaks.</a:t>
            </a:r>
          </a:p>
          <a:p xmlns:a="http://schemas.openxmlformats.org/drawingml/2006/main">
            <a:r>
              <a:t/>
            </a:r>
          </a:p>
          <a:p xmlns:a="http://schemas.openxmlformats.org/drawingml/2006/main">
            <a:r>
              <a:t>ASK THE ROOM</a:t>
            </a:r>
          </a:p>
          <a:p xmlns:a="http://schemas.openxmlformats.org/drawingml/2006/main">
            <a:r>
              <a:t>Can your partner explain the result without reading the code?</a:t>
            </a:r>
          </a:p>
          <a:p xmlns:a="http://schemas.openxmlformats.org/drawingml/2006/main">
            <a:r>
              <a:t/>
            </a:r>
          </a:p>
          <a:p xmlns:a="http://schemas.openxmlformats.org/drawingml/2006/main">
            <a:r>
              <a:t>EXPECTED EVIDENCE</a:t>
            </a:r>
          </a:p>
          <a:p xmlns:a="http://schemas.openxmlformats.org/drawingml/2006/main">
            <a:r>
              <a:t>The explanation names a concrete change, evidence and business implication.</a:t>
            </a:r>
          </a:p>
          <a:p xmlns:a="http://schemas.openxmlformats.org/drawingml/2006/main">
            <a:r>
              <a:t/>
            </a:r>
          </a:p>
          <a:p xmlns:a="http://schemas.openxmlformats.org/drawingml/2006/main">
            <a:r>
              <a:t>IF SOMEONE IS STUCK</a:t>
            </a:r>
          </a:p>
          <a:p xmlns:a="http://schemas.openxmlformats.org/drawingml/2006/main">
            <a:r>
              <a:t>If a pair changed several values, restore the example JSON and rerun with only one edit.</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Live workshop implementation; consult the acceptance record for verified calls.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This session has one practical deliverable. Deliverable: one documented multimodal test and saved evidence.</a:t>
            </a:r>
          </a:p>
          <a:p xmlns:a="http://schemas.openxmlformats.org/drawingml/2006/main">
            <a:r>
              <a:t/>
            </a:r>
          </a:p>
          <a:p xmlns:a="http://schemas.openxmlformats.org/drawingml/2006/main">
            <a:r>
              <a:t>DEMONSTRATE / BUILD TOGETHER</a:t>
            </a:r>
          </a:p>
          <a:p xmlns:a="http://schemas.openxmlformats.org/drawingml/2006/main">
            <a:r>
              <a:t>0–15: modality and source quality. 15–40: image extraction and review. 40–60: voice or transcript workflow. 60–75: connect evidence to a question. 75–90: save Day 1 handover.</a:t>
            </a:r>
          </a:p>
          <a:p xmlns:a="http://schemas.openxmlformats.org/drawingml/2006/main">
            <a:r>
              <a:t/>
            </a:r>
          </a:p>
          <a:p xmlns:a="http://schemas.openxmlformats.org/drawingml/2006/main">
            <a:r>
              <a:t>ASK THE ROOM</a:t>
            </a:r>
          </a:p>
          <a:p xmlns:a="http://schemas.openxmlformats.org/drawingml/2006/main">
            <a:r>
              <a:t>What will we show before the break?</a:t>
            </a:r>
          </a:p>
          <a:p xmlns:a="http://schemas.openxmlformats.org/drawingml/2006/main">
            <a:r>
              <a:t/>
            </a:r>
          </a:p>
          <a:p xmlns:a="http://schemas.openxmlformats.org/drawingml/2006/main">
            <a:r>
              <a:t>EXPECTED EVIDENCE</a:t>
            </a:r>
          </a:p>
          <a:p xmlns:a="http://schemas.openxmlformats.org/drawingml/2006/main">
            <a:r>
              <a:t>Deliverable: one documented multimodal test and saved evidence.</a:t>
            </a:r>
          </a:p>
          <a:p xmlns:a="http://schemas.openxmlformats.org/drawingml/2006/main">
            <a:r>
              <a:t/>
            </a:r>
          </a:p>
          <a:p xmlns:a="http://schemas.openxmlformats.org/drawingml/2006/main">
            <a:r>
              <a:t>IF STUCK</a:t>
            </a:r>
          </a:p>
          <a:p xmlns:a="http://schemas.openxmlformats.org/drawingml/2006/main">
            <a:r>
              <a:t>Check the current folder, saved file and exact input. Pair with a ready team while resolving setup.</a:t>
            </a:r>
          </a:p>
          <a:p xmlns:a="http://schemas.openxmlformats.org/drawingml/2006/main">
            <a:r>
              <a:t/>
            </a:r>
          </a:p>
          <a:p xmlns:a="http://schemas.openxmlformats.org/drawingml/2006/main">
            <a:r>
              <a:t>[Sources]</a:t>
            </a:r>
          </a:p>
          <a:p xmlns:a="http://schemas.openxmlformats.org/drawingml/2006/main">
            <a:r>
              <a:t>Source: LIBA_AgentForgeWorkshop_Proposal_Revised_2-Day.pdf, sessions 1–8 and outcome rubric.</a:t>
            </a:r>
          </a:p>
          <a:p xmlns:a="http://schemas.openxmlformats.org/drawingml/2006/main">
            <a:r>
              <a:t>Source: agentforge-jarvis/src/agentforge_jarvis/ and workshop/ live lab; inspected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Modalities are forms of information: written text, pictures, sound and video. More input types do not automatically make an answer more reliable.</a:t>
            </a:r>
          </a:p>
          <a:p xmlns:a="http://schemas.openxmlformats.org/drawingml/2006/main">
            <a:r>
              <a:t/>
            </a:r>
          </a:p>
          <a:p xmlns:a="http://schemas.openxmlformats.org/drawingml/2006/main">
            <a:r>
              <a:t>DEMONSTRATE / BUILD TOGETHER</a:t>
            </a:r>
          </a:p>
          <a:p xmlns:a="http://schemas.openxmlformats.org/drawingml/2006/main">
            <a:r>
              <a:t>Use a fictional packaging label or a whiteboard image. Explain what can be checked directly and what requires outside knowledge.</a:t>
            </a:r>
          </a:p>
          <a:p xmlns:a="http://schemas.openxmlformats.org/drawingml/2006/main">
            <a:r>
              <a:t/>
            </a:r>
          </a:p>
          <a:p xmlns:a="http://schemas.openxmlformats.org/drawingml/2006/main">
            <a:r>
              <a:t>ASK THE ROOM</a:t>
            </a:r>
          </a:p>
          <a:p xmlns:a="http://schemas.openxmlformats.org/drawingml/2006/main">
            <a:r>
              <a:t>If an image is blurry, should the model fill in missing numbers?</a:t>
            </a:r>
          </a:p>
          <a:p xmlns:a="http://schemas.openxmlformats.org/drawingml/2006/main">
            <a:r>
              <a:t/>
            </a:r>
          </a:p>
          <a:p xmlns:a="http://schemas.openxmlformats.org/drawingml/2006/main">
            <a:r>
              <a:t>EXPECTED EVIDENCE</a:t>
            </a:r>
          </a:p>
          <a:p xmlns:a="http://schemas.openxmlformats.org/drawingml/2006/main">
            <a:r>
              <a:t>No. It should mark uncertainty and request a clearer source.</a:t>
            </a:r>
          </a:p>
          <a:p xmlns:a="http://schemas.openxmlformats.org/drawingml/2006/main">
            <a:r>
              <a:t/>
            </a:r>
          </a:p>
          <a:p xmlns:a="http://schemas.openxmlformats.org/drawingml/2006/main">
            <a:r>
              <a:t>IF STUCK</a:t>
            </a:r>
          </a:p>
          <a:p xmlns:a="http://schemas.openxmlformats.org/drawingml/2006/main">
            <a:r>
              <a:t>Check the current folder, saved file and exact input. Pair with a ready team while resolving setup.</a:t>
            </a:r>
          </a:p>
          <a:p xmlns:a="http://schemas.openxmlformats.org/drawingml/2006/main">
            <a:r>
              <a:t/>
            </a:r>
          </a:p>
          <a:p xmlns:a="http://schemas.openxmlformats.org/drawingml/2006/main">
            <a:r>
              <a:t>[Sources]</a:t>
            </a:r>
          </a:p>
          <a:p xmlns:a="http://schemas.openxmlformats.org/drawingml/2006/main">
            <a:r>
              <a:t>Source: agentforge-jarvis/src/agentforge_jarvis/ and workshop/ live lab; inspected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The app sends the selected image to Gemini through LangChain. It places extracted text in the editor for review; it does not save automatically.</a:t>
            </a:r>
          </a:p>
          <a:p xmlns:a="http://schemas.openxmlformats.org/drawingml/2006/main">
            <a:r>
              <a:t/>
            </a:r>
          </a:p>
          <a:p xmlns:a="http://schemas.openxmlformats.org/drawingml/2006/main">
            <a:r>
              <a:t>DEMONSTRATE / BUILD TOGETHER</a:t>
            </a:r>
          </a:p>
          <a:p xmlns:a="http://schemas.openxmlformats.org/drawingml/2006/main">
            <a:r>
              <a:t>Use workshop/assets/command-core.png or a fictional product-label image. The decorative image should be described without fabricated business figures. For legible text, use a screenshot of the fictional scenario.</a:t>
            </a:r>
          </a:p>
          <a:p xmlns:a="http://schemas.openxmlformats.org/drawingml/2006/main">
            <a:r>
              <a:t/>
            </a:r>
          </a:p>
          <a:p xmlns:a="http://schemas.openxmlformats.org/drawingml/2006/main">
            <a:r>
              <a:t>ASK THE ROOM</a:t>
            </a:r>
          </a:p>
          <a:p xmlns:a="http://schemas.openxmlformats.org/drawingml/2006/main">
            <a:r>
              <a:t>What evidence do you save?</a:t>
            </a:r>
          </a:p>
          <a:p xmlns:a="http://schemas.openxmlformats.org/drawingml/2006/main">
            <a:r>
              <a:t/>
            </a:r>
          </a:p>
          <a:p xmlns:a="http://schemas.openxmlformats.org/drawingml/2006/main">
            <a:r>
              <a:t>EXPECTED EVIDENCE</a:t>
            </a:r>
          </a:p>
          <a:p xmlns:a="http://schemas.openxmlformats.org/drawingml/2006/main">
            <a:r>
              <a:t>Image filename, extraction, corrections and uncertainty. Do not claim that a visual description verifies a real business fact.</a:t>
            </a:r>
          </a:p>
          <a:p xmlns:a="http://schemas.openxmlformats.org/drawingml/2006/main">
            <a:r>
              <a:t/>
            </a:r>
          </a:p>
          <a:p xmlns:a="http://schemas.openxmlformats.org/drawingml/2006/main">
            <a:r>
              <a:t>IF STUCK</a:t>
            </a:r>
          </a:p>
          <a:p xmlns:a="http://schemas.openxmlformats.org/drawingml/2006/main">
            <a:r>
              <a:t>Check the current folder, saved file and exact input. Pair with a ready team while resolving setup.</a:t>
            </a:r>
          </a:p>
          <a:p xmlns:a="http://schemas.openxmlformats.org/drawingml/2006/main">
            <a:r>
              <a:t/>
            </a:r>
          </a:p>
          <a:p xmlns:a="http://schemas.openxmlformats.org/drawingml/2006/main">
            <a:r>
              <a:t>[Sources]</a:t>
            </a:r>
          </a:p>
          <a:p xmlns:a="http://schemas.openxmlformats.org/drawingml/2006/main">
            <a:r>
              <a:t>Source: agentforge-jarvis/src/agentforge_jarvis/ and workshop/ live lab; inspected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Speech recognition turns audio into text. A wrong transcript becomes a wrong input unless you inspect it. Browser speech recognition may contact the browser vendor.</a:t>
            </a:r>
          </a:p>
          <a:p xmlns:a="http://schemas.openxmlformats.org/drawingml/2006/main">
            <a:r>
              <a:t/>
            </a:r>
          </a:p>
          <a:p xmlns:a="http://schemas.openxmlformats.org/drawingml/2006/main">
            <a:r>
              <a:t>DEMONSTRATE / BUILD TOGETHER</a:t>
            </a:r>
          </a:p>
          <a:p xmlns:a="http://schemas.openxmlformats.org/drawingml/2006/main">
            <a:r>
              <a:t>Try a short question about launch cash. Correct any transcription error before sending. If recognition is unsupported, import a prepared .txt transcript and continue the same evidence activity.</a:t>
            </a:r>
          </a:p>
          <a:p xmlns:a="http://schemas.openxmlformats.org/drawingml/2006/main">
            <a:r>
              <a:t/>
            </a:r>
          </a:p>
          <a:p xmlns:a="http://schemas.openxmlformats.org/drawingml/2006/main">
            <a:r>
              <a:t>ASK THE ROOM</a:t>
            </a:r>
          </a:p>
          <a:p xmlns:a="http://schemas.openxmlformats.org/drawingml/2006/main">
            <a:r>
              <a:t>Does reading an answer aloud make it more trustworthy?</a:t>
            </a:r>
          </a:p>
          <a:p xmlns:a="http://schemas.openxmlformats.org/drawingml/2006/main">
            <a:r>
              <a:t/>
            </a:r>
          </a:p>
          <a:p xmlns:a="http://schemas.openxmlformats.org/drawingml/2006/main">
            <a:r>
              <a:t>EXPECTED EVIDENCE</a:t>
            </a:r>
          </a:p>
          <a:p xmlns:a="http://schemas.openxmlformats.org/drawingml/2006/main">
            <a:r>
              <a:t>No. Check its sources and calculations exactly as with text.</a:t>
            </a:r>
          </a:p>
          <a:p xmlns:a="http://schemas.openxmlformats.org/drawingml/2006/main">
            <a:r>
              <a:t/>
            </a:r>
          </a:p>
          <a:p xmlns:a="http://schemas.openxmlformats.org/drawingml/2006/main">
            <a:r>
              <a:t>IF STUCK</a:t>
            </a:r>
          </a:p>
          <a:p xmlns:a="http://schemas.openxmlformats.org/drawingml/2006/main">
            <a:r>
              <a:t>Check the current folder, saved file and exact input. Pair with a ready team while resolving setup.</a:t>
            </a:r>
          </a:p>
          <a:p xmlns:a="http://schemas.openxmlformats.org/drawingml/2006/main">
            <a:r>
              <a:t/>
            </a:r>
          </a:p>
          <a:p xmlns:a="http://schemas.openxmlformats.org/drawingml/2006/main">
            <a:r>
              <a:t>[Sources]</a:t>
            </a:r>
          </a:p>
          <a:p xmlns:a="http://schemas.openxmlformats.org/drawingml/2006/main">
            <a:r>
              <a:t>Source: agentforge-jarvis/src/agentforge_jarvis/ and workshop/ live lab; inspected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Source extraction and factual verification are different jobs. Keep the original context and flag ambiguity.</a:t>
            </a:r>
          </a:p>
          <a:p xmlns:a="http://schemas.openxmlformats.org/drawingml/2006/main">
            <a:r>
              <a:t/>
            </a:r>
          </a:p>
          <a:p xmlns:a="http://schemas.openxmlformats.org/drawingml/2006/main">
            <a:r>
              <a:t>DEMONSTRATE / BUILD TOGETHER</a:t>
            </a:r>
          </a:p>
          <a:p xmlns:a="http://schemas.openxmlformats.org/drawingml/2006/main">
            <a:r>
              <a:t>Ask pairs to find one possible extraction error and one outside claim the image cannot prove.</a:t>
            </a:r>
          </a:p>
          <a:p xmlns:a="http://schemas.openxmlformats.org/drawingml/2006/main">
            <a:r>
              <a:t/>
            </a:r>
          </a:p>
          <a:p xmlns:a="http://schemas.openxmlformats.org/drawingml/2006/main">
            <a:r>
              <a:t>ASK THE ROOM</a:t>
            </a:r>
          </a:p>
          <a:p xmlns:a="http://schemas.openxmlformats.org/drawingml/2006/main">
            <a:r>
              <a:t>What should the source note include?</a:t>
            </a:r>
          </a:p>
          <a:p xmlns:a="http://schemas.openxmlformats.org/drawingml/2006/main">
            <a:r>
              <a:t/>
            </a:r>
          </a:p>
          <a:p xmlns:a="http://schemas.openxmlformats.org/drawingml/2006/main">
            <a:r>
              <a:t>EXPECTED EVIDENCE</a:t>
            </a:r>
          </a:p>
          <a:p xmlns:a="http://schemas.openxmlformats.org/drawingml/2006/main">
            <a:r>
              <a:t>Source name, relevant date or context if provided, extracted text and uncertainty.</a:t>
            </a:r>
          </a:p>
          <a:p xmlns:a="http://schemas.openxmlformats.org/drawingml/2006/main">
            <a:r>
              <a:t/>
            </a:r>
          </a:p>
          <a:p xmlns:a="http://schemas.openxmlformats.org/drawingml/2006/main">
            <a:r>
              <a:t>IF STUCK</a:t>
            </a:r>
          </a:p>
          <a:p xmlns:a="http://schemas.openxmlformats.org/drawingml/2006/main">
            <a:r>
              <a:t>Check the current folder, saved file and exact input. Pair with a ready team while resolving setup.</a:t>
            </a:r>
          </a:p>
          <a:p xmlns:a="http://schemas.openxmlformats.org/drawingml/2006/main">
            <a:r>
              <a:t/>
            </a:r>
          </a:p>
          <a:p xmlns:a="http://schemas.openxmlformats.org/drawingml/2006/main">
            <a:r>
              <a:t>[Sources]</a:t>
            </a:r>
          </a:p>
          <a:p xmlns:a="http://schemas.openxmlformats.org/drawingml/2006/main">
            <a:r>
              <a:t>Source: agentforge-jarvis/src/agentforge_jarvis/ and workshop/ live lab; inspected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Ask a grounded question about your saved note. Live Gemini can understand paraphrases, but the retrieval tool uses keyword matching, so topic words improve the search.</a:t>
            </a:r>
          </a:p>
          <a:p xmlns:a="http://schemas.openxmlformats.org/drawingml/2006/main">
            <a:r>
              <a:t/>
            </a:r>
          </a:p>
          <a:p xmlns:a="http://schemas.openxmlformats.org/drawingml/2006/main">
            <a:r>
              <a:t>DEMONSTRATE / BUILD TOGETHER</a:t>
            </a:r>
          </a:p>
          <a:p xmlns:a="http://schemas.openxmlformats.org/drawingml/2006/main">
            <a:r>
              <a:t>Save Packaging review with fictional owner Mira and the allergen-review note. Ask who owns packaging review and request a source citation.</a:t>
            </a:r>
          </a:p>
          <a:p xmlns:a="http://schemas.openxmlformats.org/drawingml/2006/main">
            <a:r>
              <a:t/>
            </a:r>
          </a:p>
          <a:p xmlns:a="http://schemas.openxmlformats.org/drawingml/2006/main">
            <a:r>
              <a:t>ASK THE ROOM</a:t>
            </a:r>
          </a:p>
          <a:p xmlns:a="http://schemas.openxmlformats.org/drawingml/2006/main">
            <a:r>
              <a:t>What should the answer cite?</a:t>
            </a:r>
          </a:p>
          <a:p xmlns:a="http://schemas.openxmlformats.org/drawingml/2006/main">
            <a:r>
              <a:t/>
            </a:r>
          </a:p>
          <a:p xmlns:a="http://schemas.openxmlformats.org/drawingml/2006/main">
            <a:r>
              <a:t>EXPECTED EVIDENCE</a:t>
            </a:r>
          </a:p>
          <a:p xmlns:a="http://schemas.openxmlformats.org/drawingml/2006/main">
            <a:r>
              <a:t>The saved Packaging review note. If retrieval finds nothing, the model should say so rather than inventing an owner.</a:t>
            </a:r>
          </a:p>
          <a:p xmlns:a="http://schemas.openxmlformats.org/drawingml/2006/main">
            <a:r>
              <a:t/>
            </a:r>
          </a:p>
          <a:p xmlns:a="http://schemas.openxmlformats.org/drawingml/2006/main">
            <a:r>
              <a:t>IF STUCK</a:t>
            </a:r>
          </a:p>
          <a:p xmlns:a="http://schemas.openxmlformats.org/drawingml/2006/main">
            <a:r>
              <a:t>Check the current folder, saved file and exact input. Pair with a ready team while resolving setup.</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Live workshop implementation; consult the acceptance record for verified calls.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Day 2 starts from what you built today. A clone alone does not contain your private notes or local database.</a:t>
            </a:r>
          </a:p>
          <a:p xmlns:a="http://schemas.openxmlformats.org/drawingml/2006/main">
            <a:r>
              <a:t/>
            </a:r>
          </a:p>
          <a:p xmlns:a="http://schemas.openxmlformats.org/drawingml/2006/main">
            <a:r>
              <a:t>DEMONSTRATE / BUILD TOGETHER</a:t>
            </a:r>
          </a:p>
          <a:p xmlns:a="http://schemas.openxmlformats.org/drawingml/2006/main">
            <a:r>
              <a:t>Save files and export evidence. Demonstrate uv run agentforge-jarvis backup .agentforge/day1-backup.sqlite3 using a new destination. Keep backups private.</a:t>
            </a:r>
          </a:p>
          <a:p xmlns:a="http://schemas.openxmlformats.org/drawingml/2006/main">
            <a:r>
              <a:t/>
            </a:r>
          </a:p>
          <a:p xmlns:a="http://schemas.openxmlformats.org/drawingml/2006/main">
            <a:r>
              <a:t>ASK THE ROOM</a:t>
            </a:r>
          </a:p>
          <a:p xmlns:a="http://schemas.openxmlformats.org/drawingml/2006/main">
            <a:r>
              <a:t>What does Git preserve, and what stays in the database?</a:t>
            </a:r>
          </a:p>
          <a:p xmlns:a="http://schemas.openxmlformats.org/drawingml/2006/main">
            <a:r>
              <a:t/>
            </a:r>
          </a:p>
          <a:p xmlns:a="http://schemas.openxmlformats.org/drawingml/2006/main">
            <a:r>
              <a:t>EXPECTED EVIDENCE</a:t>
            </a:r>
          </a:p>
          <a:p xmlns:a="http://schemas.openxmlformats.org/drawingml/2006/main">
            <a:r>
              <a:t>Source code is versioned. Runs, notes, conversations, saved blueprints and credentials are stored in the local database.</a:t>
            </a:r>
          </a:p>
          <a:p xmlns:a="http://schemas.openxmlformats.org/drawingml/2006/main">
            <a:r>
              <a:t/>
            </a:r>
          </a:p>
          <a:p xmlns:a="http://schemas.openxmlformats.org/drawingml/2006/main">
            <a:r>
              <a:t>IF STUCK</a:t>
            </a:r>
          </a:p>
          <a:p xmlns:a="http://schemas.openxmlformats.org/drawingml/2006/main">
            <a:r>
              <a:t>Check the current folder, saved file and exact input. Pair with a ready team while resolving setup.</a:t>
            </a:r>
          </a:p>
          <a:p xmlns:a="http://schemas.openxmlformats.org/drawingml/2006/main">
            <a:r>
              <a:t/>
            </a:r>
          </a:p>
          <a:p xmlns:a="http://schemas.openxmlformats.org/drawingml/2006/main">
            <a:r>
              <a:t>[Sources]</a:t>
            </a:r>
          </a:p>
          <a:p xmlns:a="http://schemas.openxmlformats.org/drawingml/2006/main">
            <a:r>
              <a:t>Source: agentforge-jarvis/src/agentforge_jarvis/ and workshop/ live lab; inspected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This session has one practical deliverable. Deliverable: a workflow map with owners and decision rights.</a:t>
            </a:r>
          </a:p>
          <a:p xmlns:a="http://schemas.openxmlformats.org/drawingml/2006/main">
            <a:r>
              <a:t/>
            </a:r>
          </a:p>
          <a:p xmlns:a="http://schemas.openxmlformats.org/drawingml/2006/main">
            <a:r>
              <a:t>DEMONSTRATE / BUILD TOGETHER</a:t>
            </a:r>
          </a:p>
          <a:p xmlns:a="http://schemas.openxmlformats.org/drawingml/2006/main">
            <a:r>
              <a:t>0–15: restore Day 1 and form mixed teams. 15–35: dependency map. 35–55: shared state and memory. 55–75: roles and failure design. 75–90: review the map.</a:t>
            </a:r>
          </a:p>
          <a:p xmlns:a="http://schemas.openxmlformats.org/drawingml/2006/main">
            <a:r>
              <a:t/>
            </a:r>
          </a:p>
          <a:p xmlns:a="http://schemas.openxmlformats.org/drawingml/2006/main">
            <a:r>
              <a:t>ASK THE ROOM</a:t>
            </a:r>
          </a:p>
          <a:p xmlns:a="http://schemas.openxmlformats.org/drawingml/2006/main">
            <a:r>
              <a:t>What will we show before the break?</a:t>
            </a:r>
          </a:p>
          <a:p xmlns:a="http://schemas.openxmlformats.org/drawingml/2006/main">
            <a:r>
              <a:t/>
            </a:r>
          </a:p>
          <a:p xmlns:a="http://schemas.openxmlformats.org/drawingml/2006/main">
            <a:r>
              <a:t>EXPECTED EVIDENCE</a:t>
            </a:r>
          </a:p>
          <a:p xmlns:a="http://schemas.openxmlformats.org/drawingml/2006/main">
            <a:r>
              <a:t>Deliverable: a workflow map with owners and decision rights.</a:t>
            </a:r>
          </a:p>
          <a:p xmlns:a="http://schemas.openxmlformats.org/drawingml/2006/main">
            <a:r>
              <a:t/>
            </a:r>
          </a:p>
          <a:p xmlns:a="http://schemas.openxmlformats.org/drawingml/2006/main">
            <a:r>
              <a:t>IF STUCK</a:t>
            </a:r>
          </a:p>
          <a:p xmlns:a="http://schemas.openxmlformats.org/drawingml/2006/main">
            <a:r>
              <a:t>Check the current folder, saved file and exact input. Pair with a ready team while resolving setup.</a:t>
            </a:r>
          </a:p>
          <a:p xmlns:a="http://schemas.openxmlformats.org/drawingml/2006/main">
            <a:r>
              <a:t/>
            </a:r>
          </a:p>
          <a:p xmlns:a="http://schemas.openxmlformats.org/drawingml/2006/main">
            <a:r>
              <a:t>[Sources]</a:t>
            </a:r>
          </a:p>
          <a:p xmlns:a="http://schemas.openxmlformats.org/drawingml/2006/main">
            <a:r>
              <a:t>Source: LIBA_AgentForgeWorkshop_Proposal_Revised_2-Day.pdf, sessions 1–8 and outcome rubric.</a:t>
            </a:r>
          </a:p>
          <a:p xmlns:a="http://schemas.openxmlformats.org/drawingml/2006/main">
            <a:r>
              <a:t>Source: agentforge-jarvis/src/agentforge_jarvis/ and workshop/ live lab; inspected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We will now connect the specialists. Keep the same section’s Day 1 and Day 2 outputs together.</a:t>
            </a:r>
          </a:p>
          <a:p xmlns:a="http://schemas.openxmlformats.org/drawingml/2006/main">
            <a:r>
              <a:t/>
            </a:r>
          </a:p>
          <a:p xmlns:a="http://schemas.openxmlformats.org/drawingml/2006/main">
            <a:r>
              <a:t>DEMONSTRATE / BUILD TOGETHER</a:t>
            </a:r>
          </a:p>
          <a:p xmlns:a="http://schemas.openxmlformats.org/drawingml/2006/main">
            <a:r>
              <a:t>Ask each member to explain their agent’s inputs, output and biggest limitation in one minute.</a:t>
            </a:r>
          </a:p>
          <a:p xmlns:a="http://schemas.openxmlformats.org/drawingml/2006/main">
            <a:r>
              <a:t/>
            </a:r>
          </a:p>
          <a:p xmlns:a="http://schemas.openxmlformats.org/drawingml/2006/main">
            <a:r>
              <a:t>ASK THE ROOM</a:t>
            </a:r>
          </a:p>
          <a:p xmlns:a="http://schemas.openxmlformats.org/drawingml/2006/main">
            <a:r>
              <a:t>What information does another function need from you?</a:t>
            </a:r>
          </a:p>
          <a:p xmlns:a="http://schemas.openxmlformats.org/drawingml/2006/main">
            <a:r>
              <a:t/>
            </a:r>
          </a:p>
          <a:p xmlns:a="http://schemas.openxmlformats.org/drawingml/2006/main">
            <a:r>
              <a:t>EXPECTED EVIDENCE</a:t>
            </a:r>
          </a:p>
          <a:p xmlns:a="http://schemas.openxmlformats.org/drawingml/2006/main">
            <a:r>
              <a:t>A concrete report field or decision constraint.</a:t>
            </a:r>
          </a:p>
          <a:p xmlns:a="http://schemas.openxmlformats.org/drawingml/2006/main">
            <a:r>
              <a:t/>
            </a:r>
          </a:p>
          <a:p xmlns:a="http://schemas.openxmlformats.org/drawingml/2006/main">
            <a:r>
              <a:t>IF STUCK</a:t>
            </a:r>
          </a:p>
          <a:p xmlns:a="http://schemas.openxmlformats.org/drawingml/2006/main">
            <a:r>
              <a:t>Check the current folder, saved file and exact input. Pair with a ready team while resolving setup.</a:t>
            </a:r>
          </a:p>
          <a:p xmlns:a="http://schemas.openxmlformats.org/drawingml/2006/main">
            <a:r>
              <a:t/>
            </a:r>
          </a:p>
          <a:p xmlns:a="http://schemas.openxmlformats.org/drawingml/2006/main">
            <a:r>
              <a:t>[Sources]</a:t>
            </a:r>
          </a:p>
          <a:p xmlns:a="http://schemas.openxmlformats.org/drawingml/2006/main">
            <a:r>
              <a:t>Source: agentforge-jarvis/src/agentforge_jarvis/ and workshop/ live lab; inspected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Arrows mean “needs information from,” not “these agents are chatting freely.” PRISM feeds the three specialists. Finance consumes Marketing, HR and Operations. General Management receives all five reports.</a:t>
            </a:r>
          </a:p>
          <a:p xmlns:a="http://schemas.openxmlformats.org/drawingml/2006/main">
            <a:r>
              <a:t/>
            </a:r>
          </a:p>
          <a:p xmlns:a="http://schemas.openxmlformats.org/drawingml/2006/main">
            <a:r>
              <a:t>DEMONSTRATE / DO TOGETHER</a:t>
            </a:r>
          </a:p>
          <a:p xmlns:a="http://schemas.openxmlformats.org/drawingml/2006/main">
            <a:r>
              <a:t>Trace a supplier risk into Operations, then Finance’s deliverable-sales cap, then General Management. Explain that the app runs this dependency order sequentially even though some roles are conceptually independent.</a:t>
            </a:r>
          </a:p>
          <a:p xmlns:a="http://schemas.openxmlformats.org/drawingml/2006/main">
            <a:r>
              <a:t/>
            </a:r>
          </a:p>
          <a:p xmlns:a="http://schemas.openxmlformats.org/drawingml/2006/main">
            <a:r>
              <a:t>ASK THE ROOM</a:t>
            </a:r>
          </a:p>
          <a:p xmlns:a="http://schemas.openxmlformats.org/drawingml/2006/main">
            <a:r>
              <a:t>Why do we not run General Management first?</a:t>
            </a:r>
          </a:p>
          <a:p xmlns:a="http://schemas.openxmlformats.org/drawingml/2006/main">
            <a:r>
              <a:t/>
            </a:r>
          </a:p>
          <a:p xmlns:a="http://schemas.openxmlformats.org/drawingml/2006/main">
            <a:r>
              <a:t>EXPECTED EVIDENCE</a:t>
            </a:r>
          </a:p>
          <a:p xmlns:a="http://schemas.openxmlformats.org/drawingml/2006/main">
            <a:r>
              <a:t>It would lack the specialist evidence needed to synthesize a decision.</a:t>
            </a:r>
          </a:p>
          <a:p xmlns:a="http://schemas.openxmlformats.org/drawingml/2006/main">
            <a:r>
              <a:t/>
            </a:r>
          </a:p>
          <a:p xmlns:a="http://schemas.openxmlformats.org/drawingml/2006/main">
            <a:r>
              <a:t>IF SOMEONE IS STUCK</a:t>
            </a:r>
          </a:p>
          <a:p xmlns:a="http://schemas.openxmlformats.org/drawingml/2006/main">
            <a:r>
              <a:t>Do not claim six autonomous computers or independent VMs. The app runs in one local Python process.</a:t>
            </a:r>
          </a:p>
          <a:p xmlns:a="http://schemas.openxmlformats.org/drawingml/2006/main">
            <a:r>
              <a:t/>
            </a:r>
          </a:p>
          <a:p xmlns:a="http://schemas.openxmlformats.org/drawingml/2006/main">
            <a:r>
              <a:t>[Sources]</a:t>
            </a:r>
          </a:p>
          <a:p xmlns:a="http://schemas.openxmlformats.org/drawingml/2006/main">
            <a:r>
              <a:t>https://docs.langchain.com/oss/python/langgraph/overview</a:t>
            </a:r>
          </a:p>
          <a:p xmlns:a="http://schemas.openxmlformats.org/drawingml/2006/main">
            <a:r>
              <a:t>Local source: agentforge-jarvis/src/agentforge_jarvis/engine.py; business.py; models.py; providers.py; app.py. Live workshop implementation; consult the acceptance record for verified calls.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These stores have different jobs. Current state coordinates this run; notes provide source evidence; conversation history carries recent discussion. A label does not create an authenticated user account.</a:t>
            </a:r>
          </a:p>
          <a:p xmlns:a="http://schemas.openxmlformats.org/drawingml/2006/main">
            <a:r>
              <a:t/>
            </a:r>
          </a:p>
          <a:p xmlns:a="http://schemas.openxmlformats.org/drawingml/2006/main">
            <a:r>
              <a:t>DEMONSTRATE / DO TOGETHER</a:t>
            </a:r>
          </a:p>
          <a:p xmlns:a="http://schemas.openxmlformats.org/drawingml/2006/main">
            <a:r>
              <a:t>Reload the page to show saved notes and runs survive. Explain that opening an archived run restores its saved scenario snapshot; a new run uses the current selected inputs.</a:t>
            </a:r>
          </a:p>
          <a:p xmlns:a="http://schemas.openxmlformats.org/drawingml/2006/main">
            <a:r>
              <a:t/>
            </a:r>
          </a:p>
          <a:p xmlns:a="http://schemas.openxmlformats.org/drawingml/2006/main">
            <a:r>
              <a:t>ASK THE ROOM</a:t>
            </a:r>
          </a:p>
          <a:p xmlns:a="http://schemas.openxmlformats.org/drawingml/2006/main">
            <a:r>
              <a:t>Would deleting a source note erase all earlier report citations?</a:t>
            </a:r>
          </a:p>
          <a:p xmlns:a="http://schemas.openxmlformats.org/drawingml/2006/main">
            <a:r>
              <a:t/>
            </a:r>
          </a:p>
          <a:p xmlns:a="http://schemas.openxmlformats.org/drawingml/2006/main">
            <a:r>
              <a:t>EXPECTED EVIDENCE</a:t>
            </a:r>
          </a:p>
          <a:p xmlns:a="http://schemas.openxmlformats.org/drawingml/2006/main">
            <a:r>
              <a:t>No. Earlier reports and conversations can retain snapshots.</a:t>
            </a:r>
          </a:p>
          <a:p xmlns:a="http://schemas.openxmlformats.org/drawingml/2006/main">
            <a:r>
              <a:t/>
            </a:r>
          </a:p>
          <a:p xmlns:a="http://schemas.openxmlformats.org/drawingml/2006/main">
            <a:r>
              <a:t>IF SOMEONE IS STUCK</a:t>
            </a:r>
          </a:p>
          <a:p xmlns:a="http://schemas.openxmlformats.org/drawingml/2006/main">
            <a:r>
              <a:t>Keep only fictional content during the workshop. The local team-ID boundary is not production multi-user security.</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Live workshop implementation; consult the acceptance record for verified calls.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Memory is saved evidence, not human recollection. The app searches topic words in a bounded set of team notes and returns excerpts.</a:t>
            </a:r>
          </a:p>
          <a:p xmlns:a="http://schemas.openxmlformats.org/drawingml/2006/main">
            <a:r>
              <a:t/>
            </a:r>
          </a:p>
          <a:p xmlns:a="http://schemas.openxmlformats.org/drawingml/2006/main">
            <a:r>
              <a:t>DEMONSTRATE / BUILD TOGETHER</a:t>
            </a:r>
          </a:p>
          <a:p xmlns:a="http://schemas.openxmlformats.org/drawingml/2006/main">
            <a:r>
              <a:t>Inspect a successful note match and a query with no matching evidence.</a:t>
            </a:r>
          </a:p>
          <a:p xmlns:a="http://schemas.openxmlformats.org/drawingml/2006/main">
            <a:r>
              <a:t/>
            </a:r>
          </a:p>
          <a:p xmlns:a="http://schemas.openxmlformats.org/drawingml/2006/main">
            <a:r>
              <a:t>ASK THE ROOM</a:t>
            </a:r>
          </a:p>
          <a:p xmlns:a="http://schemas.openxmlformats.org/drawingml/2006/main">
            <a:r>
              <a:t>What is the risk of keeping a stale note?</a:t>
            </a:r>
          </a:p>
          <a:p xmlns:a="http://schemas.openxmlformats.org/drawingml/2006/main">
            <a:r>
              <a:t/>
            </a:r>
          </a:p>
          <a:p xmlns:a="http://schemas.openxmlformats.org/drawingml/2006/main">
            <a:r>
              <a:t>EXPECTED EVIDENCE</a:t>
            </a:r>
          </a:p>
          <a:p xmlns:a="http://schemas.openxmlformats.org/drawingml/2006/main">
            <a:r>
              <a:t>A future answer may cite outdated information. Update sources and review existing snapshots separately.</a:t>
            </a:r>
          </a:p>
          <a:p xmlns:a="http://schemas.openxmlformats.org/drawingml/2006/main">
            <a:r>
              <a:t/>
            </a:r>
          </a:p>
          <a:p xmlns:a="http://schemas.openxmlformats.org/drawingml/2006/main">
            <a:r>
              <a:t>IF STUCK</a:t>
            </a:r>
          </a:p>
          <a:p xmlns:a="http://schemas.openxmlformats.org/drawingml/2006/main">
            <a:r>
              <a:t>Check the current folder, saved file and exact input. Pair with a ready team while resolving setup.</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Live workshop implementation; consult the acceptance record for verified calls.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A hand-off is a delivery with a required payload. Do not send only a confident summary if the next step needs quantities or constraints.</a:t>
            </a:r>
          </a:p>
          <a:p xmlns:a="http://schemas.openxmlformats.org/drawingml/2006/main">
            <a:r>
              <a:t/>
            </a:r>
          </a:p>
          <a:p xmlns:a="http://schemas.openxmlformats.org/drawingml/2006/main">
            <a:r>
              <a:t>DEMONSTRATE / BUILD TOGETHER</a:t>
            </a:r>
          </a:p>
          <a:p xmlns:a="http://schemas.openxmlformats.org/drawingml/2006/main">
            <a:r>
              <a:t>Ask teams to draw arrows and label the exact fields that travel.</a:t>
            </a:r>
          </a:p>
          <a:p xmlns:a="http://schemas.openxmlformats.org/drawingml/2006/main">
            <a:r>
              <a:t/>
            </a:r>
          </a:p>
          <a:p xmlns:a="http://schemas.openxmlformats.org/drawingml/2006/main">
            <a:r>
              <a:t>ASK THE ROOM</a:t>
            </a:r>
          </a:p>
          <a:p xmlns:a="http://schemas.openxmlformats.org/drawingml/2006/main">
            <a:r>
              <a:t>What would break if Finance counted all target units despite a supply shortfall?</a:t>
            </a:r>
          </a:p>
          <a:p xmlns:a="http://schemas.openxmlformats.org/drawingml/2006/main">
            <a:r>
              <a:t/>
            </a:r>
          </a:p>
          <a:p xmlns:a="http://schemas.openxmlformats.org/drawingml/2006/main">
            <a:r>
              <a:t>EXPECTED EVIDENCE</a:t>
            </a:r>
          </a:p>
          <a:p xmlns:a="http://schemas.openxmlformats.org/drawingml/2006/main">
            <a:r>
              <a:t>It would overstate sales capacity and weaken the decision.</a:t>
            </a:r>
          </a:p>
          <a:p xmlns:a="http://schemas.openxmlformats.org/drawingml/2006/main">
            <a:r>
              <a:t/>
            </a:r>
          </a:p>
          <a:p xmlns:a="http://schemas.openxmlformats.org/drawingml/2006/main">
            <a:r>
              <a:t>IF STUCK</a:t>
            </a:r>
          </a:p>
          <a:p xmlns:a="http://schemas.openxmlformats.org/drawingml/2006/main">
            <a:r>
              <a:t>Check the current folder, saved file and exact input. Pair with a ready team while resolving setup.</a:t>
            </a:r>
          </a:p>
          <a:p xmlns:a="http://schemas.openxmlformats.org/drawingml/2006/main">
            <a:r>
              <a:t/>
            </a:r>
          </a:p>
          <a:p xmlns:a="http://schemas.openxmlformats.org/drawingml/2006/main">
            <a:r>
              <a:t>[Sources]</a:t>
            </a:r>
          </a:p>
          <a:p xmlns:a="http://schemas.openxmlformats.org/drawingml/2006/main">
            <a:r>
              <a:t>Source: agentforge-jarvis/src/agentforge_jarvis/ and workshop/ live lab; inspected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The software can propose owners in an action plan; actual accountability belongs to people who accept the work.</a:t>
            </a:r>
          </a:p>
          <a:p xmlns:a="http://schemas.openxmlformats.org/drawingml/2006/main">
            <a:r>
              <a:t/>
            </a:r>
          </a:p>
          <a:p xmlns:a="http://schemas.openxmlformats.org/drawingml/2006/main">
            <a:r>
              <a:t>DEMONSTRATE / BUILD TOGETHER</a:t>
            </a:r>
          </a:p>
          <a:p xmlns:a="http://schemas.openxmlformats.org/drawingml/2006/main">
            <a:r>
              <a:t>Assign roles within the mixed team and write them on the workflow map.</a:t>
            </a:r>
          </a:p>
          <a:p xmlns:a="http://schemas.openxmlformats.org/drawingml/2006/main">
            <a:r>
              <a:t/>
            </a:r>
          </a:p>
          <a:p xmlns:a="http://schemas.openxmlformats.org/drawingml/2006/main">
            <a:r>
              <a:t>ASK THE ROOM</a:t>
            </a:r>
          </a:p>
          <a:p xmlns:a="http://schemas.openxmlformats.org/drawingml/2006/main">
            <a:r>
              <a:t>Who can authorize spending in this classroom exercise?</a:t>
            </a:r>
          </a:p>
          <a:p xmlns:a="http://schemas.openxmlformats.org/drawingml/2006/main">
            <a:r>
              <a:t/>
            </a:r>
          </a:p>
          <a:p xmlns:a="http://schemas.openxmlformats.org/drawingml/2006/main">
            <a:r>
              <a:t>EXPECTED EVIDENCE</a:t>
            </a:r>
          </a:p>
          <a:p xmlns:a="http://schemas.openxmlformats.org/drawingml/2006/main">
            <a:r>
              <a:t>No real spending is performed. The team identifies who would need to approve in a real organization.</a:t>
            </a:r>
          </a:p>
          <a:p xmlns:a="http://schemas.openxmlformats.org/drawingml/2006/main">
            <a:r>
              <a:t/>
            </a:r>
          </a:p>
          <a:p xmlns:a="http://schemas.openxmlformats.org/drawingml/2006/main">
            <a:r>
              <a:t>IF STUCK</a:t>
            </a:r>
          </a:p>
          <a:p xmlns:a="http://schemas.openxmlformats.org/drawingml/2006/main">
            <a:r>
              <a:t>Check the current folder, saved file and exact input. Pair with a ready team while resolving setup.</a:t>
            </a:r>
          </a:p>
          <a:p xmlns:a="http://schemas.openxmlformats.org/drawingml/2006/main">
            <a:r>
              <a:t/>
            </a:r>
          </a:p>
          <a:p xmlns:a="http://schemas.openxmlformats.org/drawingml/2006/main">
            <a:r>
              <a:t>[Sources]</a:t>
            </a:r>
          </a:p>
          <a:p xmlns:a="http://schemas.openxmlformats.org/drawingml/2006/main">
            <a:r>
              <a:t>Source: agentforge-jarvis/src/agentforge_jarvis/ and workshop/ live lab; inspected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The app persists each specialist report. Failed or interrupted runs remain visible, but exports require a completed run. A retry is a new provider request and may cost tokens.</a:t>
            </a:r>
          </a:p>
          <a:p xmlns:a="http://schemas.openxmlformats.org/drawingml/2006/main">
            <a:r>
              <a:t/>
            </a:r>
          </a:p>
          <a:p xmlns:a="http://schemas.openxmlformats.org/drawingml/2006/main">
            <a:r>
              <a:t>DEMONSTRATE / BUILD TOGETHER</a:t>
            </a:r>
          </a:p>
          <a:p xmlns:a="http://schemas.openxmlformats.org/drawingml/2006/main">
            <a:r>
              <a:t>Ask teams to choose one failure: bad input, quota, timeout or missing evidence. Write the expected response and owner.</a:t>
            </a:r>
          </a:p>
          <a:p xmlns:a="http://schemas.openxmlformats.org/drawingml/2006/main">
            <a:r>
              <a:t/>
            </a:r>
          </a:p>
          <a:p xmlns:a="http://schemas.openxmlformats.org/drawingml/2006/main">
            <a:r>
              <a:t>ASK THE ROOM</a:t>
            </a:r>
          </a:p>
          <a:p xmlns:a="http://schemas.openxmlformats.org/drawingml/2006/main">
            <a:r>
              <a:t>Should the system invent a missing specialist report to keep the screen green?</a:t>
            </a:r>
          </a:p>
          <a:p xmlns:a="http://schemas.openxmlformats.org/drawingml/2006/main">
            <a:r>
              <a:t/>
            </a:r>
          </a:p>
          <a:p xmlns:a="http://schemas.openxmlformats.org/drawingml/2006/main">
            <a:r>
              <a:t>EXPECTED EVIDENCE</a:t>
            </a:r>
          </a:p>
          <a:p xmlns:a="http://schemas.openxmlformats.org/drawingml/2006/main">
            <a:r>
              <a:t>No. A failure should remain explicit.</a:t>
            </a:r>
          </a:p>
          <a:p xmlns:a="http://schemas.openxmlformats.org/drawingml/2006/main">
            <a:r>
              <a:t/>
            </a:r>
          </a:p>
          <a:p xmlns:a="http://schemas.openxmlformats.org/drawingml/2006/main">
            <a:r>
              <a:t>IF STUCK</a:t>
            </a:r>
          </a:p>
          <a:p xmlns:a="http://schemas.openxmlformats.org/drawingml/2006/main">
            <a:r>
              <a:t>Check the current folder, saved file and exact input. Pair with a ready team while resolving setup.</a:t>
            </a:r>
          </a:p>
          <a:p xmlns:a="http://schemas.openxmlformats.org/drawingml/2006/main">
            <a:r>
              <a:t/>
            </a:r>
          </a:p>
          <a:p xmlns:a="http://schemas.openxmlformats.org/drawingml/2006/main">
            <a:r>
              <a:t>[Sources]</a:t>
            </a:r>
          </a:p>
          <a:p xmlns:a="http://schemas.openxmlformats.org/drawingml/2006/main">
            <a:r>
              <a:t>Source: agentforge-jarvis/src/agentforge_jarvis/ and workshop/ live lab; inspected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This session has one practical deliverable. Deliverable: a complete live swarm and inspectable decision package.</a:t>
            </a:r>
          </a:p>
          <a:p xmlns:a="http://schemas.openxmlformats.org/drawingml/2006/main">
            <a:r>
              <a:t/>
            </a:r>
          </a:p>
          <a:p xmlns:a="http://schemas.openxmlformats.org/drawingml/2006/main">
            <a:r>
              <a:t>DEMONSTRATE / BUILD TOGETHER</a:t>
            </a:r>
          </a:p>
          <a:p xmlns:a="http://schemas.openxmlformats.org/drawingml/2006/main">
            <a:r>
              <a:t>0–15: architecture and setup. 15–40: baseline live run. 40–60: evidence and tool trace. 60–75: compare a change. 75–90: export and peer check.</a:t>
            </a:r>
          </a:p>
          <a:p xmlns:a="http://schemas.openxmlformats.org/drawingml/2006/main">
            <a:r>
              <a:t/>
            </a:r>
          </a:p>
          <a:p xmlns:a="http://schemas.openxmlformats.org/drawingml/2006/main">
            <a:r>
              <a:t>ASK THE ROOM</a:t>
            </a:r>
          </a:p>
          <a:p xmlns:a="http://schemas.openxmlformats.org/drawingml/2006/main">
            <a:r>
              <a:t>What will we show before the break?</a:t>
            </a:r>
          </a:p>
          <a:p xmlns:a="http://schemas.openxmlformats.org/drawingml/2006/main">
            <a:r>
              <a:t/>
            </a:r>
          </a:p>
          <a:p xmlns:a="http://schemas.openxmlformats.org/drawingml/2006/main">
            <a:r>
              <a:t>EXPECTED EVIDENCE</a:t>
            </a:r>
          </a:p>
          <a:p xmlns:a="http://schemas.openxmlformats.org/drawingml/2006/main">
            <a:r>
              <a:t>Deliverable: a complete live swarm and inspectable decision package.</a:t>
            </a:r>
          </a:p>
          <a:p xmlns:a="http://schemas.openxmlformats.org/drawingml/2006/main">
            <a:r>
              <a:t/>
            </a:r>
          </a:p>
          <a:p xmlns:a="http://schemas.openxmlformats.org/drawingml/2006/main">
            <a:r>
              <a:t>IF STUCK</a:t>
            </a:r>
          </a:p>
          <a:p xmlns:a="http://schemas.openxmlformats.org/drawingml/2006/main">
            <a:r>
              <a:t>Check the current folder, saved file and exact input. Pair with a ready team while resolving setup.</a:t>
            </a:r>
          </a:p>
          <a:p xmlns:a="http://schemas.openxmlformats.org/drawingml/2006/main">
            <a:r>
              <a:t/>
            </a:r>
          </a:p>
          <a:p xmlns:a="http://schemas.openxmlformats.org/drawingml/2006/main">
            <a:r>
              <a:t>[Sources]</a:t>
            </a:r>
          </a:p>
          <a:p xmlns:a="http://schemas.openxmlformats.org/drawingml/2006/main">
            <a:r>
              <a:t>Source: LIBA_AgentForgeWorkshop_Proposal_Revised_2-Day.pdf, sessions 1–8 and outcome rubric.</a:t>
            </a:r>
          </a:p>
          <a:p xmlns:a="http://schemas.openxmlformats.org/drawingml/2006/main">
            <a:r>
              <a:t>Source: agentforge-jarvis/src/agentforge_jarvis/ and workshop/ live lab; inspected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The browser sends a request to our Python server. The server calls Gemini and the permitted tools, stores the results and streams activity back.</a:t>
            </a:r>
          </a:p>
          <a:p xmlns:a="http://schemas.openxmlformats.org/drawingml/2006/main">
            <a:r>
              <a:t/>
            </a:r>
          </a:p>
          <a:p xmlns:a="http://schemas.openxmlformats.org/drawingml/2006/main">
            <a:r>
              <a:t>DEMONSTRATE / BUILD TOGETHER</a:t>
            </a:r>
          </a:p>
          <a:p xmlns:a="http://schemas.openxmlformats.org/drawingml/2006/main">
            <a:r>
              <a:t>Locate app.py, engine.py and storage.py. Explain API as a service counter and SQLite as the local filing system.</a:t>
            </a:r>
          </a:p>
          <a:p xmlns:a="http://schemas.openxmlformats.org/drawingml/2006/main">
            <a:r>
              <a:t/>
            </a:r>
          </a:p>
          <a:p xmlns:a="http://schemas.openxmlformats.org/drawingml/2006/main">
            <a:r>
              <a:t>ASK THE ROOM</a:t>
            </a:r>
          </a:p>
          <a:p xmlns:a="http://schemas.openxmlformats.org/drawingml/2006/main">
            <a:r>
              <a:t>Why should the key stay on the server?</a:t>
            </a:r>
          </a:p>
          <a:p xmlns:a="http://schemas.openxmlformats.org/drawingml/2006/main">
            <a:r>
              <a:t/>
            </a:r>
          </a:p>
          <a:p xmlns:a="http://schemas.openxmlformats.org/drawingml/2006/main">
            <a:r>
              <a:t>EXPECTED EVIDENCE</a:t>
            </a:r>
          </a:p>
          <a:p xmlns:a="http://schemas.openxmlformats.org/drawingml/2006/main">
            <a:r>
              <a:t>It grants provider access and does not need to be sent to the browser.</a:t>
            </a:r>
          </a:p>
          <a:p xmlns:a="http://schemas.openxmlformats.org/drawingml/2006/main">
            <a:r>
              <a:t/>
            </a:r>
          </a:p>
          <a:p xmlns:a="http://schemas.openxmlformats.org/drawingml/2006/main">
            <a:r>
              <a:t>IF STUCK</a:t>
            </a:r>
          </a:p>
          <a:p xmlns:a="http://schemas.openxmlformats.org/drawingml/2006/main">
            <a:r>
              <a:t>Check the current folder, saved file and exact input. Pair with a ready team while resolving setup.</a:t>
            </a:r>
          </a:p>
          <a:p xmlns:a="http://schemas.openxmlformats.org/drawingml/2006/main">
            <a:r>
              <a:t/>
            </a:r>
          </a:p>
          <a:p xmlns:a="http://schemas.openxmlformats.org/drawingml/2006/main">
            <a:r>
              <a:t>[Sources]</a:t>
            </a:r>
          </a:p>
          <a:p xmlns:a="http://schemas.openxmlformats.org/drawingml/2006/main">
            <a:r>
              <a:t>Source: agentforge-jarvis/src/agentforge_jarvis/ and workshop/ live lab; inspected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A baseline gives us something fair to compare against. If we change three settings first, we cannot tell what caused a difference.</a:t>
            </a:r>
          </a:p>
          <a:p xmlns:a="http://schemas.openxmlformats.org/drawingml/2006/main">
            <a:r>
              <a:t/>
            </a:r>
          </a:p>
          <a:p xmlns:a="http://schemas.openxmlformats.org/drawingml/2006/main">
            <a:r>
              <a:t>DEMONSTRATE / DO TOGETHER</a:t>
            </a:r>
          </a:p>
          <a:p xmlns:a="http://schemas.openxmlformats.org/drawingml/2006/main">
            <a:r>
              <a:t>Click Baseline launch and Run launch swarm. Allow the paced live run to finish; inspect the saved reports and event list afterward. Show 6/6 complete and the final recommendation.</a:t>
            </a:r>
          </a:p>
          <a:p xmlns:a="http://schemas.openxmlformats.org/drawingml/2006/main">
            <a:r>
              <a:t/>
            </a:r>
          </a:p>
          <a:p xmlns:a="http://schemas.openxmlformats.org/drawingml/2006/main">
            <a:r>
              <a:t>ASK THE ROOM</a:t>
            </a:r>
          </a:p>
          <a:p xmlns:a="http://schemas.openxmlformats.org/drawingml/2006/main">
            <a:r>
              <a:t>Why does the baseline say conditional rather than approved?</a:t>
            </a:r>
          </a:p>
          <a:p xmlns:a="http://schemas.openxmlformats.org/drawingml/2006/main">
            <a:r>
              <a:t/>
            </a:r>
          </a:p>
          <a:p xmlns:a="http://schemas.openxmlformats.org/drawingml/2006/main">
            <a:r>
              <a:t>EXPECTED EVIDENCE</a:t>
            </a:r>
          </a:p>
          <a:p xmlns:a="http://schemas.openxmlformats.org/drawingml/2006/main">
            <a:r>
              <a:t>It is decision support. Supply, people, customer claims and human authorization still need review.</a:t>
            </a:r>
          </a:p>
          <a:p xmlns:a="http://schemas.openxmlformats.org/drawingml/2006/main">
            <a:r>
              <a:t/>
            </a:r>
          </a:p>
          <a:p xmlns:a="http://schemas.openxmlformats.org/drawingml/2006/main">
            <a:r>
              <a:t>IF SOMEONE IS STUCK</a:t>
            </a:r>
          </a:p>
          <a:p xmlns:a="http://schemas.openxmlformats.org/drawingml/2006/main">
            <a:r>
              <a:t>Pause for one pair to show the checkpoint before continuing.</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Live workshop implementation; consult the acceptance record for verified calls.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Live models may group calls, repeat them or need one correction. Count completed tools separately from started events.</a:t>
            </a:r>
          </a:p>
          <a:p xmlns:a="http://schemas.openxmlformats.org/drawingml/2006/main">
            <a:r>
              <a:t/>
            </a:r>
          </a:p>
          <a:p xmlns:a="http://schemas.openxmlformats.org/drawingml/2006/main">
            <a:r>
              <a:t>DEMONSTRATE / BUILD TOGETHER</a:t>
            </a:r>
          </a:p>
          <a:p xmlns:a="http://schemas.openxmlformats.org/drawingml/2006/main">
            <a:r>
              <a:t>Show read_brief, the domain tool and search_memory. An accepted report must include all three.</a:t>
            </a:r>
          </a:p>
          <a:p xmlns:a="http://schemas.openxmlformats.org/drawingml/2006/main">
            <a:r>
              <a:t/>
            </a:r>
          </a:p>
          <a:p xmlns:a="http://schemas.openxmlformats.org/drawingml/2006/main">
            <a:r>
              <a:t>ASK THE ROOM</a:t>
            </a:r>
          </a:p>
          <a:p xmlns:a="http://schemas.openxmlformats.org/drawingml/2006/main">
            <a:r>
              <a:t>Does the trace reveal hidden reasoning?</a:t>
            </a:r>
          </a:p>
          <a:p xmlns:a="http://schemas.openxmlformats.org/drawingml/2006/main">
            <a:r>
              <a:t/>
            </a:r>
          </a:p>
          <a:p xmlns:a="http://schemas.openxmlformats.org/drawingml/2006/main">
            <a:r>
              <a:t>EXPECTED EVIDENCE</a:t>
            </a:r>
          </a:p>
          <a:p xmlns:a="http://schemas.openxmlformats.org/drawingml/2006/main">
            <a:r>
              <a:t>No. It shows observable calls and completion events.</a:t>
            </a:r>
          </a:p>
          <a:p xmlns:a="http://schemas.openxmlformats.org/drawingml/2006/main">
            <a:r>
              <a:t/>
            </a:r>
          </a:p>
          <a:p xmlns:a="http://schemas.openxmlformats.org/drawingml/2006/main">
            <a:r>
              <a:t>IF STUCK</a:t>
            </a:r>
          </a:p>
          <a:p xmlns:a="http://schemas.openxmlformats.org/drawingml/2006/main">
            <a:r>
              <a:t>Check the current folder, saved file and exact input. Pair with a ready team while resolving setup.</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Live workshop implementation; consult the acceptance record for verified calls.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A confident paragraph is hard to audit. A report with evidence and explicit assumptions is easier to question. The narrative is displayed separately from calculated facts.</a:t>
            </a:r>
          </a:p>
          <a:p xmlns:a="http://schemas.openxmlformats.org/drawingml/2006/main">
            <a:r>
              <a:t/>
            </a:r>
          </a:p>
          <a:p xmlns:a="http://schemas.openxmlformats.org/drawingml/2006/main">
            <a:r>
              <a:t>DEMONSTRATE / DO TOGETHER</a:t>
            </a:r>
          </a:p>
          <a:p xmlns:a="http://schemas.openxmlformats.org/drawingml/2006/main">
            <a:r>
              <a:t>Open LEDGER’s report. Show cash required, funding gap, source arithmetic, assumptions and the named Finance action.</a:t>
            </a:r>
          </a:p>
          <a:p xmlns:a="http://schemas.openxmlformats.org/drawingml/2006/main">
            <a:r>
              <a:t/>
            </a:r>
          </a:p>
          <a:p xmlns:a="http://schemas.openxmlformats.org/drawingml/2006/main">
            <a:r>
              <a:t>ASK THE ROOM</a:t>
            </a:r>
          </a:p>
          <a:p xmlns:a="http://schemas.openxmlformats.org/drawingml/2006/main">
            <a:r>
              <a:t>Which assumption would matter in a real launch?</a:t>
            </a:r>
          </a:p>
          <a:p xmlns:a="http://schemas.openxmlformats.org/drawingml/2006/main">
            <a:r>
              <a:t/>
            </a:r>
          </a:p>
          <a:p xmlns:a="http://schemas.openxmlformats.org/drawingml/2006/main">
            <a:r>
              <a:t>EXPECTED EVIDENCE</a:t>
            </a:r>
          </a:p>
          <a:p xmlns:a="http://schemas.openxmlformats.org/drawingml/2006/main">
            <a:r>
              <a:t>Examples include delayed customer payments, returns, taxes or supplier downtime. Those are not modelled in the default exercise.</a:t>
            </a:r>
          </a:p>
          <a:p xmlns:a="http://schemas.openxmlformats.org/drawingml/2006/main">
            <a:r>
              <a:t/>
            </a:r>
          </a:p>
          <a:p xmlns:a="http://schemas.openxmlformats.org/drawingml/2006/main">
            <a:r>
              <a:t>IF SOMEONE IS STUCK</a:t>
            </a:r>
          </a:p>
          <a:p xmlns:a="http://schemas.openxmlformats.org/drawingml/2006/main">
            <a:r>
              <a:t>Pause for one pair to show the checkpoint before continuing.</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Live workshop implementation; consult the acceptance record for verified calls.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Finance cannot make a coherent plan from budget alone. It needs the campaign spend, staffing allowance and actual deliverable units. These reports become tool inputs.</a:t>
            </a:r>
          </a:p>
          <a:p xmlns:a="http://schemas.openxmlformats.org/drawingml/2006/main">
            <a:r>
              <a:t/>
            </a:r>
          </a:p>
          <a:p xmlns:a="http://schemas.openxmlformats.org/drawingml/2006/main">
            <a:r>
              <a:t>DEMONSTRATE / DO TOGETHER</a:t>
            </a:r>
          </a:p>
          <a:p xmlns:a="http://schemas.openxmlformats.org/drawingml/2006/main">
            <a:r>
              <a:t>Inspect source evidence in LEDGER: campaign allowance, staffing and the Operations delivery cap. Explain why a large demand number cannot automatically become revenue.</a:t>
            </a:r>
          </a:p>
          <a:p xmlns:a="http://schemas.openxmlformats.org/drawingml/2006/main">
            <a:r>
              <a:t/>
            </a:r>
          </a:p>
          <a:p xmlns:a="http://schemas.openxmlformats.org/drawingml/2006/main">
            <a:r>
              <a:t>ASK THE ROOM</a:t>
            </a:r>
          </a:p>
          <a:p xmlns:a="http://schemas.openxmlformats.org/drawingml/2006/main">
            <a:r>
              <a:t>Which is the upper bound for sales in these scenarios: demand or deliverable units?</a:t>
            </a:r>
          </a:p>
          <a:p xmlns:a="http://schemas.openxmlformats.org/drawingml/2006/main">
            <a:r>
              <a:t/>
            </a:r>
          </a:p>
          <a:p xmlns:a="http://schemas.openxmlformats.org/drawingml/2006/main">
            <a:r>
              <a:t>EXPECTED EVIDENCE</a:t>
            </a:r>
          </a:p>
          <a:p xmlns:a="http://schemas.openxmlformats.org/drawingml/2006/main">
            <a:r>
              <a:t>Sales cannot exceed either. The simplified model caps sold units at deliverable capacity.</a:t>
            </a:r>
          </a:p>
          <a:p xmlns:a="http://schemas.openxmlformats.org/drawingml/2006/main">
            <a:r>
              <a:t/>
            </a:r>
          </a:p>
          <a:p xmlns:a="http://schemas.openxmlformats.org/drawingml/2006/main">
            <a:r>
              <a:t>IF SOMEONE IS STUCK</a:t>
            </a:r>
          </a:p>
          <a:p xmlns:a="http://schemas.openxmlformats.org/drawingml/2006/main">
            <a:r>
              <a:t>Pause for one pair to show the checkpoint before continuing.</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Live workshop implementation; consult the acceptance record for verified calls.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The important change is not the colour of the badge. It is a mismatch between approved cash and planned spending that leads to a different recommendation.</a:t>
            </a:r>
          </a:p>
          <a:p xmlns:a="http://schemas.openxmlformats.org/drawingml/2006/main">
            <a:r>
              <a:t/>
            </a:r>
          </a:p>
          <a:p xmlns:a="http://schemas.openxmlformats.org/drawingml/2006/main">
            <a:r>
              <a:t>DEMONSTRATE / DO TOGETHER</a:t>
            </a:r>
          </a:p>
          <a:p xmlns:a="http://schemas.openxmlformats.org/drawingml/2006/main">
            <a:r>
              <a:t>Open Run Archive, select the baseline and budget-cut checkboxes, and read the comparison. Confirm both runs use the default base inputs.</a:t>
            </a:r>
          </a:p>
          <a:p xmlns:a="http://schemas.openxmlformats.org/drawingml/2006/main">
            <a:r>
              <a:t/>
            </a:r>
          </a:p>
          <a:p xmlns:a="http://schemas.openxmlformats.org/drawingml/2006/main">
            <a:r>
              <a:t>ASK THE ROOM</a:t>
            </a:r>
          </a:p>
          <a:p xmlns:a="http://schemas.openxmlformats.org/drawingml/2006/main">
            <a:r>
              <a:t>What must change to resolve the hold?</a:t>
            </a:r>
          </a:p>
          <a:p xmlns:a="http://schemas.openxmlformats.org/drawingml/2006/main">
            <a:r>
              <a:t/>
            </a:r>
          </a:p>
          <a:p xmlns:a="http://schemas.openxmlformats.org/drawingml/2006/main">
            <a:r>
              <a:t>EXPECTED EVIDENCE</a:t>
            </a:r>
          </a:p>
          <a:p xmlns:a="http://schemas.openxmlformats.org/drawingml/2006/main">
            <a:r>
              <a:t>A credible revision to launch scope, cost, funding or timing that passes the relevant gates; a more optimistic prompt is not enough.</a:t>
            </a:r>
          </a:p>
          <a:p xmlns:a="http://schemas.openxmlformats.org/drawingml/2006/main">
            <a:r>
              <a:t/>
            </a:r>
          </a:p>
          <a:p xmlns:a="http://schemas.openxmlformats.org/drawingml/2006/main">
            <a:r>
              <a:t>IF SOMEONE IS STUCK</a:t>
            </a:r>
          </a:p>
          <a:p xmlns:a="http://schemas.openxmlformats.org/drawingml/2006/main">
            <a:r>
              <a:t>If no comparison appears, select exactly two completed runs, not a failed run or three checkboxes.</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Live workshop implementation; consult the acceptance record for verified calls.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A screenshot can hide the inputs. The exported package includes the scenario and specialist detail so someone else can understand how the result was produced.</a:t>
            </a:r>
          </a:p>
          <a:p xmlns:a="http://schemas.openxmlformats.org/drawingml/2006/main">
            <a:r>
              <a:t/>
            </a:r>
          </a:p>
          <a:p xmlns:a="http://schemas.openxmlformats.org/drawingml/2006/main">
            <a:r>
              <a:t>DEMONSTRATE / DO TOGETHER</a:t>
            </a:r>
          </a:p>
          <a:p xmlns:a="http://schemas.openxmlformats.org/drawingml/2006/main">
            <a:r>
              <a:t>Use Export brief for Markdown and JSON for structured data. Save both with a meaningful team-and-challenge filename. Read one exported section before calling the activity complete.</a:t>
            </a:r>
          </a:p>
          <a:p xmlns:a="http://schemas.openxmlformats.org/drawingml/2006/main">
            <a:r>
              <a:t/>
            </a:r>
          </a:p>
          <a:p xmlns:a="http://schemas.openxmlformats.org/drawingml/2006/main">
            <a:r>
              <a:t>ASK THE ROOM</a:t>
            </a:r>
          </a:p>
          <a:p xmlns:a="http://schemas.openxmlformats.org/drawingml/2006/main">
            <a:r>
              <a:t>What makes this stronger evidence than a screenshot of HOLD?</a:t>
            </a:r>
          </a:p>
          <a:p xmlns:a="http://schemas.openxmlformats.org/drawingml/2006/main">
            <a:r>
              <a:t/>
            </a:r>
          </a:p>
          <a:p xmlns:a="http://schemas.openxmlformats.org/drawingml/2006/main">
            <a:r>
              <a:t>EXPECTED EVIDENCE</a:t>
            </a:r>
          </a:p>
          <a:p xmlns:a="http://schemas.openxmlformats.org/drawingml/2006/main">
            <a:r>
              <a:t>The reviewer can see the input snapshot and the arithmetic that caused the hold.</a:t>
            </a:r>
          </a:p>
          <a:p xmlns:a="http://schemas.openxmlformats.org/drawingml/2006/main">
            <a:r>
              <a:t/>
            </a:r>
          </a:p>
          <a:p xmlns:a="http://schemas.openxmlformats.org/drawingml/2006/main">
            <a:r>
              <a:t>IF SOMEONE IS STUCK</a:t>
            </a:r>
          </a:p>
          <a:p xmlns:a="http://schemas.openxmlformats.org/drawingml/2006/main">
            <a:r>
              <a:t>Only completed runs have executive exports. If a run failed, fix the cause and rerun instead of presenting it as a completed package.</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Live workshop implementation; consult the acceptance record for verified calls.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Swap exported packages with another team. They should understand the conclusion without watching your demonstration.</a:t>
            </a:r>
          </a:p>
          <a:p xmlns:a="http://schemas.openxmlformats.org/drawingml/2006/main">
            <a:r>
              <a:t/>
            </a:r>
          </a:p>
          <a:p xmlns:a="http://schemas.openxmlformats.org/drawingml/2006/main">
            <a:r>
              <a:t>DEMONSTRATE / BUILD TOGETHER</a:t>
            </a:r>
          </a:p>
          <a:p xmlns:a="http://schemas.openxmlformats.org/drawingml/2006/main">
            <a:r>
              <a:t>Allow ten minutes to inspect each other’s evidence and ask one clarification.</a:t>
            </a:r>
          </a:p>
          <a:p xmlns:a="http://schemas.openxmlformats.org/drawingml/2006/main">
            <a:r>
              <a:t/>
            </a:r>
          </a:p>
          <a:p xmlns:a="http://schemas.openxmlformats.org/drawingml/2006/main">
            <a:r>
              <a:t>ASK THE ROOM</a:t>
            </a:r>
          </a:p>
          <a:p xmlns:a="http://schemas.openxmlformats.org/drawingml/2006/main">
            <a:r>
              <a:t>Which missing field would make the package difficult to trust?</a:t>
            </a:r>
          </a:p>
          <a:p xmlns:a="http://schemas.openxmlformats.org/drawingml/2006/main">
            <a:r>
              <a:t/>
            </a:r>
          </a:p>
          <a:p xmlns:a="http://schemas.openxmlformats.org/drawingml/2006/main">
            <a:r>
              <a:t>EXPECTED EVIDENCE</a:t>
            </a:r>
          </a:p>
          <a:p xmlns:a="http://schemas.openxmlformats.org/drawingml/2006/main">
            <a:r>
              <a:t>Inputs, tool arithmetic, sources, assumptions or decision owner.</a:t>
            </a:r>
          </a:p>
          <a:p xmlns:a="http://schemas.openxmlformats.org/drawingml/2006/main">
            <a:r>
              <a:t/>
            </a:r>
          </a:p>
          <a:p xmlns:a="http://schemas.openxmlformats.org/drawingml/2006/main">
            <a:r>
              <a:t>IF STUCK</a:t>
            </a:r>
          </a:p>
          <a:p xmlns:a="http://schemas.openxmlformats.org/drawingml/2006/main">
            <a:r>
              <a:t>Check the current folder, saved file and exact input. Pair with a ready team while resolving setup.</a:t>
            </a:r>
          </a:p>
          <a:p xmlns:a="http://schemas.openxmlformats.org/drawingml/2006/main">
            <a:r>
              <a:t/>
            </a:r>
          </a:p>
          <a:p xmlns:a="http://schemas.openxmlformats.org/drawingml/2006/main">
            <a:r>
              <a:t>[Sources]</a:t>
            </a:r>
          </a:p>
          <a:p xmlns:a="http://schemas.openxmlformats.org/drawingml/2006/main">
            <a:r>
              <a:t>Source: agentforge-jarvis/src/agentforge_jarvis/ and workshop/ live lab; inspected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This session has one practical deliverable. Deliverable: a before-and-after improvement with a test.</a:t>
            </a:r>
          </a:p>
          <a:p xmlns:a="http://schemas.openxmlformats.org/drawingml/2006/main">
            <a:r>
              <a:t/>
            </a:r>
          </a:p>
          <a:p xmlns:a="http://schemas.openxmlformats.org/drawingml/2006/main">
            <a:r>
              <a:t>DEMONSTRATE / BUILD TOGETHER</a:t>
            </a:r>
          </a:p>
          <a:p xmlns:a="http://schemas.openxmlformats.org/drawingml/2006/main">
            <a:r>
              <a:t>0–20: reliability and limits. 20–40: adversarial tests. 40–60: fix the highest-priority issue. 60–75: speed and cost review. 75–90: evidence card.</a:t>
            </a:r>
          </a:p>
          <a:p xmlns:a="http://schemas.openxmlformats.org/drawingml/2006/main">
            <a:r>
              <a:t/>
            </a:r>
          </a:p>
          <a:p xmlns:a="http://schemas.openxmlformats.org/drawingml/2006/main">
            <a:r>
              <a:t>ASK THE ROOM</a:t>
            </a:r>
          </a:p>
          <a:p xmlns:a="http://schemas.openxmlformats.org/drawingml/2006/main">
            <a:r>
              <a:t>What will we show before the break?</a:t>
            </a:r>
          </a:p>
          <a:p xmlns:a="http://schemas.openxmlformats.org/drawingml/2006/main">
            <a:r>
              <a:t/>
            </a:r>
          </a:p>
          <a:p xmlns:a="http://schemas.openxmlformats.org/drawingml/2006/main">
            <a:r>
              <a:t>EXPECTED EVIDENCE</a:t>
            </a:r>
          </a:p>
          <a:p xmlns:a="http://schemas.openxmlformats.org/drawingml/2006/main">
            <a:r>
              <a:t>Deliverable: a before-and-after improvement with a test.</a:t>
            </a:r>
          </a:p>
          <a:p xmlns:a="http://schemas.openxmlformats.org/drawingml/2006/main">
            <a:r>
              <a:t/>
            </a:r>
          </a:p>
          <a:p xmlns:a="http://schemas.openxmlformats.org/drawingml/2006/main">
            <a:r>
              <a:t>IF STUCK</a:t>
            </a:r>
          </a:p>
          <a:p xmlns:a="http://schemas.openxmlformats.org/drawingml/2006/main">
            <a:r>
              <a:t>Check the current folder, saved file and exact input. Pair with a ready team while resolving setup.</a:t>
            </a:r>
          </a:p>
          <a:p xmlns:a="http://schemas.openxmlformats.org/drawingml/2006/main">
            <a:r>
              <a:t/>
            </a:r>
          </a:p>
          <a:p xmlns:a="http://schemas.openxmlformats.org/drawingml/2006/main">
            <a:r>
              <a:t>[Sources]</a:t>
            </a:r>
          </a:p>
          <a:p xmlns:a="http://schemas.openxmlformats.org/drawingml/2006/main">
            <a:r>
              <a:t>Source: LIBA_AgentForgeWorkshop_Proposal_Revised_2-Day.pdf, sessions 1–8 and outcome rubric.</a:t>
            </a:r>
          </a:p>
          <a:p xmlns:a="http://schemas.openxmlformats.org/drawingml/2006/main">
            <a:r>
              <a:t>Source: agentforge-jarvis/src/agentforge_jarvis/ and workshop/ live lab; inspected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Human review is not a decorative disclaimer at the end. It is a decision step with a person who checks the evidence and owns the action.</a:t>
            </a:r>
          </a:p>
          <a:p xmlns:a="http://schemas.openxmlformats.org/drawingml/2006/main">
            <a:r>
              <a:t/>
            </a:r>
          </a:p>
          <a:p xmlns:a="http://schemas.openxmlformats.org/drawingml/2006/main">
            <a:r>
              <a:t>DEMONSTRATE / DO TOGETHER</a:t>
            </a:r>
          </a:p>
          <a:p xmlns:a="http://schemas.openxmlformats.org/drawingml/2006/main">
            <a:r>
              <a:t>Show the accountable actions in a report. Ask who will sign off on spending, people decisions and product claims in the fictional case.</a:t>
            </a:r>
          </a:p>
          <a:p xmlns:a="http://schemas.openxmlformats.org/drawingml/2006/main">
            <a:r>
              <a:t/>
            </a:r>
          </a:p>
          <a:p xmlns:a="http://schemas.openxmlformats.org/drawingml/2006/main">
            <a:r>
              <a:t>ASK THE ROOM</a:t>
            </a:r>
          </a:p>
          <a:p xmlns:a="http://schemas.openxmlformats.org/drawingml/2006/main">
            <a:r>
              <a:t>What would be a bad use of the candidate score?</a:t>
            </a:r>
          </a:p>
          <a:p xmlns:a="http://schemas.openxmlformats.org/drawingml/2006/main">
            <a:r>
              <a:t/>
            </a:r>
          </a:p>
          <a:p xmlns:a="http://schemas.openxmlformats.org/drawingml/2006/main">
            <a:r>
              <a:t>EXPECTED EVIDENCE</a:t>
            </a:r>
          </a:p>
          <a:p xmlns:a="http://schemas.openxmlformats.org/drawingml/2006/main">
            <a:r>
              <a:t>Treating it as an automatic hiring decision. The system deliberately provides a review worksheet, not an employment decision.</a:t>
            </a:r>
          </a:p>
          <a:p xmlns:a="http://schemas.openxmlformats.org/drawingml/2006/main">
            <a:r>
              <a:t/>
            </a:r>
          </a:p>
          <a:p xmlns:a="http://schemas.openxmlformats.org/drawingml/2006/main">
            <a:r>
              <a:t>IF SOMEONE IS STUCK</a:t>
            </a:r>
          </a:p>
          <a:p xmlns:a="http://schemas.openxmlformats.org/drawingml/2006/main">
            <a:r>
              <a:t>Pause for one pair to show the checkpoint before continuing.</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Live workshop implementation; consult the acceptance record for verified calls.</a:t>
            </a:r>
          </a:p>
          <a:p xmlns:a="http://schemas.openxmlformats.org/drawingml/2006/main">
            <a:r>
              <a:t>Original evidence-review illustration generated with built-in image_gen, 3 September 2026. Asset: workshop/assets/evidence-review.png.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Test one failure mode deliberately, with fictional data. The model may quote malicious source text, but must not treat it as authority. Deterministic metrics and HOLD gates should remain intact.</a:t>
            </a:r>
          </a:p>
          <a:p xmlns:a="http://schemas.openxmlformats.org/drawingml/2006/main">
            <a:r>
              <a:t/>
            </a:r>
          </a:p>
          <a:p xmlns:a="http://schemas.openxmlformats.org/drawingml/2006/main">
            <a:r>
              <a:t>DEMONSTRATE / BUILD TOGETHER</a:t>
            </a:r>
          </a:p>
          <a:p xmlns:a="http://schemas.openxmlformats.org/drawingml/2006/main">
            <a:r>
              <a:t>Run invalid survey data, an absent evidence query, and an untrusted note that says ignore the budget. Check narrative separately from tool facts.</a:t>
            </a:r>
          </a:p>
          <a:p xmlns:a="http://schemas.openxmlformats.org/drawingml/2006/main">
            <a:r>
              <a:t/>
            </a:r>
          </a:p>
          <a:p xmlns:a="http://schemas.openxmlformats.org/drawingml/2006/main">
            <a:r>
              <a:t>ASK THE ROOM</a:t>
            </a:r>
          </a:p>
          <a:p xmlns:a="http://schemas.openxmlformats.org/drawingml/2006/main">
            <a:r>
              <a:t>Does protecting one field prove the system is fair and secure?</a:t>
            </a:r>
          </a:p>
          <a:p xmlns:a="http://schemas.openxmlformats.org/drawingml/2006/main">
            <a:r>
              <a:t/>
            </a:r>
          </a:p>
          <a:p xmlns:a="http://schemas.openxmlformats.org/drawingml/2006/main">
            <a:r>
              <a:t>EXPECTED EVIDENCE</a:t>
            </a:r>
          </a:p>
          <a:p xmlns:a="http://schemas.openxmlformats.org/drawingml/2006/main">
            <a:r>
              <a:t>No. Record the exact behavior tested and the limits of that test.</a:t>
            </a:r>
          </a:p>
          <a:p xmlns:a="http://schemas.openxmlformats.org/drawingml/2006/main">
            <a:r>
              <a:t/>
            </a:r>
          </a:p>
          <a:p xmlns:a="http://schemas.openxmlformats.org/drawingml/2006/main">
            <a:r>
              <a:t>IF STUCK</a:t>
            </a:r>
          </a:p>
          <a:p xmlns:a="http://schemas.openxmlformats.org/drawingml/2006/main">
            <a:r>
              <a:t>Check the current folder, saved file and exact input. Pair with a ready team while resolving setup.</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Live workshop implementation; consult the acceptance record for verified calls.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A test has a specific claim. “Source evidence present” means the report names evidence; it is not a guarantee that the input data represents reality. A narrow honest test is more useful than an inflated safety score.</a:t>
            </a:r>
          </a:p>
          <a:p xmlns:a="http://schemas.openxmlformats.org/drawingml/2006/main">
            <a:r>
              <a:t/>
            </a:r>
          </a:p>
          <a:p xmlns:a="http://schemas.openxmlformats.org/drawingml/2006/main">
            <a:r>
              <a:t>DEMONSTRATE / DO TOGETHER</a:t>
            </a:r>
          </a:p>
          <a:p xmlns:a="http://schemas.openxmlformats.org/drawingml/2006/main">
            <a:r>
              <a:t>Open Workshop Lab and read one check name and detail. Ask learners to explain its boundary.</a:t>
            </a:r>
          </a:p>
          <a:p xmlns:a="http://schemas.openxmlformats.org/drawingml/2006/main">
            <a:r>
              <a:t/>
            </a:r>
          </a:p>
          <a:p xmlns:a="http://schemas.openxmlformats.org/drawingml/2006/main">
            <a:r>
              <a:t>ASK THE ROOM</a:t>
            </a:r>
          </a:p>
          <a:p xmlns:a="http://schemas.openxmlformats.org/drawingml/2006/main">
            <a:r>
              <a:t>What extra evidence would we need before real organizational use?</a:t>
            </a:r>
          </a:p>
          <a:p xmlns:a="http://schemas.openxmlformats.org/drawingml/2006/main">
            <a:r>
              <a:t/>
            </a:r>
          </a:p>
          <a:p xmlns:a="http://schemas.openxmlformats.org/drawingml/2006/main">
            <a:r>
              <a:t>EXPECTED EVIDENCE</a:t>
            </a:r>
          </a:p>
          <a:p xmlns:a="http://schemas.openxmlformats.org/drawingml/2006/main">
            <a:r>
              <a:t>Domain review, real-data validation, live-model evaluation, security/authentication and operational testing appropriate to the use case.</a:t>
            </a:r>
          </a:p>
          <a:p xmlns:a="http://schemas.openxmlformats.org/drawingml/2006/main">
            <a:r>
              <a:t/>
            </a:r>
          </a:p>
          <a:p xmlns:a="http://schemas.openxmlformats.org/drawingml/2006/main">
            <a:r>
              <a:t>IF SOMEONE IS STUCK</a:t>
            </a:r>
          </a:p>
          <a:p xmlns:a="http://schemas.openxmlformats.org/drawingml/2006/main">
            <a:r>
              <a:t>Pause for one pair to show the checkpoint before continuing.</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Live workshop implementation; consult the acceptance record for verified calls.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A token is a small piece of text processed by the model. Tools and previous reports can add input tokens. Six agents do not mean six API calls.</a:t>
            </a:r>
          </a:p>
          <a:p xmlns:a="http://schemas.openxmlformats.org/drawingml/2006/main">
            <a:r>
              <a:t/>
            </a:r>
          </a:p>
          <a:p xmlns:a="http://schemas.openxmlformats.org/drawingml/2006/main">
            <a:r>
              <a:t>DEMONSTRATE / BUILD TOGETHER</a:t>
            </a:r>
          </a:p>
          <a:p xmlns:a="http://schemas.openxmlformats.org/drawingml/2006/main">
            <a:r>
              <a:t>Open the JSON export and inspect each report usage. Compare duration and call count. Check the actual API project quota before running many pairs together.</a:t>
            </a:r>
          </a:p>
          <a:p xmlns:a="http://schemas.openxmlformats.org/drawingml/2006/main">
            <a:r>
              <a:t/>
            </a:r>
          </a:p>
          <a:p xmlns:a="http://schemas.openxmlformats.org/drawingml/2006/main">
            <a:r>
              <a:t>ASK THE ROOM</a:t>
            </a:r>
          </a:p>
          <a:p xmlns:a="http://schemas.openxmlformats.org/drawingml/2006/main">
            <a:r>
              <a:t>Why can repeated clicks make a classroom slower and more expensive?</a:t>
            </a:r>
          </a:p>
          <a:p xmlns:a="http://schemas.openxmlformats.org/drawingml/2006/main">
            <a:r>
              <a:t/>
            </a:r>
          </a:p>
          <a:p xmlns:a="http://schemas.openxmlformats.org/drawingml/2006/main">
            <a:r>
              <a:t>EXPECTED EVIDENCE</a:t>
            </a:r>
          </a:p>
          <a:p xmlns:a="http://schemas.openxmlformats.org/drawingml/2006/main">
            <a:r>
              <a:t>They submit additional provider work. The app restricts concurrent requests and duplicate work within a team.</a:t>
            </a:r>
          </a:p>
          <a:p xmlns:a="http://schemas.openxmlformats.org/drawingml/2006/main">
            <a:r>
              <a:t/>
            </a:r>
          </a:p>
          <a:p xmlns:a="http://schemas.openxmlformats.org/drawingml/2006/main">
            <a:r>
              <a:t>IF STUCK</a:t>
            </a:r>
          </a:p>
          <a:p xmlns:a="http://schemas.openxmlformats.org/drawingml/2006/main">
            <a:r>
              <a:t>Check the current folder, saved file and exact input. Pair with a ready team while resolving setup.</a:t>
            </a:r>
          </a:p>
          <a:p xmlns:a="http://schemas.openxmlformats.org/drawingml/2006/main">
            <a:r>
              <a:t/>
            </a:r>
          </a:p>
          <a:p xmlns:a="http://schemas.openxmlformats.org/drawingml/2006/main">
            <a:r>
              <a:t>[Sources]</a:t>
            </a:r>
          </a:p>
          <a:p xmlns:a="http://schemas.openxmlformats.org/drawingml/2006/main">
            <a:r>
              <a:t>Source: agentforge-jarvis/src/agentforge_jarvis/ and workshop/ live lab; inspected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A valid credential can still hit a per-minute or daily quota. Provider limits differ by project and model.</a:t>
            </a:r>
          </a:p>
          <a:p xmlns:a="http://schemas.openxmlformats.org/drawingml/2006/main">
            <a:r>
              <a:t/>
            </a:r>
          </a:p>
          <a:p xmlns:a="http://schemas.openxmlformats.org/drawingml/2006/main">
            <a:r>
              <a:t>DEMONSTRATE / BUILD TOGETHER</a:t>
            </a:r>
          </a:p>
          <a:p xmlns:a="http://schemas.openxmlformats.org/drawingml/2006/main">
            <a:r>
              <a:t>Explain rate errors, timeout errors and invalid credentials using the troubleshooting table. Stagger groups, shorten unnecessary prompts and use approved model access.</a:t>
            </a:r>
          </a:p>
          <a:p xmlns:a="http://schemas.openxmlformats.org/drawingml/2006/main">
            <a:r>
              <a:t/>
            </a:r>
          </a:p>
          <a:p xmlns:a="http://schemas.openxmlformats.org/drawingml/2006/main">
            <a:r>
              <a:t>ASK THE ROOM</a:t>
            </a:r>
          </a:p>
          <a:p xmlns:a="http://schemas.openxmlformats.org/drawingml/2006/main">
            <a:r>
              <a:t>Will adding “please answer” fix exhausted quota?</a:t>
            </a:r>
          </a:p>
          <a:p xmlns:a="http://schemas.openxmlformats.org/drawingml/2006/main">
            <a:r>
              <a:t/>
            </a:r>
          </a:p>
          <a:p xmlns:a="http://schemas.openxmlformats.org/drawingml/2006/main">
            <a:r>
              <a:t>EXPECTED EVIDENCE</a:t>
            </a:r>
          </a:p>
          <a:p xmlns:a="http://schemas.openxmlformats.org/drawingml/2006/main">
            <a:r>
              <a:t>No. Resolve the service limit or wait for the allowed reset. Do not promise a reset time you have not checked.</a:t>
            </a:r>
          </a:p>
          <a:p xmlns:a="http://schemas.openxmlformats.org/drawingml/2006/main">
            <a:r>
              <a:t/>
            </a:r>
          </a:p>
          <a:p xmlns:a="http://schemas.openxmlformats.org/drawingml/2006/main">
            <a:r>
              <a:t>IF STUCK</a:t>
            </a:r>
          </a:p>
          <a:p xmlns:a="http://schemas.openxmlformats.org/drawingml/2006/main">
            <a:r>
              <a:t>Check the current folder, saved file and exact input. Pair with a ready team while resolving setup.</a:t>
            </a:r>
          </a:p>
          <a:p xmlns:a="http://schemas.openxmlformats.org/drawingml/2006/main">
            <a:r>
              <a:t/>
            </a:r>
          </a:p>
          <a:p xmlns:a="http://schemas.openxmlformats.org/drawingml/2006/main">
            <a:r>
              <a:t>PROVIDER PACING: The app shares a twelve-request-per-minute limiter across Gemini agents in one process. Separate laptops or processes do not share that limiter. Use independent approved project access or stagger calls. Token and daily quotas still apply.</a:t>
            </a:r>
          </a:p>
          <a:p xmlns:a="http://schemas.openxmlformats.org/drawingml/2006/main">
            <a:r>
              <a:t/>
            </a:r>
          </a:p>
          <a:p xmlns:a="http://schemas.openxmlformats.org/drawingml/2006/main">
            <a:r>
              <a:t>[Sources]</a:t>
            </a:r>
          </a:p>
          <a:p xmlns:a="http://schemas.openxmlformats.org/drawingml/2006/main">
            <a:r>
              <a:t>Source: agentforge-jarvis/src/agentforge_jarvis/ and workshop/ live lab; inspected 3 September 2026.</a:t>
            </a:r>
          </a:p>
          <a:p xmlns:a="http://schemas.openxmlformats.org/drawingml/2006/main">
            <a:r>
              <a:t>https://ai.google.dev/gemini-api/docs/rate-limits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Optimization should preserve correctness. Caching requires careful invalidation when sources or scenarios change; this app does not claim a production response cache.</a:t>
            </a:r>
          </a:p>
          <a:p xmlns:a="http://schemas.openxmlformats.org/drawingml/2006/main">
            <a:r>
              <a:t/>
            </a:r>
          </a:p>
          <a:p xmlns:a="http://schemas.openxmlformats.org/drawingml/2006/main">
            <a:r>
              <a:t>DEMONSTRATE / BUILD TOGETHER</a:t>
            </a:r>
          </a:p>
          <a:p xmlns:a="http://schemas.openxmlformats.org/drawingml/2006/main">
            <a:r>
              <a:t>Choose one improvement and rerun the same saved test cases. Compare output quality, latency and token usage.</a:t>
            </a:r>
          </a:p>
          <a:p xmlns:a="http://schemas.openxmlformats.org/drawingml/2006/main">
            <a:r>
              <a:t/>
            </a:r>
          </a:p>
          <a:p xmlns:a="http://schemas.openxmlformats.org/drawingml/2006/main">
            <a:r>
              <a:t>ASK THE ROOM</a:t>
            </a:r>
          </a:p>
          <a:p xmlns:a="http://schemas.openxmlformats.org/drawingml/2006/main">
            <a:r>
              <a:t>What is a poor optimization?</a:t>
            </a:r>
          </a:p>
          <a:p xmlns:a="http://schemas.openxmlformats.org/drawingml/2006/main">
            <a:r>
              <a:t/>
            </a:r>
          </a:p>
          <a:p xmlns:a="http://schemas.openxmlformats.org/drawingml/2006/main">
            <a:r>
              <a:t>EXPECTED EVIDENCE</a:t>
            </a:r>
          </a:p>
          <a:p xmlns:a="http://schemas.openxmlformats.org/drawingml/2006/main">
            <a:r>
              <a:t>Skipping a required specialist or reusing stale evidence to make a run look faster.</a:t>
            </a:r>
          </a:p>
          <a:p xmlns:a="http://schemas.openxmlformats.org/drawingml/2006/main">
            <a:r>
              <a:t/>
            </a:r>
          </a:p>
          <a:p xmlns:a="http://schemas.openxmlformats.org/drawingml/2006/main">
            <a:r>
              <a:t>IF STUCK</a:t>
            </a:r>
          </a:p>
          <a:p xmlns:a="http://schemas.openxmlformats.org/drawingml/2006/main">
            <a:r>
              <a:t>Check the current folder, saved file and exact input. Pair with a ready team while resolving setup.</a:t>
            </a:r>
          </a:p>
          <a:p xmlns:a="http://schemas.openxmlformats.org/drawingml/2006/main">
            <a:r>
              <a:t/>
            </a:r>
          </a:p>
          <a:p xmlns:a="http://schemas.openxmlformats.org/drawingml/2006/main">
            <a:r>
              <a:t>[Sources]</a:t>
            </a:r>
          </a:p>
          <a:p xmlns:a="http://schemas.openxmlformats.org/drawingml/2006/main">
            <a:r>
              <a:t>Source: agentforge-jarvis/src/agentforge_jarvis/ and workshop/ live lab; inspected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A good evidence card tells a reviewer what changed and why it matters. It does not claim complete safety from one passing test.</a:t>
            </a:r>
          </a:p>
          <a:p xmlns:a="http://schemas.openxmlformats.org/drawingml/2006/main">
            <a:r>
              <a:t/>
            </a:r>
          </a:p>
          <a:p xmlns:a="http://schemas.openxmlformats.org/drawingml/2006/main">
            <a:r>
              <a:t>DEMONSTRATE / BUILD TOGETHER</a:t>
            </a:r>
          </a:p>
          <a:p xmlns:a="http://schemas.openxmlformats.org/drawingml/2006/main">
            <a:r>
              <a:t>Use the template in TEAM_WORKBOOK.md. Select one team to demonstrate the before-and-after record.</a:t>
            </a:r>
          </a:p>
          <a:p xmlns:a="http://schemas.openxmlformats.org/drawingml/2006/main">
            <a:r>
              <a:t/>
            </a:r>
          </a:p>
          <a:p xmlns:a="http://schemas.openxmlformats.org/drawingml/2006/main">
            <a:r>
              <a:t>ASK THE ROOM</a:t>
            </a:r>
          </a:p>
          <a:p xmlns:a="http://schemas.openxmlformats.org/drawingml/2006/main">
            <a:r>
              <a:t>Could another person reproduce your test?</a:t>
            </a:r>
          </a:p>
          <a:p xmlns:a="http://schemas.openxmlformats.org/drawingml/2006/main">
            <a:r>
              <a:t/>
            </a:r>
          </a:p>
          <a:p xmlns:a="http://schemas.openxmlformats.org/drawingml/2006/main">
            <a:r>
              <a:t>EXPECTED EVIDENCE</a:t>
            </a:r>
          </a:p>
          <a:p xmlns:a="http://schemas.openxmlformats.org/drawingml/2006/main">
            <a:r>
              <a:t>Yes, using the saved input, steps and expected outcome.</a:t>
            </a:r>
          </a:p>
          <a:p xmlns:a="http://schemas.openxmlformats.org/drawingml/2006/main">
            <a:r>
              <a:t/>
            </a:r>
          </a:p>
          <a:p xmlns:a="http://schemas.openxmlformats.org/drawingml/2006/main">
            <a:r>
              <a:t>IF STUCK</a:t>
            </a:r>
          </a:p>
          <a:p xmlns:a="http://schemas.openxmlformats.org/drawingml/2006/main">
            <a:r>
              <a:t>Check the current folder, saved file and exact input. Pair with a ready team while resolving setup.</a:t>
            </a:r>
          </a:p>
          <a:p xmlns:a="http://schemas.openxmlformats.org/drawingml/2006/main">
            <a:r>
              <a:t/>
            </a:r>
          </a:p>
          <a:p xmlns:a="http://schemas.openxmlformats.org/drawingml/2006/main">
            <a:r>
              <a:t>[Sources]</a:t>
            </a:r>
          </a:p>
          <a:p xmlns:a="http://schemas.openxmlformats.org/drawingml/2006/main">
            <a:r>
              <a:t>Source: agentforge-jarvis/src/agentforge_jarvis/ and workshop/ live lab; inspected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This session has one practical deliverable. Deliverable: an assessed capstone package and individual reflection.</a:t>
            </a:r>
          </a:p>
          <a:p xmlns:a="http://schemas.openxmlformats.org/drawingml/2006/main">
            <a:r>
              <a:t/>
            </a:r>
          </a:p>
          <a:p xmlns:a="http://schemas.openxmlformats.org/drawingml/2006/main">
            <a:r>
              <a:t>DEMONSTRATE / BUILD TOGETHER</a:t>
            </a:r>
          </a:p>
          <a:p xmlns:a="http://schemas.openxmlformats.org/drawingml/2006/main">
            <a:r>
              <a:t>0–10: brief and assign roles. 10–40: adapt the swarm. 40–50: verify evidence. 50–80: selected five-minute demos. 80–90: peer review and reflection.</a:t>
            </a:r>
          </a:p>
          <a:p xmlns:a="http://schemas.openxmlformats.org/drawingml/2006/main">
            <a:r>
              <a:t/>
            </a:r>
          </a:p>
          <a:p xmlns:a="http://schemas.openxmlformats.org/drawingml/2006/main">
            <a:r>
              <a:t>ASK THE ROOM</a:t>
            </a:r>
          </a:p>
          <a:p xmlns:a="http://schemas.openxmlformats.org/drawingml/2006/main">
            <a:r>
              <a:t>What will we show before the break?</a:t>
            </a:r>
          </a:p>
          <a:p xmlns:a="http://schemas.openxmlformats.org/drawingml/2006/main">
            <a:r>
              <a:t/>
            </a:r>
          </a:p>
          <a:p xmlns:a="http://schemas.openxmlformats.org/drawingml/2006/main">
            <a:r>
              <a:t>EXPECTED EVIDENCE</a:t>
            </a:r>
          </a:p>
          <a:p xmlns:a="http://schemas.openxmlformats.org/drawingml/2006/main">
            <a:r>
              <a:t>Deliverable: an assessed capstone package and individual reflection.</a:t>
            </a:r>
          </a:p>
          <a:p xmlns:a="http://schemas.openxmlformats.org/drawingml/2006/main">
            <a:r>
              <a:t/>
            </a:r>
          </a:p>
          <a:p xmlns:a="http://schemas.openxmlformats.org/drawingml/2006/main">
            <a:r>
              <a:t>IF STUCK</a:t>
            </a:r>
          </a:p>
          <a:p xmlns:a="http://schemas.openxmlformats.org/drawingml/2006/main">
            <a:r>
              <a:t>Check the current folder, saved file and exact input. Pair with a ready team while resolving setup.</a:t>
            </a:r>
          </a:p>
          <a:p xmlns:a="http://schemas.openxmlformats.org/drawingml/2006/main">
            <a:r>
              <a:t/>
            </a:r>
          </a:p>
          <a:p xmlns:a="http://schemas.openxmlformats.org/drawingml/2006/main">
            <a:r>
              <a:t>[Sources]</a:t>
            </a:r>
          </a:p>
          <a:p xmlns:a="http://schemas.openxmlformats.org/drawingml/2006/main">
            <a:r>
              <a:t>Source: LIBA_AgentForgeWorkshop_Proposal_Revised_2-Day.pdf, sessions 1–8 and outcome rubric.</a:t>
            </a:r>
          </a:p>
          <a:p xmlns:a="http://schemas.openxmlformats.org/drawingml/2006/main">
            <a:r>
              <a:t>Source: agentforge-jarvis/src/agentforge_jarvis/ and workshop/ live lab; inspected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This is the independent outcome check. Teams should work from their own notes and ask for help only on blocking issues.</a:t>
            </a:r>
          </a:p>
          <a:p xmlns:a="http://schemas.openxmlformats.org/drawingml/2006/main">
            <a:r>
              <a:t/>
            </a:r>
          </a:p>
          <a:p xmlns:a="http://schemas.openxmlformats.org/drawingml/2006/main">
            <a:r>
              <a:t>DEMONSTRATE / BUILD TOGETHER</a:t>
            </a:r>
          </a:p>
          <a:p xmlns:a="http://schemas.openxmlformats.org/drawingml/2006/main">
            <a:r>
              <a:t>Give each team a challenge from the next slides. All teams submit a package; select or rotate demos to fit thirty minutes.</a:t>
            </a:r>
          </a:p>
          <a:p xmlns:a="http://schemas.openxmlformats.org/drawingml/2006/main">
            <a:r>
              <a:t/>
            </a:r>
          </a:p>
          <a:p xmlns:a="http://schemas.openxmlformats.org/drawingml/2006/main">
            <a:r>
              <a:t>ASK THE ROOM</a:t>
            </a:r>
          </a:p>
          <a:p xmlns:a="http://schemas.openxmlformats.org/drawingml/2006/main">
            <a:r>
              <a:t>What is due before the demonstration?</a:t>
            </a:r>
          </a:p>
          <a:p xmlns:a="http://schemas.openxmlformats.org/drawingml/2006/main">
            <a:r>
              <a:t/>
            </a:r>
          </a:p>
          <a:p xmlns:a="http://schemas.openxmlformats.org/drawingml/2006/main">
            <a:r>
              <a:t>EXPECTED EVIDENCE</a:t>
            </a:r>
          </a:p>
          <a:p xmlns:a="http://schemas.openxmlformats.org/drawingml/2006/main">
            <a:r>
              <a:t>Scenario, reports, workflow map, evidence checks and the final recommendation.</a:t>
            </a:r>
          </a:p>
          <a:p xmlns:a="http://schemas.openxmlformats.org/drawingml/2006/main">
            <a:r>
              <a:t/>
            </a:r>
          </a:p>
          <a:p xmlns:a="http://schemas.openxmlformats.org/drawingml/2006/main">
            <a:r>
              <a:t>IF STUCK</a:t>
            </a:r>
          </a:p>
          <a:p xmlns:a="http://schemas.openxmlformats.org/drawingml/2006/main">
            <a:r>
              <a:t>Check the current folder, saved file and exact input. Pair with a ready team while resolving setup.</a:t>
            </a:r>
          </a:p>
          <a:p xmlns:a="http://schemas.openxmlformats.org/drawingml/2006/main">
            <a:r>
              <a:t/>
            </a:r>
          </a:p>
          <a:p xmlns:a="http://schemas.openxmlformats.org/drawingml/2006/main">
            <a:r>
              <a:t>[Sources]</a:t>
            </a:r>
          </a:p>
          <a:p xmlns:a="http://schemas.openxmlformats.org/drawingml/2006/main">
            <a:r>
              <a:t>Source: LIBA_AgentForgeWorkshop_Proposal_Revised_2-Day.pdf, sessions 1–8 and outcome rubric.</a:t>
            </a:r>
          </a:p>
          <a:p xmlns:a="http://schemas.openxmlformats.org/drawingml/2006/main">
            <a:r>
              <a:t>Source: agentforge-jarvis/src/agentforge_jarvis/ and workshop/ live lab; inspected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A challenge chip transforms the base scenario once. The underlying launch plan still needs ₹24 lakh, so the budget cut creates a ₹6 lakh gap.</a:t>
            </a:r>
          </a:p>
          <a:p xmlns:a="http://schemas.openxmlformats.org/drawingml/2006/main">
            <a:r>
              <a:t/>
            </a:r>
          </a:p>
          <a:p xmlns:a="http://schemas.openxmlformats.org/drawingml/2006/main">
            <a:r>
              <a:t>DEMONSTRATE / DO TOGETHER</a:t>
            </a:r>
          </a:p>
          <a:p xmlns:a="http://schemas.openxmlformats.org/drawingml/2006/main">
            <a:r>
              <a:t>Restore default JSON, choose Budget −25%, run the swarm and inspect Finance. Ask learners to verify the base and effective budgets rather than assuming the chip edited the original file.</a:t>
            </a:r>
          </a:p>
          <a:p xmlns:a="http://schemas.openxmlformats.org/drawingml/2006/main">
            <a:r>
              <a:t/>
            </a:r>
          </a:p>
          <a:p xmlns:a="http://schemas.openxmlformats.org/drawingml/2006/main">
            <a:r>
              <a:t>ASK THE ROOM</a:t>
            </a:r>
          </a:p>
          <a:p xmlns:a="http://schemas.openxmlformats.org/drawingml/2006/main">
            <a:r>
              <a:t>If we already reduced the base budget and then apply this chip, what happens?</a:t>
            </a:r>
          </a:p>
          <a:p xmlns:a="http://schemas.openxmlformats.org/drawingml/2006/main">
            <a:r>
              <a:t/>
            </a:r>
          </a:p>
          <a:p xmlns:a="http://schemas.openxmlformats.org/drawingml/2006/main">
            <a:r>
              <a:t>EXPECTED EVIDENCE</a:t>
            </a:r>
          </a:p>
          <a:p xmlns:a="http://schemas.openxmlformats.org/drawingml/2006/main">
            <a:r>
              <a:t>The chip reduces the already edited budget again. Restore defaults for this comparison.</a:t>
            </a:r>
          </a:p>
          <a:p xmlns:a="http://schemas.openxmlformats.org/drawingml/2006/main">
            <a:r>
              <a:t/>
            </a:r>
          </a:p>
          <a:p xmlns:a="http://schemas.openxmlformats.org/drawingml/2006/main">
            <a:r>
              <a:t>IF SOMEONE IS STUCK</a:t>
            </a:r>
          </a:p>
          <a:p xmlns:a="http://schemas.openxmlformats.org/drawingml/2006/main">
            <a:r>
              <a:t>Do not compare experiments that changed multiple inputs unless you explicitly describe all those changes.</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Live workshop implementation; consult the acceptance record for verified calls.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Not every risk is financial. A customer-trust concern can stop promotion even when cash and capacity appear sufficient. A demand increase can expose both cash and capacity limits.</a:t>
            </a:r>
          </a:p>
          <a:p xmlns:a="http://schemas.openxmlformats.org/drawingml/2006/main">
            <a:r>
              <a:t/>
            </a:r>
          </a:p>
          <a:p xmlns:a="http://schemas.openxmlformats.org/drawingml/2006/main">
            <a:r>
              <a:t>DEMONSTRATE / DO TOGETHER</a:t>
            </a:r>
          </a:p>
          <a:p xmlns:a="http://schemas.openxmlformats.org/drawingml/2006/main">
            <a:r>
              <a:t>Assign a different shock to each group. Have them name the first specialist whose result changes and then inspect the executive gate.</a:t>
            </a:r>
          </a:p>
          <a:p xmlns:a="http://schemas.openxmlformats.org/drawingml/2006/main">
            <a:r>
              <a:t/>
            </a:r>
          </a:p>
          <a:p xmlns:a="http://schemas.openxmlformats.org/drawingml/2006/main">
            <a:r>
              <a:t>ASK THE ROOM</a:t>
            </a:r>
          </a:p>
          <a:p xmlns:a="http://schemas.openxmlformats.org/drawingml/2006/main">
            <a:r>
              <a:t>Which shock cannot be resolved by only increasing the budget?</a:t>
            </a:r>
          </a:p>
          <a:p xmlns:a="http://schemas.openxmlformats.org/drawingml/2006/main">
            <a:r>
              <a:t/>
            </a:r>
          </a:p>
          <a:p xmlns:a="http://schemas.openxmlformats.org/drawingml/2006/main">
            <a:r>
              <a:t>EXPECTED EVIDENCE</a:t>
            </a:r>
          </a:p>
          <a:p xmlns:a="http://schemas.openxmlformats.org/drawingml/2006/main">
            <a:r>
              <a:t>Examples include an unresolved labelling review or an impossible delivery window without credible capacity changes.</a:t>
            </a:r>
          </a:p>
          <a:p xmlns:a="http://schemas.openxmlformats.org/drawingml/2006/main">
            <a:r>
              <a:t/>
            </a:r>
          </a:p>
          <a:p xmlns:a="http://schemas.openxmlformats.org/drawingml/2006/main">
            <a:r>
              <a:t>IF SOMEONE IS STUCK</a:t>
            </a:r>
          </a:p>
          <a:p xmlns:a="http://schemas.openxmlformats.org/drawingml/2006/main">
            <a:r>
              <a:t>Use the default scenario for expected numbers. User-edited inputs will produce different results.</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Live workshop implementation; consult the acceptance record for verified calls.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We are assessing learning and evidence, not awarding points for jargon. Each criterion is scored by a person. The app only calculates the weighted total.</a:t>
            </a:r>
          </a:p>
          <a:p xmlns:a="http://schemas.openxmlformats.org/drawingml/2006/main">
            <a:r>
              <a:t/>
            </a:r>
          </a:p>
          <a:p xmlns:a="http://schemas.openxmlformats.org/drawingml/2006/main">
            <a:r>
              <a:t>DEMONSTRATE / DO TOGETHER</a:t>
            </a:r>
          </a:p>
          <a:p xmlns:a="http://schemas.openxmlformats.org/drawingml/2006/main">
            <a:r>
              <a:t>Open Workshop Lab after selecting a completed run. Explain total = sum(score/5 × criterion weight). Ask learners to include one concrete improvement in the reflection, then save.</a:t>
            </a:r>
          </a:p>
          <a:p xmlns:a="http://schemas.openxmlformats.org/drawingml/2006/main">
            <a:r>
              <a:t/>
            </a:r>
          </a:p>
          <a:p xmlns:a="http://schemas.openxmlformats.org/drawingml/2006/main">
            <a:r>
              <a:t>ASK THE ROOM</a:t>
            </a:r>
          </a:p>
          <a:p xmlns:a="http://schemas.openxmlformats.org/drawingml/2006/main">
            <a:r>
              <a:t>Would a high score prove the app is production-ready?</a:t>
            </a:r>
          </a:p>
          <a:p xmlns:a="http://schemas.openxmlformats.org/drawingml/2006/main">
            <a:r>
              <a:t/>
            </a:r>
          </a:p>
          <a:p xmlns:a="http://schemas.openxmlformats.org/drawingml/2006/main">
            <a:r>
              <a:t>EXPECTED EVIDENCE</a:t>
            </a:r>
          </a:p>
          <a:p xmlns:a="http://schemas.openxmlformats.org/drawingml/2006/main">
            <a:r>
              <a:t>No. This is a workshop outcome rubric, not certification.</a:t>
            </a:r>
          </a:p>
          <a:p xmlns:a="http://schemas.openxmlformats.org/drawingml/2006/main">
            <a:r>
              <a:t/>
            </a:r>
          </a:p>
          <a:p xmlns:a="http://schemas.openxmlformats.org/drawingml/2006/main">
            <a:r>
              <a:t>IF SOMEONE IS STUCK</a:t>
            </a:r>
          </a:p>
          <a:p xmlns:a="http://schemas.openxmlformats.org/drawingml/2006/main">
            <a:r>
              <a:t>If no run is selected, open a completed run from Run Archive first.</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Live workshop implementation; consult the acceptance record for verified calls.</a:t>
            </a:r>
          </a:p>
          <a:p xmlns:a="http://schemas.openxmlformats.org/drawingml/2006/main">
            <a:r>
              <a:t>Local proposal: output/pdf/LIBA_AgentForgeWorkshop_Proposal_Revised_2-Day.pdf, Assessment Rubric.</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A strong demonstration explains the business consequence. The audience should not need to understand every Python import.</a:t>
            </a:r>
          </a:p>
          <a:p xmlns:a="http://schemas.openxmlformats.org/drawingml/2006/main">
            <a:r>
              <a:t/>
            </a:r>
          </a:p>
          <a:p xmlns:a="http://schemas.openxmlformats.org/drawingml/2006/main">
            <a:r>
              <a:t>DEMONSTRATE / BUILD TOGETHER</a:t>
            </a:r>
          </a:p>
          <a:p xmlns:a="http://schemas.openxmlformats.org/drawingml/2006/main">
            <a:r>
              <a:t>Ask teams to show a before-and-after metric, the relevant hand-off, and a human decision gate. Keep the timer visible.</a:t>
            </a:r>
          </a:p>
          <a:p xmlns:a="http://schemas.openxmlformats.org/drawingml/2006/main">
            <a:r>
              <a:t/>
            </a:r>
          </a:p>
          <a:p xmlns:a="http://schemas.openxmlformats.org/drawingml/2006/main">
            <a:r>
              <a:t>ASK THE ROOM</a:t>
            </a:r>
          </a:p>
          <a:p xmlns:a="http://schemas.openxmlformats.org/drawingml/2006/main">
            <a:r>
              <a:t>What claim should you avoid?</a:t>
            </a:r>
          </a:p>
          <a:p xmlns:a="http://schemas.openxmlformats.org/drawingml/2006/main">
            <a:r>
              <a:t/>
            </a:r>
          </a:p>
          <a:p xmlns:a="http://schemas.openxmlformats.org/drawingml/2006/main">
            <a:r>
              <a:t>EXPECTED EVIDENCE</a:t>
            </a:r>
          </a:p>
          <a:p xmlns:a="http://schemas.openxmlformats.org/drawingml/2006/main">
            <a:r>
              <a:t>That one classroom prototype autonomously ran a real company or passed a full production audit.</a:t>
            </a:r>
          </a:p>
          <a:p xmlns:a="http://schemas.openxmlformats.org/drawingml/2006/main">
            <a:r>
              <a:t/>
            </a:r>
          </a:p>
          <a:p xmlns:a="http://schemas.openxmlformats.org/drawingml/2006/main">
            <a:r>
              <a:t>IF STUCK</a:t>
            </a:r>
          </a:p>
          <a:p xmlns:a="http://schemas.openxmlformats.org/drawingml/2006/main">
            <a:r>
              <a:t>Check the current folder, saved file and exact input. Pair with a ready team while resolving setup.</a:t>
            </a:r>
          </a:p>
          <a:p xmlns:a="http://schemas.openxmlformats.org/drawingml/2006/main">
            <a:r>
              <a:t/>
            </a:r>
          </a:p>
          <a:p xmlns:a="http://schemas.openxmlformats.org/drawingml/2006/main">
            <a:r>
              <a:t>[Sources]</a:t>
            </a:r>
          </a:p>
          <a:p xmlns:a="http://schemas.openxmlformats.org/drawingml/2006/main">
            <a:r>
              <a:t>Source: LIBA_AgentForgeWorkshop_Proposal_Revised_2-Day.pdf, sessions 1–8 and outcome rubric.</a:t>
            </a:r>
          </a:p>
          <a:p xmlns:a="http://schemas.openxmlformats.org/drawingml/2006/main">
            <a:r>
              <a:t>Source: agentforge-jarvis/src/agentforge_jarvis/ and workshop/ live lab; inspected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Use concrete career language grounded in what you built. Avoid claims such as fully autonomous enterprise deployment unless you actually did that work.</a:t>
            </a:r>
          </a:p>
          <a:p xmlns:a="http://schemas.openxmlformats.org/drawingml/2006/main">
            <a:r>
              <a:t/>
            </a:r>
          </a:p>
          <a:p xmlns:a="http://schemas.openxmlformats.org/drawingml/2006/main">
            <a:r>
              <a:t>DEMONSTRATE / BUILD TOGETHER</a:t>
            </a:r>
          </a:p>
          <a:p xmlns:a="http://schemas.openxmlformats.org/drawingml/2006/main">
            <a:r>
              <a:t>Example: Built a LangChain/Gemini workflow coordinating six business roles; validated cash and capacity scenarios and documented tool evidence and human review gates. Personalize it to your contribution.</a:t>
            </a:r>
          </a:p>
          <a:p xmlns:a="http://schemas.openxmlformats.org/drawingml/2006/main">
            <a:r>
              <a:t/>
            </a:r>
          </a:p>
          <a:p xmlns:a="http://schemas.openxmlformats.org/drawingml/2006/main">
            <a:r>
              <a:t>ASK THE ROOM</a:t>
            </a:r>
          </a:p>
          <a:p xmlns:a="http://schemas.openxmlformats.org/drawingml/2006/main">
            <a:r>
              <a:t>What can you defend in an interview?</a:t>
            </a:r>
          </a:p>
          <a:p xmlns:a="http://schemas.openxmlformats.org/drawingml/2006/main">
            <a:r>
              <a:t/>
            </a:r>
          </a:p>
          <a:p xmlns:a="http://schemas.openxmlformats.org/drawingml/2006/main">
            <a:r>
              <a:t>EXPECTED EVIDENCE</a:t>
            </a:r>
          </a:p>
          <a:p xmlns:a="http://schemas.openxmlformats.org/drawingml/2006/main">
            <a:r>
              <a:t>Your actual code change, test, decision and limitation.</a:t>
            </a:r>
          </a:p>
          <a:p xmlns:a="http://schemas.openxmlformats.org/drawingml/2006/main">
            <a:r>
              <a:t/>
            </a:r>
          </a:p>
          <a:p xmlns:a="http://schemas.openxmlformats.org/drawingml/2006/main">
            <a:r>
              <a:t>IF STUCK</a:t>
            </a:r>
          </a:p>
          <a:p xmlns:a="http://schemas.openxmlformats.org/drawingml/2006/main">
            <a:r>
              <a:t>Check the current folder, saved file and exact input. Pair with a ready team while resolving setup.</a:t>
            </a:r>
          </a:p>
          <a:p xmlns:a="http://schemas.openxmlformats.org/drawingml/2006/main">
            <a:r>
              <a:t/>
            </a:r>
          </a:p>
          <a:p xmlns:a="http://schemas.openxmlformats.org/drawingml/2006/main">
            <a:r>
              <a:t>[Sources]</a:t>
            </a:r>
          </a:p>
          <a:p xmlns:a="http://schemas.openxmlformats.org/drawingml/2006/main">
            <a:r>
              <a:t>Source: LIBA_AgentForgeWorkshop_Proposal_Revised_2-Day.pdf, sessions 1–8 and outcome rubric.</a:t>
            </a:r>
          </a:p>
          <a:p xmlns:a="http://schemas.openxmlformats.org/drawingml/2006/main">
            <a:r>
              <a:t>Source: agentforge-jarvis/src/agentforge_jarvis/ and workshop/ live lab; inspected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You now have a small agent you built and a complete workflow you can inspect. The most valuable habit is to predict, run, verify and explain.</a:t>
            </a:r>
          </a:p>
          <a:p xmlns:a="http://schemas.openxmlformats.org/drawingml/2006/main">
            <a:r>
              <a:t/>
            </a:r>
          </a:p>
          <a:p xmlns:a="http://schemas.openxmlformats.org/drawingml/2006/main">
            <a:r>
              <a:t>DEMONSTRATE / DO TOGETHER</a:t>
            </a:r>
          </a:p>
          <a:p xmlns:a="http://schemas.openxmlformats.org/drawingml/2006/main">
            <a:r>
              <a:t>Ask each participant to write one sentence: “I changed ___; the tool showed ___; we should ___; we still need to verify ___.” Save their outputs for the next workshop session.</a:t>
            </a:r>
          </a:p>
          <a:p xmlns:a="http://schemas.openxmlformats.org/drawingml/2006/main">
            <a:r>
              <a:t/>
            </a:r>
          </a:p>
          <a:p xmlns:a="http://schemas.openxmlformats.org/drawingml/2006/main">
            <a:r>
              <a:t>ASK THE ROOM</a:t>
            </a:r>
          </a:p>
          <a:p xmlns:a="http://schemas.openxmlformats.org/drawingml/2006/main">
            <a:r>
              <a:t>What will you be able to demonstrate without help next time?</a:t>
            </a:r>
          </a:p>
          <a:p xmlns:a="http://schemas.openxmlformats.org/drawingml/2006/main">
            <a:r>
              <a:t/>
            </a:r>
          </a:p>
          <a:p xmlns:a="http://schemas.openxmlformats.org/drawingml/2006/main">
            <a:r>
              <a:t>EXPECTED EVIDENCE</a:t>
            </a:r>
          </a:p>
          <a:p xmlns:a="http://schemas.openxmlformats.org/drawingml/2006/main">
            <a:r>
              <a:t>A clone-and-run path, one tool calculation and a source-backed before/after decision.</a:t>
            </a:r>
          </a:p>
          <a:p xmlns:a="http://schemas.openxmlformats.org/drawingml/2006/main">
            <a:r>
              <a:t/>
            </a:r>
          </a:p>
          <a:p xmlns:a="http://schemas.openxmlformats.org/drawingml/2006/main">
            <a:r>
              <a:t>IF SOMEONE IS STUCK</a:t>
            </a:r>
          </a:p>
          <a:p xmlns:a="http://schemas.openxmlformats.org/drawingml/2006/main">
            <a:r>
              <a:t>Pause for one pair to show the checkpoint before continuing.</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Live workshop implementation; consult the acceptance record for verified calls.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Treat errors like clues. Do not respond to every problem by reinstalling everything. The error’s layer tells us the smallest useful check.</a:t>
            </a:r>
          </a:p>
          <a:p xmlns:a="http://schemas.openxmlformats.org/drawingml/2006/main">
            <a:r>
              <a:t/>
            </a:r>
          </a:p>
          <a:p xmlns:a="http://schemas.openxmlformats.org/drawingml/2006/main">
            <a:r>
              <a:t>DEMONSTRATE / DO TOGETHER</a:t>
            </a:r>
          </a:p>
          <a:p xmlns:a="http://schemas.openxmlformats.org/drawingml/2006/main">
            <a:r>
              <a:t>Ask the learner to show the exact error and the current folder. Use the table to choose one action, then verify the expected result.</a:t>
            </a:r>
          </a:p>
          <a:p xmlns:a="http://schemas.openxmlformats.org/drawingml/2006/main">
            <a:r>
              <a:t/>
            </a:r>
          </a:p>
          <a:p xmlns:a="http://schemas.openxmlformats.org/drawingml/2006/main">
            <a:r>
              <a:t>ASK THE ROOM</a:t>
            </a:r>
          </a:p>
          <a:p xmlns:a="http://schemas.openxmlformats.org/drawingml/2006/main">
            <a:r>
              <a:t>If the browser cannot connect, will changing a model key help?</a:t>
            </a:r>
          </a:p>
          <a:p xmlns:a="http://schemas.openxmlformats.org/drawingml/2006/main">
            <a:r>
              <a:t/>
            </a:r>
          </a:p>
          <a:p xmlns:a="http://schemas.openxmlformats.org/drawingml/2006/main">
            <a:r>
              <a:t>EXPECTED EVIDENCE</a:t>
            </a:r>
          </a:p>
          <a:p xmlns:a="http://schemas.openxmlformats.org/drawingml/2006/main">
            <a:r>
              <a:t>No. First check that the local server is running and the address is correct.</a:t>
            </a:r>
          </a:p>
          <a:p xmlns:a="http://schemas.openxmlformats.org/drawingml/2006/main">
            <a:r>
              <a:t/>
            </a:r>
          </a:p>
          <a:p xmlns:a="http://schemas.openxmlformats.org/drawingml/2006/main">
            <a:r>
              <a:t>IF SOMEONE IS STUCK</a:t>
            </a:r>
          </a:p>
          <a:p xmlns:a="http://schemas.openxmlformats.org/drawingml/2006/main">
            <a:r>
              <a:t>Keep a prepared offline-capable machine or pair for continuity while one person resolves network or installation issues.</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Live workshop implementation; consult the acceptance record for verified calls.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Keep keys out of screenshots when diagnosing setup. Model listing, configuration and successful generation are separate checks.</a:t>
            </a:r>
          </a:p>
          <a:p xmlns:a="http://schemas.openxmlformats.org/drawingml/2006/main">
            <a:r>
              <a:t/>
            </a:r>
          </a:p>
          <a:p xmlns:a="http://schemas.openxmlformats.org/drawingml/2006/main">
            <a:r>
              <a:t>DEMONSTRATE / BUILD TOGETHER</a:t>
            </a:r>
          </a:p>
          <a:p xmlns:a="http://schemas.openxmlformats.org/drawingml/2006/main">
            <a:r>
              <a:t>Ask for the sanitized error, model name and step. Do not ask learners to post keys into a shared classroom channel.</a:t>
            </a:r>
          </a:p>
          <a:p xmlns:a="http://schemas.openxmlformats.org/drawingml/2006/main">
            <a:r>
              <a:t/>
            </a:r>
          </a:p>
          <a:p xmlns:a="http://schemas.openxmlformats.org/drawingml/2006/main">
            <a:r>
              <a:t>ASK THE ROOM</a:t>
            </a:r>
          </a:p>
          <a:p xmlns:a="http://schemas.openxmlformats.org/drawingml/2006/main">
            <a:r>
              <a:t>When do you call live setup verified?</a:t>
            </a:r>
          </a:p>
          <a:p xmlns:a="http://schemas.openxmlformats.org/drawingml/2006/main">
            <a:r>
              <a:t/>
            </a:r>
          </a:p>
          <a:p xmlns:a="http://schemas.openxmlformats.org/drawingml/2006/main">
            <a:r>
              <a:t>EXPECTED EVIDENCE</a:t>
            </a:r>
          </a:p>
          <a:p xmlns:a="http://schemas.openxmlformats.org/drawingml/2006/main">
            <a:r>
              <a:t>After a real response and required tool calls succeed.</a:t>
            </a:r>
          </a:p>
          <a:p xmlns:a="http://schemas.openxmlformats.org/drawingml/2006/main">
            <a:r>
              <a:t/>
            </a:r>
          </a:p>
          <a:p xmlns:a="http://schemas.openxmlformats.org/drawingml/2006/main">
            <a:r>
              <a:t>IF STUCK</a:t>
            </a:r>
          </a:p>
          <a:p xmlns:a="http://schemas.openxmlformats.org/drawingml/2006/main">
            <a:r>
              <a:t>Check the current folder, saved file and exact input. Pair with a ready team while resolving setup.</a:t>
            </a:r>
          </a:p>
          <a:p xmlns:a="http://schemas.openxmlformats.org/drawingml/2006/main">
            <a:r>
              <a:t/>
            </a:r>
          </a:p>
          <a:p xmlns:a="http://schemas.openxmlformats.org/drawingml/2006/main">
            <a:r>
              <a:t>[Sources]</a:t>
            </a:r>
          </a:p>
          <a:p xmlns:a="http://schemas.openxmlformats.org/drawingml/2006/main">
            <a:r>
              <a:t>Source: agentforge-jarvis/src/agentforge_jarvis/ and workshop/ live lab; inspected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The database holds notes, runs, blueprints and conversations. The source files are not the whole working state. You can restart and return to the same local team.</a:t>
            </a:r>
          </a:p>
          <a:p xmlns:a="http://schemas.openxmlformats.org/drawingml/2006/main">
            <a:r>
              <a:t/>
            </a:r>
          </a:p>
          <a:p xmlns:a="http://schemas.openxmlformats.org/drawingml/2006/main">
            <a:r>
              <a:t>DEMONSTRATE / DO TOGETHER</a:t>
            </a:r>
          </a:p>
          <a:p xmlns:a="http://schemas.openxmlformats.org/drawingml/2006/main">
            <a:r>
              <a:t>Show how to stop the server with Control+C, then restart. Explain that a backup of the data directory should be taken with the app stopped. Do not add this local data to the shared GitHub repository.</a:t>
            </a:r>
          </a:p>
          <a:p xmlns:a="http://schemas.openxmlformats.org/drawingml/2006/main">
            <a:r>
              <a:t/>
            </a:r>
          </a:p>
          <a:p xmlns:a="http://schemas.openxmlformats.org/drawingml/2006/main">
            <a:r>
              <a:t>ASK THE ROOM</a:t>
            </a:r>
          </a:p>
          <a:p xmlns:a="http://schemas.openxmlformats.org/drawingml/2006/main">
            <a:r>
              <a:t>Which folder preserves saved runs on this machine?</a:t>
            </a:r>
          </a:p>
          <a:p xmlns:a="http://schemas.openxmlformats.org/drawingml/2006/main">
            <a:r>
              <a:t/>
            </a:r>
          </a:p>
          <a:p xmlns:a="http://schemas.openxmlformats.org/drawingml/2006/main">
            <a:r>
              <a:t>EXPECTED EVIDENCE</a:t>
            </a:r>
          </a:p>
          <a:p xmlns:a="http://schemas.openxmlformats.org/drawingml/2006/main">
            <a:r>
              <a:t>.agentforge, unless AGENTFORGE_DATA_DIR was deliberately changed.</a:t>
            </a:r>
          </a:p>
          <a:p xmlns:a="http://schemas.openxmlformats.org/drawingml/2006/main">
            <a:r>
              <a:t/>
            </a:r>
          </a:p>
          <a:p xmlns:a="http://schemas.openxmlformats.org/drawingml/2006/main">
            <a:r>
              <a:t>IF SOMEONE IS STUCK</a:t>
            </a:r>
          </a:p>
          <a:p xmlns:a="http://schemas.openxmlformats.org/drawingml/2006/main">
            <a:r>
              <a:t>Closing the browser is not the same as stopping the server. Stopping the server does not erase the stored data.</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Live workshop implementation; consult the acceptance record for verified calls.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The clone link must point to a real, tested repository. The project folder is the repository root; do not accidentally upload the entire parent folder containing proposals or other applications.</a:t>
            </a:r>
          </a:p>
          <a:p xmlns:a="http://schemas.openxmlformats.org/drawingml/2006/main">
            <a:r>
              <a:t/>
            </a:r>
          </a:p>
          <a:p xmlns:a="http://schemas.openxmlformats.org/drawingml/2006/main">
            <a:r>
              <a:t>DEMONSTRATE / DO TOGETHER</a:t>
            </a:r>
          </a:p>
          <a:p xmlns:a="http://schemas.openxmlformats.org/drawingml/2006/main">
            <a:r>
              <a:t>Follow the included publishing handout. Review staged files and ensure .env, .venv and .agentforge are excluded. Create the GitHub repository with the intended visibility and grant participants access. Use the actual remote URL shown by GitHub.</a:t>
            </a:r>
          </a:p>
          <a:p xmlns:a="http://schemas.openxmlformats.org/drawingml/2006/main">
            <a:r>
              <a:t/>
            </a:r>
          </a:p>
          <a:p xmlns:a="http://schemas.openxmlformats.org/drawingml/2006/main">
            <a:r>
              <a:t>ASK THE ROOM</a:t>
            </a:r>
          </a:p>
          <a:p xmlns:a="http://schemas.openxmlformats.org/drawingml/2006/main">
            <a:r>
              <a:t>What must happen before sharing the clone command with the team?</a:t>
            </a:r>
          </a:p>
          <a:p xmlns:a="http://schemas.openxmlformats.org/drawingml/2006/main">
            <a:r>
              <a:t/>
            </a:r>
          </a:p>
          <a:p xmlns:a="http://schemas.openxmlformats.org/drawingml/2006/main">
            <a:r>
              <a:t>EXPECTED EVIDENCE</a:t>
            </a:r>
          </a:p>
          <a:p xmlns:a="http://schemas.openxmlformats.org/drawingml/2006/main">
            <a:r>
              <a:t>A push succeeds and a fresh clone can install, pass tests and launch.</a:t>
            </a:r>
          </a:p>
          <a:p xmlns:a="http://schemas.openxmlformats.org/drawingml/2006/main">
            <a:r>
              <a:t/>
            </a:r>
          </a:p>
          <a:p xmlns:a="http://schemas.openxmlformats.org/drawingml/2006/main">
            <a:r>
              <a:t>IF SOMEONE IS STUCK</a:t>
            </a:r>
          </a:p>
          <a:p xmlns:a="http://schemas.openxmlformats.org/drawingml/2006/main">
            <a:r>
              <a:t>If the remote already has commits, do not force-push. Use a fresh empty repository or integrate changes deliberately. No remote repository was published as part of creating this deck.</a:t>
            </a:r>
          </a:p>
          <a:p xmlns:a="http://schemas.openxmlformats.org/drawingml/2006/main">
            <a:r>
              <a:t/>
            </a:r>
          </a:p>
          <a:p xmlns:a="http://schemas.openxmlformats.org/drawingml/2006/main">
            <a:r>
              <a:t>[Sources]</a:t>
            </a:r>
          </a:p>
          <a:p xmlns:a="http://schemas.openxmlformats.org/drawingml/2006/main">
            <a:r>
              <a:t>https://docs.github.com/en/repositories/creating-and-managing-repositories/cloning-a-repository</a:t>
            </a:r>
          </a:p>
          <a:p xmlns:a="http://schemas.openxmlformats.org/drawingml/2006/main">
            <a:r>
              <a:t>Local source: agentforge-jarvis/src/agentforge_jarvis/engine.py; business.py; models.py; providers.py; app.py. Live workshop implementation; consult the acceptance record for verified calls.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A working folder on the facilitator’s machine can hide missing files or dependencies. A fresh clone is the meaningful test of the instructions we are giving the team.</a:t>
            </a:r>
          </a:p>
          <a:p xmlns:a="http://schemas.openxmlformats.org/drawingml/2006/main">
            <a:r>
              <a:t/>
            </a:r>
          </a:p>
          <a:p xmlns:a="http://schemas.openxmlformats.org/drawingml/2006/main">
            <a:r>
              <a:t>DEMONSTRATE / DO TOGETHER</a:t>
            </a:r>
          </a:p>
          <a:p xmlns:a="http://schemas.openxmlformats.org/drawingml/2006/main">
            <a:r>
              <a:t>Use a different empty folder. Clone the actual published URL, run these checks, and visit the localhost page. Verify the workshop folder and deck/handouts are present in the repository if you intend to share them there.</a:t>
            </a:r>
          </a:p>
          <a:p xmlns:a="http://schemas.openxmlformats.org/drawingml/2006/main">
            <a:r>
              <a:t/>
            </a:r>
          </a:p>
          <a:p xmlns:a="http://schemas.openxmlformats.org/drawingml/2006/main">
            <a:r>
              <a:t>ASK THE ROOM</a:t>
            </a:r>
          </a:p>
          <a:p xmlns:a="http://schemas.openxmlformats.org/drawingml/2006/main">
            <a:r>
              <a:t>What does a successful local commit prove about participant access?</a:t>
            </a:r>
          </a:p>
          <a:p xmlns:a="http://schemas.openxmlformats.org/drawingml/2006/main">
            <a:r>
              <a:t/>
            </a:r>
          </a:p>
          <a:p xmlns:a="http://schemas.openxmlformats.org/drawingml/2006/main">
            <a:r>
              <a:t>EXPECTED EVIDENCE</a:t>
            </a:r>
          </a:p>
          <a:p xmlns:a="http://schemas.openxmlformats.org/drawingml/2006/main">
            <a:r>
              <a:t>Nothing about remote access. The push and participant clone must be verified separately.</a:t>
            </a:r>
          </a:p>
          <a:p xmlns:a="http://schemas.openxmlformats.org/drawingml/2006/main">
            <a:r>
              <a:t/>
            </a:r>
          </a:p>
          <a:p xmlns:a="http://schemas.openxmlformats.org/drawingml/2006/main">
            <a:r>
              <a:t>IF SOMEONE IS STUCK</a:t>
            </a:r>
          </a:p>
          <a:p xmlns:a="http://schemas.openxmlformats.org/drawingml/2006/main">
            <a:r>
              <a:t>Do not ask learners to clone an unverified guessed URL. Share the repository’s actual HTTPS clone link.</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Live workshop implementation; consult the acceptance record for verified calls.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The main workshop uses live Gemini. If a provider outage blocks learning, you may deliberately switch to the already prepared rehearsal route. Explain that generated behavior is now scripted.</a:t>
            </a:r>
          </a:p>
          <a:p xmlns:a="http://schemas.openxmlformats.org/drawingml/2006/main">
            <a:r>
              <a:t/>
            </a:r>
          </a:p>
          <a:p xmlns:a="http://schemas.openxmlformats.org/drawingml/2006/main">
            <a:r>
              <a:t>DEMONSTRATE / BUILD TOGETHER</a:t>
            </a:r>
          </a:p>
          <a:p xmlns:a="http://schemas.openxmlformats.org/drawingml/2006/main">
            <a:r>
              <a:t>Use the previous dry-run deck only for a declared fallback activity. Existing dependency installation still matters offline.</a:t>
            </a:r>
          </a:p>
          <a:p xmlns:a="http://schemas.openxmlformats.org/drawingml/2006/main">
            <a:r>
              <a:t/>
            </a:r>
          </a:p>
          <a:p xmlns:a="http://schemas.openxmlformats.org/drawingml/2006/main">
            <a:r>
              <a:t>ASK THE ROOM</a:t>
            </a:r>
          </a:p>
          <a:p xmlns:a="http://schemas.openxmlformats.org/drawingml/2006/main">
            <a:r>
              <a:t>What must remain different in the evidence?</a:t>
            </a:r>
          </a:p>
          <a:p xmlns:a="http://schemas.openxmlformats.org/drawingml/2006/main">
            <a:r>
              <a:t/>
            </a:r>
          </a:p>
          <a:p xmlns:a="http://schemas.openxmlformats.org/drawingml/2006/main">
            <a:r>
              <a:t>EXPECTED EVIDENCE</a:t>
            </a:r>
          </a:p>
          <a:p xmlns:a="http://schemas.openxmlformats.org/drawingml/2006/main">
            <a:r>
              <a:t>Provider labels and the claim being verified. Rehearsal is not evidence of live model performance.</a:t>
            </a:r>
          </a:p>
          <a:p xmlns:a="http://schemas.openxmlformats.org/drawingml/2006/main">
            <a:r>
              <a:t/>
            </a:r>
          </a:p>
          <a:p xmlns:a="http://schemas.openxmlformats.org/drawingml/2006/main">
            <a:r>
              <a:t>IF STUCK</a:t>
            </a:r>
          </a:p>
          <a:p xmlns:a="http://schemas.openxmlformats.org/drawingml/2006/main">
            <a:r>
              <a:t>Check the current folder, saved file and exact input. Pair with a ready team while resolving setup.</a:t>
            </a:r>
          </a:p>
          <a:p xmlns:a="http://schemas.openxmlformats.org/drawingml/2006/main">
            <a:r>
              <a:t/>
            </a:r>
          </a:p>
          <a:p xmlns:a="http://schemas.openxmlformats.org/drawingml/2006/main">
            <a:r>
              <a:t>[Sources]</a:t>
            </a:r>
          </a:p>
          <a:p xmlns:a="http://schemas.openxmlformats.org/drawingml/2006/main">
            <a:r>
              <a:t>Source: agentforge-jarvis/src/agentforge_jarvis/ and workshop/ live lab; inspected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Use this as a quick reference if terms start to crowd out understanding. Plain language should remain accurate: software helpers are not people and a memory store is not a human mind.</a:t>
            </a:r>
          </a:p>
          <a:p xmlns:a="http://schemas.openxmlformats.org/drawingml/2006/main">
            <a:r>
              <a:t/>
            </a:r>
          </a:p>
          <a:p xmlns:a="http://schemas.openxmlformats.org/drawingml/2006/main">
            <a:r>
              <a:t>DEMONSTRATE / DO TOGETHER</a:t>
            </a:r>
          </a:p>
          <a:p xmlns:a="http://schemas.openxmlformats.org/drawingml/2006/main">
            <a:r>
              <a:t>Ask a learner to explain one term to a partner using the example column. Add an example from their own specialization only if the required facts are available.</a:t>
            </a:r>
          </a:p>
          <a:p xmlns:a="http://schemas.openxmlformats.org/drawingml/2006/main">
            <a:r>
              <a:t/>
            </a:r>
          </a:p>
          <a:p xmlns:a="http://schemas.openxmlformats.org/drawingml/2006/main">
            <a:r>
              <a:t>ASK THE ROOM</a:t>
            </a:r>
          </a:p>
          <a:p xmlns:a="http://schemas.openxmlformats.org/drawingml/2006/main">
            <a:r>
              <a:t>Can you explain orchestration without using the word orchestration?</a:t>
            </a:r>
          </a:p>
          <a:p xmlns:a="http://schemas.openxmlformats.org/drawingml/2006/main">
            <a:r>
              <a:t/>
            </a:r>
          </a:p>
          <a:p xmlns:a="http://schemas.openxmlformats.org/drawingml/2006/main">
            <a:r>
              <a:t>EXPECTED EVIDENCE</a:t>
            </a:r>
          </a:p>
          <a:p xmlns:a="http://schemas.openxmlformats.org/drawingml/2006/main">
            <a:r>
              <a:t>A planned order of work that passes the right information to the next step.</a:t>
            </a:r>
          </a:p>
          <a:p xmlns:a="http://schemas.openxmlformats.org/drawingml/2006/main">
            <a:r>
              <a:t/>
            </a:r>
          </a:p>
          <a:p xmlns:a="http://schemas.openxmlformats.org/drawingml/2006/main">
            <a:r>
              <a:t>IF SOMEONE IS STUCK</a:t>
            </a:r>
          </a:p>
          <a:p xmlns:a="http://schemas.openxmlformats.org/drawingml/2006/main">
            <a:r>
              <a:t>Pause for one pair to show the checkpoint before continuing.</a:t>
            </a:r>
          </a:p>
          <a:p xmlns:a="http://schemas.openxmlformats.org/drawingml/2006/main">
            <a:r>
              <a:t/>
            </a:r>
          </a:p>
          <a:p xmlns:a="http://schemas.openxmlformats.org/drawingml/2006/main">
            <a:r>
              <a:t>[Sources]</a:t>
            </a:r>
          </a:p>
          <a:p xmlns:a="http://schemas.openxmlformats.org/drawingml/2006/main">
            <a:r>
              <a:t>https://docs.langchain.com/oss/python/langchain/agents</a:t>
            </a:r>
          </a:p>
          <a:p xmlns:a="http://schemas.openxmlformats.org/drawingml/2006/main">
            <a:r>
              <a:t>https://docs.langchain.com/oss/python/langgraph/overview</a:t>
            </a:r>
          </a:p>
          <a:p xmlns:a="http://schemas.openxmlformats.org/drawingml/2006/main">
            <a:r>
              <a:t>Local source: agentforge-jarvis/src/agentforge_jarvis/engine.py; business.py; models.py; providers.py; app.py. Live workshop implementation; consult the acceptance record for verified calls.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The code and saved acceptance result define what was verified. Model quotas and deployment conditions must be checked for the actual workshop date.</a:t>
            </a:r>
          </a:p>
          <a:p xmlns:a="http://schemas.openxmlformats.org/drawingml/2006/main">
            <a:r>
              <a:t/>
            </a:r>
          </a:p>
          <a:p xmlns:a="http://schemas.openxmlformats.org/drawingml/2006/main">
            <a:r>
              <a:t>DEMONSTRATE / BUILD TOGETHER</a:t>
            </a:r>
          </a:p>
          <a:p xmlns:a="http://schemas.openxmlformats.org/drawingml/2006/main">
            <a:r>
              <a:t>Keep the participant guide and workbook open beside the presentation. The facilitator guide contains this entire script.</a:t>
            </a:r>
          </a:p>
          <a:p xmlns:a="http://schemas.openxmlformats.org/drawingml/2006/main">
            <a:r>
              <a:t/>
            </a:r>
          </a:p>
          <a:p xmlns:a="http://schemas.openxmlformats.org/drawingml/2006/main">
            <a:r>
              <a:t>ASK THE ROOM</a:t>
            </a:r>
          </a:p>
          <a:p xmlns:a="http://schemas.openxmlformats.org/drawingml/2006/main">
            <a:r>
              <a:t>Where do you find exact copyable commands?</a:t>
            </a:r>
          </a:p>
          <a:p xmlns:a="http://schemas.openxmlformats.org/drawingml/2006/main">
            <a:r>
              <a:t/>
            </a:r>
          </a:p>
          <a:p xmlns:a="http://schemas.openxmlformats.org/drawingml/2006/main">
            <a:r>
              <a:t>EXPECTED EVIDENCE</a:t>
            </a:r>
          </a:p>
          <a:p xmlns:a="http://schemas.openxmlformats.org/drawingml/2006/main">
            <a:r>
              <a:t>LIVE_QUICKSTART.md and the project README.</a:t>
            </a:r>
          </a:p>
          <a:p xmlns:a="http://schemas.openxmlformats.org/drawingml/2006/main">
            <a:r>
              <a:t/>
            </a:r>
          </a:p>
          <a:p xmlns:a="http://schemas.openxmlformats.org/drawingml/2006/main">
            <a:r>
              <a:t>IF STUCK</a:t>
            </a:r>
          </a:p>
          <a:p xmlns:a="http://schemas.openxmlformats.org/drawingml/2006/main">
            <a:r>
              <a:t>Check the current folder, saved file and exact input. Pair with a ready team while resolving setup.</a:t>
            </a:r>
          </a:p>
          <a:p xmlns:a="http://schemas.openxmlformats.org/drawingml/2006/main">
            <a:r>
              <a:t/>
            </a:r>
          </a:p>
          <a:p xmlns:a="http://schemas.openxmlformats.org/drawingml/2006/main">
            <a:r>
              <a:t>[Sources]</a:t>
            </a:r>
          </a:p>
          <a:p xmlns:a="http://schemas.openxmlformats.org/drawingml/2006/main">
            <a:r>
              <a:t>https://docs.langchain.com/oss/python/langchain/agents</a:t>
            </a:r>
          </a:p>
          <a:p xmlns:a="http://schemas.openxmlformats.org/drawingml/2006/main">
            <a:r>
              <a:t>https://ai.google.dev/gemini-api/docs/api-key</a:t>
            </a:r>
          </a:p>
          <a:p xmlns:a="http://schemas.openxmlformats.org/drawingml/2006/main">
            <a:r>
              <a:t>Source: LIBA_AgentForgeWorkshop_Proposal_Revised_2-Day.pdf, sessions 1–8 and outcome rubric.</a:t>
            </a:r>
          </a:p>
          <a:p xmlns:a="http://schemas.openxmlformats.org/drawingml/2006/main">
            <a:r>
              <a:t>Source: agentforge-jarvis/src/agentforge_jarvis/ and workshop/ live lab; inspected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df6cba00c7f45e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f2c844d83964a21" /><Relationship Type="http://schemas.openxmlformats.org/officeDocument/2006/relationships/slideLayout" Target="/ppt/slideLayouts/slideLayout1.xml" Id="R31b1bf7669f5470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1b1bf7669f5470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fcd24a1d25d4a95" /><Relationship Type="http://schemas.openxmlformats.org/officeDocument/2006/relationships/image" Target="/ppt/media/image.png" Id="Ra061686f8ad549f3" /><Relationship Type="http://schemas.openxmlformats.org/officeDocument/2006/relationships/notesSlide" Target="/ppt/notesSlides/notesSlide1.xml" Id="R2116e3f74e094ee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136f8431cdd47d8" /><Relationship Type="http://schemas.openxmlformats.org/officeDocument/2006/relationships/notesSlide" Target="/ppt/notesSlides/notesSlide2.xml" Id="Rd9f5252e9fbd4c6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52e71581ad94240" /><Relationship Type="http://schemas.openxmlformats.org/officeDocument/2006/relationships/notesSlide" Target="/ppt/notesSlides/notesSlide3.xml" Id="Rc12625b67b08465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2a387feebd14e48" /><Relationship Type="http://schemas.openxmlformats.org/officeDocument/2006/relationships/notesSlide" Target="/ppt/notesSlides/notesSlide4.xml" Id="R360485ff02e6451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8996d7ec7554991" /><Relationship Type="http://schemas.openxmlformats.org/officeDocument/2006/relationships/image" Target="/ppt/media/image2.png" Id="R92037d79668842a8" /><Relationship Type="http://schemas.openxmlformats.org/officeDocument/2006/relationships/notesSlide" Target="/ppt/notesSlides/notesSlide5.xml" Id="R91218fa3b4ba44f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da3658db7d84988" /><Relationship Type="http://schemas.openxmlformats.org/officeDocument/2006/relationships/notesSlide" Target="/ppt/notesSlides/notesSlide6.xml" Id="Rd477ab1098c749f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3175cada11d4c44" /><Relationship Type="http://schemas.openxmlformats.org/officeDocument/2006/relationships/notesSlide" Target="/ppt/notesSlides/notesSlide7.xml" Id="Re36e6ea9b1c542f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3fc6c9b780d4964" /><Relationship Type="http://schemas.openxmlformats.org/officeDocument/2006/relationships/notesSlide" Target="/ppt/notesSlides/notesSlide8.xml" Id="Rb65f62749f8a411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731bbecba7844bd" /><Relationship Type="http://schemas.openxmlformats.org/officeDocument/2006/relationships/notesSlide" Target="/ppt/notesSlides/notesSlide9.xml" Id="Rb46ed821a91e4ae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1dc3a4accaf447b" /><Relationship Type="http://schemas.openxmlformats.org/officeDocument/2006/relationships/notesSlide" Target="/ppt/notesSlides/notesSlide10.xml" Id="R636b54408f974db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607f4dd683f4235" /><Relationship Type="http://schemas.openxmlformats.org/officeDocument/2006/relationships/notesSlide" Target="/ppt/notesSlides/notesSlide11.xml" Id="R687541febe57449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9396d1b1c6845cd" /><Relationship Type="http://schemas.openxmlformats.org/officeDocument/2006/relationships/notesSlide" Target="/ppt/notesSlides/notesSlide12.xml" Id="R05eddd95be3f403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99f0e968c084f92" /><Relationship Type="http://schemas.openxmlformats.org/officeDocument/2006/relationships/notesSlide" Target="/ppt/notesSlides/notesSlide13.xml" Id="Re643d613623a4d8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5f7c2bda3354268" /><Relationship Type="http://schemas.openxmlformats.org/officeDocument/2006/relationships/notesSlide" Target="/ppt/notesSlides/notesSlide14.xml" Id="R231c4ee4421a4d2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642e980f56f43ab" /><Relationship Type="http://schemas.openxmlformats.org/officeDocument/2006/relationships/notesSlide" Target="/ppt/notesSlides/notesSlide15.xml" Id="R8b984b8f9d36435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2a5f4eb143d45f9" /><Relationship Type="http://schemas.openxmlformats.org/officeDocument/2006/relationships/notesSlide" Target="/ppt/notesSlides/notesSlide16.xml" Id="R97caaaf406a94c6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6906d9a30ca4e93" /><Relationship Type="http://schemas.openxmlformats.org/officeDocument/2006/relationships/notesSlide" Target="/ppt/notesSlides/notesSlide17.xml" Id="Re2d06a0227cd4fb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67bab4ac2274627" /><Relationship Type="http://schemas.openxmlformats.org/officeDocument/2006/relationships/notesSlide" Target="/ppt/notesSlides/notesSlide18.xml" Id="R219b4f76ada1409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2723eb0648345e1" /><Relationship Type="http://schemas.openxmlformats.org/officeDocument/2006/relationships/notesSlide" Target="/ppt/notesSlides/notesSlide19.xml" Id="R6f38b4cf2d83491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211eb300b7e473f" /><Relationship Type="http://schemas.openxmlformats.org/officeDocument/2006/relationships/notesSlide" Target="/ppt/notesSlides/notesSlide20.xml" Id="R7d54f899fb2446d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ec98b5dcaff40e7" /><Relationship Type="http://schemas.openxmlformats.org/officeDocument/2006/relationships/notesSlide" Target="/ppt/notesSlides/notesSlide21.xml" Id="R171b1294ac404dd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2cf817ca7d1427d" /><Relationship Type="http://schemas.openxmlformats.org/officeDocument/2006/relationships/notesSlide" Target="/ppt/notesSlides/notesSlide22.xml" Id="R303bf01fbd72450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7f9beb3970943d5" /><Relationship Type="http://schemas.openxmlformats.org/officeDocument/2006/relationships/notesSlide" Target="/ppt/notesSlides/notesSlide23.xml" Id="R9d7a77b6f24945a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65f3af0c71e64415" /><Relationship Type="http://schemas.openxmlformats.org/officeDocument/2006/relationships/notesSlide" Target="/ppt/notesSlides/notesSlide24.xml" Id="R51732f9de80c4f6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b8c937337834e6f" /><Relationship Type="http://schemas.openxmlformats.org/officeDocument/2006/relationships/notesSlide" Target="/ppt/notesSlides/notesSlide25.xml" Id="Re1a2beb71de9476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0cae5968f28e483d" /><Relationship Type="http://schemas.openxmlformats.org/officeDocument/2006/relationships/notesSlide" Target="/ppt/notesSlides/notesSlide26.xml" Id="R82a9e47342b341d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857ea012c6d94366" /><Relationship Type="http://schemas.openxmlformats.org/officeDocument/2006/relationships/notesSlide" Target="/ppt/notesSlides/notesSlide27.xml" Id="Rcfaa4ce7aae6424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11041455dd8a4eaa" /><Relationship Type="http://schemas.openxmlformats.org/officeDocument/2006/relationships/notesSlide" Target="/ppt/notesSlides/notesSlide28.xml" Id="Rbedd2350fd97422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e7d3f52cbfb44523" /><Relationship Type="http://schemas.openxmlformats.org/officeDocument/2006/relationships/notesSlide" Target="/ppt/notesSlides/notesSlide29.xml" Id="R4743140c87a64ef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51ba9a419fcf4149" /><Relationship Type="http://schemas.openxmlformats.org/officeDocument/2006/relationships/notesSlide" Target="/ppt/notesSlides/notesSlide30.xml" Id="R11a9872cd169436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14cd21a006e04277" /><Relationship Type="http://schemas.openxmlformats.org/officeDocument/2006/relationships/notesSlide" Target="/ppt/notesSlides/notesSlide31.xml" Id="R406027dd2e9a445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590920e1ee904bd5" /><Relationship Type="http://schemas.openxmlformats.org/officeDocument/2006/relationships/notesSlide" Target="/ppt/notesSlides/notesSlide32.xml" Id="Rde7d4ce81736497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a092f9f9ecbc4c9b" /><Relationship Type="http://schemas.openxmlformats.org/officeDocument/2006/relationships/notesSlide" Target="/ppt/notesSlides/notesSlide33.xml" Id="R21f457bf358a454e"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070cc1c932dc4a1e" /><Relationship Type="http://schemas.openxmlformats.org/officeDocument/2006/relationships/notesSlide" Target="/ppt/notesSlides/notesSlide34.xml" Id="Rf1e7b96a0a374b7a"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c2c5d1c4f8074933" /><Relationship Type="http://schemas.openxmlformats.org/officeDocument/2006/relationships/notesSlide" Target="/ppt/notesSlides/notesSlide35.xml" Id="R6766a5a3e63d46f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9f69dc8a35ae4e26" /><Relationship Type="http://schemas.openxmlformats.org/officeDocument/2006/relationships/notesSlide" Target="/ppt/notesSlides/notesSlide36.xml" Id="R03fbcd46a7ed488e"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3fe397339cea45c8" /><Relationship Type="http://schemas.openxmlformats.org/officeDocument/2006/relationships/notesSlide" Target="/ppt/notesSlides/notesSlide37.xml" Id="Rd1e89d6ea930483d"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7ecd80d9f63b4d3a" /><Relationship Type="http://schemas.openxmlformats.org/officeDocument/2006/relationships/notesSlide" Target="/ppt/notesSlides/notesSlide38.xml" Id="R8df26b59d4524bf8"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710d0fdfde65444c" /><Relationship Type="http://schemas.openxmlformats.org/officeDocument/2006/relationships/notesSlide" Target="/ppt/notesSlides/notesSlide39.xml" Id="R4a6df445f1df4fd4"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e3c68efa2e304c98" /><Relationship Type="http://schemas.openxmlformats.org/officeDocument/2006/relationships/notesSlide" Target="/ppt/notesSlides/notesSlide40.xml" Id="R0d1a060754ab49d2"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d135007e07ee4ede" /><Relationship Type="http://schemas.openxmlformats.org/officeDocument/2006/relationships/notesSlide" Target="/ppt/notesSlides/notesSlide41.xml" Id="Ra1f5573cf96a4c2a"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4a0bf560b0c54807" /><Relationship Type="http://schemas.openxmlformats.org/officeDocument/2006/relationships/notesSlide" Target="/ppt/notesSlides/notesSlide42.xml" Id="Rc44aba9f59d0421a"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f87d98337e9f45fe" /><Relationship Type="http://schemas.openxmlformats.org/officeDocument/2006/relationships/notesSlide" Target="/ppt/notesSlides/notesSlide43.xml" Id="R72adec32cebc44c8"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97b8a6a139b84ab3" /><Relationship Type="http://schemas.openxmlformats.org/officeDocument/2006/relationships/notesSlide" Target="/ppt/notesSlides/notesSlide44.xml" Id="Rfa92fd49f6b344a4"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a54a20e8bdac4dd9" /><Relationship Type="http://schemas.openxmlformats.org/officeDocument/2006/relationships/notesSlide" Target="/ppt/notesSlides/notesSlide45.xml" Id="R0332e43996364ac6"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176b73b3982a4416" /><Relationship Type="http://schemas.openxmlformats.org/officeDocument/2006/relationships/notesSlide" Target="/ppt/notesSlides/notesSlide46.xml" Id="Rf43230ab79604499"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9aba094e173e4e8d" /><Relationship Type="http://schemas.openxmlformats.org/officeDocument/2006/relationships/notesSlide" Target="/ppt/notesSlides/notesSlide47.xml" Id="R7cae42b61bae442f"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a4f4cbae790d4309" /><Relationship Type="http://schemas.openxmlformats.org/officeDocument/2006/relationships/notesSlide" Target="/ppt/notesSlides/notesSlide48.xml" Id="R8501283652c64d14"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9ce4853bb01443a8" /><Relationship Type="http://schemas.openxmlformats.org/officeDocument/2006/relationships/notesSlide" Target="/ppt/notesSlides/notesSlide49.xml" Id="R8d1eb456144f43fa"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18f6ca135882499c" /><Relationship Type="http://schemas.openxmlformats.org/officeDocument/2006/relationships/notesSlide" Target="/ppt/notesSlides/notesSlide50.xml" Id="R155060a9badc4be1"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74f2614247d54808" /><Relationship Type="http://schemas.openxmlformats.org/officeDocument/2006/relationships/notesSlide" Target="/ppt/notesSlides/notesSlide51.xml" Id="Rb5be4817878b4b5a"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bec4f319f2b742a2" /><Relationship Type="http://schemas.openxmlformats.org/officeDocument/2006/relationships/notesSlide" Target="/ppt/notesSlides/notesSlide52.xml" Id="R5bc93a7b1b5643e7"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e80ea1c193e44295" /><Relationship Type="http://schemas.openxmlformats.org/officeDocument/2006/relationships/notesSlide" Target="/ppt/notesSlides/notesSlide53.xml" Id="R3cfc1548f4ab4151"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7b3f9a1dc6e347d3" /><Relationship Type="http://schemas.openxmlformats.org/officeDocument/2006/relationships/notesSlide" Target="/ppt/notesSlides/notesSlide54.xml" Id="R9bad87ab9e3e4bfe"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bded2835339d48be" /><Relationship Type="http://schemas.openxmlformats.org/officeDocument/2006/relationships/notesSlide" Target="/ppt/notesSlides/notesSlide55.xml" Id="Ra523e7ce11154050"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46f737970f324046" /><Relationship Type="http://schemas.openxmlformats.org/officeDocument/2006/relationships/notesSlide" Target="/ppt/notesSlides/notesSlide56.xml" Id="R367e676299d340ab"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33a77d2323a545f9" /><Relationship Type="http://schemas.openxmlformats.org/officeDocument/2006/relationships/notesSlide" Target="/ppt/notesSlides/notesSlide57.xml" Id="R3f3b34bef920485e"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632b889089c54652" /><Relationship Type="http://schemas.openxmlformats.org/officeDocument/2006/relationships/notesSlide" Target="/ppt/notesSlides/notesSlide58.xml" Id="Rdcd6a3cd9ab94ce5"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9a24fd347b9d43a7" /><Relationship Type="http://schemas.openxmlformats.org/officeDocument/2006/relationships/notesSlide" Target="/ppt/notesSlides/notesSlide59.xml" Id="R9d10f208802947f1"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53c9f04dcadc4c29" /><Relationship Type="http://schemas.openxmlformats.org/officeDocument/2006/relationships/notesSlide" Target="/ppt/notesSlides/notesSlide60.xml" Id="R3e70f12eb8124893"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8203a98a10764819" /><Relationship Type="http://schemas.openxmlformats.org/officeDocument/2006/relationships/notesSlide" Target="/ppt/notesSlides/notesSlide61.xml" Id="R654d79499d334551"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63ef60d2190f4549" /><Relationship Type="http://schemas.openxmlformats.org/officeDocument/2006/relationships/notesSlide" Target="/ppt/notesSlides/notesSlide62.xml" Id="R64bd9421efe14a7b"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372df68809414b64" /><Relationship Type="http://schemas.openxmlformats.org/officeDocument/2006/relationships/notesSlide" Target="/ppt/notesSlides/notesSlide63.xml" Id="R40e81c5af40148fe"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6b141d7a92644cec" /><Relationship Type="http://schemas.openxmlformats.org/officeDocument/2006/relationships/notesSlide" Target="/ppt/notesSlides/notesSlide64.xml" Id="R0c9e0f0223ee452f"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a7b53d10e72e4c34" /><Relationship Type="http://schemas.openxmlformats.org/officeDocument/2006/relationships/notesSlide" Target="/ppt/notesSlides/notesSlide65.xml" Id="R36ce8aa0f8c74e42"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e82e46d8bce5498c" /><Relationship Type="http://schemas.openxmlformats.org/officeDocument/2006/relationships/notesSlide" Target="/ppt/notesSlides/notesSlide66.xml" Id="Rc68174685d42463d"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d62b57cbaadd4172" /><Relationship Type="http://schemas.openxmlformats.org/officeDocument/2006/relationships/notesSlide" Target="/ppt/notesSlides/notesSlide67.xml" Id="R6064cd14acbf4897"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510db846dbfb44c7" /><Relationship Type="http://schemas.openxmlformats.org/officeDocument/2006/relationships/notesSlide" Target="/ppt/notesSlides/notesSlide68.xml" Id="Reaa064efdd1f4c88"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c8dae31eb9da4768" /><Relationship Type="http://schemas.openxmlformats.org/officeDocument/2006/relationships/notesSlide" Target="/ppt/notesSlides/notesSlide69.xml" Id="R41d495d094414e46"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fcf97069bb7e42af" /><Relationship Type="http://schemas.openxmlformats.org/officeDocument/2006/relationships/notesSlide" Target="/ppt/notesSlides/notesSlide70.xml" Id="R62f6af6bfd7e4928"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7b0045699c894736" /><Relationship Type="http://schemas.openxmlformats.org/officeDocument/2006/relationships/notesSlide" Target="/ppt/notesSlides/notesSlide71.xml" Id="R2efcfeb7929f429e"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cb31328a364d4f90" /><Relationship Type="http://schemas.openxmlformats.org/officeDocument/2006/relationships/notesSlide" Target="/ppt/notesSlides/notesSlide72.xml" Id="R55cf09003d304f2e"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6f7fee970d9744b6" /><Relationship Type="http://schemas.openxmlformats.org/officeDocument/2006/relationships/notesSlide" Target="/ppt/notesSlides/notesSlide73.xml" Id="R4a4d17d8cafb4eed"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6ae08448d5c149f3" /><Relationship Type="http://schemas.openxmlformats.org/officeDocument/2006/relationships/notesSlide" Target="/ppt/notesSlides/notesSlide74.xml" Id="Rcffdb7df4fc64267"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eda502fb6227497f" /><Relationship Type="http://schemas.openxmlformats.org/officeDocument/2006/relationships/notesSlide" Target="/ppt/notesSlides/notesSlide75.xml" Id="R063c3ae4d9874c5c"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394a34c66e26438d" /><Relationship Type="http://schemas.openxmlformats.org/officeDocument/2006/relationships/image" Target="/ppt/media/image3.png" Id="R50d99b521ade4ac4" /><Relationship Type="http://schemas.openxmlformats.org/officeDocument/2006/relationships/notesSlide" Target="/ppt/notesSlides/notesSlide76.xml" Id="R2af27696d8b04ecf"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399e123e9b1340c5" /><Relationship Type="http://schemas.openxmlformats.org/officeDocument/2006/relationships/notesSlide" Target="/ppt/notesSlides/notesSlide77.xml" Id="R4957e651395b4d9a"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xml" Id="Rb933ada1493941b1" /><Relationship Type="http://schemas.openxmlformats.org/officeDocument/2006/relationships/notesSlide" Target="/ppt/notesSlides/notesSlide78.xml" Id="Rc7b07df88c8f48e3"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xml" Id="Rac4c42f8ef914c5c" /><Relationship Type="http://schemas.openxmlformats.org/officeDocument/2006/relationships/notesSlide" Target="/ppt/notesSlides/notesSlide79.xml" Id="Rf91dddc991d14464"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xml" Id="Ra97717092abd4aae" /><Relationship Type="http://schemas.openxmlformats.org/officeDocument/2006/relationships/notesSlide" Target="/ppt/notesSlides/notesSlide80.xml" Id="R8e77f12803c7415a"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xml" Id="Rc375546d08d14ec4" /><Relationship Type="http://schemas.openxmlformats.org/officeDocument/2006/relationships/notesSlide" Target="/ppt/notesSlides/notesSlide81.xml" Id="R485d416f8cc3477b" /></Relationships>
</file>

<file path=ppt/slides/_rels/slide82.xml.rels>&#65279;<?xml version="1.0" encoding="utf-8"?><Relationships xmlns="http://schemas.openxmlformats.org/package/2006/relationships"><Relationship Type="http://schemas.openxmlformats.org/officeDocument/2006/relationships/slideLayout" Target="/ppt/slideLayouts/slideLayout1.xml" Id="R1a90699f53684eab" /><Relationship Type="http://schemas.openxmlformats.org/officeDocument/2006/relationships/notesSlide" Target="/ppt/notesSlides/notesSlide82.xml" Id="R3bca761d126e43eb" /></Relationships>
</file>

<file path=ppt/slides/_rels/slide83.xml.rels>&#65279;<?xml version="1.0" encoding="utf-8"?><Relationships xmlns="http://schemas.openxmlformats.org/package/2006/relationships"><Relationship Type="http://schemas.openxmlformats.org/officeDocument/2006/relationships/slideLayout" Target="/ppt/slideLayouts/slideLayout1.xml" Id="R3f1501c59d074544" /><Relationship Type="http://schemas.openxmlformats.org/officeDocument/2006/relationships/notesSlide" Target="/ppt/notesSlides/notesSlide83.xml" Id="R2b9fc5ed088c4efd" /></Relationships>
</file>

<file path=ppt/slides/_rels/slide84.xml.rels>&#65279;<?xml version="1.0" encoding="utf-8"?><Relationships xmlns="http://schemas.openxmlformats.org/package/2006/relationships"><Relationship Type="http://schemas.openxmlformats.org/officeDocument/2006/relationships/slideLayout" Target="/ppt/slideLayouts/slideLayout1.xml" Id="Re01586fc70c34d97" /><Relationship Type="http://schemas.openxmlformats.org/officeDocument/2006/relationships/notesSlide" Target="/ppt/notesSlides/notesSlide84.xml" Id="R48acb9439f4142ca" /></Relationships>
</file>

<file path=ppt/slides/_rels/slide85.xml.rels>&#65279;<?xml version="1.0" encoding="utf-8"?><Relationships xmlns="http://schemas.openxmlformats.org/package/2006/relationships"><Relationship Type="http://schemas.openxmlformats.org/officeDocument/2006/relationships/slideLayout" Target="/ppt/slideLayouts/slideLayout1.xml" Id="Ra8f10a9c48b648bd" /><Relationship Type="http://schemas.openxmlformats.org/officeDocument/2006/relationships/notesSlide" Target="/ppt/notesSlides/notesSlide85.xml" Id="R520dc53b98a34d81" /></Relationships>
</file>

<file path=ppt/slides/_rels/slide86.xml.rels>&#65279;<?xml version="1.0" encoding="utf-8"?><Relationships xmlns="http://schemas.openxmlformats.org/package/2006/relationships"><Relationship Type="http://schemas.openxmlformats.org/officeDocument/2006/relationships/slideLayout" Target="/ppt/slideLayouts/slideLayout1.xml" Id="Rcef6d0b900cf4f0b" /><Relationship Type="http://schemas.openxmlformats.org/officeDocument/2006/relationships/notesSlide" Target="/ppt/notesSlides/notesSlide86.xml" Id="R26e2cfa4c2334442" /></Relationships>
</file>

<file path=ppt/slides/_rels/slide87.xml.rels>&#65279;<?xml version="1.0" encoding="utf-8"?><Relationships xmlns="http://schemas.openxmlformats.org/package/2006/relationships"><Relationship Type="http://schemas.openxmlformats.org/officeDocument/2006/relationships/slideLayout" Target="/ppt/slideLayouts/slideLayout1.xml" Id="R1445f1af9d774610" /><Relationship Type="http://schemas.openxmlformats.org/officeDocument/2006/relationships/notesSlide" Target="/ppt/notesSlides/notesSlide87.xml" Id="Re264c5ff2ead43a6" /></Relationships>
</file>

<file path=ppt/slides/_rels/slide88.xml.rels>&#65279;<?xml version="1.0" encoding="utf-8"?><Relationships xmlns="http://schemas.openxmlformats.org/package/2006/relationships"><Relationship Type="http://schemas.openxmlformats.org/officeDocument/2006/relationships/slideLayout" Target="/ppt/slideLayouts/slideLayout1.xml" Id="R76c3064f06434e18" /><Relationship Type="http://schemas.openxmlformats.org/officeDocument/2006/relationships/notesSlide" Target="/ppt/notesSlides/notesSlide88.xml" Id="R2e99b9abbd7b446a" /></Relationships>
</file>

<file path=ppt/slides/_rels/slide89.xml.rels>&#65279;<?xml version="1.0" encoding="utf-8"?><Relationships xmlns="http://schemas.openxmlformats.org/package/2006/relationships"><Relationship Type="http://schemas.openxmlformats.org/officeDocument/2006/relationships/slideLayout" Target="/ppt/slideLayouts/slideLayout1.xml" Id="R1889bfc8a0e34336" /><Relationship Type="http://schemas.openxmlformats.org/officeDocument/2006/relationships/notesSlide" Target="/ppt/notesSlides/notesSlide89.xml" Id="Rb01d9d23acc449ab" /></Relationships>
</file>

<file path=ppt/slides/_rels/slide90.xml.rels>&#65279;<?xml version="1.0" encoding="utf-8"?><Relationships xmlns="http://schemas.openxmlformats.org/package/2006/relationships"><Relationship Type="http://schemas.openxmlformats.org/officeDocument/2006/relationships/slideLayout" Target="/ppt/slideLayouts/slideLayout1.xml" Id="Rd2b5965024c54173" /><Relationship Type="http://schemas.openxmlformats.org/officeDocument/2006/relationships/notesSlide" Target="/ppt/notesSlides/notesSlide90.xml" Id="R5d1cd1e073244007" /></Relationships>
</file>

<file path=ppt/slides/_rels/slide91.xml.rels>&#65279;<?xml version="1.0" encoding="utf-8"?><Relationships xmlns="http://schemas.openxmlformats.org/package/2006/relationships"><Relationship Type="http://schemas.openxmlformats.org/officeDocument/2006/relationships/slideLayout" Target="/ppt/slideLayouts/slideLayout1.xml" Id="Re7146eebaf91481b" /><Relationship Type="http://schemas.openxmlformats.org/officeDocument/2006/relationships/notesSlide" Target="/ppt/notesSlides/notesSlide91.xml" Id="R664a0a807664435d" /></Relationships>
</file>

<file path=ppt/slides/_rels/slide92.xml.rels>&#65279;<?xml version="1.0" encoding="utf-8"?><Relationships xmlns="http://schemas.openxmlformats.org/package/2006/relationships"><Relationship Type="http://schemas.openxmlformats.org/officeDocument/2006/relationships/slideLayout" Target="/ppt/slideLayouts/slideLayout1.xml" Id="R49936d876bab4b9e" /><Relationship Type="http://schemas.openxmlformats.org/officeDocument/2006/relationships/notesSlide" Target="/ppt/notesSlides/notesSlide92.xml" Id="R88a464b0f633489e" /></Relationships>
</file>

<file path=ppt/slides/_rels/slide93.xml.rels>&#65279;<?xml version="1.0" encoding="utf-8"?><Relationships xmlns="http://schemas.openxmlformats.org/package/2006/relationships"><Relationship Type="http://schemas.openxmlformats.org/officeDocument/2006/relationships/slideLayout" Target="/ppt/slideLayouts/slideLayout1.xml" Id="Rb3e57a529fe34b51" /><Relationship Type="http://schemas.openxmlformats.org/officeDocument/2006/relationships/notesSlide" Target="/ppt/notesSlides/notesSlide93.xml" Id="R48e1dfe52c9240e1" /></Relationships>
</file>

<file path=ppt/slides/_rels/slide94.xml.rels>&#65279;<?xml version="1.0" encoding="utf-8"?><Relationships xmlns="http://schemas.openxmlformats.org/package/2006/relationships"><Relationship Type="http://schemas.openxmlformats.org/officeDocument/2006/relationships/slideLayout" Target="/ppt/slideLayouts/slideLayout1.xml" Id="R14974b9edbc3406b" /><Relationship Type="http://schemas.openxmlformats.org/officeDocument/2006/relationships/notesSlide" Target="/ppt/notesSlides/notesSlide94.xml" Id="R887d1d807489475e" /></Relationships>
</file>

<file path=ppt/slides/_rels/slide95.xml.rels>&#65279;<?xml version="1.0" encoding="utf-8"?><Relationships xmlns="http://schemas.openxmlformats.org/package/2006/relationships"><Relationship Type="http://schemas.openxmlformats.org/officeDocument/2006/relationships/slideLayout" Target="/ppt/slideLayouts/slideLayout1.xml" Id="R3d4941200edb48f6" /><Relationship Type="http://schemas.openxmlformats.org/officeDocument/2006/relationships/notesSlide" Target="/ppt/notesSlides/notesSlide95.xml" Id="R4ebf122d099e4baa" /></Relationships>
</file>

<file path=ppt/slides/_rels/slide96.xml.rels>&#65279;<?xml version="1.0" encoding="utf-8"?><Relationships xmlns="http://schemas.openxmlformats.org/package/2006/relationships"><Relationship Type="http://schemas.openxmlformats.org/officeDocument/2006/relationships/slideLayout" Target="/ppt/slideLayouts/slideLayout1.xml" Id="R52ac1bde31134900" /><Relationship Type="http://schemas.openxmlformats.org/officeDocument/2006/relationships/notesSlide" Target="/ppt/notesSlides/notesSlide96.xml" Id="Rb7b1b7de57a44a0c" /></Relationships>
</file>

<file path=ppt/slides/_rels/slide97.xml.rels>&#65279;<?xml version="1.0" encoding="utf-8"?><Relationships xmlns="http://schemas.openxmlformats.org/package/2006/relationships"><Relationship Type="http://schemas.openxmlformats.org/officeDocument/2006/relationships/slideLayout" Target="/ppt/slideLayouts/slideLayout1.xml" Id="R26f89214f3d543db" /><Relationship Type="http://schemas.openxmlformats.org/officeDocument/2006/relationships/notesSlide" Target="/ppt/notesSlides/notesSlide97.xml" Id="R46b1fe56e1ef4ac2" /></Relationships>
</file>

<file path=ppt/slides/_rels/slide98.xml.rels>&#65279;<?xml version="1.0" encoding="utf-8"?><Relationships xmlns="http://schemas.openxmlformats.org/package/2006/relationships"><Relationship Type="http://schemas.openxmlformats.org/officeDocument/2006/relationships/slideLayout" Target="/ppt/slideLayouts/slideLayout1.xml" Id="Re13ec116f3a74024" /><Relationship Type="http://schemas.openxmlformats.org/officeDocument/2006/relationships/notesSlide" Target="/ppt/notesSlides/notesSlide98.xml" Id="R57b221248ea54d99" /></Relationships>
</file>

<file path=ppt/slides/slide1.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061686f8ad549f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hape">
            <a:extLst xmlns:a="http://schemas.openxmlformats.org/drawingml/2006/main">
              <a:ext uri="{FF2B5EF4-FFF2-40B4-BE49-F238E27FC236}">
                <a16:creationId xmlns:a16="http://schemas.microsoft.com/office/drawing/2014/main" id="{D2F221D3-8805-4162-891D-490B68BF6AF6}"/>
              </a:ext>
            </a:extLst>
          </p:cNvPr>
          <p:cNvSpPr>
            <a:spLocks xmlns:a="http://schemas.openxmlformats.org/drawingml/2006/main" noGrp="1"/>
          </p:cNvSpPr>
          <p:nvPr/>
        </p:nvSpPr>
        <p:spPr>
          <a:xfrm xmlns:a="http://schemas.openxmlformats.org/drawingml/2006/main">
            <a:off x="0" y="0"/>
            <a:ext cx="5000625" cy="6858000"/>
          </a:xfrm>
          <a:prstGeom xmlns:a="http://schemas.openxmlformats.org/drawingml/2006/main" prst="rect">
            <a:avLst/>
          </a:prstGeom>
          <a:solidFill xmlns:a="http://schemas.openxmlformats.org/drawingml/2006/main">
            <a:srgbClr val="071321"/>
          </a:solidFill>
          <a:ln xmlns:a="http://schemas.openxmlformats.org/drawingml/2006/main" w="0">
            <a:noFill/>
          </a:ln>
        </p:spPr>
      </p:sp>
      <p:sp>
        <p:nvSpPr>
          <p:cNvPr id="3" name="text">
            <a:extLst xmlns:a="http://schemas.openxmlformats.org/drawingml/2006/main">
              <a:ext uri="{FF2B5EF4-FFF2-40B4-BE49-F238E27FC236}">
                <a16:creationId xmlns:a16="http://schemas.microsoft.com/office/drawing/2014/main" id="{0624BC86-72EA-40E4-B9C8-76CE9D2B6164}"/>
              </a:ext>
            </a:extLst>
          </p:cNvPr>
          <p:cNvSpPr>
            <a:spLocks xmlns:a="http://schemas.openxmlformats.org/drawingml/2006/main" noGrp="1"/>
          </p:cNvSpPr>
          <p:nvPr/>
        </p:nvSpPr>
        <p:spPr>
          <a:xfrm xmlns:a="http://schemas.openxmlformats.org/drawingml/2006/main">
            <a:off x="609600" y="40005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LIBA · LIVE WORKSHOP</a:t>
            </a:r>
          </a:p>
        </p:txBody>
      </p:sp>
      <p:sp>
        <p:nvSpPr>
          <p:cNvPr id="4" name="text">
            <a:extLst xmlns:a="http://schemas.openxmlformats.org/drawingml/2006/main">
              <a:ext uri="{FF2B5EF4-FFF2-40B4-BE49-F238E27FC236}">
                <a16:creationId xmlns:a16="http://schemas.microsoft.com/office/drawing/2014/main" id="{1EF6468A-FB57-43D8-B4FF-3AA83A37D36B}"/>
              </a:ext>
            </a:extLst>
          </p:cNvPr>
          <p:cNvSpPr>
            <a:spLocks xmlns:a="http://schemas.openxmlformats.org/drawingml/2006/main" noGrp="1"/>
          </p:cNvSpPr>
          <p:nvPr/>
        </p:nvSpPr>
        <p:spPr>
          <a:xfrm xmlns:a="http://schemas.openxmlformats.org/drawingml/2006/main">
            <a:off x="609600" y="1304925"/>
            <a:ext cx="442912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400" b="1">
                <a:solidFill>
                  <a:srgbClr val="EDF5F1"/>
                </a:solidFill>
                <a:latin typeface="Aptos"/>
                <a:ea typeface="Aptos"/>
                <a:cs typeface="Aptos"/>
              </a:defRPr>
            </a:pPr>
            <a:r>
              <a:rPr sz="5400" b="1">
                <a:solidFill>
                  <a:srgbClr val="EDF5F1"/>
                </a:solidFill>
                <a:latin typeface="Aptos"/>
                <a:ea typeface="Aptos"/>
                <a:cs typeface="Aptos"/>
              </a:rPr>
              <a:t>Build your</a:t>
            </a:r>
          </a:p>
          <a:p xmlns:a="http://schemas.openxmlformats.org/drawingml/2006/main">
            <a:pPr>
              <a:defRPr sz="5400" b="1">
                <a:solidFill>
                  <a:srgbClr val="EDF5F1"/>
                </a:solidFill>
                <a:latin typeface="Aptos"/>
                <a:ea typeface="Aptos"/>
                <a:cs typeface="Aptos"/>
              </a:defRPr>
            </a:pPr>
            <a:r>
              <a:rPr sz="5400" b="1">
                <a:solidFill>
                  <a:srgbClr val="EDF5F1"/>
                </a:solidFill>
                <a:latin typeface="Aptos"/>
                <a:ea typeface="Aptos"/>
                <a:cs typeface="Aptos"/>
              </a:rPr>
              <a:t>AI business</a:t>
            </a:r>
          </a:p>
          <a:p xmlns:a="http://schemas.openxmlformats.org/drawingml/2006/main">
            <a:pPr>
              <a:defRPr sz="5400" b="1">
                <a:solidFill>
                  <a:srgbClr val="EDF5F1"/>
                </a:solidFill>
                <a:latin typeface="Aptos"/>
                <a:ea typeface="Aptos"/>
                <a:cs typeface="Aptos"/>
              </a:defRPr>
            </a:pPr>
            <a:r>
              <a:rPr sz="5400" b="1">
                <a:solidFill>
                  <a:srgbClr val="EDF5F1"/>
                </a:solidFill>
                <a:latin typeface="Aptos"/>
                <a:ea typeface="Aptos"/>
                <a:cs typeface="Aptos"/>
              </a:rPr>
              <a:t>team.</a:t>
            </a:r>
          </a:p>
        </p:txBody>
      </p:sp>
      <p:sp>
        <p:nvSpPr>
          <p:cNvPr id="5" name="text">
            <a:extLst xmlns:a="http://schemas.openxmlformats.org/drawingml/2006/main">
              <a:ext uri="{FF2B5EF4-FFF2-40B4-BE49-F238E27FC236}">
                <a16:creationId xmlns:a16="http://schemas.microsoft.com/office/drawing/2014/main" id="{14D07A31-0C4E-4C55-9A3A-074DAC33A8F0}"/>
              </a:ext>
            </a:extLst>
          </p:cNvPr>
          <p:cNvSpPr>
            <a:spLocks xmlns:a="http://schemas.openxmlformats.org/drawingml/2006/main" noGrp="1"/>
          </p:cNvSpPr>
          <p:nvPr/>
        </p:nvSpPr>
        <p:spPr>
          <a:xfrm xmlns:a="http://schemas.openxmlformats.org/drawingml/2006/main">
            <a:off x="609600" y="4314825"/>
            <a:ext cx="3962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EDF5F1"/>
                </a:solidFill>
                <a:latin typeface="Aptos"/>
                <a:ea typeface="Aptos"/>
                <a:cs typeface="Aptos"/>
              </a:defRPr>
            </a:pPr>
            <a:r>
              <a:rPr sz="2025" b="0">
                <a:solidFill>
                  <a:srgbClr val="EDF5F1"/>
                </a:solidFill>
                <a:latin typeface="Aptos"/>
                <a:ea typeface="Aptos"/>
                <a:cs typeface="Aptos"/>
              </a:rPr>
              <a:t>AgentForge JARVIS · Live Gemini + LangChain</a:t>
            </a:r>
          </a:p>
          <a:p xmlns:a="http://schemas.openxmlformats.org/drawingml/2006/main">
            <a:pPr>
              <a:defRPr sz="2025" b="0">
                <a:solidFill>
                  <a:srgbClr val="EDF5F1"/>
                </a:solidFill>
                <a:latin typeface="Aptos"/>
                <a:ea typeface="Aptos"/>
                <a:cs typeface="Aptos"/>
              </a:defRPr>
            </a:pPr>
            <a:r>
              <a:rPr sz="2025" b="0">
                <a:solidFill>
                  <a:srgbClr val="EDF5F1"/>
                </a:solidFill>
                <a:latin typeface="Aptos"/>
                <a:ea typeface="Aptos"/>
                <a:cs typeface="Aptos"/>
              </a:rPr>
              <a:t>Two days · Eight hands-on sessions</a:t>
            </a:r>
          </a:p>
        </p:txBody>
      </p:sp>
      <p:sp>
        <p:nvSpPr>
          <p:cNvPr id="6" name="text">
            <a:extLst xmlns:a="http://schemas.openxmlformats.org/drawingml/2006/main">
              <a:ext uri="{FF2B5EF4-FFF2-40B4-BE49-F238E27FC236}">
                <a16:creationId xmlns:a16="http://schemas.microsoft.com/office/drawing/2014/main" id="{8A90BCF8-B7D8-4998-9B5A-2674931ECF95}"/>
              </a:ext>
            </a:extLst>
          </p:cNvPr>
          <p:cNvSpPr>
            <a:spLocks xmlns:a="http://schemas.openxmlformats.org/drawingml/2006/main" noGrp="1"/>
          </p:cNvSpPr>
          <p:nvPr/>
        </p:nvSpPr>
        <p:spPr>
          <a:xfrm xmlns:a="http://schemas.openxmlformats.org/drawingml/2006/main">
            <a:off x="609600" y="5638800"/>
            <a:ext cx="428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61DFBF"/>
                </a:solidFill>
                <a:latin typeface="Aptos"/>
                <a:ea typeface="Aptos"/>
                <a:cs typeface="Aptos"/>
              </a:defRPr>
            </a:pPr>
            <a:r>
              <a:rPr sz="1575" b="1">
                <a:solidFill>
                  <a:srgbClr val="61DFBF"/>
                </a:solidFill>
                <a:latin typeface="Aptos"/>
                <a:ea typeface="Aptos"/>
                <a:cs typeface="Aptos"/>
              </a:rPr>
              <a:t>REAL TOOLS. SHARED EVIDENCE.</a:t>
            </a:r>
          </a:p>
          <a:p xmlns:a="http://schemas.openxmlformats.org/drawingml/2006/main">
            <a:pPr>
              <a:defRPr sz="1575" b="1">
                <a:solidFill>
                  <a:srgbClr val="61DFBF"/>
                </a:solidFill>
                <a:latin typeface="Aptos"/>
                <a:ea typeface="Aptos"/>
                <a:cs typeface="Aptos"/>
              </a:defRPr>
            </a:pPr>
            <a:r>
              <a:rPr sz="1575" b="1">
                <a:solidFill>
                  <a:srgbClr val="61DFBF"/>
                </a:solidFill>
                <a:latin typeface="Aptos"/>
                <a:ea typeface="Aptos"/>
                <a:cs typeface="Aptos"/>
              </a:rPr>
              <a:t>HUMAN DECISIONS.</a:t>
            </a:r>
          </a:p>
        </p:txBody>
      </p:sp>
      <p:sp>
        <p:nvSpPr>
          <p:cNvPr id="7" name="shape">
            <a:extLst xmlns:a="http://schemas.openxmlformats.org/drawingml/2006/main">
              <a:ext uri="{FF2B5EF4-FFF2-40B4-BE49-F238E27FC236}">
                <a16:creationId xmlns:a16="http://schemas.microsoft.com/office/drawing/2014/main" id="{52CA8EB8-036F-4B63-B874-395DEEE12FA8}"/>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5373952A-A683-4F09-BD05-030940A4B56B}"/>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9" name="text">
            <a:extLst xmlns:a="http://schemas.openxmlformats.org/drawingml/2006/main">
              <a:ext uri="{FF2B5EF4-FFF2-40B4-BE49-F238E27FC236}">
                <a16:creationId xmlns:a16="http://schemas.microsoft.com/office/drawing/2014/main" id="{3DE2B9E7-FF89-4AF4-AA49-3A24BA825C37}"/>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01</a:t>
            </a:r>
          </a:p>
        </p:txBody>
      </p:sp>
    </p:spTree>
    <p:extLst>
      <p:ext uri="{BB962C8B-B14F-4D97-AF65-F5344CB8AC3E}">
        <p14:creationId xmlns:p14="http://schemas.microsoft.com/office/powerpoint/2010/main" val="436014911"/>
      </p:ext>
    </p:extLst>
  </p:cSld>
</p:sld>
</file>

<file path=ppt/slides/slide2.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8841FBE4-7FE9-4FE1-A105-7F50A922041A}"/>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LIBA · LIVE WORKSHOP</a:t>
            </a:r>
          </a:p>
        </p:txBody>
      </p:sp>
      <p:sp>
        <p:nvSpPr>
          <p:cNvPr id="2" name="text">
            <a:extLst xmlns:a="http://schemas.openxmlformats.org/drawingml/2006/main">
              <a:ext uri="{FF2B5EF4-FFF2-40B4-BE49-F238E27FC236}">
                <a16:creationId xmlns:a16="http://schemas.microsoft.com/office/drawing/2014/main" id="{0AB9B469-4E9B-4366-AD01-76596E8D06E0}"/>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Leave with a working system you can explain.</a:t>
            </a:r>
          </a:p>
        </p:txBody>
      </p:sp>
      <p:sp>
        <p:nvSpPr>
          <p:cNvPr id="3" name="text">
            <a:extLst xmlns:a="http://schemas.openxmlformats.org/drawingml/2006/main">
              <a:ext uri="{FF2B5EF4-FFF2-40B4-BE49-F238E27FC236}">
                <a16:creationId xmlns:a16="http://schemas.microsoft.com/office/drawing/2014/main" id="{D73093EE-B8E5-4403-BF8E-FE894E6675B1}"/>
              </a:ext>
            </a:extLst>
          </p:cNvPr>
          <p:cNvSpPr>
            <a:spLocks xmlns:a="http://schemas.openxmlformats.org/drawingml/2006/main" noGrp="1"/>
          </p:cNvSpPr>
          <p:nvPr/>
        </p:nvSpPr>
        <p:spPr>
          <a:xfrm xmlns:a="http://schemas.openxmlformats.org/drawingml/2006/main">
            <a:off x="609600" y="221932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01</a:t>
            </a:r>
          </a:p>
        </p:txBody>
      </p:sp>
      <p:sp>
        <p:nvSpPr>
          <p:cNvPr id="4" name="text">
            <a:extLst xmlns:a="http://schemas.openxmlformats.org/drawingml/2006/main">
              <a:ext uri="{FF2B5EF4-FFF2-40B4-BE49-F238E27FC236}">
                <a16:creationId xmlns:a16="http://schemas.microsoft.com/office/drawing/2014/main" id="{5AD29BCB-F467-4809-9046-DB258E0DA659}"/>
              </a:ext>
            </a:extLst>
          </p:cNvPr>
          <p:cNvSpPr>
            <a:spLocks xmlns:a="http://schemas.openxmlformats.org/drawingml/2006/main" noGrp="1"/>
          </p:cNvSpPr>
          <p:nvPr/>
        </p:nvSpPr>
        <p:spPr>
          <a:xfrm xmlns:a="http://schemas.openxmlformats.org/drawingml/2006/main">
            <a:off x="1314450" y="2190750"/>
            <a:ext cx="10267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Build and customize a live LangChain agent.</a:t>
            </a:r>
          </a:p>
        </p:txBody>
      </p:sp>
      <p:sp>
        <p:nvSpPr>
          <p:cNvPr id="5" name="text">
            <a:extLst xmlns:a="http://schemas.openxmlformats.org/drawingml/2006/main">
              <a:ext uri="{FF2B5EF4-FFF2-40B4-BE49-F238E27FC236}">
                <a16:creationId xmlns:a16="http://schemas.microsoft.com/office/drawing/2014/main" id="{079C8CFE-F00A-48E3-83B9-BB2A4F324F0A}"/>
              </a:ext>
            </a:extLst>
          </p:cNvPr>
          <p:cNvSpPr>
            <a:spLocks xmlns:a="http://schemas.openxmlformats.org/drawingml/2006/main" noGrp="1"/>
          </p:cNvSpPr>
          <p:nvPr/>
        </p:nvSpPr>
        <p:spPr>
          <a:xfrm xmlns:a="http://schemas.openxmlformats.org/drawingml/2006/main">
            <a:off x="609600" y="30480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02</a:t>
            </a:r>
          </a:p>
        </p:txBody>
      </p:sp>
      <p:sp>
        <p:nvSpPr>
          <p:cNvPr id="6" name="text">
            <a:extLst xmlns:a="http://schemas.openxmlformats.org/drawingml/2006/main">
              <a:ext uri="{FF2B5EF4-FFF2-40B4-BE49-F238E27FC236}">
                <a16:creationId xmlns:a16="http://schemas.microsoft.com/office/drawing/2014/main" id="{D89F250A-A4C5-41B8-9E56-8AFC8365C2D8}"/>
              </a:ext>
            </a:extLst>
          </p:cNvPr>
          <p:cNvSpPr>
            <a:spLocks xmlns:a="http://schemas.openxmlformats.org/drawingml/2006/main" noGrp="1"/>
          </p:cNvSpPr>
          <p:nvPr/>
        </p:nvSpPr>
        <p:spPr>
          <a:xfrm xmlns:a="http://schemas.openxmlformats.org/drawingml/2006/main">
            <a:off x="1314450" y="3019425"/>
            <a:ext cx="10267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Connect six business specializations.</a:t>
            </a:r>
          </a:p>
        </p:txBody>
      </p:sp>
      <p:sp>
        <p:nvSpPr>
          <p:cNvPr id="7" name="text">
            <a:extLst xmlns:a="http://schemas.openxmlformats.org/drawingml/2006/main">
              <a:ext uri="{FF2B5EF4-FFF2-40B4-BE49-F238E27FC236}">
                <a16:creationId xmlns:a16="http://schemas.microsoft.com/office/drawing/2014/main" id="{C9B9522D-BA7C-4CDC-B978-EB1E41ED9DA5}"/>
              </a:ext>
            </a:extLst>
          </p:cNvPr>
          <p:cNvSpPr>
            <a:spLocks xmlns:a="http://schemas.openxmlformats.org/drawingml/2006/main" noGrp="1"/>
          </p:cNvSpPr>
          <p:nvPr/>
        </p:nvSpPr>
        <p:spPr>
          <a:xfrm xmlns:a="http://schemas.openxmlformats.org/drawingml/2006/main">
            <a:off x="609600" y="387667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03</a:t>
            </a:r>
          </a:p>
        </p:txBody>
      </p:sp>
      <p:sp>
        <p:nvSpPr>
          <p:cNvPr id="8" name="text">
            <a:extLst xmlns:a="http://schemas.openxmlformats.org/drawingml/2006/main">
              <a:ext uri="{FF2B5EF4-FFF2-40B4-BE49-F238E27FC236}">
                <a16:creationId xmlns:a16="http://schemas.microsoft.com/office/drawing/2014/main" id="{F2E40CA5-64CA-41E7-8AD6-5DB2147C5285}"/>
              </a:ext>
            </a:extLst>
          </p:cNvPr>
          <p:cNvSpPr>
            <a:spLocks xmlns:a="http://schemas.openxmlformats.org/drawingml/2006/main" noGrp="1"/>
          </p:cNvSpPr>
          <p:nvPr/>
        </p:nvSpPr>
        <p:spPr>
          <a:xfrm xmlns:a="http://schemas.openxmlformats.org/drawingml/2006/main">
            <a:off x="1314450" y="3848100"/>
            <a:ext cx="10267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Add image or voice evidence with human review.</a:t>
            </a:r>
          </a:p>
        </p:txBody>
      </p:sp>
      <p:sp>
        <p:nvSpPr>
          <p:cNvPr id="9" name="text">
            <a:extLst xmlns:a="http://schemas.openxmlformats.org/drawingml/2006/main">
              <a:ext uri="{FF2B5EF4-FFF2-40B4-BE49-F238E27FC236}">
                <a16:creationId xmlns:a16="http://schemas.microsoft.com/office/drawing/2014/main" id="{73B2FC9D-F7D3-4DA5-A5D9-5F937C153458}"/>
              </a:ext>
            </a:extLst>
          </p:cNvPr>
          <p:cNvSpPr>
            <a:spLocks xmlns:a="http://schemas.openxmlformats.org/drawingml/2006/main" noGrp="1"/>
          </p:cNvSpPr>
          <p:nvPr/>
        </p:nvSpPr>
        <p:spPr>
          <a:xfrm xmlns:a="http://schemas.openxmlformats.org/drawingml/2006/main">
            <a:off x="609600" y="47053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04</a:t>
            </a:r>
          </a:p>
        </p:txBody>
      </p:sp>
      <p:sp>
        <p:nvSpPr>
          <p:cNvPr id="10" name="text">
            <a:extLst xmlns:a="http://schemas.openxmlformats.org/drawingml/2006/main">
              <a:ext uri="{FF2B5EF4-FFF2-40B4-BE49-F238E27FC236}">
                <a16:creationId xmlns:a16="http://schemas.microsoft.com/office/drawing/2014/main" id="{96E0D2A4-44EE-4EE6-A62B-6FCDA1F7F5C7}"/>
              </a:ext>
            </a:extLst>
          </p:cNvPr>
          <p:cNvSpPr>
            <a:spLocks xmlns:a="http://schemas.openxmlformats.org/drawingml/2006/main" noGrp="1"/>
          </p:cNvSpPr>
          <p:nvPr/>
        </p:nvSpPr>
        <p:spPr>
          <a:xfrm xmlns:a="http://schemas.openxmlformats.org/drawingml/2006/main">
            <a:off x="1314450" y="4676775"/>
            <a:ext cx="10267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Test, compare and export your launch decision.</a:t>
            </a:r>
          </a:p>
        </p:txBody>
      </p:sp>
      <p:sp>
        <p:nvSpPr>
          <p:cNvPr id="11" name="shape">
            <a:extLst xmlns:a="http://schemas.openxmlformats.org/drawingml/2006/main">
              <a:ext uri="{FF2B5EF4-FFF2-40B4-BE49-F238E27FC236}">
                <a16:creationId xmlns:a16="http://schemas.microsoft.com/office/drawing/2014/main" id="{FCA41B67-EB08-48AF-8DED-20B175E705F4}"/>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2051BCCD-6716-4A54-A106-497524524B82}"/>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13" name="text">
            <a:extLst xmlns:a="http://schemas.openxmlformats.org/drawingml/2006/main">
              <a:ext uri="{FF2B5EF4-FFF2-40B4-BE49-F238E27FC236}">
                <a16:creationId xmlns:a16="http://schemas.microsoft.com/office/drawing/2014/main" id="{3C20039D-5542-4F71-A128-8C648C660183}"/>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02</a:t>
            </a:r>
          </a:p>
        </p:txBody>
      </p:sp>
    </p:spTree>
    <p:extLst>
      <p:ext uri="{BB962C8B-B14F-4D97-AF65-F5344CB8AC3E}">
        <p14:creationId xmlns:p14="http://schemas.microsoft.com/office/powerpoint/2010/main" val="1986263806"/>
      </p:ext>
    </p:extLst>
  </p:cSld>
</p:sld>
</file>

<file path=ppt/slides/slide3.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38" name="text">
            <a:extLst xmlns:a="http://schemas.openxmlformats.org/drawingml/2006/main">
              <a:ext uri="{FF2B5EF4-FFF2-40B4-BE49-F238E27FC236}">
                <a16:creationId xmlns:a16="http://schemas.microsoft.com/office/drawing/2014/main" id="{2A7CF4B8-7BB7-4B80-AD69-1A8875CE73AE}"/>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LIBA · LIVE WORKSHOP</a:t>
            </a:r>
          </a:p>
        </p:txBody>
      </p:sp>
      <p:sp>
        <p:nvSpPr>
          <p:cNvPr id="2" name="text">
            <a:extLst xmlns:a="http://schemas.openxmlformats.org/drawingml/2006/main">
              <a:ext uri="{FF2B5EF4-FFF2-40B4-BE49-F238E27FC236}">
                <a16:creationId xmlns:a16="http://schemas.microsoft.com/office/drawing/2014/main" id="{82CB9C04-6922-4A38-B7D3-7D1056A582F1}"/>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Your two-day route.</a:t>
            </a:r>
          </a:p>
        </p:txBody>
      </p:sp>
      <p:sp>
        <p:nvSpPr>
          <p:cNvPr id="3" name="text">
            <a:extLst xmlns:a="http://schemas.openxmlformats.org/drawingml/2006/main">
              <a:ext uri="{FF2B5EF4-FFF2-40B4-BE49-F238E27FC236}">
                <a16:creationId xmlns:a16="http://schemas.microsoft.com/office/drawing/2014/main" id="{8ED661BF-8BDC-48E4-9597-D485129A083D}"/>
              </a:ext>
            </a:extLst>
          </p:cNvPr>
          <p:cNvSpPr>
            <a:spLocks xmlns:a="http://schemas.openxmlformats.org/drawingml/2006/main" noGrp="1"/>
          </p:cNvSpPr>
          <p:nvPr/>
        </p:nvSpPr>
        <p:spPr>
          <a:xfrm xmlns:a="http://schemas.openxmlformats.org/drawingml/2006/main">
            <a:off x="609600" y="2143125"/>
            <a:ext cx="1371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142C38"/>
                </a:solidFill>
                <a:latin typeface="Aptos"/>
                <a:ea typeface="Aptos"/>
                <a:cs typeface="Aptos"/>
              </a:defRPr>
            </a:pPr>
            <a:r>
              <a:rPr sz="1725" b="1">
                <a:solidFill>
                  <a:srgbClr val="142C38"/>
                </a:solidFill>
                <a:latin typeface="Aptos"/>
                <a:ea typeface="Aptos"/>
                <a:cs typeface="Aptos"/>
              </a:rPr>
              <a:t>D1 · 09:00</a:t>
            </a:r>
          </a:p>
        </p:txBody>
      </p:sp>
      <p:sp>
        <p:nvSpPr>
          <p:cNvPr id="4" name="text">
            <a:extLst xmlns:a="http://schemas.openxmlformats.org/drawingml/2006/main">
              <a:ext uri="{FF2B5EF4-FFF2-40B4-BE49-F238E27FC236}">
                <a16:creationId xmlns:a16="http://schemas.microsoft.com/office/drawing/2014/main" id="{4055959D-44D0-412A-90FB-F8B6C78D0D61}"/>
              </a:ext>
            </a:extLst>
          </p:cNvPr>
          <p:cNvSpPr>
            <a:spLocks xmlns:a="http://schemas.openxmlformats.org/drawingml/2006/main" noGrp="1"/>
          </p:cNvSpPr>
          <p:nvPr/>
        </p:nvSpPr>
        <p:spPr>
          <a:xfrm xmlns:a="http://schemas.openxmlformats.org/drawingml/2006/main">
            <a:off x="2190750" y="2143125"/>
            <a:ext cx="2686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42C38"/>
                </a:solidFill>
                <a:latin typeface="Aptos"/>
                <a:ea typeface="Aptos"/>
                <a:cs typeface="Aptos"/>
              </a:defRPr>
            </a:pPr>
            <a:r>
              <a:rPr sz="1725" b="0">
                <a:solidFill>
                  <a:srgbClr val="142C38"/>
                </a:solidFill>
                <a:latin typeface="Aptos"/>
                <a:ea typeface="Aptos"/>
                <a:cs typeface="Aptos"/>
              </a:rPr>
              <a:t>1 · Foundations</a:t>
            </a:r>
          </a:p>
        </p:txBody>
      </p:sp>
      <p:sp>
        <p:nvSpPr>
          <p:cNvPr id="5" name="text">
            <a:extLst xmlns:a="http://schemas.openxmlformats.org/drawingml/2006/main">
              <a:ext uri="{FF2B5EF4-FFF2-40B4-BE49-F238E27FC236}">
                <a16:creationId xmlns:a16="http://schemas.microsoft.com/office/drawing/2014/main" id="{EABDD260-D254-443D-87C5-582DAFD97CE2}"/>
              </a:ext>
            </a:extLst>
          </p:cNvPr>
          <p:cNvSpPr>
            <a:spLocks xmlns:a="http://schemas.openxmlformats.org/drawingml/2006/main" noGrp="1"/>
          </p:cNvSpPr>
          <p:nvPr/>
        </p:nvSpPr>
        <p:spPr>
          <a:xfrm xmlns:a="http://schemas.openxmlformats.org/drawingml/2006/main">
            <a:off x="5086350" y="2143125"/>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42C38"/>
                </a:solidFill>
                <a:latin typeface="Aptos"/>
                <a:ea typeface="Aptos"/>
                <a:cs typeface="Aptos"/>
              </a:defRPr>
            </a:pPr>
            <a:r>
              <a:rPr sz="1725" b="0">
                <a:solidFill>
                  <a:srgbClr val="142C38"/>
                </a:solidFill>
                <a:latin typeface="Aptos"/>
                <a:ea typeface="Aptos"/>
                <a:cs typeface="Aptos"/>
              </a:rPr>
              <a:t>Agent loops, tools, memory and responsible use</a:t>
            </a:r>
          </a:p>
        </p:txBody>
      </p:sp>
      <p:sp>
        <p:nvSpPr>
          <p:cNvPr id="6" name="shape">
            <a:extLst xmlns:a="http://schemas.openxmlformats.org/drawingml/2006/main">
              <a:ext uri="{FF2B5EF4-FFF2-40B4-BE49-F238E27FC236}">
                <a16:creationId xmlns:a16="http://schemas.microsoft.com/office/drawing/2014/main" id="{63D492FD-1234-4186-A6EE-893965302D86}"/>
              </a:ext>
            </a:extLst>
          </p:cNvPr>
          <p:cNvSpPr>
            <a:spLocks xmlns:a="http://schemas.openxmlformats.org/drawingml/2006/main" noGrp="1"/>
          </p:cNvSpPr>
          <p:nvPr/>
        </p:nvSpPr>
        <p:spPr>
          <a:xfrm xmlns:a="http://schemas.openxmlformats.org/drawingml/2006/main">
            <a:off x="609600" y="25336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D44F0167-78F8-422A-A0C2-1DDDB5B12CC5}"/>
              </a:ext>
            </a:extLst>
          </p:cNvPr>
          <p:cNvSpPr>
            <a:spLocks xmlns:a="http://schemas.openxmlformats.org/drawingml/2006/main" noGrp="1"/>
          </p:cNvSpPr>
          <p:nvPr/>
        </p:nvSpPr>
        <p:spPr>
          <a:xfrm xmlns:a="http://schemas.openxmlformats.org/drawingml/2006/main">
            <a:off x="609600" y="2638425"/>
            <a:ext cx="1371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142C38"/>
                </a:solidFill>
                <a:latin typeface="Aptos"/>
                <a:ea typeface="Aptos"/>
                <a:cs typeface="Aptos"/>
              </a:defRPr>
            </a:pPr>
            <a:r>
              <a:rPr sz="1725" b="1">
                <a:solidFill>
                  <a:srgbClr val="142C38"/>
                </a:solidFill>
                <a:latin typeface="Aptos"/>
                <a:ea typeface="Aptos"/>
                <a:cs typeface="Aptos"/>
              </a:rPr>
              <a:t>D1 · 10:45</a:t>
            </a:r>
          </a:p>
        </p:txBody>
      </p:sp>
      <p:sp>
        <p:nvSpPr>
          <p:cNvPr id="8" name="text">
            <a:extLst xmlns:a="http://schemas.openxmlformats.org/drawingml/2006/main">
              <a:ext uri="{FF2B5EF4-FFF2-40B4-BE49-F238E27FC236}">
                <a16:creationId xmlns:a16="http://schemas.microsoft.com/office/drawing/2014/main" id="{E0E811E9-1B64-47E9-A2CA-C43D1CFD4FD0}"/>
              </a:ext>
            </a:extLst>
          </p:cNvPr>
          <p:cNvSpPr>
            <a:spLocks xmlns:a="http://schemas.openxmlformats.org/drawingml/2006/main" noGrp="1"/>
          </p:cNvSpPr>
          <p:nvPr/>
        </p:nvSpPr>
        <p:spPr>
          <a:xfrm xmlns:a="http://schemas.openxmlformats.org/drawingml/2006/main">
            <a:off x="2190750" y="2638425"/>
            <a:ext cx="2686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42C38"/>
                </a:solidFill>
                <a:latin typeface="Aptos"/>
                <a:ea typeface="Aptos"/>
                <a:cs typeface="Aptos"/>
              </a:defRPr>
            </a:pPr>
            <a:r>
              <a:rPr sz="1725" b="0">
                <a:solidFill>
                  <a:srgbClr val="142C38"/>
                </a:solidFill>
                <a:latin typeface="Aptos"/>
                <a:ea typeface="Aptos"/>
                <a:cs typeface="Aptos"/>
              </a:rPr>
              <a:t>2 · Design studio</a:t>
            </a:r>
          </a:p>
        </p:txBody>
      </p:sp>
      <p:sp>
        <p:nvSpPr>
          <p:cNvPr id="9" name="text">
            <a:extLst xmlns:a="http://schemas.openxmlformats.org/drawingml/2006/main">
              <a:ext uri="{FF2B5EF4-FFF2-40B4-BE49-F238E27FC236}">
                <a16:creationId xmlns:a16="http://schemas.microsoft.com/office/drawing/2014/main" id="{5151F435-ABDF-440B-9AB0-EAEAE8FA90D5}"/>
              </a:ext>
            </a:extLst>
          </p:cNvPr>
          <p:cNvSpPr>
            <a:spLocks xmlns:a="http://schemas.openxmlformats.org/drawingml/2006/main" noGrp="1"/>
          </p:cNvSpPr>
          <p:nvPr/>
        </p:nvSpPr>
        <p:spPr>
          <a:xfrm xmlns:a="http://schemas.openxmlformats.org/drawingml/2006/main">
            <a:off x="5086350" y="2638425"/>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42C38"/>
                </a:solidFill>
                <a:latin typeface="Aptos"/>
                <a:ea typeface="Aptos"/>
                <a:cs typeface="Aptos"/>
              </a:defRPr>
            </a:pPr>
            <a:r>
              <a:rPr sz="1725" b="0">
                <a:solidFill>
                  <a:srgbClr val="142C38"/>
                </a:solidFill>
                <a:latin typeface="Aptos"/>
                <a:ea typeface="Aptos"/>
                <a:cs typeface="Aptos"/>
              </a:rPr>
              <a:t>Clone, configure Gemini and build one agent</a:t>
            </a:r>
          </a:p>
        </p:txBody>
      </p:sp>
      <p:sp>
        <p:nvSpPr>
          <p:cNvPr id="10" name="shape">
            <a:extLst xmlns:a="http://schemas.openxmlformats.org/drawingml/2006/main">
              <a:ext uri="{FF2B5EF4-FFF2-40B4-BE49-F238E27FC236}">
                <a16:creationId xmlns:a16="http://schemas.microsoft.com/office/drawing/2014/main" id="{E5832EF4-EA85-4FD6-AC0A-C53EE0917B0C}"/>
              </a:ext>
            </a:extLst>
          </p:cNvPr>
          <p:cNvSpPr>
            <a:spLocks xmlns:a="http://schemas.openxmlformats.org/drawingml/2006/main" noGrp="1"/>
          </p:cNvSpPr>
          <p:nvPr/>
        </p:nvSpPr>
        <p:spPr>
          <a:xfrm xmlns:a="http://schemas.openxmlformats.org/drawingml/2006/main">
            <a:off x="609600" y="30289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FD5057EE-251E-4E00-8E93-37985B1B09EA}"/>
              </a:ext>
            </a:extLst>
          </p:cNvPr>
          <p:cNvSpPr>
            <a:spLocks xmlns:a="http://schemas.openxmlformats.org/drawingml/2006/main" noGrp="1"/>
          </p:cNvSpPr>
          <p:nvPr/>
        </p:nvSpPr>
        <p:spPr>
          <a:xfrm xmlns:a="http://schemas.openxmlformats.org/drawingml/2006/main">
            <a:off x="609600" y="3133725"/>
            <a:ext cx="1371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142C38"/>
                </a:solidFill>
                <a:latin typeface="Aptos"/>
                <a:ea typeface="Aptos"/>
                <a:cs typeface="Aptos"/>
              </a:defRPr>
            </a:pPr>
            <a:r>
              <a:rPr sz="1725" b="1">
                <a:solidFill>
                  <a:srgbClr val="142C38"/>
                </a:solidFill>
                <a:latin typeface="Aptos"/>
                <a:ea typeface="Aptos"/>
                <a:cs typeface="Aptos"/>
              </a:rPr>
              <a:t>D1 · 13:15</a:t>
            </a:r>
          </a:p>
        </p:txBody>
      </p:sp>
      <p:sp>
        <p:nvSpPr>
          <p:cNvPr id="12" name="text">
            <a:extLst xmlns:a="http://schemas.openxmlformats.org/drawingml/2006/main">
              <a:ext uri="{FF2B5EF4-FFF2-40B4-BE49-F238E27FC236}">
                <a16:creationId xmlns:a16="http://schemas.microsoft.com/office/drawing/2014/main" id="{768012D2-E4F3-4563-A4AF-9818AB12D239}"/>
              </a:ext>
            </a:extLst>
          </p:cNvPr>
          <p:cNvSpPr>
            <a:spLocks xmlns:a="http://schemas.openxmlformats.org/drawingml/2006/main" noGrp="1"/>
          </p:cNvSpPr>
          <p:nvPr/>
        </p:nvSpPr>
        <p:spPr>
          <a:xfrm xmlns:a="http://schemas.openxmlformats.org/drawingml/2006/main">
            <a:off x="2190750" y="3133725"/>
            <a:ext cx="2686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42C38"/>
                </a:solidFill>
                <a:latin typeface="Aptos"/>
                <a:ea typeface="Aptos"/>
                <a:cs typeface="Aptos"/>
              </a:defRPr>
            </a:pPr>
            <a:r>
              <a:rPr sz="1725" b="0">
                <a:solidFill>
                  <a:srgbClr val="142C38"/>
                </a:solidFill>
                <a:latin typeface="Aptos"/>
                <a:ea typeface="Aptos"/>
                <a:cs typeface="Aptos"/>
              </a:rPr>
              <a:t>3 · Domain agents</a:t>
            </a:r>
          </a:p>
        </p:txBody>
      </p:sp>
      <p:sp>
        <p:nvSpPr>
          <p:cNvPr id="13" name="text">
            <a:extLst xmlns:a="http://schemas.openxmlformats.org/drawingml/2006/main">
              <a:ext uri="{FF2B5EF4-FFF2-40B4-BE49-F238E27FC236}">
                <a16:creationId xmlns:a16="http://schemas.microsoft.com/office/drawing/2014/main" id="{A26EC64E-974E-4A87-9BF7-B80F7838B7AE}"/>
              </a:ext>
            </a:extLst>
          </p:cNvPr>
          <p:cNvSpPr>
            <a:spLocks xmlns:a="http://schemas.openxmlformats.org/drawingml/2006/main" noGrp="1"/>
          </p:cNvSpPr>
          <p:nvPr/>
        </p:nvSpPr>
        <p:spPr>
          <a:xfrm xmlns:a="http://schemas.openxmlformats.org/drawingml/2006/main">
            <a:off x="5086350" y="3133725"/>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42C38"/>
                </a:solidFill>
                <a:latin typeface="Aptos"/>
                <a:ea typeface="Aptos"/>
                <a:cs typeface="Aptos"/>
              </a:defRPr>
            </a:pPr>
            <a:r>
              <a:rPr sz="1725" b="0">
                <a:solidFill>
                  <a:srgbClr val="142C38"/>
                </a:solidFill>
                <a:latin typeface="Aptos"/>
                <a:ea typeface="Aptos"/>
                <a:cs typeface="Aptos"/>
              </a:rPr>
              <a:t>Adapt and test the six specializations</a:t>
            </a:r>
          </a:p>
        </p:txBody>
      </p:sp>
      <p:sp>
        <p:nvSpPr>
          <p:cNvPr id="14" name="shape">
            <a:extLst xmlns:a="http://schemas.openxmlformats.org/drawingml/2006/main">
              <a:ext uri="{FF2B5EF4-FFF2-40B4-BE49-F238E27FC236}">
                <a16:creationId xmlns:a16="http://schemas.microsoft.com/office/drawing/2014/main" id="{316BCE06-6DFC-478E-A38E-FD6079946091}"/>
              </a:ext>
            </a:extLst>
          </p:cNvPr>
          <p:cNvSpPr>
            <a:spLocks xmlns:a="http://schemas.openxmlformats.org/drawingml/2006/main" noGrp="1"/>
          </p:cNvSpPr>
          <p:nvPr/>
        </p:nvSpPr>
        <p:spPr>
          <a:xfrm xmlns:a="http://schemas.openxmlformats.org/drawingml/2006/main">
            <a:off x="609600" y="35242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8FA35816-E93C-40BB-87A5-1C9E38F15B01}"/>
              </a:ext>
            </a:extLst>
          </p:cNvPr>
          <p:cNvSpPr>
            <a:spLocks xmlns:a="http://schemas.openxmlformats.org/drawingml/2006/main" noGrp="1"/>
          </p:cNvSpPr>
          <p:nvPr/>
        </p:nvSpPr>
        <p:spPr>
          <a:xfrm xmlns:a="http://schemas.openxmlformats.org/drawingml/2006/main">
            <a:off x="609600" y="3629025"/>
            <a:ext cx="1371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142C38"/>
                </a:solidFill>
                <a:latin typeface="Aptos"/>
                <a:ea typeface="Aptos"/>
                <a:cs typeface="Aptos"/>
              </a:defRPr>
            </a:pPr>
            <a:r>
              <a:rPr sz="1725" b="1">
                <a:solidFill>
                  <a:srgbClr val="142C38"/>
                </a:solidFill>
                <a:latin typeface="Aptos"/>
                <a:ea typeface="Aptos"/>
                <a:cs typeface="Aptos"/>
              </a:rPr>
              <a:t>D1 · 15:00</a:t>
            </a:r>
          </a:p>
        </p:txBody>
      </p:sp>
      <p:sp>
        <p:nvSpPr>
          <p:cNvPr id="16" name="text">
            <a:extLst xmlns:a="http://schemas.openxmlformats.org/drawingml/2006/main">
              <a:ext uri="{FF2B5EF4-FFF2-40B4-BE49-F238E27FC236}">
                <a16:creationId xmlns:a16="http://schemas.microsoft.com/office/drawing/2014/main" id="{FACD47B3-DD79-4765-902E-33BC74D9871E}"/>
              </a:ext>
            </a:extLst>
          </p:cNvPr>
          <p:cNvSpPr>
            <a:spLocks xmlns:a="http://schemas.openxmlformats.org/drawingml/2006/main" noGrp="1"/>
          </p:cNvSpPr>
          <p:nvPr/>
        </p:nvSpPr>
        <p:spPr>
          <a:xfrm xmlns:a="http://schemas.openxmlformats.org/drawingml/2006/main">
            <a:off x="2190750" y="3629025"/>
            <a:ext cx="2686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42C38"/>
                </a:solidFill>
                <a:latin typeface="Aptos"/>
                <a:ea typeface="Aptos"/>
                <a:cs typeface="Aptos"/>
              </a:defRPr>
            </a:pPr>
            <a:r>
              <a:rPr sz="1725" b="0">
                <a:solidFill>
                  <a:srgbClr val="142C38"/>
                </a:solidFill>
                <a:latin typeface="Aptos"/>
                <a:ea typeface="Aptos"/>
                <a:cs typeface="Aptos"/>
              </a:rPr>
              <a:t>4 · Multimodal</a:t>
            </a:r>
          </a:p>
        </p:txBody>
      </p:sp>
      <p:sp>
        <p:nvSpPr>
          <p:cNvPr id="17" name="text">
            <a:extLst xmlns:a="http://schemas.openxmlformats.org/drawingml/2006/main">
              <a:ext uri="{FF2B5EF4-FFF2-40B4-BE49-F238E27FC236}">
                <a16:creationId xmlns:a16="http://schemas.microsoft.com/office/drawing/2014/main" id="{1F4EBB6E-1226-4A57-B0EB-4815D71909AE}"/>
              </a:ext>
            </a:extLst>
          </p:cNvPr>
          <p:cNvSpPr>
            <a:spLocks xmlns:a="http://schemas.openxmlformats.org/drawingml/2006/main" noGrp="1"/>
          </p:cNvSpPr>
          <p:nvPr/>
        </p:nvSpPr>
        <p:spPr>
          <a:xfrm xmlns:a="http://schemas.openxmlformats.org/drawingml/2006/main">
            <a:off x="5086350" y="3629025"/>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42C38"/>
                </a:solidFill>
                <a:latin typeface="Aptos"/>
                <a:ea typeface="Aptos"/>
                <a:cs typeface="Aptos"/>
              </a:defRPr>
            </a:pPr>
            <a:r>
              <a:rPr sz="1725" b="0">
                <a:solidFill>
                  <a:srgbClr val="142C38"/>
                </a:solidFill>
                <a:latin typeface="Aptos"/>
                <a:ea typeface="Aptos"/>
                <a:cs typeface="Aptos"/>
              </a:rPr>
              <a:t>Image evidence, voice and Day 1 handover</a:t>
            </a:r>
          </a:p>
        </p:txBody>
      </p:sp>
      <p:sp>
        <p:nvSpPr>
          <p:cNvPr id="18" name="shape">
            <a:extLst xmlns:a="http://schemas.openxmlformats.org/drawingml/2006/main">
              <a:ext uri="{FF2B5EF4-FFF2-40B4-BE49-F238E27FC236}">
                <a16:creationId xmlns:a16="http://schemas.microsoft.com/office/drawing/2014/main" id="{4E2650EE-EBE8-473B-AF39-37BB83F38B10}"/>
              </a:ext>
            </a:extLst>
          </p:cNvPr>
          <p:cNvSpPr>
            <a:spLocks xmlns:a="http://schemas.openxmlformats.org/drawingml/2006/main" noGrp="1"/>
          </p:cNvSpPr>
          <p:nvPr/>
        </p:nvSpPr>
        <p:spPr>
          <a:xfrm xmlns:a="http://schemas.openxmlformats.org/drawingml/2006/main">
            <a:off x="609600" y="40195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D4BFF3B2-A9FC-46E5-A519-6C89CEFF574D}"/>
              </a:ext>
            </a:extLst>
          </p:cNvPr>
          <p:cNvSpPr>
            <a:spLocks xmlns:a="http://schemas.openxmlformats.org/drawingml/2006/main" noGrp="1"/>
          </p:cNvSpPr>
          <p:nvPr/>
        </p:nvSpPr>
        <p:spPr>
          <a:xfrm xmlns:a="http://schemas.openxmlformats.org/drawingml/2006/main">
            <a:off x="609600" y="4124325"/>
            <a:ext cx="1371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142C38"/>
                </a:solidFill>
                <a:latin typeface="Aptos"/>
                <a:ea typeface="Aptos"/>
                <a:cs typeface="Aptos"/>
              </a:defRPr>
            </a:pPr>
            <a:r>
              <a:rPr sz="1725" b="1">
                <a:solidFill>
                  <a:srgbClr val="142C38"/>
                </a:solidFill>
                <a:latin typeface="Aptos"/>
                <a:ea typeface="Aptos"/>
                <a:cs typeface="Aptos"/>
              </a:rPr>
              <a:t>D2 · 09:00</a:t>
            </a:r>
          </a:p>
        </p:txBody>
      </p:sp>
      <p:sp>
        <p:nvSpPr>
          <p:cNvPr id="20" name="text">
            <a:extLst xmlns:a="http://schemas.openxmlformats.org/drawingml/2006/main">
              <a:ext uri="{FF2B5EF4-FFF2-40B4-BE49-F238E27FC236}">
                <a16:creationId xmlns:a16="http://schemas.microsoft.com/office/drawing/2014/main" id="{C89C7385-33E1-48FF-82FD-73B9A73CAA73}"/>
              </a:ext>
            </a:extLst>
          </p:cNvPr>
          <p:cNvSpPr>
            <a:spLocks xmlns:a="http://schemas.openxmlformats.org/drawingml/2006/main" noGrp="1"/>
          </p:cNvSpPr>
          <p:nvPr/>
        </p:nvSpPr>
        <p:spPr>
          <a:xfrm xmlns:a="http://schemas.openxmlformats.org/drawingml/2006/main">
            <a:off x="2190750" y="4124325"/>
            <a:ext cx="2686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42C38"/>
                </a:solidFill>
                <a:latin typeface="Aptos"/>
                <a:ea typeface="Aptos"/>
                <a:cs typeface="Aptos"/>
              </a:defRPr>
            </a:pPr>
            <a:r>
              <a:rPr sz="1725" b="0">
                <a:solidFill>
                  <a:srgbClr val="142C38"/>
                </a:solidFill>
                <a:latin typeface="Aptos"/>
                <a:ea typeface="Aptos"/>
                <a:cs typeface="Aptos"/>
              </a:rPr>
              <a:t>5 · Swarm design</a:t>
            </a:r>
          </a:p>
        </p:txBody>
      </p:sp>
      <p:sp>
        <p:nvSpPr>
          <p:cNvPr id="21" name="text">
            <a:extLst xmlns:a="http://schemas.openxmlformats.org/drawingml/2006/main">
              <a:ext uri="{FF2B5EF4-FFF2-40B4-BE49-F238E27FC236}">
                <a16:creationId xmlns:a16="http://schemas.microsoft.com/office/drawing/2014/main" id="{E8A37879-0669-4B38-9905-7BC213778B8D}"/>
              </a:ext>
            </a:extLst>
          </p:cNvPr>
          <p:cNvSpPr>
            <a:spLocks xmlns:a="http://schemas.openxmlformats.org/drawingml/2006/main" noGrp="1"/>
          </p:cNvSpPr>
          <p:nvPr/>
        </p:nvSpPr>
        <p:spPr>
          <a:xfrm xmlns:a="http://schemas.openxmlformats.org/drawingml/2006/main">
            <a:off x="5086350" y="4124325"/>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42C38"/>
                </a:solidFill>
                <a:latin typeface="Aptos"/>
                <a:ea typeface="Aptos"/>
                <a:cs typeface="Aptos"/>
              </a:defRPr>
            </a:pPr>
            <a:r>
              <a:rPr sz="1725" b="0">
                <a:solidFill>
                  <a:srgbClr val="142C38"/>
                </a:solidFill>
                <a:latin typeface="Aptos"/>
                <a:ea typeface="Aptos"/>
                <a:cs typeface="Aptos"/>
              </a:rPr>
              <a:t>Dependencies, shared state and decision rights</a:t>
            </a:r>
          </a:p>
        </p:txBody>
      </p:sp>
      <p:sp>
        <p:nvSpPr>
          <p:cNvPr id="22" name="shape">
            <a:extLst xmlns:a="http://schemas.openxmlformats.org/drawingml/2006/main">
              <a:ext uri="{FF2B5EF4-FFF2-40B4-BE49-F238E27FC236}">
                <a16:creationId xmlns:a16="http://schemas.microsoft.com/office/drawing/2014/main" id="{E12C684B-04C2-463E-9705-62F8D133B137}"/>
              </a:ext>
            </a:extLst>
          </p:cNvPr>
          <p:cNvSpPr>
            <a:spLocks xmlns:a="http://schemas.openxmlformats.org/drawingml/2006/main" noGrp="1"/>
          </p:cNvSpPr>
          <p:nvPr/>
        </p:nvSpPr>
        <p:spPr>
          <a:xfrm xmlns:a="http://schemas.openxmlformats.org/drawingml/2006/main">
            <a:off x="609600" y="45148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23" name="text">
            <a:extLst xmlns:a="http://schemas.openxmlformats.org/drawingml/2006/main">
              <a:ext uri="{FF2B5EF4-FFF2-40B4-BE49-F238E27FC236}">
                <a16:creationId xmlns:a16="http://schemas.microsoft.com/office/drawing/2014/main" id="{024E38FF-7F53-41EB-AD99-46428BCE07C5}"/>
              </a:ext>
            </a:extLst>
          </p:cNvPr>
          <p:cNvSpPr>
            <a:spLocks xmlns:a="http://schemas.openxmlformats.org/drawingml/2006/main" noGrp="1"/>
          </p:cNvSpPr>
          <p:nvPr/>
        </p:nvSpPr>
        <p:spPr>
          <a:xfrm xmlns:a="http://schemas.openxmlformats.org/drawingml/2006/main">
            <a:off x="609600" y="4619625"/>
            <a:ext cx="1371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142C38"/>
                </a:solidFill>
                <a:latin typeface="Aptos"/>
                <a:ea typeface="Aptos"/>
                <a:cs typeface="Aptos"/>
              </a:defRPr>
            </a:pPr>
            <a:r>
              <a:rPr sz="1725" b="1">
                <a:solidFill>
                  <a:srgbClr val="142C38"/>
                </a:solidFill>
                <a:latin typeface="Aptos"/>
                <a:ea typeface="Aptos"/>
                <a:cs typeface="Aptos"/>
              </a:rPr>
              <a:t>D2 · 10:45</a:t>
            </a:r>
          </a:p>
        </p:txBody>
      </p:sp>
      <p:sp>
        <p:nvSpPr>
          <p:cNvPr id="24" name="text">
            <a:extLst xmlns:a="http://schemas.openxmlformats.org/drawingml/2006/main">
              <a:ext uri="{FF2B5EF4-FFF2-40B4-BE49-F238E27FC236}">
                <a16:creationId xmlns:a16="http://schemas.microsoft.com/office/drawing/2014/main" id="{7C3D0C1C-58FE-4067-8B17-748F9E7A9DF6}"/>
              </a:ext>
            </a:extLst>
          </p:cNvPr>
          <p:cNvSpPr>
            <a:spLocks xmlns:a="http://schemas.openxmlformats.org/drawingml/2006/main" noGrp="1"/>
          </p:cNvSpPr>
          <p:nvPr/>
        </p:nvSpPr>
        <p:spPr>
          <a:xfrm xmlns:a="http://schemas.openxmlformats.org/drawingml/2006/main">
            <a:off x="2190750" y="4619625"/>
            <a:ext cx="2686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42C38"/>
                </a:solidFill>
                <a:latin typeface="Aptos"/>
                <a:ea typeface="Aptos"/>
                <a:cs typeface="Aptos"/>
              </a:defRPr>
            </a:pPr>
            <a:r>
              <a:rPr sz="1725" b="0">
                <a:solidFill>
                  <a:srgbClr val="142C38"/>
                </a:solidFill>
                <a:latin typeface="Aptos"/>
                <a:ea typeface="Aptos"/>
                <a:cs typeface="Aptos"/>
              </a:rPr>
              <a:t>6 · Command center</a:t>
            </a:r>
          </a:p>
        </p:txBody>
      </p:sp>
      <p:sp>
        <p:nvSpPr>
          <p:cNvPr id="25" name="text">
            <a:extLst xmlns:a="http://schemas.openxmlformats.org/drawingml/2006/main">
              <a:ext uri="{FF2B5EF4-FFF2-40B4-BE49-F238E27FC236}">
                <a16:creationId xmlns:a16="http://schemas.microsoft.com/office/drawing/2014/main" id="{E3611B2F-2CEC-4AC8-82A3-C020670A4A2E}"/>
              </a:ext>
            </a:extLst>
          </p:cNvPr>
          <p:cNvSpPr>
            <a:spLocks xmlns:a="http://schemas.openxmlformats.org/drawingml/2006/main" noGrp="1"/>
          </p:cNvSpPr>
          <p:nvPr/>
        </p:nvSpPr>
        <p:spPr>
          <a:xfrm xmlns:a="http://schemas.openxmlformats.org/drawingml/2006/main">
            <a:off x="5086350" y="4619625"/>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42C38"/>
                </a:solidFill>
                <a:latin typeface="Aptos"/>
                <a:ea typeface="Aptos"/>
                <a:cs typeface="Aptos"/>
              </a:defRPr>
            </a:pPr>
            <a:r>
              <a:rPr sz="1725" b="0">
                <a:solidFill>
                  <a:srgbClr val="142C38"/>
                </a:solidFill>
                <a:latin typeface="Aptos"/>
                <a:ea typeface="Aptos"/>
                <a:cs typeface="Aptos"/>
              </a:rPr>
              <a:t>Run the live team and inspect evidence</a:t>
            </a:r>
          </a:p>
        </p:txBody>
      </p:sp>
      <p:sp>
        <p:nvSpPr>
          <p:cNvPr id="26" name="shape">
            <a:extLst xmlns:a="http://schemas.openxmlformats.org/drawingml/2006/main">
              <a:ext uri="{FF2B5EF4-FFF2-40B4-BE49-F238E27FC236}">
                <a16:creationId xmlns:a16="http://schemas.microsoft.com/office/drawing/2014/main" id="{24A2B755-E00D-4727-9B17-AEA8CEBCD7F3}"/>
              </a:ext>
            </a:extLst>
          </p:cNvPr>
          <p:cNvSpPr>
            <a:spLocks xmlns:a="http://schemas.openxmlformats.org/drawingml/2006/main" noGrp="1"/>
          </p:cNvSpPr>
          <p:nvPr/>
        </p:nvSpPr>
        <p:spPr>
          <a:xfrm xmlns:a="http://schemas.openxmlformats.org/drawingml/2006/main">
            <a:off x="609600" y="50101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27" name="text">
            <a:extLst xmlns:a="http://schemas.openxmlformats.org/drawingml/2006/main">
              <a:ext uri="{FF2B5EF4-FFF2-40B4-BE49-F238E27FC236}">
                <a16:creationId xmlns:a16="http://schemas.microsoft.com/office/drawing/2014/main" id="{A5D1FB05-4A5D-4003-BBFC-685623ECBC89}"/>
              </a:ext>
            </a:extLst>
          </p:cNvPr>
          <p:cNvSpPr>
            <a:spLocks xmlns:a="http://schemas.openxmlformats.org/drawingml/2006/main" noGrp="1"/>
          </p:cNvSpPr>
          <p:nvPr/>
        </p:nvSpPr>
        <p:spPr>
          <a:xfrm xmlns:a="http://schemas.openxmlformats.org/drawingml/2006/main">
            <a:off x="609600" y="5114925"/>
            <a:ext cx="1371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142C38"/>
                </a:solidFill>
                <a:latin typeface="Aptos"/>
                <a:ea typeface="Aptos"/>
                <a:cs typeface="Aptos"/>
              </a:defRPr>
            </a:pPr>
            <a:r>
              <a:rPr sz="1725" b="1">
                <a:solidFill>
                  <a:srgbClr val="142C38"/>
                </a:solidFill>
                <a:latin typeface="Aptos"/>
                <a:ea typeface="Aptos"/>
                <a:cs typeface="Aptos"/>
              </a:rPr>
              <a:t>D2 · 13:15</a:t>
            </a:r>
          </a:p>
        </p:txBody>
      </p:sp>
      <p:sp>
        <p:nvSpPr>
          <p:cNvPr id="28" name="text">
            <a:extLst xmlns:a="http://schemas.openxmlformats.org/drawingml/2006/main">
              <a:ext uri="{FF2B5EF4-FFF2-40B4-BE49-F238E27FC236}">
                <a16:creationId xmlns:a16="http://schemas.microsoft.com/office/drawing/2014/main" id="{6E6DA85A-27F1-4304-BC81-CD93F5E09B54}"/>
              </a:ext>
            </a:extLst>
          </p:cNvPr>
          <p:cNvSpPr>
            <a:spLocks xmlns:a="http://schemas.openxmlformats.org/drawingml/2006/main" noGrp="1"/>
          </p:cNvSpPr>
          <p:nvPr/>
        </p:nvSpPr>
        <p:spPr>
          <a:xfrm xmlns:a="http://schemas.openxmlformats.org/drawingml/2006/main">
            <a:off x="2190750" y="5114925"/>
            <a:ext cx="2686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42C38"/>
                </a:solidFill>
                <a:latin typeface="Aptos"/>
                <a:ea typeface="Aptos"/>
                <a:cs typeface="Aptos"/>
              </a:defRPr>
            </a:pPr>
            <a:r>
              <a:rPr sz="1725" b="0">
                <a:solidFill>
                  <a:srgbClr val="142C38"/>
                </a:solidFill>
                <a:latin typeface="Aptos"/>
                <a:ea typeface="Aptos"/>
                <a:cs typeface="Aptos"/>
              </a:rPr>
              <a:t>7 · Improve &amp; test</a:t>
            </a:r>
          </a:p>
        </p:txBody>
      </p:sp>
      <p:sp>
        <p:nvSpPr>
          <p:cNvPr id="29" name="text">
            <a:extLst xmlns:a="http://schemas.openxmlformats.org/drawingml/2006/main">
              <a:ext uri="{FF2B5EF4-FFF2-40B4-BE49-F238E27FC236}">
                <a16:creationId xmlns:a16="http://schemas.microsoft.com/office/drawing/2014/main" id="{DD2C3C24-D2B4-4C1D-BDBF-EA08F03DAF66}"/>
              </a:ext>
            </a:extLst>
          </p:cNvPr>
          <p:cNvSpPr>
            <a:spLocks xmlns:a="http://schemas.openxmlformats.org/drawingml/2006/main" noGrp="1"/>
          </p:cNvSpPr>
          <p:nvPr/>
        </p:nvSpPr>
        <p:spPr>
          <a:xfrm xmlns:a="http://schemas.openxmlformats.org/drawingml/2006/main">
            <a:off x="5086350" y="5114925"/>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42C38"/>
                </a:solidFill>
                <a:latin typeface="Aptos"/>
                <a:ea typeface="Aptos"/>
                <a:cs typeface="Aptos"/>
              </a:defRPr>
            </a:pPr>
            <a:r>
              <a:rPr sz="1725" b="0">
                <a:solidFill>
                  <a:srgbClr val="142C38"/>
                </a:solidFill>
                <a:latin typeface="Aptos"/>
                <a:ea typeface="Aptos"/>
                <a:cs typeface="Aptos"/>
              </a:rPr>
              <a:t>Reliability, cost, governance and red teaming</a:t>
            </a:r>
          </a:p>
        </p:txBody>
      </p:sp>
      <p:sp>
        <p:nvSpPr>
          <p:cNvPr id="30" name="shape">
            <a:extLst xmlns:a="http://schemas.openxmlformats.org/drawingml/2006/main">
              <a:ext uri="{FF2B5EF4-FFF2-40B4-BE49-F238E27FC236}">
                <a16:creationId xmlns:a16="http://schemas.microsoft.com/office/drawing/2014/main" id="{0DB02414-E858-4DEA-97C3-F35F0E7C7153}"/>
              </a:ext>
            </a:extLst>
          </p:cNvPr>
          <p:cNvSpPr>
            <a:spLocks xmlns:a="http://schemas.openxmlformats.org/drawingml/2006/main" noGrp="1"/>
          </p:cNvSpPr>
          <p:nvPr/>
        </p:nvSpPr>
        <p:spPr>
          <a:xfrm xmlns:a="http://schemas.openxmlformats.org/drawingml/2006/main">
            <a:off x="609600" y="55054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31" name="text">
            <a:extLst xmlns:a="http://schemas.openxmlformats.org/drawingml/2006/main">
              <a:ext uri="{FF2B5EF4-FFF2-40B4-BE49-F238E27FC236}">
                <a16:creationId xmlns:a16="http://schemas.microsoft.com/office/drawing/2014/main" id="{C70D46A3-7531-4900-AC96-18762CE52B88}"/>
              </a:ext>
            </a:extLst>
          </p:cNvPr>
          <p:cNvSpPr>
            <a:spLocks xmlns:a="http://schemas.openxmlformats.org/drawingml/2006/main" noGrp="1"/>
          </p:cNvSpPr>
          <p:nvPr/>
        </p:nvSpPr>
        <p:spPr>
          <a:xfrm xmlns:a="http://schemas.openxmlformats.org/drawingml/2006/main">
            <a:off x="609600" y="5610225"/>
            <a:ext cx="1371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142C38"/>
                </a:solidFill>
                <a:latin typeface="Aptos"/>
                <a:ea typeface="Aptos"/>
                <a:cs typeface="Aptos"/>
              </a:defRPr>
            </a:pPr>
            <a:r>
              <a:rPr sz="1725" b="1">
                <a:solidFill>
                  <a:srgbClr val="142C38"/>
                </a:solidFill>
                <a:latin typeface="Aptos"/>
                <a:ea typeface="Aptos"/>
                <a:cs typeface="Aptos"/>
              </a:rPr>
              <a:t>D2 · 15:00</a:t>
            </a:r>
          </a:p>
        </p:txBody>
      </p:sp>
      <p:sp>
        <p:nvSpPr>
          <p:cNvPr id="32" name="text">
            <a:extLst xmlns:a="http://schemas.openxmlformats.org/drawingml/2006/main">
              <a:ext uri="{FF2B5EF4-FFF2-40B4-BE49-F238E27FC236}">
                <a16:creationId xmlns:a16="http://schemas.microsoft.com/office/drawing/2014/main" id="{68A39F4B-0416-4D41-8AD0-FD90035225EB}"/>
              </a:ext>
            </a:extLst>
          </p:cNvPr>
          <p:cNvSpPr>
            <a:spLocks xmlns:a="http://schemas.openxmlformats.org/drawingml/2006/main" noGrp="1"/>
          </p:cNvSpPr>
          <p:nvPr/>
        </p:nvSpPr>
        <p:spPr>
          <a:xfrm xmlns:a="http://schemas.openxmlformats.org/drawingml/2006/main">
            <a:off x="2190750" y="5610225"/>
            <a:ext cx="2686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42C38"/>
                </a:solidFill>
                <a:latin typeface="Aptos"/>
                <a:ea typeface="Aptos"/>
                <a:cs typeface="Aptos"/>
              </a:defRPr>
            </a:pPr>
            <a:r>
              <a:rPr sz="1725" b="0">
                <a:solidFill>
                  <a:srgbClr val="142C38"/>
                </a:solidFill>
                <a:latin typeface="Aptos"/>
                <a:ea typeface="Aptos"/>
                <a:cs typeface="Aptos"/>
              </a:rPr>
              <a:t>8 · Outcome challenge</a:t>
            </a:r>
          </a:p>
        </p:txBody>
      </p:sp>
      <p:sp>
        <p:nvSpPr>
          <p:cNvPr id="33" name="text">
            <a:extLst xmlns:a="http://schemas.openxmlformats.org/drawingml/2006/main">
              <a:ext uri="{FF2B5EF4-FFF2-40B4-BE49-F238E27FC236}">
                <a16:creationId xmlns:a16="http://schemas.microsoft.com/office/drawing/2014/main" id="{F77E964A-81B2-4342-AB19-ABC10FC4EF9B}"/>
              </a:ext>
            </a:extLst>
          </p:cNvPr>
          <p:cNvSpPr>
            <a:spLocks xmlns:a="http://schemas.openxmlformats.org/drawingml/2006/main" noGrp="1"/>
          </p:cNvSpPr>
          <p:nvPr/>
        </p:nvSpPr>
        <p:spPr>
          <a:xfrm xmlns:a="http://schemas.openxmlformats.org/drawingml/2006/main">
            <a:off x="5086350" y="5610225"/>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42C38"/>
                </a:solidFill>
                <a:latin typeface="Aptos"/>
                <a:ea typeface="Aptos"/>
                <a:cs typeface="Aptos"/>
              </a:defRPr>
            </a:pPr>
            <a:r>
              <a:rPr sz="1725" b="0">
                <a:solidFill>
                  <a:srgbClr val="142C38"/>
                </a:solidFill>
                <a:latin typeface="Aptos"/>
                <a:ea typeface="Aptos"/>
                <a:cs typeface="Aptos"/>
              </a:rPr>
              <a:t>Adapt, verify, demonstrate and reflect</a:t>
            </a:r>
          </a:p>
        </p:txBody>
      </p:sp>
      <p:sp>
        <p:nvSpPr>
          <p:cNvPr id="34" name="shape">
            <a:extLst xmlns:a="http://schemas.openxmlformats.org/drawingml/2006/main">
              <a:ext uri="{FF2B5EF4-FFF2-40B4-BE49-F238E27FC236}">
                <a16:creationId xmlns:a16="http://schemas.microsoft.com/office/drawing/2014/main" id="{AA26A33E-F0FF-47AA-9050-EC4B551AD4FA}"/>
              </a:ext>
            </a:extLst>
          </p:cNvPr>
          <p:cNvSpPr>
            <a:spLocks xmlns:a="http://schemas.openxmlformats.org/drawingml/2006/main" noGrp="1"/>
          </p:cNvSpPr>
          <p:nvPr/>
        </p:nvSpPr>
        <p:spPr>
          <a:xfrm xmlns:a="http://schemas.openxmlformats.org/drawingml/2006/main">
            <a:off x="609600" y="60007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35" name="shape">
            <a:extLst xmlns:a="http://schemas.openxmlformats.org/drawingml/2006/main">
              <a:ext uri="{FF2B5EF4-FFF2-40B4-BE49-F238E27FC236}">
                <a16:creationId xmlns:a16="http://schemas.microsoft.com/office/drawing/2014/main" id="{FCF3CCAD-3298-43A6-83AC-42D31DBD7739}"/>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36" name="text">
            <a:extLst xmlns:a="http://schemas.openxmlformats.org/drawingml/2006/main">
              <a:ext uri="{FF2B5EF4-FFF2-40B4-BE49-F238E27FC236}">
                <a16:creationId xmlns:a16="http://schemas.microsoft.com/office/drawing/2014/main" id="{D5453E93-8B6A-44E6-8FF3-E858F8BE350D}"/>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37" name="text">
            <a:extLst xmlns:a="http://schemas.openxmlformats.org/drawingml/2006/main">
              <a:ext uri="{FF2B5EF4-FFF2-40B4-BE49-F238E27FC236}">
                <a16:creationId xmlns:a16="http://schemas.microsoft.com/office/drawing/2014/main" id="{FCA6E5E2-9300-4A2D-B91F-08919F2A2CE9}"/>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03</a:t>
            </a:r>
          </a:p>
        </p:txBody>
      </p:sp>
    </p:spTree>
    <p:extLst>
      <p:ext uri="{BB962C8B-B14F-4D97-AF65-F5344CB8AC3E}">
        <p14:creationId xmlns:p14="http://schemas.microsoft.com/office/powerpoint/2010/main" val="443551979"/>
      </p:ext>
    </p:extLst>
  </p:cSld>
</p:sld>
</file>

<file path=ppt/slides/slide4.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AFCCDA8B-8CDB-4477-B776-ACBA490940CD}"/>
              </a:ext>
            </a:extLst>
          </p:cNvPr>
          <p:cNvSpPr>
            <a:spLocks xmlns:a="http://schemas.openxmlformats.org/drawingml/2006/main" noGrp="1"/>
          </p:cNvSpPr>
          <p:nvPr/>
        </p:nvSpPr>
        <p:spPr>
          <a:xfrm xmlns:a="http://schemas.openxmlformats.org/drawingml/2006/main">
            <a:off x="609600" y="4000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DAY 1 · SESSION 1 · 90 MINUTES</a:t>
            </a:r>
          </a:p>
        </p:txBody>
      </p:sp>
      <p:sp>
        <p:nvSpPr>
          <p:cNvPr id="2" name="text">
            <a:extLst xmlns:a="http://schemas.openxmlformats.org/drawingml/2006/main">
              <a:ext uri="{FF2B5EF4-FFF2-40B4-BE49-F238E27FC236}">
                <a16:creationId xmlns:a16="http://schemas.microsoft.com/office/drawing/2014/main" id="{2C4E6AEF-D8DF-4609-913C-9C5A786024B8}"/>
              </a:ext>
            </a:extLst>
          </p:cNvPr>
          <p:cNvSpPr>
            <a:spLocks xmlns:a="http://schemas.openxmlformats.org/drawingml/2006/main" noGrp="1"/>
          </p:cNvSpPr>
          <p:nvPr/>
        </p:nvSpPr>
        <p:spPr>
          <a:xfrm xmlns:a="http://schemas.openxmlformats.org/drawingml/2006/main">
            <a:off x="8096250" y="1143000"/>
            <a:ext cx="38100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250" b="1">
                <a:solidFill>
                  <a:srgbClr val="173946"/>
                </a:solidFill>
                <a:latin typeface="Aptos"/>
                <a:ea typeface="Aptos"/>
                <a:cs typeface="Aptos"/>
              </a:defRPr>
            </a:pPr>
            <a:r>
              <a:rPr sz="5250" b="1">
                <a:solidFill>
                  <a:srgbClr val="173946"/>
                </a:solidFill>
                <a:latin typeface="Aptos"/>
                <a:ea typeface="Aptos"/>
                <a:cs typeface="Aptos"/>
              </a:rPr>
              <a:t>SESSION</a:t>
            </a:r>
          </a:p>
          <a:p xmlns:a="http://schemas.openxmlformats.org/drawingml/2006/main">
            <a:pPr>
              <a:defRPr sz="5250" b="1">
                <a:solidFill>
                  <a:srgbClr val="173946"/>
                </a:solidFill>
                <a:latin typeface="Aptos"/>
                <a:ea typeface="Aptos"/>
                <a:cs typeface="Aptos"/>
              </a:defRPr>
            </a:pPr>
            <a:r>
              <a:rPr sz="5250" b="1">
                <a:solidFill>
                  <a:srgbClr val="173946"/>
                </a:solidFill>
                <a:latin typeface="Aptos"/>
                <a:ea typeface="Aptos"/>
                <a:cs typeface="Aptos"/>
              </a:rPr>
              <a:t>01</a:t>
            </a:r>
          </a:p>
        </p:txBody>
      </p:sp>
      <p:sp>
        <p:nvSpPr>
          <p:cNvPr id="3" name="text">
            <a:extLst xmlns:a="http://schemas.openxmlformats.org/drawingml/2006/main">
              <a:ext uri="{FF2B5EF4-FFF2-40B4-BE49-F238E27FC236}">
                <a16:creationId xmlns:a16="http://schemas.microsoft.com/office/drawing/2014/main" id="{7AB36201-19E9-4908-9980-A6D5251F47B1}"/>
              </a:ext>
            </a:extLst>
          </p:cNvPr>
          <p:cNvSpPr>
            <a:spLocks xmlns:a="http://schemas.openxmlformats.org/drawingml/2006/main" noGrp="1"/>
          </p:cNvSpPr>
          <p:nvPr/>
        </p:nvSpPr>
        <p:spPr>
          <a:xfrm xmlns:a="http://schemas.openxmlformats.org/drawingml/2006/main">
            <a:off x="609600" y="1438275"/>
            <a:ext cx="738187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650" b="1">
                <a:solidFill>
                  <a:srgbClr val="EDF5F1"/>
                </a:solidFill>
                <a:latin typeface="Aptos"/>
                <a:ea typeface="Aptos"/>
                <a:cs typeface="Aptos"/>
              </a:defRPr>
            </a:pPr>
            <a:r>
              <a:rPr sz="4650" b="1">
                <a:solidFill>
                  <a:srgbClr val="EDF5F1"/>
                </a:solidFill>
                <a:latin typeface="Aptos"/>
                <a:ea typeface="Aptos"/>
                <a:cs typeface="Aptos"/>
              </a:rPr>
              <a:t>Understand the agent loop.</a:t>
            </a:r>
          </a:p>
        </p:txBody>
      </p:sp>
      <p:sp>
        <p:nvSpPr>
          <p:cNvPr id="4" name="text">
            <a:extLst xmlns:a="http://schemas.openxmlformats.org/drawingml/2006/main">
              <a:ext uri="{FF2B5EF4-FFF2-40B4-BE49-F238E27FC236}">
                <a16:creationId xmlns:a16="http://schemas.microsoft.com/office/drawing/2014/main" id="{C81D85A9-7306-4515-BF97-738C6C764886}"/>
              </a:ext>
            </a:extLst>
          </p:cNvPr>
          <p:cNvSpPr>
            <a:spLocks xmlns:a="http://schemas.openxmlformats.org/drawingml/2006/main" noGrp="1"/>
          </p:cNvSpPr>
          <p:nvPr/>
        </p:nvSpPr>
        <p:spPr>
          <a:xfrm xmlns:a="http://schemas.openxmlformats.org/drawingml/2006/main">
            <a:off x="609600" y="4000500"/>
            <a:ext cx="723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0">
                <a:solidFill>
                  <a:srgbClr val="61DFBF"/>
                </a:solidFill>
                <a:latin typeface="Aptos"/>
                <a:ea typeface="Aptos"/>
                <a:cs typeface="Aptos"/>
              </a:defRPr>
            </a:pPr>
            <a:r>
              <a:rPr sz="2475" b="0">
                <a:solidFill>
                  <a:srgbClr val="61DFBF"/>
                </a:solidFill>
                <a:latin typeface="Aptos"/>
                <a:ea typeface="Aptos"/>
                <a:cs typeface="Aptos"/>
              </a:rPr>
              <a:t>90 minutes to learn, build,</a:t>
            </a:r>
          </a:p>
          <a:p xmlns:a="http://schemas.openxmlformats.org/drawingml/2006/main">
            <a:pPr>
              <a:defRPr sz="2475" b="0">
                <a:solidFill>
                  <a:srgbClr val="61DFBF"/>
                </a:solidFill>
                <a:latin typeface="Aptos"/>
                <a:ea typeface="Aptos"/>
                <a:cs typeface="Aptos"/>
              </a:defRPr>
            </a:pPr>
            <a:r>
              <a:rPr sz="2475" b="0">
                <a:solidFill>
                  <a:srgbClr val="61DFBF"/>
                </a:solidFill>
                <a:latin typeface="Aptos"/>
                <a:ea typeface="Aptos"/>
                <a:cs typeface="Aptos"/>
              </a:rPr>
              <a:t>test and explain.</a:t>
            </a:r>
          </a:p>
        </p:txBody>
      </p:sp>
      <p:sp>
        <p:nvSpPr>
          <p:cNvPr id="5" name="text">
            <a:extLst xmlns:a="http://schemas.openxmlformats.org/drawingml/2006/main">
              <a:ext uri="{FF2B5EF4-FFF2-40B4-BE49-F238E27FC236}">
                <a16:creationId xmlns:a16="http://schemas.microsoft.com/office/drawing/2014/main" id="{BFF28B6E-F038-4396-AB64-7E4C4BA28279}"/>
              </a:ext>
            </a:extLst>
          </p:cNvPr>
          <p:cNvSpPr>
            <a:spLocks xmlns:a="http://schemas.openxmlformats.org/drawingml/2006/main" noGrp="1"/>
          </p:cNvSpPr>
          <p:nvPr/>
        </p:nvSpPr>
        <p:spPr>
          <a:xfrm xmlns:a="http://schemas.openxmlformats.org/drawingml/2006/main">
            <a:off x="609600" y="58102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DFBF"/>
                </a:solidFill>
                <a:latin typeface="Aptos"/>
                <a:ea typeface="Aptos"/>
                <a:cs typeface="Aptos"/>
              </a:defRPr>
            </a:pPr>
            <a:r>
              <a:rPr sz="1800" b="0">
                <a:solidFill>
                  <a:srgbClr val="61DFBF"/>
                </a:solidFill>
                <a:latin typeface="Aptos"/>
                <a:ea typeface="Aptos"/>
                <a:cs typeface="Aptos"/>
              </a:rPr>
              <a:t>Deliverable: a goal, a tool, and a clear success check.</a:t>
            </a:r>
          </a:p>
        </p:txBody>
      </p:sp>
      <p:sp>
        <p:nvSpPr>
          <p:cNvPr id="6" name="shape">
            <a:extLst xmlns:a="http://schemas.openxmlformats.org/drawingml/2006/main">
              <a:ext uri="{FF2B5EF4-FFF2-40B4-BE49-F238E27FC236}">
                <a16:creationId xmlns:a16="http://schemas.microsoft.com/office/drawing/2014/main" id="{F76207D9-DE44-4292-850F-266CE4C717D7}"/>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97AAAC17-0060-48FC-9CF3-B7548D07CCB6}"/>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8" name="text">
            <a:extLst xmlns:a="http://schemas.openxmlformats.org/drawingml/2006/main">
              <a:ext uri="{FF2B5EF4-FFF2-40B4-BE49-F238E27FC236}">
                <a16:creationId xmlns:a16="http://schemas.microsoft.com/office/drawing/2014/main" id="{F2510293-60A7-44DD-A6CC-C230CB710F38}"/>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04</a:t>
            </a:r>
          </a:p>
        </p:txBody>
      </p:sp>
    </p:spTree>
    <p:extLst>
      <p:ext uri="{BB962C8B-B14F-4D97-AF65-F5344CB8AC3E}">
        <p14:creationId xmlns:p14="http://schemas.microsoft.com/office/powerpoint/2010/main" val="1450571636"/>
      </p:ext>
    </p:extLst>
  </p:cSld>
</p:sld>
</file>

<file path=ppt/slides/slide5.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92037d79668842a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hape">
            <a:extLst xmlns:a="http://schemas.openxmlformats.org/drawingml/2006/main">
              <a:ext uri="{FF2B5EF4-FFF2-40B4-BE49-F238E27FC236}">
                <a16:creationId xmlns:a16="http://schemas.microsoft.com/office/drawing/2014/main" id="{CC1E90D6-041B-4726-ACB3-72DAB82DADCD}"/>
              </a:ext>
            </a:extLst>
          </p:cNvPr>
          <p:cNvSpPr>
            <a:spLocks xmlns:a="http://schemas.openxmlformats.org/drawingml/2006/main" noGrp="1"/>
          </p:cNvSpPr>
          <p:nvPr/>
        </p:nvSpPr>
        <p:spPr>
          <a:xfrm xmlns:a="http://schemas.openxmlformats.org/drawingml/2006/main">
            <a:off x="0" y="0"/>
            <a:ext cx="5000625" cy="6858000"/>
          </a:xfrm>
          <a:prstGeom xmlns:a="http://schemas.openxmlformats.org/drawingml/2006/main" prst="rect">
            <a:avLst/>
          </a:prstGeom>
          <a:solidFill xmlns:a="http://schemas.openxmlformats.org/drawingml/2006/main">
            <a:srgbClr val="071321"/>
          </a:solidFill>
          <a:ln xmlns:a="http://schemas.openxmlformats.org/drawingml/2006/main" w="0">
            <a:noFill/>
          </a:ln>
        </p:spPr>
      </p:sp>
      <p:sp>
        <p:nvSpPr>
          <p:cNvPr id="3" name="text">
            <a:extLst xmlns:a="http://schemas.openxmlformats.org/drawingml/2006/main">
              <a:ext uri="{FF2B5EF4-FFF2-40B4-BE49-F238E27FC236}">
                <a16:creationId xmlns:a16="http://schemas.microsoft.com/office/drawing/2014/main" id="{C6D09E07-46FA-4E05-AB7D-B8C4A8007496}"/>
              </a:ext>
            </a:extLst>
          </p:cNvPr>
          <p:cNvSpPr>
            <a:spLocks xmlns:a="http://schemas.openxmlformats.org/drawingml/2006/main" noGrp="1"/>
          </p:cNvSpPr>
          <p:nvPr/>
        </p:nvSpPr>
        <p:spPr>
          <a:xfrm xmlns:a="http://schemas.openxmlformats.org/drawingml/2006/main">
            <a:off x="609600" y="40005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DAY 1 · SESSION 1 · 90 MINUTES</a:t>
            </a:r>
          </a:p>
        </p:txBody>
      </p:sp>
      <p:sp>
        <p:nvSpPr>
          <p:cNvPr id="4" name="text">
            <a:extLst xmlns:a="http://schemas.openxmlformats.org/drawingml/2006/main">
              <a:ext uri="{FF2B5EF4-FFF2-40B4-BE49-F238E27FC236}">
                <a16:creationId xmlns:a16="http://schemas.microsoft.com/office/drawing/2014/main" id="{52F847DB-FB50-4915-AAA4-691AD8828F78}"/>
              </a:ext>
            </a:extLst>
          </p:cNvPr>
          <p:cNvSpPr>
            <a:spLocks xmlns:a="http://schemas.openxmlformats.org/drawingml/2006/main" noGrp="1"/>
          </p:cNvSpPr>
          <p:nvPr/>
        </p:nvSpPr>
        <p:spPr>
          <a:xfrm xmlns:a="http://schemas.openxmlformats.org/drawingml/2006/main">
            <a:off x="609600" y="1123950"/>
            <a:ext cx="4238625"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Think of agents</a:t>
            </a:r>
          </a:p>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as a kitchen</a:t>
            </a:r>
          </a:p>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team.</a:t>
            </a:r>
          </a:p>
        </p:txBody>
      </p:sp>
      <p:sp>
        <p:nvSpPr>
          <p:cNvPr id="5" name="text">
            <a:extLst xmlns:a="http://schemas.openxmlformats.org/drawingml/2006/main">
              <a:ext uri="{FF2B5EF4-FFF2-40B4-BE49-F238E27FC236}">
                <a16:creationId xmlns:a16="http://schemas.microsoft.com/office/drawing/2014/main" id="{C3122904-C51D-43C2-9DA7-1485383D227C}"/>
              </a:ext>
            </a:extLst>
          </p:cNvPr>
          <p:cNvSpPr>
            <a:spLocks xmlns:a="http://schemas.openxmlformats.org/drawingml/2006/main" noGrp="1"/>
          </p:cNvSpPr>
          <p:nvPr/>
        </p:nvSpPr>
        <p:spPr>
          <a:xfrm xmlns:a="http://schemas.openxmlformats.org/drawingml/2006/main">
            <a:off x="609600" y="35242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01</a:t>
            </a:r>
          </a:p>
        </p:txBody>
      </p:sp>
      <p:sp>
        <p:nvSpPr>
          <p:cNvPr id="6" name="text">
            <a:extLst xmlns:a="http://schemas.openxmlformats.org/drawingml/2006/main">
              <a:ext uri="{FF2B5EF4-FFF2-40B4-BE49-F238E27FC236}">
                <a16:creationId xmlns:a16="http://schemas.microsoft.com/office/drawing/2014/main" id="{9F8DE790-E721-4135-A70C-393C5AAECF20}"/>
              </a:ext>
            </a:extLst>
          </p:cNvPr>
          <p:cNvSpPr>
            <a:spLocks xmlns:a="http://schemas.openxmlformats.org/drawingml/2006/main" noGrp="1"/>
          </p:cNvSpPr>
          <p:nvPr/>
        </p:nvSpPr>
        <p:spPr>
          <a:xfrm xmlns:a="http://schemas.openxmlformats.org/drawingml/2006/main">
            <a:off x="1314450" y="3495675"/>
            <a:ext cx="339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EDF5F1"/>
                </a:solidFill>
                <a:latin typeface="Aptos"/>
                <a:ea typeface="Aptos"/>
                <a:cs typeface="Aptos"/>
              </a:defRPr>
            </a:pPr>
            <a:r>
              <a:rPr sz="1950" b="0">
                <a:solidFill>
                  <a:srgbClr val="EDF5F1"/>
                </a:solidFill>
                <a:latin typeface="Aptos"/>
                <a:ea typeface="Aptos"/>
                <a:cs typeface="Aptos"/>
              </a:rPr>
              <a:t>The order is the goal.</a:t>
            </a:r>
          </a:p>
        </p:txBody>
      </p:sp>
      <p:sp>
        <p:nvSpPr>
          <p:cNvPr id="7" name="text">
            <a:extLst xmlns:a="http://schemas.openxmlformats.org/drawingml/2006/main">
              <a:ext uri="{FF2B5EF4-FFF2-40B4-BE49-F238E27FC236}">
                <a16:creationId xmlns:a16="http://schemas.microsoft.com/office/drawing/2014/main" id="{659F5A3F-8FCC-4DC3-8E05-CB8F4347E40B}"/>
              </a:ext>
            </a:extLst>
          </p:cNvPr>
          <p:cNvSpPr>
            <a:spLocks xmlns:a="http://schemas.openxmlformats.org/drawingml/2006/main" noGrp="1"/>
          </p:cNvSpPr>
          <p:nvPr/>
        </p:nvSpPr>
        <p:spPr>
          <a:xfrm xmlns:a="http://schemas.openxmlformats.org/drawingml/2006/main">
            <a:off x="609600" y="41148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02</a:t>
            </a:r>
          </a:p>
        </p:txBody>
      </p:sp>
      <p:sp>
        <p:nvSpPr>
          <p:cNvPr id="8" name="text">
            <a:extLst xmlns:a="http://schemas.openxmlformats.org/drawingml/2006/main">
              <a:ext uri="{FF2B5EF4-FFF2-40B4-BE49-F238E27FC236}">
                <a16:creationId xmlns:a16="http://schemas.microsoft.com/office/drawing/2014/main" id="{3D20AE20-8B72-4C6A-BC6F-254D9B574135}"/>
              </a:ext>
            </a:extLst>
          </p:cNvPr>
          <p:cNvSpPr>
            <a:spLocks xmlns:a="http://schemas.openxmlformats.org/drawingml/2006/main" noGrp="1"/>
          </p:cNvSpPr>
          <p:nvPr/>
        </p:nvSpPr>
        <p:spPr>
          <a:xfrm xmlns:a="http://schemas.openxmlformats.org/drawingml/2006/main">
            <a:off x="1314450" y="4086225"/>
            <a:ext cx="339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EDF5F1"/>
                </a:solidFill>
                <a:latin typeface="Aptos"/>
                <a:ea typeface="Aptos"/>
                <a:cs typeface="Aptos"/>
              </a:defRPr>
            </a:pPr>
            <a:r>
              <a:rPr sz="1950" b="0">
                <a:solidFill>
                  <a:srgbClr val="EDF5F1"/>
                </a:solidFill>
                <a:latin typeface="Aptos"/>
                <a:ea typeface="Aptos"/>
                <a:cs typeface="Aptos"/>
              </a:rPr>
              <a:t>Recipes are instructions.</a:t>
            </a:r>
          </a:p>
        </p:txBody>
      </p:sp>
      <p:sp>
        <p:nvSpPr>
          <p:cNvPr id="9" name="text">
            <a:extLst xmlns:a="http://schemas.openxmlformats.org/drawingml/2006/main">
              <a:ext uri="{FF2B5EF4-FFF2-40B4-BE49-F238E27FC236}">
                <a16:creationId xmlns:a16="http://schemas.microsoft.com/office/drawing/2014/main" id="{A6925593-F4DE-440D-B137-97C72360807B}"/>
              </a:ext>
            </a:extLst>
          </p:cNvPr>
          <p:cNvSpPr>
            <a:spLocks xmlns:a="http://schemas.openxmlformats.org/drawingml/2006/main" noGrp="1"/>
          </p:cNvSpPr>
          <p:nvPr/>
        </p:nvSpPr>
        <p:spPr>
          <a:xfrm xmlns:a="http://schemas.openxmlformats.org/drawingml/2006/main">
            <a:off x="609600" y="47053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03</a:t>
            </a:r>
          </a:p>
        </p:txBody>
      </p:sp>
      <p:sp>
        <p:nvSpPr>
          <p:cNvPr id="10" name="text">
            <a:extLst xmlns:a="http://schemas.openxmlformats.org/drawingml/2006/main">
              <a:ext uri="{FF2B5EF4-FFF2-40B4-BE49-F238E27FC236}">
                <a16:creationId xmlns:a16="http://schemas.microsoft.com/office/drawing/2014/main" id="{8B159008-088A-4387-B877-A266BD2EA766}"/>
              </a:ext>
            </a:extLst>
          </p:cNvPr>
          <p:cNvSpPr>
            <a:spLocks xmlns:a="http://schemas.openxmlformats.org/drawingml/2006/main" noGrp="1"/>
          </p:cNvSpPr>
          <p:nvPr/>
        </p:nvSpPr>
        <p:spPr>
          <a:xfrm xmlns:a="http://schemas.openxmlformats.org/drawingml/2006/main">
            <a:off x="1314450" y="4676775"/>
            <a:ext cx="339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EDF5F1"/>
                </a:solidFill>
                <a:latin typeface="Aptos"/>
                <a:ea typeface="Aptos"/>
                <a:cs typeface="Aptos"/>
              </a:defRPr>
            </a:pPr>
            <a:r>
              <a:rPr sz="1950" b="0">
                <a:solidFill>
                  <a:srgbClr val="EDF5F1"/>
                </a:solidFill>
                <a:latin typeface="Aptos"/>
                <a:ea typeface="Aptos"/>
                <a:cs typeface="Aptos"/>
              </a:rPr>
              <a:t>Equipment is the toolset.</a:t>
            </a:r>
          </a:p>
        </p:txBody>
      </p:sp>
      <p:sp>
        <p:nvSpPr>
          <p:cNvPr id="11" name="text">
            <a:extLst xmlns:a="http://schemas.openxmlformats.org/drawingml/2006/main">
              <a:ext uri="{FF2B5EF4-FFF2-40B4-BE49-F238E27FC236}">
                <a16:creationId xmlns:a16="http://schemas.microsoft.com/office/drawing/2014/main" id="{70BF55DD-2A86-45E5-8990-BB74E1523178}"/>
              </a:ext>
            </a:extLst>
          </p:cNvPr>
          <p:cNvSpPr>
            <a:spLocks xmlns:a="http://schemas.openxmlformats.org/drawingml/2006/main" noGrp="1"/>
          </p:cNvSpPr>
          <p:nvPr/>
        </p:nvSpPr>
        <p:spPr>
          <a:xfrm xmlns:a="http://schemas.openxmlformats.org/drawingml/2006/main">
            <a:off x="609600" y="52959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04</a:t>
            </a:r>
          </a:p>
        </p:txBody>
      </p:sp>
      <p:sp>
        <p:nvSpPr>
          <p:cNvPr id="12" name="text">
            <a:extLst xmlns:a="http://schemas.openxmlformats.org/drawingml/2006/main">
              <a:ext uri="{FF2B5EF4-FFF2-40B4-BE49-F238E27FC236}">
                <a16:creationId xmlns:a16="http://schemas.microsoft.com/office/drawing/2014/main" id="{3ABE71F0-8279-4270-8C23-62EDE406B27F}"/>
              </a:ext>
            </a:extLst>
          </p:cNvPr>
          <p:cNvSpPr>
            <a:spLocks xmlns:a="http://schemas.openxmlformats.org/drawingml/2006/main" noGrp="1"/>
          </p:cNvSpPr>
          <p:nvPr/>
        </p:nvSpPr>
        <p:spPr>
          <a:xfrm xmlns:a="http://schemas.openxmlformats.org/drawingml/2006/main">
            <a:off x="1314450" y="5267325"/>
            <a:ext cx="339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EDF5F1"/>
                </a:solidFill>
                <a:latin typeface="Aptos"/>
                <a:ea typeface="Aptos"/>
                <a:cs typeface="Aptos"/>
              </a:defRPr>
            </a:pPr>
            <a:r>
              <a:rPr sz="1950" b="0">
                <a:solidFill>
                  <a:srgbClr val="EDF5F1"/>
                </a:solidFill>
                <a:latin typeface="Aptos"/>
                <a:ea typeface="Aptos"/>
                <a:cs typeface="Aptos"/>
              </a:rPr>
              <a:t>The head chef coordinates.</a:t>
            </a:r>
          </a:p>
        </p:txBody>
      </p:sp>
      <p:sp>
        <p:nvSpPr>
          <p:cNvPr id="13" name="shape">
            <a:extLst xmlns:a="http://schemas.openxmlformats.org/drawingml/2006/main">
              <a:ext uri="{FF2B5EF4-FFF2-40B4-BE49-F238E27FC236}">
                <a16:creationId xmlns:a16="http://schemas.microsoft.com/office/drawing/2014/main" id="{94F9F32E-57D3-422A-9422-2469A65D5850}"/>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53C98F36-E1CF-41AB-A15A-DEEDA47263B7}"/>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15" name="text">
            <a:extLst xmlns:a="http://schemas.openxmlformats.org/drawingml/2006/main">
              <a:ext uri="{FF2B5EF4-FFF2-40B4-BE49-F238E27FC236}">
                <a16:creationId xmlns:a16="http://schemas.microsoft.com/office/drawing/2014/main" id="{BCEDAE1A-B054-42A0-A5FB-CAAACDEBB8D6}"/>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05</a:t>
            </a:r>
          </a:p>
        </p:txBody>
      </p:sp>
    </p:spTree>
    <p:extLst>
      <p:ext uri="{BB962C8B-B14F-4D97-AF65-F5344CB8AC3E}">
        <p14:creationId xmlns:p14="http://schemas.microsoft.com/office/powerpoint/2010/main" val="971506923"/>
      </p:ext>
    </p:extLst>
  </p:cSld>
</p:sld>
</file>

<file path=ppt/slides/slide6.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9" name="text">
            <a:extLst xmlns:a="http://schemas.openxmlformats.org/drawingml/2006/main">
              <a:ext uri="{FF2B5EF4-FFF2-40B4-BE49-F238E27FC236}">
                <a16:creationId xmlns:a16="http://schemas.microsoft.com/office/drawing/2014/main" id="{B6A4EF93-2EDD-46E2-B7D8-B6609213F9F7}"/>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DAY 1 · SESSION 1 · 90 MINUTES</a:t>
            </a:r>
          </a:p>
        </p:txBody>
      </p:sp>
      <p:sp>
        <p:nvSpPr>
          <p:cNvPr id="2" name="text">
            <a:extLst xmlns:a="http://schemas.openxmlformats.org/drawingml/2006/main">
              <a:ext uri="{FF2B5EF4-FFF2-40B4-BE49-F238E27FC236}">
                <a16:creationId xmlns:a16="http://schemas.microsoft.com/office/drawing/2014/main" id="{ABA0C7D6-CA77-41F7-B6F9-8EF4E35A8AF6}"/>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An agent can use a tool before replying.</a:t>
            </a:r>
          </a:p>
        </p:txBody>
      </p:sp>
      <p:sp>
        <p:nvSpPr>
          <p:cNvPr id="3" name="text">
            <a:extLst xmlns:a="http://schemas.openxmlformats.org/drawingml/2006/main">
              <a:ext uri="{FF2B5EF4-FFF2-40B4-BE49-F238E27FC236}">
                <a16:creationId xmlns:a16="http://schemas.microsoft.com/office/drawing/2014/main" id="{09B85A1F-A162-409F-AEA9-63FC831EC12B}"/>
              </a:ext>
            </a:extLst>
          </p:cNvPr>
          <p:cNvSpPr>
            <a:spLocks xmlns:a="http://schemas.openxmlformats.org/drawingml/2006/main" noGrp="1"/>
          </p:cNvSpPr>
          <p:nvPr/>
        </p:nvSpPr>
        <p:spPr>
          <a:xfrm xmlns:a="http://schemas.openxmlformats.org/drawingml/2006/main">
            <a:off x="609600" y="2190750"/>
            <a:ext cx="952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A SIMPLE CHATBOT EXCHANGE</a:t>
            </a:r>
          </a:p>
        </p:txBody>
      </p:sp>
      <p:sp>
        <p:nvSpPr>
          <p:cNvPr id="4" name="flow-node">
            <a:extLst xmlns:a="http://schemas.openxmlformats.org/drawingml/2006/main">
              <a:ext uri="{FF2B5EF4-FFF2-40B4-BE49-F238E27FC236}">
                <a16:creationId xmlns:a16="http://schemas.microsoft.com/office/drawing/2014/main" id="{AE44556D-8B54-43C2-A7E9-31BF683E3A6A}"/>
              </a:ext>
            </a:extLst>
          </p:cNvPr>
          <p:cNvSpPr>
            <a:spLocks xmlns:a="http://schemas.openxmlformats.org/drawingml/2006/main" noGrp="1"/>
          </p:cNvSpPr>
          <p:nvPr/>
        </p:nvSpPr>
        <p:spPr>
          <a:xfrm xmlns:a="http://schemas.openxmlformats.org/drawingml/2006/main">
            <a:off x="609600" y="2628900"/>
            <a:ext cx="2952750" cy="781050"/>
          </a:xfrm>
          <a:prstGeom xmlns:a="http://schemas.openxmlformats.org/drawingml/2006/main" prst="roundRect">
            <a:avLst>
              <a:gd name="adj" fmla="val 9756"/>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025" b="1">
                <a:solidFill>
                  <a:srgbClr val="EDF5F1"/>
                </a:solidFill>
                <a:latin typeface="Aptos"/>
                <a:ea typeface="Aptos"/>
                <a:cs typeface="Aptos"/>
              </a:defRPr>
            </a:pPr>
            <a:r>
              <a:rPr sz="2025" b="1">
                <a:solidFill>
                  <a:srgbClr val="EDF5F1"/>
                </a:solidFill>
                <a:latin typeface="Aptos"/>
                <a:ea typeface="Aptos"/>
                <a:cs typeface="Aptos"/>
              </a:rPr>
              <a:t>Question</a:t>
            </a:r>
          </a:p>
        </p:txBody>
      </p:sp>
      <p:sp>
        <p:nvSpPr>
          <p:cNvPr id="5" name="flow-node">
            <a:extLst xmlns:a="http://schemas.openxmlformats.org/drawingml/2006/main">
              <a:ext uri="{FF2B5EF4-FFF2-40B4-BE49-F238E27FC236}">
                <a16:creationId xmlns:a16="http://schemas.microsoft.com/office/drawing/2014/main" id="{B93C6C8B-4090-4C4E-8097-FC4BA99B2F29}"/>
              </a:ext>
            </a:extLst>
          </p:cNvPr>
          <p:cNvSpPr>
            <a:spLocks xmlns:a="http://schemas.openxmlformats.org/drawingml/2006/main" noGrp="1"/>
          </p:cNvSpPr>
          <p:nvPr/>
        </p:nvSpPr>
        <p:spPr>
          <a:xfrm xmlns:a="http://schemas.openxmlformats.org/drawingml/2006/main">
            <a:off x="3848100" y="2628900"/>
            <a:ext cx="2952750" cy="781050"/>
          </a:xfrm>
          <a:prstGeom xmlns:a="http://schemas.openxmlformats.org/drawingml/2006/main" prst="roundRect">
            <a:avLst>
              <a:gd name="adj" fmla="val 9756"/>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025" b="1">
                <a:solidFill>
                  <a:srgbClr val="EDF5F1"/>
                </a:solidFill>
                <a:latin typeface="Aptos"/>
                <a:ea typeface="Aptos"/>
                <a:cs typeface="Aptos"/>
              </a:defRPr>
            </a:pPr>
            <a:r>
              <a:rPr sz="2025" b="1">
                <a:solidFill>
                  <a:srgbClr val="EDF5F1"/>
                </a:solidFill>
                <a:latin typeface="Aptos"/>
                <a:ea typeface="Aptos"/>
                <a:cs typeface="Aptos"/>
              </a:rPr>
              <a:t>Answer</a:t>
            </a:r>
          </a:p>
        </p:txBody>
      </p:sp>
      <p:cxnSp>
        <p:nvCxnSpPr>
          <p:cNvPr id="24" name=""/>
          <p:cNvCxnSpPr>
            <a:stCxn xmlns:a="http://schemas.openxmlformats.org/drawingml/2006/main" id="4" idx="3"/>
            <a:endCxn xmlns:a="http://schemas.openxmlformats.org/drawingml/2006/main" id="5" idx="1"/>
          </p:cNvCxnSpPr>
          <p:nvPr/>
        </p:nvCxnSpPr>
        <p:spPr>
          <a:xfrm xmlns:a="http://schemas.openxmlformats.org/drawingml/2006/main">
            <a:off x="3562350" y="3019425"/>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sp>
        <p:nvSpPr>
          <p:cNvPr id="7" name="text">
            <a:extLst xmlns:a="http://schemas.openxmlformats.org/drawingml/2006/main">
              <a:ext uri="{FF2B5EF4-FFF2-40B4-BE49-F238E27FC236}">
                <a16:creationId xmlns:a16="http://schemas.microsoft.com/office/drawing/2014/main" id="{6FF5B367-D4DC-4B24-A38F-92FBE7521155}"/>
              </a:ext>
            </a:extLst>
          </p:cNvPr>
          <p:cNvSpPr>
            <a:spLocks xmlns:a="http://schemas.openxmlformats.org/drawingml/2006/main" noGrp="1"/>
          </p:cNvSpPr>
          <p:nvPr/>
        </p:nvSpPr>
        <p:spPr>
          <a:xfrm xmlns:a="http://schemas.openxmlformats.org/drawingml/2006/main">
            <a:off x="609600" y="3819525"/>
            <a:ext cx="952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OUR AGENT WORKFLOW</a:t>
            </a:r>
          </a:p>
        </p:txBody>
      </p:sp>
      <p:sp>
        <p:nvSpPr>
          <p:cNvPr id="8" name="flow-node">
            <a:extLst xmlns:a="http://schemas.openxmlformats.org/drawingml/2006/main">
              <a:ext uri="{FF2B5EF4-FFF2-40B4-BE49-F238E27FC236}">
                <a16:creationId xmlns:a16="http://schemas.microsoft.com/office/drawing/2014/main" id="{25A78164-6ED3-4D47-9073-0EDAF7C6B25E}"/>
              </a:ext>
            </a:extLst>
          </p:cNvPr>
          <p:cNvSpPr>
            <a:spLocks xmlns:a="http://schemas.openxmlformats.org/drawingml/2006/main" noGrp="1"/>
          </p:cNvSpPr>
          <p:nvPr/>
        </p:nvSpPr>
        <p:spPr>
          <a:xfrm xmlns:a="http://schemas.openxmlformats.org/drawingml/2006/main">
            <a:off x="609600" y="4267200"/>
            <a:ext cx="2528888" cy="809625"/>
          </a:xfrm>
          <a:prstGeom xmlns:a="http://schemas.openxmlformats.org/drawingml/2006/main" prst="roundRect">
            <a:avLst>
              <a:gd name="adj" fmla="val 9412"/>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025" b="1">
                <a:solidFill>
                  <a:srgbClr val="EDF5F1"/>
                </a:solidFill>
                <a:latin typeface="Aptos"/>
                <a:ea typeface="Aptos"/>
                <a:cs typeface="Aptos"/>
              </a:defRPr>
            </a:pPr>
            <a:r>
              <a:rPr sz="2025" b="1">
                <a:solidFill>
                  <a:srgbClr val="EDF5F1"/>
                </a:solidFill>
                <a:latin typeface="Aptos"/>
                <a:ea typeface="Aptos"/>
                <a:cs typeface="Aptos"/>
              </a:rPr>
              <a:t>Goal</a:t>
            </a:r>
          </a:p>
        </p:txBody>
      </p:sp>
      <p:sp>
        <p:nvSpPr>
          <p:cNvPr id="9" name="flow-node">
            <a:extLst xmlns:a="http://schemas.openxmlformats.org/drawingml/2006/main">
              <a:ext uri="{FF2B5EF4-FFF2-40B4-BE49-F238E27FC236}">
                <a16:creationId xmlns:a16="http://schemas.microsoft.com/office/drawing/2014/main" id="{BCB7E064-A1D9-4C45-A548-A644D4CEB9FA}"/>
              </a:ext>
            </a:extLst>
          </p:cNvPr>
          <p:cNvSpPr>
            <a:spLocks xmlns:a="http://schemas.openxmlformats.org/drawingml/2006/main" noGrp="1"/>
          </p:cNvSpPr>
          <p:nvPr/>
        </p:nvSpPr>
        <p:spPr>
          <a:xfrm xmlns:a="http://schemas.openxmlformats.org/drawingml/2006/main">
            <a:off x="3424238" y="4267200"/>
            <a:ext cx="2528888" cy="809625"/>
          </a:xfrm>
          <a:prstGeom xmlns:a="http://schemas.openxmlformats.org/drawingml/2006/main" prst="roundRect">
            <a:avLst>
              <a:gd name="adj" fmla="val 9412"/>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025" b="1">
                <a:solidFill>
                  <a:srgbClr val="EDF5F1"/>
                </a:solidFill>
                <a:latin typeface="Aptos"/>
                <a:ea typeface="Aptos"/>
                <a:cs typeface="Aptos"/>
              </a:defRPr>
            </a:pPr>
            <a:r>
              <a:rPr sz="2025" b="1">
                <a:solidFill>
                  <a:srgbClr val="EDF5F1"/>
                </a:solidFill>
                <a:latin typeface="Aptos"/>
                <a:ea typeface="Aptos"/>
                <a:cs typeface="Aptos"/>
              </a:rPr>
              <a:t>Tool call</a:t>
            </a:r>
          </a:p>
        </p:txBody>
      </p:sp>
      <p:sp>
        <p:nvSpPr>
          <p:cNvPr id="10" name="flow-node">
            <a:extLst xmlns:a="http://schemas.openxmlformats.org/drawingml/2006/main">
              <a:ext uri="{FF2B5EF4-FFF2-40B4-BE49-F238E27FC236}">
                <a16:creationId xmlns:a16="http://schemas.microsoft.com/office/drawing/2014/main" id="{7566D38D-D4B1-4222-88BD-37EF89E12125}"/>
              </a:ext>
            </a:extLst>
          </p:cNvPr>
          <p:cNvSpPr>
            <a:spLocks xmlns:a="http://schemas.openxmlformats.org/drawingml/2006/main" noGrp="1"/>
          </p:cNvSpPr>
          <p:nvPr/>
        </p:nvSpPr>
        <p:spPr>
          <a:xfrm xmlns:a="http://schemas.openxmlformats.org/drawingml/2006/main">
            <a:off x="6238875" y="4267200"/>
            <a:ext cx="2528888" cy="809625"/>
          </a:xfrm>
          <a:prstGeom xmlns:a="http://schemas.openxmlformats.org/drawingml/2006/main" prst="roundRect">
            <a:avLst>
              <a:gd name="adj" fmla="val 9412"/>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025" b="1">
                <a:solidFill>
                  <a:srgbClr val="EDF5F1"/>
                </a:solidFill>
                <a:latin typeface="Aptos"/>
                <a:ea typeface="Aptos"/>
                <a:cs typeface="Aptos"/>
              </a:defRPr>
            </a:pPr>
            <a:r>
              <a:rPr sz="2025" b="1">
                <a:solidFill>
                  <a:srgbClr val="EDF5F1"/>
                </a:solidFill>
                <a:latin typeface="Aptos"/>
                <a:ea typeface="Aptos"/>
                <a:cs typeface="Aptos"/>
              </a:rPr>
              <a:t>Result</a:t>
            </a:r>
          </a:p>
        </p:txBody>
      </p:sp>
      <p:sp>
        <p:nvSpPr>
          <p:cNvPr id="11" name="flow-node">
            <a:extLst xmlns:a="http://schemas.openxmlformats.org/drawingml/2006/main">
              <a:ext uri="{FF2B5EF4-FFF2-40B4-BE49-F238E27FC236}">
                <a16:creationId xmlns:a16="http://schemas.microsoft.com/office/drawing/2014/main" id="{AD68C1CA-787C-48FB-B690-7AC8A5AE0733}"/>
              </a:ext>
            </a:extLst>
          </p:cNvPr>
          <p:cNvSpPr>
            <a:spLocks xmlns:a="http://schemas.openxmlformats.org/drawingml/2006/main" noGrp="1"/>
          </p:cNvSpPr>
          <p:nvPr/>
        </p:nvSpPr>
        <p:spPr>
          <a:xfrm xmlns:a="http://schemas.openxmlformats.org/drawingml/2006/main">
            <a:off x="9053513" y="4267200"/>
            <a:ext cx="2528888" cy="809625"/>
          </a:xfrm>
          <a:prstGeom xmlns:a="http://schemas.openxmlformats.org/drawingml/2006/main" prst="roundRect">
            <a:avLst>
              <a:gd name="adj" fmla="val 9412"/>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025" b="1">
                <a:solidFill>
                  <a:srgbClr val="EDF5F1"/>
                </a:solidFill>
                <a:latin typeface="Aptos"/>
                <a:ea typeface="Aptos"/>
                <a:cs typeface="Aptos"/>
              </a:defRPr>
            </a:pPr>
            <a:r>
              <a:rPr sz="2025" b="1">
                <a:solidFill>
                  <a:srgbClr val="EDF5F1"/>
                </a:solidFill>
                <a:latin typeface="Aptos"/>
                <a:ea typeface="Aptos"/>
                <a:cs typeface="Aptos"/>
              </a:rPr>
              <a:t>Answer</a:t>
            </a:r>
          </a:p>
        </p:txBody>
      </p:sp>
      <p:cxnSp>
        <p:nvCxnSpPr>
          <p:cNvPr id="30" name=""/>
          <p:cNvCxnSpPr>
            <a:stCxn xmlns:a="http://schemas.openxmlformats.org/drawingml/2006/main" id="8" idx="3"/>
            <a:endCxn xmlns:a="http://schemas.openxmlformats.org/drawingml/2006/main" id="9" idx="1"/>
          </p:cNvCxnSpPr>
          <p:nvPr/>
        </p:nvCxnSpPr>
        <p:spPr>
          <a:xfrm xmlns:a="http://schemas.openxmlformats.org/drawingml/2006/main">
            <a:off x="3138488" y="4672013"/>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31" name=""/>
          <p:cNvCxnSpPr>
            <a:stCxn xmlns:a="http://schemas.openxmlformats.org/drawingml/2006/main" id="9" idx="3"/>
            <a:endCxn xmlns:a="http://schemas.openxmlformats.org/drawingml/2006/main" id="10" idx="1"/>
          </p:cNvCxnSpPr>
          <p:nvPr/>
        </p:nvCxnSpPr>
        <p:spPr>
          <a:xfrm xmlns:a="http://schemas.openxmlformats.org/drawingml/2006/main">
            <a:off x="5953126" y="4672013"/>
            <a:ext cx="285749"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32" name=""/>
          <p:cNvCxnSpPr>
            <a:stCxn xmlns:a="http://schemas.openxmlformats.org/drawingml/2006/main" id="10" idx="3"/>
            <a:endCxn xmlns:a="http://schemas.openxmlformats.org/drawingml/2006/main" id="11" idx="1"/>
          </p:cNvCxnSpPr>
          <p:nvPr/>
        </p:nvCxnSpPr>
        <p:spPr>
          <a:xfrm xmlns:a="http://schemas.openxmlformats.org/drawingml/2006/main">
            <a:off x="8767763" y="4672013"/>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sp>
        <p:nvSpPr>
          <p:cNvPr id="15" name="text">
            <a:extLst xmlns:a="http://schemas.openxmlformats.org/drawingml/2006/main">
              <a:ext uri="{FF2B5EF4-FFF2-40B4-BE49-F238E27FC236}">
                <a16:creationId xmlns:a16="http://schemas.microsoft.com/office/drawing/2014/main" id="{FF15C483-6994-47A9-B67B-878209F4FF36}"/>
              </a:ext>
            </a:extLst>
          </p:cNvPr>
          <p:cNvSpPr>
            <a:spLocks xmlns:a="http://schemas.openxmlformats.org/drawingml/2006/main" noGrp="1"/>
          </p:cNvSpPr>
          <p:nvPr/>
        </p:nvSpPr>
        <p:spPr>
          <a:xfrm xmlns:a="http://schemas.openxmlformats.org/drawingml/2006/main">
            <a:off x="609600" y="56197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DFBF"/>
                </a:solidFill>
                <a:latin typeface="Aptos"/>
                <a:ea typeface="Aptos"/>
                <a:cs typeface="Aptos"/>
              </a:defRPr>
            </a:pPr>
            <a:r>
              <a:rPr sz="1800" b="0">
                <a:solidFill>
                  <a:srgbClr val="61DFBF"/>
                </a:solidFill>
                <a:latin typeface="Aptos"/>
                <a:ea typeface="Aptos"/>
                <a:cs typeface="Aptos"/>
              </a:rPr>
              <a:t>A tool is a named capability: calculate, retrieve, or inspect.</a:t>
            </a:r>
          </a:p>
        </p:txBody>
      </p:sp>
      <p:sp>
        <p:nvSpPr>
          <p:cNvPr id="16" name="shape">
            <a:extLst xmlns:a="http://schemas.openxmlformats.org/drawingml/2006/main">
              <a:ext uri="{FF2B5EF4-FFF2-40B4-BE49-F238E27FC236}">
                <a16:creationId xmlns:a16="http://schemas.microsoft.com/office/drawing/2014/main" id="{88CB3118-CDB4-4A4B-95EB-1FBF8057DFA4}"/>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A313DC0D-96E1-4BC3-9C9E-09AEFEB89E48}"/>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18" name="text">
            <a:extLst xmlns:a="http://schemas.openxmlformats.org/drawingml/2006/main">
              <a:ext uri="{FF2B5EF4-FFF2-40B4-BE49-F238E27FC236}">
                <a16:creationId xmlns:a16="http://schemas.microsoft.com/office/drawing/2014/main" id="{41959627-08D9-4943-AB26-922549D7522F}"/>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06</a:t>
            </a:r>
          </a:p>
        </p:txBody>
      </p:sp>
    </p:spTree>
    <p:extLst>
      <p:ext uri="{BB962C8B-B14F-4D97-AF65-F5344CB8AC3E}">
        <p14:creationId xmlns:p14="http://schemas.microsoft.com/office/powerpoint/2010/main" val="2034310444"/>
      </p:ext>
    </p:extLst>
  </p:cSld>
</p:sld>
</file>

<file path=ppt/slides/slide7.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6" name="text">
            <a:extLst xmlns:a="http://schemas.openxmlformats.org/drawingml/2006/main">
              <a:ext uri="{FF2B5EF4-FFF2-40B4-BE49-F238E27FC236}">
                <a16:creationId xmlns:a16="http://schemas.microsoft.com/office/drawing/2014/main" id="{C42A7D71-7143-40C2-9411-3A1864FC324F}"/>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DAY 1 · SESSION 1 · 90 MINUTES</a:t>
            </a:r>
          </a:p>
        </p:txBody>
      </p:sp>
      <p:sp>
        <p:nvSpPr>
          <p:cNvPr id="2" name="text">
            <a:extLst xmlns:a="http://schemas.openxmlformats.org/drawingml/2006/main">
              <a:ext uri="{FF2B5EF4-FFF2-40B4-BE49-F238E27FC236}">
                <a16:creationId xmlns:a16="http://schemas.microsoft.com/office/drawing/2014/main" id="{0E59FC16-B302-4C43-858B-D8FD0F99BF3D}"/>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An agent needs a clear job description.</a:t>
            </a:r>
          </a:p>
        </p:txBody>
      </p:sp>
      <p:sp>
        <p:nvSpPr>
          <p:cNvPr id="3" name="text">
            <a:extLst xmlns:a="http://schemas.openxmlformats.org/drawingml/2006/main">
              <a:ext uri="{FF2B5EF4-FFF2-40B4-BE49-F238E27FC236}">
                <a16:creationId xmlns:a16="http://schemas.microsoft.com/office/drawing/2014/main" id="{7CD8D065-8A1E-4F85-BDD4-E000DD268D8B}"/>
              </a:ext>
            </a:extLst>
          </p:cNvPr>
          <p:cNvSpPr>
            <a:spLocks xmlns:a="http://schemas.openxmlformats.org/drawingml/2006/main" noGrp="1"/>
          </p:cNvSpPr>
          <p:nvPr/>
        </p:nvSpPr>
        <p:spPr>
          <a:xfrm xmlns:a="http://schemas.openxmlformats.org/drawingml/2006/main">
            <a:off x="609600" y="221932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01</a:t>
            </a:r>
          </a:p>
        </p:txBody>
      </p:sp>
      <p:sp>
        <p:nvSpPr>
          <p:cNvPr id="4" name="text">
            <a:extLst xmlns:a="http://schemas.openxmlformats.org/drawingml/2006/main">
              <a:ext uri="{FF2B5EF4-FFF2-40B4-BE49-F238E27FC236}">
                <a16:creationId xmlns:a16="http://schemas.microsoft.com/office/drawing/2014/main" id="{69E8D09C-BAEC-4DC6-8F3B-593ED6BCC516}"/>
              </a:ext>
            </a:extLst>
          </p:cNvPr>
          <p:cNvSpPr>
            <a:spLocks xmlns:a="http://schemas.openxmlformats.org/drawingml/2006/main" noGrp="1"/>
          </p:cNvSpPr>
          <p:nvPr/>
        </p:nvSpPr>
        <p:spPr>
          <a:xfrm xmlns:a="http://schemas.openxmlformats.org/drawingml/2006/main">
            <a:off x="1314450" y="2190750"/>
            <a:ext cx="1026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Goal: What result should it produce?</a:t>
            </a:r>
          </a:p>
        </p:txBody>
      </p:sp>
      <p:sp>
        <p:nvSpPr>
          <p:cNvPr id="5" name="text">
            <a:extLst xmlns:a="http://schemas.openxmlformats.org/drawingml/2006/main">
              <a:ext uri="{FF2B5EF4-FFF2-40B4-BE49-F238E27FC236}">
                <a16:creationId xmlns:a16="http://schemas.microsoft.com/office/drawing/2014/main" id="{ED73AA65-FF30-4E4C-9663-4E622DF70FCA}"/>
              </a:ext>
            </a:extLst>
          </p:cNvPr>
          <p:cNvSpPr>
            <a:spLocks xmlns:a="http://schemas.openxmlformats.org/drawingml/2006/main" noGrp="1"/>
          </p:cNvSpPr>
          <p:nvPr/>
        </p:nvSpPr>
        <p:spPr>
          <a:xfrm xmlns:a="http://schemas.openxmlformats.org/drawingml/2006/main">
            <a:off x="609600" y="29146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02</a:t>
            </a:r>
          </a:p>
        </p:txBody>
      </p:sp>
      <p:sp>
        <p:nvSpPr>
          <p:cNvPr id="6" name="text">
            <a:extLst xmlns:a="http://schemas.openxmlformats.org/drawingml/2006/main">
              <a:ext uri="{FF2B5EF4-FFF2-40B4-BE49-F238E27FC236}">
                <a16:creationId xmlns:a16="http://schemas.microsoft.com/office/drawing/2014/main" id="{F35C69F5-3A1A-4B23-A248-5090269296B6}"/>
              </a:ext>
            </a:extLst>
          </p:cNvPr>
          <p:cNvSpPr>
            <a:spLocks xmlns:a="http://schemas.openxmlformats.org/drawingml/2006/main" noGrp="1"/>
          </p:cNvSpPr>
          <p:nvPr/>
        </p:nvSpPr>
        <p:spPr>
          <a:xfrm xmlns:a="http://schemas.openxmlformats.org/drawingml/2006/main">
            <a:off x="1314450" y="2886075"/>
            <a:ext cx="1026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Inputs: What facts can it use?</a:t>
            </a:r>
          </a:p>
        </p:txBody>
      </p:sp>
      <p:sp>
        <p:nvSpPr>
          <p:cNvPr id="7" name="text">
            <a:extLst xmlns:a="http://schemas.openxmlformats.org/drawingml/2006/main">
              <a:ext uri="{FF2B5EF4-FFF2-40B4-BE49-F238E27FC236}">
                <a16:creationId xmlns:a16="http://schemas.microsoft.com/office/drawing/2014/main" id="{AF902040-B54D-47F3-ABCE-D5D3C9AF3D7A}"/>
              </a:ext>
            </a:extLst>
          </p:cNvPr>
          <p:cNvSpPr>
            <a:spLocks xmlns:a="http://schemas.openxmlformats.org/drawingml/2006/main" noGrp="1"/>
          </p:cNvSpPr>
          <p:nvPr/>
        </p:nvSpPr>
        <p:spPr>
          <a:xfrm xmlns:a="http://schemas.openxmlformats.org/drawingml/2006/main">
            <a:off x="609600" y="360997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03</a:t>
            </a:r>
          </a:p>
        </p:txBody>
      </p:sp>
      <p:sp>
        <p:nvSpPr>
          <p:cNvPr id="8" name="text">
            <a:extLst xmlns:a="http://schemas.openxmlformats.org/drawingml/2006/main">
              <a:ext uri="{FF2B5EF4-FFF2-40B4-BE49-F238E27FC236}">
                <a16:creationId xmlns:a16="http://schemas.microsoft.com/office/drawing/2014/main" id="{F08396EB-1EF1-4C5E-82AD-223F0E23FEAD}"/>
              </a:ext>
            </a:extLst>
          </p:cNvPr>
          <p:cNvSpPr>
            <a:spLocks xmlns:a="http://schemas.openxmlformats.org/drawingml/2006/main" noGrp="1"/>
          </p:cNvSpPr>
          <p:nvPr/>
        </p:nvSpPr>
        <p:spPr>
          <a:xfrm xmlns:a="http://schemas.openxmlformats.org/drawingml/2006/main">
            <a:off x="1314450" y="3581400"/>
            <a:ext cx="1026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Tools: What actions may it take?</a:t>
            </a:r>
          </a:p>
        </p:txBody>
      </p:sp>
      <p:sp>
        <p:nvSpPr>
          <p:cNvPr id="9" name="text">
            <a:extLst xmlns:a="http://schemas.openxmlformats.org/drawingml/2006/main">
              <a:ext uri="{FF2B5EF4-FFF2-40B4-BE49-F238E27FC236}">
                <a16:creationId xmlns:a16="http://schemas.microsoft.com/office/drawing/2014/main" id="{09ED0D16-B825-4AFC-9BED-036FBD7E9928}"/>
              </a:ext>
            </a:extLst>
          </p:cNvPr>
          <p:cNvSpPr>
            <a:spLocks xmlns:a="http://schemas.openxmlformats.org/drawingml/2006/main" noGrp="1"/>
          </p:cNvSpPr>
          <p:nvPr/>
        </p:nvSpPr>
        <p:spPr>
          <a:xfrm xmlns:a="http://schemas.openxmlformats.org/drawingml/2006/main">
            <a:off x="609600" y="43053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04</a:t>
            </a:r>
          </a:p>
        </p:txBody>
      </p:sp>
      <p:sp>
        <p:nvSpPr>
          <p:cNvPr id="10" name="text">
            <a:extLst xmlns:a="http://schemas.openxmlformats.org/drawingml/2006/main">
              <a:ext uri="{FF2B5EF4-FFF2-40B4-BE49-F238E27FC236}">
                <a16:creationId xmlns:a16="http://schemas.microsoft.com/office/drawing/2014/main" id="{65EEDA8B-0527-4C56-B4AB-EB2F5807A553}"/>
              </a:ext>
            </a:extLst>
          </p:cNvPr>
          <p:cNvSpPr>
            <a:spLocks xmlns:a="http://schemas.openxmlformats.org/drawingml/2006/main" noGrp="1"/>
          </p:cNvSpPr>
          <p:nvPr/>
        </p:nvSpPr>
        <p:spPr>
          <a:xfrm xmlns:a="http://schemas.openxmlformats.org/drawingml/2006/main">
            <a:off x="1314450" y="4276725"/>
            <a:ext cx="1026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Rules: What must it avoid?</a:t>
            </a:r>
          </a:p>
        </p:txBody>
      </p:sp>
      <p:sp>
        <p:nvSpPr>
          <p:cNvPr id="11" name="text">
            <a:extLst xmlns:a="http://schemas.openxmlformats.org/drawingml/2006/main">
              <a:ext uri="{FF2B5EF4-FFF2-40B4-BE49-F238E27FC236}">
                <a16:creationId xmlns:a16="http://schemas.microsoft.com/office/drawing/2014/main" id="{F46A22F6-8832-4B65-8501-4ACD36B31C17}"/>
              </a:ext>
            </a:extLst>
          </p:cNvPr>
          <p:cNvSpPr>
            <a:spLocks xmlns:a="http://schemas.openxmlformats.org/drawingml/2006/main" noGrp="1"/>
          </p:cNvSpPr>
          <p:nvPr/>
        </p:nvSpPr>
        <p:spPr>
          <a:xfrm xmlns:a="http://schemas.openxmlformats.org/drawingml/2006/main">
            <a:off x="609600" y="500062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05</a:t>
            </a:r>
          </a:p>
        </p:txBody>
      </p:sp>
      <p:sp>
        <p:nvSpPr>
          <p:cNvPr id="12" name="text">
            <a:extLst xmlns:a="http://schemas.openxmlformats.org/drawingml/2006/main">
              <a:ext uri="{FF2B5EF4-FFF2-40B4-BE49-F238E27FC236}">
                <a16:creationId xmlns:a16="http://schemas.microsoft.com/office/drawing/2014/main" id="{9185157B-5D00-4A8E-8A4A-9C1A87E3E583}"/>
              </a:ext>
            </a:extLst>
          </p:cNvPr>
          <p:cNvSpPr>
            <a:spLocks xmlns:a="http://schemas.openxmlformats.org/drawingml/2006/main" noGrp="1"/>
          </p:cNvSpPr>
          <p:nvPr/>
        </p:nvSpPr>
        <p:spPr>
          <a:xfrm xmlns:a="http://schemas.openxmlformats.org/drawingml/2006/main">
            <a:off x="1314450" y="4972050"/>
            <a:ext cx="1026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Output: What should a useful answer contain?</a:t>
            </a:r>
          </a:p>
        </p:txBody>
      </p:sp>
      <p:sp>
        <p:nvSpPr>
          <p:cNvPr id="13" name="shape">
            <a:extLst xmlns:a="http://schemas.openxmlformats.org/drawingml/2006/main">
              <a:ext uri="{FF2B5EF4-FFF2-40B4-BE49-F238E27FC236}">
                <a16:creationId xmlns:a16="http://schemas.microsoft.com/office/drawing/2014/main" id="{102D1CDF-3589-40EB-BBFE-EABD9A665315}"/>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E586FDD9-1EA3-4477-8DB1-4D25F90F7FFE}"/>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15" name="text">
            <a:extLst xmlns:a="http://schemas.openxmlformats.org/drawingml/2006/main">
              <a:ext uri="{FF2B5EF4-FFF2-40B4-BE49-F238E27FC236}">
                <a16:creationId xmlns:a16="http://schemas.microsoft.com/office/drawing/2014/main" id="{82537AE4-233F-42E9-9300-D38E3A57F9F8}"/>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07</a:t>
            </a:r>
          </a:p>
        </p:txBody>
      </p:sp>
    </p:spTree>
    <p:extLst>
      <p:ext uri="{BB962C8B-B14F-4D97-AF65-F5344CB8AC3E}">
        <p14:creationId xmlns:p14="http://schemas.microsoft.com/office/powerpoint/2010/main" val="1228014866"/>
      </p:ext>
    </p:extLst>
  </p:cSld>
</p:sld>
</file>

<file path=ppt/slides/slide8.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6" name="text">
            <a:extLst xmlns:a="http://schemas.openxmlformats.org/drawingml/2006/main">
              <a:ext uri="{FF2B5EF4-FFF2-40B4-BE49-F238E27FC236}">
                <a16:creationId xmlns:a16="http://schemas.microsoft.com/office/drawing/2014/main" id="{19AFB03F-1D5E-408E-B8C6-C92208A23B14}"/>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DAY 1 · SESSION 1 · 90 MINUTES</a:t>
            </a:r>
          </a:p>
        </p:txBody>
      </p:sp>
      <p:sp>
        <p:nvSpPr>
          <p:cNvPr id="2" name="text">
            <a:extLst xmlns:a="http://schemas.openxmlformats.org/drawingml/2006/main">
              <a:ext uri="{FF2B5EF4-FFF2-40B4-BE49-F238E27FC236}">
                <a16:creationId xmlns:a16="http://schemas.microsoft.com/office/drawing/2014/main" id="{A28428A3-1AAD-4E95-B60D-9A7356B1A4DA}"/>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The loop is: ask, act, observe, reply.</a:t>
            </a:r>
          </a:p>
        </p:txBody>
      </p:sp>
      <p:sp>
        <p:nvSpPr>
          <p:cNvPr id="3" name="flow-node">
            <a:extLst xmlns:a="http://schemas.openxmlformats.org/drawingml/2006/main">
              <a:ext uri="{FF2B5EF4-FFF2-40B4-BE49-F238E27FC236}">
                <a16:creationId xmlns:a16="http://schemas.microsoft.com/office/drawing/2014/main" id="{276453CF-FDDB-476A-BE76-87CE9E5D7F67}"/>
              </a:ext>
            </a:extLst>
          </p:cNvPr>
          <p:cNvSpPr>
            <a:spLocks xmlns:a="http://schemas.openxmlformats.org/drawingml/2006/main" noGrp="1"/>
          </p:cNvSpPr>
          <p:nvPr/>
        </p:nvSpPr>
        <p:spPr>
          <a:xfrm xmlns:a="http://schemas.openxmlformats.org/drawingml/2006/main">
            <a:off x="609600" y="2857500"/>
            <a:ext cx="1965960"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Read the goal</a:t>
            </a:r>
          </a:p>
        </p:txBody>
      </p:sp>
      <p:sp>
        <p:nvSpPr>
          <p:cNvPr id="4" name="flow-node">
            <a:extLst xmlns:a="http://schemas.openxmlformats.org/drawingml/2006/main">
              <a:ext uri="{FF2B5EF4-FFF2-40B4-BE49-F238E27FC236}">
                <a16:creationId xmlns:a16="http://schemas.microsoft.com/office/drawing/2014/main" id="{2470E268-AD66-4102-AA13-8A92DC3C00DE}"/>
              </a:ext>
            </a:extLst>
          </p:cNvPr>
          <p:cNvSpPr>
            <a:spLocks xmlns:a="http://schemas.openxmlformats.org/drawingml/2006/main" noGrp="1"/>
          </p:cNvSpPr>
          <p:nvPr/>
        </p:nvSpPr>
        <p:spPr>
          <a:xfrm xmlns:a="http://schemas.openxmlformats.org/drawingml/2006/main">
            <a:off x="2861310" y="2857500"/>
            <a:ext cx="1965960"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Choose a tool</a:t>
            </a:r>
          </a:p>
        </p:txBody>
      </p:sp>
      <p:sp>
        <p:nvSpPr>
          <p:cNvPr id="5" name="flow-node">
            <a:extLst xmlns:a="http://schemas.openxmlformats.org/drawingml/2006/main">
              <a:ext uri="{FF2B5EF4-FFF2-40B4-BE49-F238E27FC236}">
                <a16:creationId xmlns:a16="http://schemas.microsoft.com/office/drawing/2014/main" id="{6E4B4E0C-50E5-4E33-A2EE-193FAD0AC824}"/>
              </a:ext>
            </a:extLst>
          </p:cNvPr>
          <p:cNvSpPr>
            <a:spLocks xmlns:a="http://schemas.openxmlformats.org/drawingml/2006/main" noGrp="1"/>
          </p:cNvSpPr>
          <p:nvPr/>
        </p:nvSpPr>
        <p:spPr>
          <a:xfrm xmlns:a="http://schemas.openxmlformats.org/drawingml/2006/main">
            <a:off x="5113020" y="2857500"/>
            <a:ext cx="1965960"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Execute it</a:t>
            </a:r>
          </a:p>
        </p:txBody>
      </p:sp>
      <p:sp>
        <p:nvSpPr>
          <p:cNvPr id="6" name="flow-node">
            <a:extLst xmlns:a="http://schemas.openxmlformats.org/drawingml/2006/main">
              <a:ext uri="{FF2B5EF4-FFF2-40B4-BE49-F238E27FC236}">
                <a16:creationId xmlns:a16="http://schemas.microsoft.com/office/drawing/2014/main" id="{450C8A39-42D0-4CD3-8478-6B66DC3C5C8E}"/>
              </a:ext>
            </a:extLst>
          </p:cNvPr>
          <p:cNvSpPr>
            <a:spLocks xmlns:a="http://schemas.openxmlformats.org/drawingml/2006/main" noGrp="1"/>
          </p:cNvSpPr>
          <p:nvPr/>
        </p:nvSpPr>
        <p:spPr>
          <a:xfrm xmlns:a="http://schemas.openxmlformats.org/drawingml/2006/main">
            <a:off x="7364730" y="2857500"/>
            <a:ext cx="1965960"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Read the result</a:t>
            </a:r>
          </a:p>
        </p:txBody>
      </p:sp>
      <p:sp>
        <p:nvSpPr>
          <p:cNvPr id="7" name="flow-node">
            <a:extLst xmlns:a="http://schemas.openxmlformats.org/drawingml/2006/main">
              <a:ext uri="{FF2B5EF4-FFF2-40B4-BE49-F238E27FC236}">
                <a16:creationId xmlns:a16="http://schemas.microsoft.com/office/drawing/2014/main" id="{46AAA4FA-7FEB-486D-BF35-A266C7C2E0A6}"/>
              </a:ext>
            </a:extLst>
          </p:cNvPr>
          <p:cNvSpPr>
            <a:spLocks xmlns:a="http://schemas.openxmlformats.org/drawingml/2006/main" noGrp="1"/>
          </p:cNvSpPr>
          <p:nvPr/>
        </p:nvSpPr>
        <p:spPr>
          <a:xfrm xmlns:a="http://schemas.openxmlformats.org/drawingml/2006/main">
            <a:off x="9616440" y="2857500"/>
            <a:ext cx="1965960"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Reply or repeat</a:t>
            </a:r>
          </a:p>
        </p:txBody>
      </p:sp>
      <p:cxnSp>
        <p:nvCxnSpPr>
          <p:cNvPr id="23" name=""/>
          <p:cNvCxnSpPr>
            <a:stCxn xmlns:a="http://schemas.openxmlformats.org/drawingml/2006/main" id="3" idx="3"/>
            <a:endCxn xmlns:a="http://schemas.openxmlformats.org/drawingml/2006/main" id="4" idx="1"/>
          </p:cNvCxnSpPr>
          <p:nvPr/>
        </p:nvCxnSpPr>
        <p:spPr>
          <a:xfrm xmlns:a="http://schemas.openxmlformats.org/drawingml/2006/main">
            <a:off x="2575560"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4" name=""/>
          <p:cNvCxnSpPr>
            <a:stCxn xmlns:a="http://schemas.openxmlformats.org/drawingml/2006/main" id="4" idx="3"/>
            <a:endCxn xmlns:a="http://schemas.openxmlformats.org/drawingml/2006/main" id="5" idx="1"/>
          </p:cNvCxnSpPr>
          <p:nvPr/>
        </p:nvCxnSpPr>
        <p:spPr>
          <a:xfrm xmlns:a="http://schemas.openxmlformats.org/drawingml/2006/main">
            <a:off x="4827270"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5" name=""/>
          <p:cNvCxnSpPr>
            <a:stCxn xmlns:a="http://schemas.openxmlformats.org/drawingml/2006/main" id="5" idx="3"/>
            <a:endCxn xmlns:a="http://schemas.openxmlformats.org/drawingml/2006/main" id="6" idx="1"/>
          </p:cNvCxnSpPr>
          <p:nvPr/>
        </p:nvCxnSpPr>
        <p:spPr>
          <a:xfrm xmlns:a="http://schemas.openxmlformats.org/drawingml/2006/main">
            <a:off x="7078980"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6" name=""/>
          <p:cNvCxnSpPr>
            <a:stCxn xmlns:a="http://schemas.openxmlformats.org/drawingml/2006/main" id="6" idx="3"/>
            <a:endCxn xmlns:a="http://schemas.openxmlformats.org/drawingml/2006/main" id="7" idx="1"/>
          </p:cNvCxnSpPr>
          <p:nvPr/>
        </p:nvCxnSpPr>
        <p:spPr>
          <a:xfrm xmlns:a="http://schemas.openxmlformats.org/drawingml/2006/main">
            <a:off x="9330690"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sp>
        <p:nvSpPr>
          <p:cNvPr id="12" name="text">
            <a:extLst xmlns:a="http://schemas.openxmlformats.org/drawingml/2006/main">
              <a:ext uri="{FF2B5EF4-FFF2-40B4-BE49-F238E27FC236}">
                <a16:creationId xmlns:a16="http://schemas.microsoft.com/office/drawing/2014/main" id="{39BFA2DB-2B2C-4F69-B4F6-CCA3C98F2C00}"/>
              </a:ext>
            </a:extLst>
          </p:cNvPr>
          <p:cNvSpPr>
            <a:spLocks xmlns:a="http://schemas.openxmlformats.org/drawingml/2006/main" noGrp="1"/>
          </p:cNvSpPr>
          <p:nvPr/>
        </p:nvSpPr>
        <p:spPr>
          <a:xfrm xmlns:a="http://schemas.openxmlformats.org/drawingml/2006/main">
            <a:off x="609600" y="50673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DFBF"/>
                </a:solidFill>
                <a:latin typeface="Aptos"/>
                <a:ea typeface="Aptos"/>
                <a:cs typeface="Aptos"/>
              </a:defRPr>
            </a:pPr>
            <a:r>
              <a:rPr sz="1800" b="0">
                <a:solidFill>
                  <a:srgbClr val="61DFBF"/>
                </a:solidFill>
                <a:latin typeface="Aptos"/>
                <a:ea typeface="Aptos"/>
                <a:cs typeface="Aptos"/>
              </a:rPr>
              <a:t>Gemini chooses permitted tool calls. LangChain executes them.</a:t>
            </a:r>
          </a:p>
        </p:txBody>
      </p:sp>
      <p:sp>
        <p:nvSpPr>
          <p:cNvPr id="13" name="shape">
            <a:extLst xmlns:a="http://schemas.openxmlformats.org/drawingml/2006/main">
              <a:ext uri="{FF2B5EF4-FFF2-40B4-BE49-F238E27FC236}">
                <a16:creationId xmlns:a16="http://schemas.microsoft.com/office/drawing/2014/main" id="{02FBCF04-D4D7-4F60-983C-39698EE9F47C}"/>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AAC6F34D-DB96-4AA5-859D-4244DF9C3430}"/>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15" name="text">
            <a:extLst xmlns:a="http://schemas.openxmlformats.org/drawingml/2006/main">
              <a:ext uri="{FF2B5EF4-FFF2-40B4-BE49-F238E27FC236}">
                <a16:creationId xmlns:a16="http://schemas.microsoft.com/office/drawing/2014/main" id="{2D02506E-3EF5-489A-ADC9-83FE93E8C688}"/>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08</a:t>
            </a:r>
          </a:p>
        </p:txBody>
      </p:sp>
    </p:spTree>
    <p:extLst>
      <p:ext uri="{BB962C8B-B14F-4D97-AF65-F5344CB8AC3E}">
        <p14:creationId xmlns:p14="http://schemas.microsoft.com/office/powerpoint/2010/main" val="895385609"/>
      </p:ext>
    </p:extLst>
  </p:cSld>
</p:sld>
</file>

<file path=ppt/slides/slide9.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ED58CBFF-EAF7-49EF-9E76-3DA2DE3A85A9}"/>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DAY 1 · SESSION 1 · 90 MINUTES</a:t>
            </a:r>
          </a:p>
        </p:txBody>
      </p:sp>
      <p:sp>
        <p:nvSpPr>
          <p:cNvPr id="2" name="text">
            <a:extLst xmlns:a="http://schemas.openxmlformats.org/drawingml/2006/main">
              <a:ext uri="{FF2B5EF4-FFF2-40B4-BE49-F238E27FC236}">
                <a16:creationId xmlns:a16="http://schemas.microsoft.com/office/drawing/2014/main" id="{55D76481-7B2F-41E4-83A4-B8315AA86A2B}"/>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Plan, execute, reflect: a second useful loop.</a:t>
            </a:r>
          </a:p>
        </p:txBody>
      </p:sp>
      <p:sp>
        <p:nvSpPr>
          <p:cNvPr id="3" name="flow-node">
            <a:extLst xmlns:a="http://schemas.openxmlformats.org/drawingml/2006/main">
              <a:ext uri="{FF2B5EF4-FFF2-40B4-BE49-F238E27FC236}">
                <a16:creationId xmlns:a16="http://schemas.microsoft.com/office/drawing/2014/main" id="{3F89D9A7-34C8-4773-A0BE-271946FE1D7D}"/>
              </a:ext>
            </a:extLst>
          </p:cNvPr>
          <p:cNvSpPr>
            <a:spLocks xmlns:a="http://schemas.openxmlformats.org/drawingml/2006/main" noGrp="1"/>
          </p:cNvSpPr>
          <p:nvPr/>
        </p:nvSpPr>
        <p:spPr>
          <a:xfrm xmlns:a="http://schemas.openxmlformats.org/drawingml/2006/main">
            <a:off x="609600"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Plan the work</a:t>
            </a:r>
          </a:p>
        </p:txBody>
      </p:sp>
      <p:sp>
        <p:nvSpPr>
          <p:cNvPr id="4" name="flow-node">
            <a:extLst xmlns:a="http://schemas.openxmlformats.org/drawingml/2006/main">
              <a:ext uri="{FF2B5EF4-FFF2-40B4-BE49-F238E27FC236}">
                <a16:creationId xmlns:a16="http://schemas.microsoft.com/office/drawing/2014/main" id="{F34CD02B-B55F-47CA-B6C8-928797718B77}"/>
              </a:ext>
            </a:extLst>
          </p:cNvPr>
          <p:cNvSpPr>
            <a:spLocks xmlns:a="http://schemas.openxmlformats.org/drawingml/2006/main" noGrp="1"/>
          </p:cNvSpPr>
          <p:nvPr/>
        </p:nvSpPr>
        <p:spPr>
          <a:xfrm xmlns:a="http://schemas.openxmlformats.org/drawingml/2006/main">
            <a:off x="3424238"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Use the tools</a:t>
            </a:r>
          </a:p>
        </p:txBody>
      </p:sp>
      <p:sp>
        <p:nvSpPr>
          <p:cNvPr id="5" name="flow-node">
            <a:extLst xmlns:a="http://schemas.openxmlformats.org/drawingml/2006/main">
              <a:ext uri="{FF2B5EF4-FFF2-40B4-BE49-F238E27FC236}">
                <a16:creationId xmlns:a16="http://schemas.microsoft.com/office/drawing/2014/main" id="{098DC4C0-92A4-4651-834C-F13D8F451727}"/>
              </a:ext>
            </a:extLst>
          </p:cNvPr>
          <p:cNvSpPr>
            <a:spLocks xmlns:a="http://schemas.openxmlformats.org/drawingml/2006/main" noGrp="1"/>
          </p:cNvSpPr>
          <p:nvPr/>
        </p:nvSpPr>
        <p:spPr>
          <a:xfrm xmlns:a="http://schemas.openxmlformats.org/drawingml/2006/main">
            <a:off x="6238875"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Check the result</a:t>
            </a:r>
          </a:p>
        </p:txBody>
      </p:sp>
      <p:sp>
        <p:nvSpPr>
          <p:cNvPr id="6" name="flow-node">
            <a:extLst xmlns:a="http://schemas.openxmlformats.org/drawingml/2006/main">
              <a:ext uri="{FF2B5EF4-FFF2-40B4-BE49-F238E27FC236}">
                <a16:creationId xmlns:a16="http://schemas.microsoft.com/office/drawing/2014/main" id="{67FCA578-1171-4E76-96B0-F4CDE68C9BB4}"/>
              </a:ext>
            </a:extLst>
          </p:cNvPr>
          <p:cNvSpPr>
            <a:spLocks xmlns:a="http://schemas.openxmlformats.org/drawingml/2006/main" noGrp="1"/>
          </p:cNvSpPr>
          <p:nvPr/>
        </p:nvSpPr>
        <p:spPr>
          <a:xfrm xmlns:a="http://schemas.openxmlformats.org/drawingml/2006/main">
            <a:off x="9053513"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Revise or finish</a:t>
            </a:r>
          </a:p>
        </p:txBody>
      </p:sp>
      <p:cxnSp>
        <p:nvCxnSpPr>
          <p:cNvPr id="20" name=""/>
          <p:cNvCxnSpPr>
            <a:stCxn xmlns:a="http://schemas.openxmlformats.org/drawingml/2006/main" id="3" idx="3"/>
            <a:endCxn xmlns:a="http://schemas.openxmlformats.org/drawingml/2006/main" id="4" idx="1"/>
          </p:cNvCxnSpPr>
          <p:nvPr/>
        </p:nvCxnSpPr>
        <p:spPr>
          <a:xfrm xmlns:a="http://schemas.openxmlformats.org/drawingml/2006/main">
            <a:off x="3138488"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1" name=""/>
          <p:cNvCxnSpPr>
            <a:stCxn xmlns:a="http://schemas.openxmlformats.org/drawingml/2006/main" id="4" idx="3"/>
            <a:endCxn xmlns:a="http://schemas.openxmlformats.org/drawingml/2006/main" id="5" idx="1"/>
          </p:cNvCxnSpPr>
          <p:nvPr/>
        </p:nvCxnSpPr>
        <p:spPr>
          <a:xfrm xmlns:a="http://schemas.openxmlformats.org/drawingml/2006/main">
            <a:off x="5953126" y="3390900"/>
            <a:ext cx="285749"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2" name=""/>
          <p:cNvCxnSpPr>
            <a:stCxn xmlns:a="http://schemas.openxmlformats.org/drawingml/2006/main" id="5" idx="3"/>
            <a:endCxn xmlns:a="http://schemas.openxmlformats.org/drawingml/2006/main" id="6" idx="1"/>
          </p:cNvCxnSpPr>
          <p:nvPr/>
        </p:nvCxnSpPr>
        <p:spPr>
          <a:xfrm xmlns:a="http://schemas.openxmlformats.org/drawingml/2006/main">
            <a:off x="8767763"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sp>
        <p:nvSpPr>
          <p:cNvPr id="10" name="text">
            <a:extLst xmlns:a="http://schemas.openxmlformats.org/drawingml/2006/main">
              <a:ext uri="{FF2B5EF4-FFF2-40B4-BE49-F238E27FC236}">
                <a16:creationId xmlns:a16="http://schemas.microsoft.com/office/drawing/2014/main" id="{4343FFB6-86E9-4C07-A295-8F9CF305DCD9}"/>
              </a:ext>
            </a:extLst>
          </p:cNvPr>
          <p:cNvSpPr>
            <a:spLocks xmlns:a="http://schemas.openxmlformats.org/drawingml/2006/main" noGrp="1"/>
          </p:cNvSpPr>
          <p:nvPr/>
        </p:nvSpPr>
        <p:spPr>
          <a:xfrm xmlns:a="http://schemas.openxmlformats.org/drawingml/2006/main">
            <a:off x="609600" y="50673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DFBF"/>
                </a:solidFill>
                <a:latin typeface="Aptos"/>
                <a:ea typeface="Aptos"/>
                <a:cs typeface="Aptos"/>
              </a:defRPr>
            </a:pPr>
            <a:r>
              <a:rPr sz="1800" b="0">
                <a:solidFill>
                  <a:srgbClr val="61DFBF"/>
                </a:solidFill>
                <a:latin typeface="Aptos"/>
                <a:ea typeface="Aptos"/>
                <a:cs typeface="Aptos"/>
              </a:rPr>
              <a:t>A plan is useful only when you can test its result.</a:t>
            </a:r>
          </a:p>
        </p:txBody>
      </p:sp>
      <p:sp>
        <p:nvSpPr>
          <p:cNvPr id="11" name="shape">
            <a:extLst xmlns:a="http://schemas.openxmlformats.org/drawingml/2006/main">
              <a:ext uri="{FF2B5EF4-FFF2-40B4-BE49-F238E27FC236}">
                <a16:creationId xmlns:a16="http://schemas.microsoft.com/office/drawing/2014/main" id="{EF5C87E5-2236-405E-AD2A-4B4B445FB961}"/>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C722D10D-E521-43C1-BCC5-FA215AA83CAF}"/>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13" name="text">
            <a:extLst xmlns:a="http://schemas.openxmlformats.org/drawingml/2006/main">
              <a:ext uri="{FF2B5EF4-FFF2-40B4-BE49-F238E27FC236}">
                <a16:creationId xmlns:a16="http://schemas.microsoft.com/office/drawing/2014/main" id="{37F82F9C-A275-4A6A-9D25-F5D4C428D244}"/>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09</a:t>
            </a:r>
          </a:p>
        </p:txBody>
      </p:sp>
    </p:spTree>
    <p:extLst>
      <p:ext uri="{BB962C8B-B14F-4D97-AF65-F5344CB8AC3E}">
        <p14:creationId xmlns:p14="http://schemas.microsoft.com/office/powerpoint/2010/main" val="1632894777"/>
      </p:ext>
    </p:extLst>
  </p:cSld>
</p:sld>
</file>

<file path=ppt/slides/slide10.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1265A51D-9B02-4629-8895-91FA717053FD}"/>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DAY 1 · SESSION 1 · 90 MINUTES</a:t>
            </a:r>
          </a:p>
        </p:txBody>
      </p:sp>
      <p:sp>
        <p:nvSpPr>
          <p:cNvPr id="2" name="text">
            <a:extLst xmlns:a="http://schemas.openxmlformats.org/drawingml/2006/main">
              <a:ext uri="{FF2B5EF4-FFF2-40B4-BE49-F238E27FC236}">
                <a16:creationId xmlns:a16="http://schemas.microsoft.com/office/drawing/2014/main" id="{17FE8AFA-8D61-433A-A7B2-8E45437AA73F}"/>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LangChain is the agent’s wiring kit.</a:t>
            </a:r>
          </a:p>
        </p:txBody>
      </p:sp>
      <p:sp>
        <p:nvSpPr>
          <p:cNvPr id="3" name="flow-node">
            <a:extLst xmlns:a="http://schemas.openxmlformats.org/drawingml/2006/main">
              <a:ext uri="{FF2B5EF4-FFF2-40B4-BE49-F238E27FC236}">
                <a16:creationId xmlns:a16="http://schemas.microsoft.com/office/drawing/2014/main" id="{3C579735-A5A7-4F57-87EB-47BE4CB49A5E}"/>
              </a:ext>
            </a:extLst>
          </p:cNvPr>
          <p:cNvSpPr>
            <a:spLocks xmlns:a="http://schemas.openxmlformats.org/drawingml/2006/main" noGrp="1"/>
          </p:cNvSpPr>
          <p:nvPr/>
        </p:nvSpPr>
        <p:spPr>
          <a:xfrm xmlns:a="http://schemas.openxmlformats.org/drawingml/2006/main">
            <a:off x="609600"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Role prompt</a:t>
            </a:r>
          </a:p>
        </p:txBody>
      </p:sp>
      <p:sp>
        <p:nvSpPr>
          <p:cNvPr id="4" name="flow-node">
            <a:extLst xmlns:a="http://schemas.openxmlformats.org/drawingml/2006/main">
              <a:ext uri="{FF2B5EF4-FFF2-40B4-BE49-F238E27FC236}">
                <a16:creationId xmlns:a16="http://schemas.microsoft.com/office/drawing/2014/main" id="{890FEC3E-3337-4EF8-BF69-F9F89552C667}"/>
              </a:ext>
            </a:extLst>
          </p:cNvPr>
          <p:cNvSpPr>
            <a:spLocks xmlns:a="http://schemas.openxmlformats.org/drawingml/2006/main" noGrp="1"/>
          </p:cNvSpPr>
          <p:nvPr/>
        </p:nvSpPr>
        <p:spPr>
          <a:xfrm xmlns:a="http://schemas.openxmlformats.org/drawingml/2006/main">
            <a:off x="3424238"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Model adapter</a:t>
            </a:r>
          </a:p>
        </p:txBody>
      </p:sp>
      <p:sp>
        <p:nvSpPr>
          <p:cNvPr id="5" name="flow-node">
            <a:extLst xmlns:a="http://schemas.openxmlformats.org/drawingml/2006/main">
              <a:ext uri="{FF2B5EF4-FFF2-40B4-BE49-F238E27FC236}">
                <a16:creationId xmlns:a16="http://schemas.microsoft.com/office/drawing/2014/main" id="{FF124C9C-6995-4021-8E4A-2BAFA3DF37B8}"/>
              </a:ext>
            </a:extLst>
          </p:cNvPr>
          <p:cNvSpPr>
            <a:spLocks xmlns:a="http://schemas.openxmlformats.org/drawingml/2006/main" noGrp="1"/>
          </p:cNvSpPr>
          <p:nvPr/>
        </p:nvSpPr>
        <p:spPr>
          <a:xfrm xmlns:a="http://schemas.openxmlformats.org/drawingml/2006/main">
            <a:off x="6238875"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Allowed tools</a:t>
            </a:r>
          </a:p>
        </p:txBody>
      </p:sp>
      <p:sp>
        <p:nvSpPr>
          <p:cNvPr id="6" name="flow-node">
            <a:extLst xmlns:a="http://schemas.openxmlformats.org/drawingml/2006/main">
              <a:ext uri="{FF2B5EF4-FFF2-40B4-BE49-F238E27FC236}">
                <a16:creationId xmlns:a16="http://schemas.microsoft.com/office/drawing/2014/main" id="{9E03E91C-06AC-4318-AFBE-2C68FC535244}"/>
              </a:ext>
            </a:extLst>
          </p:cNvPr>
          <p:cNvSpPr>
            <a:spLocks xmlns:a="http://schemas.openxmlformats.org/drawingml/2006/main" noGrp="1"/>
          </p:cNvSpPr>
          <p:nvPr/>
        </p:nvSpPr>
        <p:spPr>
          <a:xfrm xmlns:a="http://schemas.openxmlformats.org/drawingml/2006/main">
            <a:off x="9053513"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create_agent</a:t>
            </a:r>
          </a:p>
        </p:txBody>
      </p:sp>
      <p:cxnSp>
        <p:nvCxnSpPr>
          <p:cNvPr id="20" name=""/>
          <p:cNvCxnSpPr>
            <a:stCxn xmlns:a="http://schemas.openxmlformats.org/drawingml/2006/main" id="3" idx="3"/>
            <a:endCxn xmlns:a="http://schemas.openxmlformats.org/drawingml/2006/main" id="4" idx="1"/>
          </p:cNvCxnSpPr>
          <p:nvPr/>
        </p:nvCxnSpPr>
        <p:spPr>
          <a:xfrm xmlns:a="http://schemas.openxmlformats.org/drawingml/2006/main">
            <a:off x="3138488"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1" name=""/>
          <p:cNvCxnSpPr>
            <a:stCxn xmlns:a="http://schemas.openxmlformats.org/drawingml/2006/main" id="4" idx="3"/>
            <a:endCxn xmlns:a="http://schemas.openxmlformats.org/drawingml/2006/main" id="5" idx="1"/>
          </p:cNvCxnSpPr>
          <p:nvPr/>
        </p:nvCxnSpPr>
        <p:spPr>
          <a:xfrm xmlns:a="http://schemas.openxmlformats.org/drawingml/2006/main">
            <a:off x="5953126" y="3390900"/>
            <a:ext cx="285749"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2" name=""/>
          <p:cNvCxnSpPr>
            <a:stCxn xmlns:a="http://schemas.openxmlformats.org/drawingml/2006/main" id="5" idx="3"/>
            <a:endCxn xmlns:a="http://schemas.openxmlformats.org/drawingml/2006/main" id="6" idx="1"/>
          </p:cNvCxnSpPr>
          <p:nvPr/>
        </p:nvCxnSpPr>
        <p:spPr>
          <a:xfrm xmlns:a="http://schemas.openxmlformats.org/drawingml/2006/main">
            <a:off x="8767763"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sp>
        <p:nvSpPr>
          <p:cNvPr id="10" name="text">
            <a:extLst xmlns:a="http://schemas.openxmlformats.org/drawingml/2006/main">
              <a:ext uri="{FF2B5EF4-FFF2-40B4-BE49-F238E27FC236}">
                <a16:creationId xmlns:a16="http://schemas.microsoft.com/office/drawing/2014/main" id="{FCDB1280-DAB1-4851-B41C-6186408BA0D5}"/>
              </a:ext>
            </a:extLst>
          </p:cNvPr>
          <p:cNvSpPr>
            <a:spLocks xmlns:a="http://schemas.openxmlformats.org/drawingml/2006/main" noGrp="1"/>
          </p:cNvSpPr>
          <p:nvPr/>
        </p:nvSpPr>
        <p:spPr>
          <a:xfrm xmlns:a="http://schemas.openxmlformats.org/drawingml/2006/main">
            <a:off x="609600" y="50673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DFBF"/>
                </a:solidFill>
                <a:latin typeface="Aptos"/>
                <a:ea typeface="Aptos"/>
                <a:cs typeface="Aptos"/>
              </a:defRPr>
            </a:pPr>
            <a:r>
              <a:rPr sz="1800" b="0">
                <a:solidFill>
                  <a:srgbClr val="61DFBF"/>
                </a:solidFill>
                <a:latin typeface="Aptos"/>
                <a:ea typeface="Aptos"/>
                <a:cs typeface="Aptos"/>
              </a:rPr>
              <a:t>The framework connects the parts and runs the model–tool loop.</a:t>
            </a:r>
          </a:p>
        </p:txBody>
      </p:sp>
      <p:sp>
        <p:nvSpPr>
          <p:cNvPr id="11" name="shape">
            <a:extLst xmlns:a="http://schemas.openxmlformats.org/drawingml/2006/main">
              <a:ext uri="{FF2B5EF4-FFF2-40B4-BE49-F238E27FC236}">
                <a16:creationId xmlns:a16="http://schemas.microsoft.com/office/drawing/2014/main" id="{E284F48C-6E41-44A9-9322-BE1F660D3AC3}"/>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25C6C6F7-38F0-46EF-90B9-162F76F8BC30}"/>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13" name="text">
            <a:extLst xmlns:a="http://schemas.openxmlformats.org/drawingml/2006/main">
              <a:ext uri="{FF2B5EF4-FFF2-40B4-BE49-F238E27FC236}">
                <a16:creationId xmlns:a16="http://schemas.microsoft.com/office/drawing/2014/main" id="{A85E96E0-68A9-4E4C-83F9-C3AAEB8C9F69}"/>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10</a:t>
            </a:r>
          </a:p>
        </p:txBody>
      </p:sp>
    </p:spTree>
    <p:extLst>
      <p:ext uri="{BB962C8B-B14F-4D97-AF65-F5344CB8AC3E}">
        <p14:creationId xmlns:p14="http://schemas.microsoft.com/office/powerpoint/2010/main" val="1748731255"/>
      </p:ext>
    </p:extLst>
  </p:cSld>
</p:sld>
</file>

<file path=ppt/slides/slide11.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8" name="text">
            <a:extLst xmlns:a="http://schemas.openxmlformats.org/drawingml/2006/main">
              <a:ext uri="{FF2B5EF4-FFF2-40B4-BE49-F238E27FC236}">
                <a16:creationId xmlns:a16="http://schemas.microsoft.com/office/drawing/2014/main" id="{EDB34CDB-AB94-452F-8CC3-7B7198006A81}"/>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DAY 1 · SESSION 1 · 90 MINUTES</a:t>
            </a:r>
          </a:p>
        </p:txBody>
      </p:sp>
      <p:sp>
        <p:nvSpPr>
          <p:cNvPr id="2" name="text">
            <a:extLst xmlns:a="http://schemas.openxmlformats.org/drawingml/2006/main">
              <a:ext uri="{FF2B5EF4-FFF2-40B4-BE49-F238E27FC236}">
                <a16:creationId xmlns:a16="http://schemas.microsoft.com/office/drawing/2014/main" id="{A83C3ACE-A77C-41A4-951E-81FE651FFD0F}"/>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LangGraph gives the team a route map.</a:t>
            </a:r>
          </a:p>
        </p:txBody>
      </p:sp>
      <p:sp>
        <p:nvSpPr>
          <p:cNvPr id="3" name="text">
            <a:extLst xmlns:a="http://schemas.openxmlformats.org/drawingml/2006/main">
              <a:ext uri="{FF2B5EF4-FFF2-40B4-BE49-F238E27FC236}">
                <a16:creationId xmlns:a16="http://schemas.microsoft.com/office/drawing/2014/main" id="{E7DE9E87-5BB5-475B-9BE7-0F175D4932D2}"/>
              </a:ext>
            </a:extLst>
          </p:cNvPr>
          <p:cNvSpPr>
            <a:spLocks xmlns:a="http://schemas.openxmlformats.org/drawingml/2006/main" noGrp="1"/>
          </p:cNvSpPr>
          <p:nvPr/>
        </p:nvSpPr>
        <p:spPr>
          <a:xfrm xmlns:a="http://schemas.openxmlformats.org/drawingml/2006/main">
            <a:off x="609600" y="2238375"/>
            <a:ext cx="5276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LANGCHAIN</a:t>
            </a:r>
          </a:p>
        </p:txBody>
      </p:sp>
      <p:sp>
        <p:nvSpPr>
          <p:cNvPr id="4" name="text">
            <a:extLst xmlns:a="http://schemas.openxmlformats.org/drawingml/2006/main">
              <a:ext uri="{FF2B5EF4-FFF2-40B4-BE49-F238E27FC236}">
                <a16:creationId xmlns:a16="http://schemas.microsoft.com/office/drawing/2014/main" id="{D0484DAB-9CDF-453C-BDCE-5CF3504E3C04}"/>
              </a:ext>
            </a:extLst>
          </p:cNvPr>
          <p:cNvSpPr>
            <a:spLocks xmlns:a="http://schemas.openxmlformats.org/drawingml/2006/main" noGrp="1"/>
          </p:cNvSpPr>
          <p:nvPr/>
        </p:nvSpPr>
        <p:spPr>
          <a:xfrm xmlns:a="http://schemas.openxmlformats.org/drawingml/2006/main">
            <a:off x="6096000" y="2238375"/>
            <a:ext cx="5276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LANGGRAPH</a:t>
            </a:r>
          </a:p>
        </p:txBody>
      </p:sp>
      <p:sp>
        <p:nvSpPr>
          <p:cNvPr id="5" name="shape">
            <a:extLst xmlns:a="http://schemas.openxmlformats.org/drawingml/2006/main">
              <a:ext uri="{FF2B5EF4-FFF2-40B4-BE49-F238E27FC236}">
                <a16:creationId xmlns:a16="http://schemas.microsoft.com/office/drawing/2014/main" id="{8AD67681-BE08-46DE-8D47-E8BED82B30A7}"/>
              </a:ext>
            </a:extLst>
          </p:cNvPr>
          <p:cNvSpPr>
            <a:spLocks xmlns:a="http://schemas.openxmlformats.org/drawingml/2006/main" noGrp="1"/>
          </p:cNvSpPr>
          <p:nvPr/>
        </p:nvSpPr>
        <p:spPr>
          <a:xfrm xmlns:a="http://schemas.openxmlformats.org/drawingml/2006/main">
            <a:off x="609600" y="26479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712293F0-92E7-4DE5-A189-08A667F4F35B}"/>
              </a:ext>
            </a:extLst>
          </p:cNvPr>
          <p:cNvSpPr>
            <a:spLocks xmlns:a="http://schemas.openxmlformats.org/drawingml/2006/main" noGrp="1"/>
          </p:cNvSpPr>
          <p:nvPr/>
        </p:nvSpPr>
        <p:spPr>
          <a:xfrm xmlns:a="http://schemas.openxmlformats.org/drawingml/2006/main">
            <a:off x="609600" y="28194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Build one agent’s model–tool loop</a:t>
            </a:r>
          </a:p>
        </p:txBody>
      </p:sp>
      <p:sp>
        <p:nvSpPr>
          <p:cNvPr id="7" name="text">
            <a:extLst xmlns:a="http://schemas.openxmlformats.org/drawingml/2006/main">
              <a:ext uri="{FF2B5EF4-FFF2-40B4-BE49-F238E27FC236}">
                <a16:creationId xmlns:a16="http://schemas.microsoft.com/office/drawing/2014/main" id="{E34C07CD-599B-40BC-821A-58F988846399}"/>
              </a:ext>
            </a:extLst>
          </p:cNvPr>
          <p:cNvSpPr>
            <a:spLocks xmlns:a="http://schemas.openxmlformats.org/drawingml/2006/main" noGrp="1"/>
          </p:cNvSpPr>
          <p:nvPr/>
        </p:nvSpPr>
        <p:spPr>
          <a:xfrm xmlns:a="http://schemas.openxmlformats.org/drawingml/2006/main">
            <a:off x="6096000" y="28194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Arrange the order of multiple steps</a:t>
            </a:r>
          </a:p>
        </p:txBody>
      </p:sp>
      <p:sp>
        <p:nvSpPr>
          <p:cNvPr id="8" name="shape">
            <a:extLst xmlns:a="http://schemas.openxmlformats.org/drawingml/2006/main">
              <a:ext uri="{FF2B5EF4-FFF2-40B4-BE49-F238E27FC236}">
                <a16:creationId xmlns:a16="http://schemas.microsoft.com/office/drawing/2014/main" id="{998823ED-1498-4B4C-9EB3-6A38EE6059BC}"/>
              </a:ext>
            </a:extLst>
          </p:cNvPr>
          <p:cNvSpPr>
            <a:spLocks xmlns:a="http://schemas.openxmlformats.org/drawingml/2006/main" noGrp="1"/>
          </p:cNvSpPr>
          <p:nvPr/>
        </p:nvSpPr>
        <p:spPr>
          <a:xfrm xmlns:a="http://schemas.openxmlformats.org/drawingml/2006/main">
            <a:off x="609600" y="34004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0A835021-F533-4057-874E-02A0C59DDC01}"/>
              </a:ext>
            </a:extLst>
          </p:cNvPr>
          <p:cNvSpPr>
            <a:spLocks xmlns:a="http://schemas.openxmlformats.org/drawingml/2006/main" noGrp="1"/>
          </p:cNvSpPr>
          <p:nvPr/>
        </p:nvSpPr>
        <p:spPr>
          <a:xfrm xmlns:a="http://schemas.openxmlformats.org/drawingml/2006/main">
            <a:off x="609600" y="35052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Example: Finance calls its cash tool</a:t>
            </a:r>
          </a:p>
        </p:txBody>
      </p:sp>
      <p:sp>
        <p:nvSpPr>
          <p:cNvPr id="10" name="text">
            <a:extLst xmlns:a="http://schemas.openxmlformats.org/drawingml/2006/main">
              <a:ext uri="{FF2B5EF4-FFF2-40B4-BE49-F238E27FC236}">
                <a16:creationId xmlns:a16="http://schemas.microsoft.com/office/drawing/2014/main" id="{CB520EA6-1556-4E2A-A94E-34D13D893405}"/>
              </a:ext>
            </a:extLst>
          </p:cNvPr>
          <p:cNvSpPr>
            <a:spLocks xmlns:a="http://schemas.openxmlformats.org/drawingml/2006/main" noGrp="1"/>
          </p:cNvSpPr>
          <p:nvPr/>
        </p:nvSpPr>
        <p:spPr>
          <a:xfrm xmlns:a="http://schemas.openxmlformats.org/drawingml/2006/main">
            <a:off x="6096000" y="35052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Example: Finance waits for Operations</a:t>
            </a:r>
          </a:p>
        </p:txBody>
      </p:sp>
      <p:sp>
        <p:nvSpPr>
          <p:cNvPr id="11" name="shape">
            <a:extLst xmlns:a="http://schemas.openxmlformats.org/drawingml/2006/main">
              <a:ext uri="{FF2B5EF4-FFF2-40B4-BE49-F238E27FC236}">
                <a16:creationId xmlns:a16="http://schemas.microsoft.com/office/drawing/2014/main" id="{62A032DF-BF50-42D6-B935-0A4C07E258DE}"/>
              </a:ext>
            </a:extLst>
          </p:cNvPr>
          <p:cNvSpPr>
            <a:spLocks xmlns:a="http://schemas.openxmlformats.org/drawingml/2006/main" noGrp="1"/>
          </p:cNvSpPr>
          <p:nvPr/>
        </p:nvSpPr>
        <p:spPr>
          <a:xfrm xmlns:a="http://schemas.openxmlformats.org/drawingml/2006/main">
            <a:off x="609600" y="40862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F8A05ED9-3535-42A0-AF04-5E1CE61A7C05}"/>
              </a:ext>
            </a:extLst>
          </p:cNvPr>
          <p:cNvSpPr>
            <a:spLocks xmlns:a="http://schemas.openxmlformats.org/drawingml/2006/main" noGrp="1"/>
          </p:cNvSpPr>
          <p:nvPr/>
        </p:nvSpPr>
        <p:spPr>
          <a:xfrm xmlns:a="http://schemas.openxmlformats.org/drawingml/2006/main">
            <a:off x="609600" y="41910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Analogy: a worker’s equipment</a:t>
            </a:r>
          </a:p>
        </p:txBody>
      </p:sp>
      <p:sp>
        <p:nvSpPr>
          <p:cNvPr id="13" name="text">
            <a:extLst xmlns:a="http://schemas.openxmlformats.org/drawingml/2006/main">
              <a:ext uri="{FF2B5EF4-FFF2-40B4-BE49-F238E27FC236}">
                <a16:creationId xmlns:a16="http://schemas.microsoft.com/office/drawing/2014/main" id="{98B45E6F-E4BD-456F-8AD8-075709068DDD}"/>
              </a:ext>
            </a:extLst>
          </p:cNvPr>
          <p:cNvSpPr>
            <a:spLocks xmlns:a="http://schemas.openxmlformats.org/drawingml/2006/main" noGrp="1"/>
          </p:cNvSpPr>
          <p:nvPr/>
        </p:nvSpPr>
        <p:spPr>
          <a:xfrm xmlns:a="http://schemas.openxmlformats.org/drawingml/2006/main">
            <a:off x="6096000" y="41910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Analogy: the work schedule</a:t>
            </a:r>
          </a:p>
        </p:txBody>
      </p:sp>
      <p:sp>
        <p:nvSpPr>
          <p:cNvPr id="14" name="shape">
            <a:extLst xmlns:a="http://schemas.openxmlformats.org/drawingml/2006/main">
              <a:ext uri="{FF2B5EF4-FFF2-40B4-BE49-F238E27FC236}">
                <a16:creationId xmlns:a16="http://schemas.microsoft.com/office/drawing/2014/main" id="{6FCD7BB4-6708-4CE6-95FE-E71D617F2FF3}"/>
              </a:ext>
            </a:extLst>
          </p:cNvPr>
          <p:cNvSpPr>
            <a:spLocks xmlns:a="http://schemas.openxmlformats.org/drawingml/2006/main" noGrp="1"/>
          </p:cNvSpPr>
          <p:nvPr/>
        </p:nvSpPr>
        <p:spPr>
          <a:xfrm xmlns:a="http://schemas.openxmlformats.org/drawingml/2006/main">
            <a:off x="609600" y="47720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5" name="shape">
            <a:extLst xmlns:a="http://schemas.openxmlformats.org/drawingml/2006/main">
              <a:ext uri="{FF2B5EF4-FFF2-40B4-BE49-F238E27FC236}">
                <a16:creationId xmlns:a16="http://schemas.microsoft.com/office/drawing/2014/main" id="{AB7A18E5-D1CB-42B3-8F5D-FD3B49656A3D}"/>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3478F94A-45DF-47A8-AC17-442015227728}"/>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17" name="text">
            <a:extLst xmlns:a="http://schemas.openxmlformats.org/drawingml/2006/main">
              <a:ext uri="{FF2B5EF4-FFF2-40B4-BE49-F238E27FC236}">
                <a16:creationId xmlns:a16="http://schemas.microsoft.com/office/drawing/2014/main" id="{E57CB277-4A8D-402D-AED6-6410E2637046}"/>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11</a:t>
            </a:r>
          </a:p>
        </p:txBody>
      </p:sp>
    </p:spTree>
    <p:extLst>
      <p:ext uri="{BB962C8B-B14F-4D97-AF65-F5344CB8AC3E}">
        <p14:creationId xmlns:p14="http://schemas.microsoft.com/office/powerpoint/2010/main" val="201310469"/>
      </p:ext>
    </p:extLst>
  </p:cSld>
</p:sld>
</file>

<file path=ppt/slides/slide12.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668A85D6-8FF4-43FC-9FD9-DEBA79A1444E}"/>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DAY 1 · SESSION 1 · 90 MINUTES</a:t>
            </a:r>
          </a:p>
        </p:txBody>
      </p:sp>
      <p:sp>
        <p:nvSpPr>
          <p:cNvPr id="2" name="text">
            <a:extLst xmlns:a="http://schemas.openxmlformats.org/drawingml/2006/main">
              <a:ext uri="{FF2B5EF4-FFF2-40B4-BE49-F238E27FC236}">
                <a16:creationId xmlns:a16="http://schemas.microsoft.com/office/drawing/2014/main" id="{D5C8DE3A-E960-4A82-BC75-7172EA08CAEC}"/>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Shared state is the team’s clipboard.</a:t>
            </a:r>
          </a:p>
        </p:txBody>
      </p:sp>
      <p:sp>
        <p:nvSpPr>
          <p:cNvPr id="3" name="flow-node">
            <a:extLst xmlns:a="http://schemas.openxmlformats.org/drawingml/2006/main">
              <a:ext uri="{FF2B5EF4-FFF2-40B4-BE49-F238E27FC236}">
                <a16:creationId xmlns:a16="http://schemas.microsoft.com/office/drawing/2014/main" id="{5D4F134D-117A-45FC-96DE-0E2647153693}"/>
              </a:ext>
            </a:extLst>
          </p:cNvPr>
          <p:cNvSpPr>
            <a:spLocks xmlns:a="http://schemas.openxmlformats.org/drawingml/2006/main" noGrp="1"/>
          </p:cNvSpPr>
          <p:nvPr/>
        </p:nvSpPr>
        <p:spPr>
          <a:xfrm xmlns:a="http://schemas.openxmlformats.org/drawingml/2006/main">
            <a:off x="609600"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Scenario facts</a:t>
            </a:r>
          </a:p>
        </p:txBody>
      </p:sp>
      <p:sp>
        <p:nvSpPr>
          <p:cNvPr id="4" name="flow-node">
            <a:extLst xmlns:a="http://schemas.openxmlformats.org/drawingml/2006/main">
              <a:ext uri="{FF2B5EF4-FFF2-40B4-BE49-F238E27FC236}">
                <a16:creationId xmlns:a16="http://schemas.microsoft.com/office/drawing/2014/main" id="{F3E4196D-F008-4560-9A37-FB029DD59339}"/>
              </a:ext>
            </a:extLst>
          </p:cNvPr>
          <p:cNvSpPr>
            <a:spLocks xmlns:a="http://schemas.openxmlformats.org/drawingml/2006/main" noGrp="1"/>
          </p:cNvSpPr>
          <p:nvPr/>
        </p:nvSpPr>
        <p:spPr>
          <a:xfrm xmlns:a="http://schemas.openxmlformats.org/drawingml/2006/main">
            <a:off x="3424238"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Specialist reports</a:t>
            </a:r>
          </a:p>
        </p:txBody>
      </p:sp>
      <p:sp>
        <p:nvSpPr>
          <p:cNvPr id="5" name="flow-node">
            <a:extLst xmlns:a="http://schemas.openxmlformats.org/drawingml/2006/main">
              <a:ext uri="{FF2B5EF4-FFF2-40B4-BE49-F238E27FC236}">
                <a16:creationId xmlns:a16="http://schemas.microsoft.com/office/drawing/2014/main" id="{DCB3CF2C-11D3-409A-B53D-3A41E3291B62}"/>
              </a:ext>
            </a:extLst>
          </p:cNvPr>
          <p:cNvSpPr>
            <a:spLocks xmlns:a="http://schemas.openxmlformats.org/drawingml/2006/main" noGrp="1"/>
          </p:cNvSpPr>
          <p:nvPr/>
        </p:nvSpPr>
        <p:spPr>
          <a:xfrm xmlns:a="http://schemas.openxmlformats.org/drawingml/2006/main">
            <a:off x="6238875"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Shared clipboard</a:t>
            </a:r>
          </a:p>
        </p:txBody>
      </p:sp>
      <p:sp>
        <p:nvSpPr>
          <p:cNvPr id="6" name="flow-node">
            <a:extLst xmlns:a="http://schemas.openxmlformats.org/drawingml/2006/main">
              <a:ext uri="{FF2B5EF4-FFF2-40B4-BE49-F238E27FC236}">
                <a16:creationId xmlns:a16="http://schemas.microsoft.com/office/drawing/2014/main" id="{5A7E45AD-EB6F-484F-9AC2-BB75CB902E16}"/>
              </a:ext>
            </a:extLst>
          </p:cNvPr>
          <p:cNvSpPr>
            <a:spLocks xmlns:a="http://schemas.openxmlformats.org/drawingml/2006/main" noGrp="1"/>
          </p:cNvSpPr>
          <p:nvPr/>
        </p:nvSpPr>
        <p:spPr>
          <a:xfrm xmlns:a="http://schemas.openxmlformats.org/drawingml/2006/main">
            <a:off x="9053513"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Executive decision</a:t>
            </a:r>
          </a:p>
        </p:txBody>
      </p:sp>
      <p:cxnSp>
        <p:nvCxnSpPr>
          <p:cNvPr id="20" name=""/>
          <p:cNvCxnSpPr>
            <a:stCxn xmlns:a="http://schemas.openxmlformats.org/drawingml/2006/main" id="3" idx="3"/>
            <a:endCxn xmlns:a="http://schemas.openxmlformats.org/drawingml/2006/main" id="4" idx="1"/>
          </p:cNvCxnSpPr>
          <p:nvPr/>
        </p:nvCxnSpPr>
        <p:spPr>
          <a:xfrm xmlns:a="http://schemas.openxmlformats.org/drawingml/2006/main">
            <a:off x="3138488"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1" name=""/>
          <p:cNvCxnSpPr>
            <a:stCxn xmlns:a="http://schemas.openxmlformats.org/drawingml/2006/main" id="4" idx="3"/>
            <a:endCxn xmlns:a="http://schemas.openxmlformats.org/drawingml/2006/main" id="5" idx="1"/>
          </p:cNvCxnSpPr>
          <p:nvPr/>
        </p:nvCxnSpPr>
        <p:spPr>
          <a:xfrm xmlns:a="http://schemas.openxmlformats.org/drawingml/2006/main">
            <a:off x="5953126" y="3390900"/>
            <a:ext cx="285749"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2" name=""/>
          <p:cNvCxnSpPr>
            <a:stCxn xmlns:a="http://schemas.openxmlformats.org/drawingml/2006/main" id="5" idx="3"/>
            <a:endCxn xmlns:a="http://schemas.openxmlformats.org/drawingml/2006/main" id="6" idx="1"/>
          </p:cNvCxnSpPr>
          <p:nvPr/>
        </p:nvCxnSpPr>
        <p:spPr>
          <a:xfrm xmlns:a="http://schemas.openxmlformats.org/drawingml/2006/main">
            <a:off x="8767763"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sp>
        <p:nvSpPr>
          <p:cNvPr id="10" name="text">
            <a:extLst xmlns:a="http://schemas.openxmlformats.org/drawingml/2006/main">
              <a:ext uri="{FF2B5EF4-FFF2-40B4-BE49-F238E27FC236}">
                <a16:creationId xmlns:a16="http://schemas.microsoft.com/office/drawing/2014/main" id="{1D38939A-E4A6-4F13-B9A9-6DB915987EAF}"/>
              </a:ext>
            </a:extLst>
          </p:cNvPr>
          <p:cNvSpPr>
            <a:spLocks xmlns:a="http://schemas.openxmlformats.org/drawingml/2006/main" noGrp="1"/>
          </p:cNvSpPr>
          <p:nvPr/>
        </p:nvSpPr>
        <p:spPr>
          <a:xfrm xmlns:a="http://schemas.openxmlformats.org/drawingml/2006/main">
            <a:off x="609600" y="50673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DFBF"/>
                </a:solidFill>
                <a:latin typeface="Aptos"/>
                <a:ea typeface="Aptos"/>
                <a:cs typeface="Aptos"/>
              </a:defRPr>
            </a:pPr>
            <a:r>
              <a:rPr sz="1800" b="0">
                <a:solidFill>
                  <a:srgbClr val="61DFBF"/>
                </a:solidFill>
                <a:latin typeface="Aptos"/>
                <a:ea typeface="Aptos"/>
                <a:cs typeface="Aptos"/>
              </a:rPr>
              <a:t>State carries the current run. Memory keeps information for later.</a:t>
            </a:r>
          </a:p>
        </p:txBody>
      </p:sp>
      <p:sp>
        <p:nvSpPr>
          <p:cNvPr id="11" name="shape">
            <a:extLst xmlns:a="http://schemas.openxmlformats.org/drawingml/2006/main">
              <a:ext uri="{FF2B5EF4-FFF2-40B4-BE49-F238E27FC236}">
                <a16:creationId xmlns:a16="http://schemas.microsoft.com/office/drawing/2014/main" id="{503C576E-87D9-4589-9BA3-9FA6CA33D50B}"/>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12D4C4A4-5774-436A-9862-4470FE2C5EC8}"/>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13" name="text">
            <a:extLst xmlns:a="http://schemas.openxmlformats.org/drawingml/2006/main">
              <a:ext uri="{FF2B5EF4-FFF2-40B4-BE49-F238E27FC236}">
                <a16:creationId xmlns:a16="http://schemas.microsoft.com/office/drawing/2014/main" id="{BCC808AC-4C7C-42D3-8580-AC410724CBC3}"/>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12</a:t>
            </a:r>
          </a:p>
        </p:txBody>
      </p:sp>
    </p:spTree>
    <p:extLst>
      <p:ext uri="{BB962C8B-B14F-4D97-AF65-F5344CB8AC3E}">
        <p14:creationId xmlns:p14="http://schemas.microsoft.com/office/powerpoint/2010/main" val="1383368034"/>
      </p:ext>
    </p:extLst>
  </p:cSld>
</p:sld>
</file>

<file path=ppt/slides/slide13.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34" name="text">
            <a:extLst xmlns:a="http://schemas.openxmlformats.org/drawingml/2006/main">
              <a:ext uri="{FF2B5EF4-FFF2-40B4-BE49-F238E27FC236}">
                <a16:creationId xmlns:a16="http://schemas.microsoft.com/office/drawing/2014/main" id="{FAB334D5-DCF6-4935-95C2-18BCBA4239DB}"/>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DAY 1 · SESSION 1 · 90 MINUTES</a:t>
            </a:r>
          </a:p>
        </p:txBody>
      </p:sp>
      <p:sp>
        <p:nvSpPr>
          <p:cNvPr id="2" name="text">
            <a:extLst xmlns:a="http://schemas.openxmlformats.org/drawingml/2006/main">
              <a:ext uri="{FF2B5EF4-FFF2-40B4-BE49-F238E27FC236}">
                <a16:creationId xmlns:a16="http://schemas.microsoft.com/office/drawing/2014/main" id="{82A8B5B0-B70A-4320-AA39-19243B0C8212}"/>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Six specialists answer six questions.</a:t>
            </a:r>
          </a:p>
        </p:txBody>
      </p:sp>
      <p:sp>
        <p:nvSpPr>
          <p:cNvPr id="3" name="text">
            <a:extLst xmlns:a="http://schemas.openxmlformats.org/drawingml/2006/main">
              <a:ext uri="{FF2B5EF4-FFF2-40B4-BE49-F238E27FC236}">
                <a16:creationId xmlns:a16="http://schemas.microsoft.com/office/drawing/2014/main" id="{FFF7BFD3-6D14-417B-ACB3-E8A2ED4063DE}"/>
              </a:ext>
            </a:extLst>
          </p:cNvPr>
          <p:cNvSpPr>
            <a:spLocks xmlns:a="http://schemas.openxmlformats.org/drawingml/2006/main" noGrp="1"/>
          </p:cNvSpPr>
          <p:nvPr/>
        </p:nvSpPr>
        <p:spPr>
          <a:xfrm xmlns:a="http://schemas.openxmlformats.org/drawingml/2006/main">
            <a:off x="609600" y="2066925"/>
            <a:ext cx="1466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AGENT</a:t>
            </a:r>
          </a:p>
        </p:txBody>
      </p:sp>
      <p:sp>
        <p:nvSpPr>
          <p:cNvPr id="4" name="text">
            <a:extLst xmlns:a="http://schemas.openxmlformats.org/drawingml/2006/main">
              <a:ext uri="{FF2B5EF4-FFF2-40B4-BE49-F238E27FC236}">
                <a16:creationId xmlns:a16="http://schemas.microsoft.com/office/drawing/2014/main" id="{FD819F69-6F6B-4805-B65A-4C16E847C7B8}"/>
              </a:ext>
            </a:extLst>
          </p:cNvPr>
          <p:cNvSpPr>
            <a:spLocks xmlns:a="http://schemas.openxmlformats.org/drawingml/2006/main" noGrp="1"/>
          </p:cNvSpPr>
          <p:nvPr/>
        </p:nvSpPr>
        <p:spPr>
          <a:xfrm xmlns:a="http://schemas.openxmlformats.org/drawingml/2006/main">
            <a:off x="2286000" y="2066925"/>
            <a:ext cx="2533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SPECIALIZATION</a:t>
            </a:r>
          </a:p>
        </p:txBody>
      </p:sp>
      <p:sp>
        <p:nvSpPr>
          <p:cNvPr id="5" name="text">
            <a:extLst xmlns:a="http://schemas.openxmlformats.org/drawingml/2006/main">
              <a:ext uri="{FF2B5EF4-FFF2-40B4-BE49-F238E27FC236}">
                <a16:creationId xmlns:a16="http://schemas.microsoft.com/office/drawing/2014/main" id="{64D32D13-D3A6-417B-8534-D3A9B9B3A476}"/>
              </a:ext>
            </a:extLst>
          </p:cNvPr>
          <p:cNvSpPr>
            <a:spLocks xmlns:a="http://schemas.openxmlformats.org/drawingml/2006/main" noGrp="1"/>
          </p:cNvSpPr>
          <p:nvPr/>
        </p:nvSpPr>
        <p:spPr>
          <a:xfrm xmlns:a="http://schemas.openxmlformats.org/drawingml/2006/main">
            <a:off x="5029200" y="2066925"/>
            <a:ext cx="6343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BUSINESS QUESTION</a:t>
            </a:r>
          </a:p>
        </p:txBody>
      </p:sp>
      <p:sp>
        <p:nvSpPr>
          <p:cNvPr id="6" name="shape">
            <a:extLst xmlns:a="http://schemas.openxmlformats.org/drawingml/2006/main">
              <a:ext uri="{FF2B5EF4-FFF2-40B4-BE49-F238E27FC236}">
                <a16:creationId xmlns:a16="http://schemas.microsoft.com/office/drawing/2014/main" id="{0E4F11B3-1F93-42F4-A78B-FCF2731236D6}"/>
              </a:ext>
            </a:extLst>
          </p:cNvPr>
          <p:cNvSpPr>
            <a:spLocks xmlns:a="http://schemas.openxmlformats.org/drawingml/2006/main" noGrp="1"/>
          </p:cNvSpPr>
          <p:nvPr/>
        </p:nvSpPr>
        <p:spPr>
          <a:xfrm xmlns:a="http://schemas.openxmlformats.org/drawingml/2006/main">
            <a:off x="609600" y="247650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A5936DA3-EE64-4692-BFAE-D537839DAC6A}"/>
              </a:ext>
            </a:extLst>
          </p:cNvPr>
          <p:cNvSpPr>
            <a:spLocks xmlns:a="http://schemas.openxmlformats.org/drawingml/2006/main" noGrp="1"/>
          </p:cNvSpPr>
          <p:nvPr/>
        </p:nvSpPr>
        <p:spPr>
          <a:xfrm xmlns:a="http://schemas.openxmlformats.org/drawingml/2006/main">
            <a:off x="609600" y="2647950"/>
            <a:ext cx="1466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142C38"/>
                </a:solidFill>
                <a:latin typeface="Aptos"/>
                <a:ea typeface="Aptos"/>
                <a:cs typeface="Aptos"/>
              </a:defRPr>
            </a:pPr>
            <a:r>
              <a:rPr sz="1875" b="1">
                <a:solidFill>
                  <a:srgbClr val="142C38"/>
                </a:solidFill>
                <a:latin typeface="Aptos"/>
                <a:ea typeface="Aptos"/>
                <a:cs typeface="Aptos"/>
              </a:rPr>
              <a:t>PRISM</a:t>
            </a:r>
          </a:p>
        </p:txBody>
      </p:sp>
      <p:sp>
        <p:nvSpPr>
          <p:cNvPr id="8" name="text">
            <a:extLst xmlns:a="http://schemas.openxmlformats.org/drawingml/2006/main">
              <a:ext uri="{FF2B5EF4-FFF2-40B4-BE49-F238E27FC236}">
                <a16:creationId xmlns:a16="http://schemas.microsoft.com/office/drawing/2014/main" id="{3E41204F-91E3-4A8C-90FA-4394E35A77B6}"/>
              </a:ext>
            </a:extLst>
          </p:cNvPr>
          <p:cNvSpPr>
            <a:spLocks xmlns:a="http://schemas.openxmlformats.org/drawingml/2006/main" noGrp="1"/>
          </p:cNvSpPr>
          <p:nvPr/>
        </p:nvSpPr>
        <p:spPr>
          <a:xfrm xmlns:a="http://schemas.openxmlformats.org/drawingml/2006/main">
            <a:off x="2286000" y="2647950"/>
            <a:ext cx="2533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C38"/>
                </a:solidFill>
                <a:latin typeface="Aptos"/>
                <a:ea typeface="Aptos"/>
                <a:cs typeface="Aptos"/>
              </a:defRPr>
            </a:pPr>
            <a:r>
              <a:rPr sz="1875" b="0">
                <a:solidFill>
                  <a:srgbClr val="142C38"/>
                </a:solidFill>
                <a:latin typeface="Aptos"/>
                <a:ea typeface="Aptos"/>
                <a:cs typeface="Aptos"/>
              </a:rPr>
              <a:t>Analytics</a:t>
            </a:r>
          </a:p>
        </p:txBody>
      </p:sp>
      <p:sp>
        <p:nvSpPr>
          <p:cNvPr id="9" name="text">
            <a:extLst xmlns:a="http://schemas.openxmlformats.org/drawingml/2006/main">
              <a:ext uri="{FF2B5EF4-FFF2-40B4-BE49-F238E27FC236}">
                <a16:creationId xmlns:a16="http://schemas.microsoft.com/office/drawing/2014/main" id="{538F2452-4CEE-44D1-94C0-6E1D080692B4}"/>
              </a:ext>
            </a:extLst>
          </p:cNvPr>
          <p:cNvSpPr>
            <a:spLocks xmlns:a="http://schemas.openxmlformats.org/drawingml/2006/main" noGrp="1"/>
          </p:cNvSpPr>
          <p:nvPr/>
        </p:nvSpPr>
        <p:spPr>
          <a:xfrm xmlns:a="http://schemas.openxmlformats.org/drawingml/2006/main">
            <a:off x="5029200" y="2647950"/>
            <a:ext cx="6343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C38"/>
                </a:solidFill>
                <a:latin typeface="Aptos"/>
                <a:ea typeface="Aptos"/>
                <a:cs typeface="Aptos"/>
              </a:defRPr>
            </a:pPr>
            <a:r>
              <a:rPr sz="1875" b="0">
                <a:solidFill>
                  <a:srgbClr val="142C38"/>
                </a:solidFill>
                <a:latin typeface="Aptos"/>
                <a:ea typeface="Aptos"/>
                <a:cs typeface="Aptos"/>
              </a:rPr>
              <a:t>What do the numbers actually say?</a:t>
            </a:r>
          </a:p>
        </p:txBody>
      </p:sp>
      <p:sp>
        <p:nvSpPr>
          <p:cNvPr id="10" name="shape">
            <a:extLst xmlns:a="http://schemas.openxmlformats.org/drawingml/2006/main">
              <a:ext uri="{FF2B5EF4-FFF2-40B4-BE49-F238E27FC236}">
                <a16:creationId xmlns:a16="http://schemas.microsoft.com/office/drawing/2014/main" id="{54692652-9245-45F9-A1EB-BCC3FF9EF0F2}"/>
              </a:ext>
            </a:extLst>
          </p:cNvPr>
          <p:cNvSpPr>
            <a:spLocks xmlns:a="http://schemas.openxmlformats.org/drawingml/2006/main" noGrp="1"/>
          </p:cNvSpPr>
          <p:nvPr/>
        </p:nvSpPr>
        <p:spPr>
          <a:xfrm xmlns:a="http://schemas.openxmlformats.org/drawingml/2006/main">
            <a:off x="609600" y="31146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9B870660-B52B-4344-8783-28F9C2B44B3F}"/>
              </a:ext>
            </a:extLst>
          </p:cNvPr>
          <p:cNvSpPr>
            <a:spLocks xmlns:a="http://schemas.openxmlformats.org/drawingml/2006/main" noGrp="1"/>
          </p:cNvSpPr>
          <p:nvPr/>
        </p:nvSpPr>
        <p:spPr>
          <a:xfrm xmlns:a="http://schemas.openxmlformats.org/drawingml/2006/main">
            <a:off x="609600" y="3219450"/>
            <a:ext cx="1466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142C38"/>
                </a:solidFill>
                <a:latin typeface="Aptos"/>
                <a:ea typeface="Aptos"/>
                <a:cs typeface="Aptos"/>
              </a:defRPr>
            </a:pPr>
            <a:r>
              <a:rPr sz="1875" b="1">
                <a:solidFill>
                  <a:srgbClr val="142C38"/>
                </a:solidFill>
                <a:latin typeface="Aptos"/>
                <a:ea typeface="Aptos"/>
                <a:cs typeface="Aptos"/>
              </a:rPr>
              <a:t>PULSE</a:t>
            </a:r>
          </a:p>
        </p:txBody>
      </p:sp>
      <p:sp>
        <p:nvSpPr>
          <p:cNvPr id="12" name="text">
            <a:extLst xmlns:a="http://schemas.openxmlformats.org/drawingml/2006/main">
              <a:ext uri="{FF2B5EF4-FFF2-40B4-BE49-F238E27FC236}">
                <a16:creationId xmlns:a16="http://schemas.microsoft.com/office/drawing/2014/main" id="{C9DFA1F1-C738-44FC-96D1-C943469393A0}"/>
              </a:ext>
            </a:extLst>
          </p:cNvPr>
          <p:cNvSpPr>
            <a:spLocks xmlns:a="http://schemas.openxmlformats.org/drawingml/2006/main" noGrp="1"/>
          </p:cNvSpPr>
          <p:nvPr/>
        </p:nvSpPr>
        <p:spPr>
          <a:xfrm xmlns:a="http://schemas.openxmlformats.org/drawingml/2006/main">
            <a:off x="2286000" y="3219450"/>
            <a:ext cx="2533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C38"/>
                </a:solidFill>
                <a:latin typeface="Aptos"/>
                <a:ea typeface="Aptos"/>
                <a:cs typeface="Aptos"/>
              </a:defRPr>
            </a:pPr>
            <a:r>
              <a:rPr sz="1875" b="0">
                <a:solidFill>
                  <a:srgbClr val="142C38"/>
                </a:solidFill>
                <a:latin typeface="Aptos"/>
                <a:ea typeface="Aptos"/>
                <a:cs typeface="Aptos"/>
              </a:rPr>
              <a:t>Marketing</a:t>
            </a:r>
          </a:p>
        </p:txBody>
      </p:sp>
      <p:sp>
        <p:nvSpPr>
          <p:cNvPr id="13" name="text">
            <a:extLst xmlns:a="http://schemas.openxmlformats.org/drawingml/2006/main">
              <a:ext uri="{FF2B5EF4-FFF2-40B4-BE49-F238E27FC236}">
                <a16:creationId xmlns:a16="http://schemas.microsoft.com/office/drawing/2014/main" id="{9836DFE2-1297-4419-8558-DFEE4A8F5302}"/>
              </a:ext>
            </a:extLst>
          </p:cNvPr>
          <p:cNvSpPr>
            <a:spLocks xmlns:a="http://schemas.openxmlformats.org/drawingml/2006/main" noGrp="1"/>
          </p:cNvSpPr>
          <p:nvPr/>
        </p:nvSpPr>
        <p:spPr>
          <a:xfrm xmlns:a="http://schemas.openxmlformats.org/drawingml/2006/main">
            <a:off x="5029200" y="3219450"/>
            <a:ext cx="6343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C38"/>
                </a:solidFill>
                <a:latin typeface="Aptos"/>
                <a:ea typeface="Aptos"/>
                <a:cs typeface="Aptos"/>
              </a:defRPr>
            </a:pPr>
            <a:r>
              <a:rPr sz="1875" b="0">
                <a:solidFill>
                  <a:srgbClr val="142C38"/>
                </a:solidFill>
                <a:latin typeface="Aptos"/>
                <a:ea typeface="Aptos"/>
                <a:cs typeface="Aptos"/>
              </a:rPr>
              <a:t>How should we test customer demand?</a:t>
            </a:r>
          </a:p>
        </p:txBody>
      </p:sp>
      <p:sp>
        <p:nvSpPr>
          <p:cNvPr id="14" name="shape">
            <a:extLst xmlns:a="http://schemas.openxmlformats.org/drawingml/2006/main">
              <a:ext uri="{FF2B5EF4-FFF2-40B4-BE49-F238E27FC236}">
                <a16:creationId xmlns:a16="http://schemas.microsoft.com/office/drawing/2014/main" id="{AE7E1BE9-ED55-42B4-BF7F-D6A99C68B500}"/>
              </a:ext>
            </a:extLst>
          </p:cNvPr>
          <p:cNvSpPr>
            <a:spLocks xmlns:a="http://schemas.openxmlformats.org/drawingml/2006/main" noGrp="1"/>
          </p:cNvSpPr>
          <p:nvPr/>
        </p:nvSpPr>
        <p:spPr>
          <a:xfrm xmlns:a="http://schemas.openxmlformats.org/drawingml/2006/main">
            <a:off x="609600" y="3686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8B2219BF-4F3E-49CC-97DB-F31E0930CC83}"/>
              </a:ext>
            </a:extLst>
          </p:cNvPr>
          <p:cNvSpPr>
            <a:spLocks xmlns:a="http://schemas.openxmlformats.org/drawingml/2006/main" noGrp="1"/>
          </p:cNvSpPr>
          <p:nvPr/>
        </p:nvSpPr>
        <p:spPr>
          <a:xfrm xmlns:a="http://schemas.openxmlformats.org/drawingml/2006/main">
            <a:off x="609600" y="3790950"/>
            <a:ext cx="1466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142C38"/>
                </a:solidFill>
                <a:latin typeface="Aptos"/>
                <a:ea typeface="Aptos"/>
                <a:cs typeface="Aptos"/>
              </a:defRPr>
            </a:pPr>
            <a:r>
              <a:rPr sz="1875" b="1">
                <a:solidFill>
                  <a:srgbClr val="142C38"/>
                </a:solidFill>
                <a:latin typeface="Aptos"/>
                <a:ea typeface="Aptos"/>
                <a:cs typeface="Aptos"/>
              </a:rPr>
              <a:t>NOVA</a:t>
            </a:r>
          </a:p>
        </p:txBody>
      </p:sp>
      <p:sp>
        <p:nvSpPr>
          <p:cNvPr id="16" name="text">
            <a:extLst xmlns:a="http://schemas.openxmlformats.org/drawingml/2006/main">
              <a:ext uri="{FF2B5EF4-FFF2-40B4-BE49-F238E27FC236}">
                <a16:creationId xmlns:a16="http://schemas.microsoft.com/office/drawing/2014/main" id="{73D024D3-50AD-47B7-8CA5-111902947083}"/>
              </a:ext>
            </a:extLst>
          </p:cNvPr>
          <p:cNvSpPr>
            <a:spLocks xmlns:a="http://schemas.openxmlformats.org/drawingml/2006/main" noGrp="1"/>
          </p:cNvSpPr>
          <p:nvPr/>
        </p:nvSpPr>
        <p:spPr>
          <a:xfrm xmlns:a="http://schemas.openxmlformats.org/drawingml/2006/main">
            <a:off x="2286000" y="3790950"/>
            <a:ext cx="2533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C38"/>
                </a:solidFill>
                <a:latin typeface="Aptos"/>
                <a:ea typeface="Aptos"/>
                <a:cs typeface="Aptos"/>
              </a:defRPr>
            </a:pPr>
            <a:r>
              <a:rPr sz="1875" b="0">
                <a:solidFill>
                  <a:srgbClr val="142C38"/>
                </a:solidFill>
                <a:latin typeface="Aptos"/>
                <a:ea typeface="Aptos"/>
                <a:cs typeface="Aptos"/>
              </a:rPr>
              <a:t>HR</a:t>
            </a:r>
          </a:p>
        </p:txBody>
      </p:sp>
      <p:sp>
        <p:nvSpPr>
          <p:cNvPr id="17" name="text">
            <a:extLst xmlns:a="http://schemas.openxmlformats.org/drawingml/2006/main">
              <a:ext uri="{FF2B5EF4-FFF2-40B4-BE49-F238E27FC236}">
                <a16:creationId xmlns:a16="http://schemas.microsoft.com/office/drawing/2014/main" id="{0AE94469-E2F0-493A-9A2C-1A322A0FCD1F}"/>
              </a:ext>
            </a:extLst>
          </p:cNvPr>
          <p:cNvSpPr>
            <a:spLocks xmlns:a="http://schemas.openxmlformats.org/drawingml/2006/main" noGrp="1"/>
          </p:cNvSpPr>
          <p:nvPr/>
        </p:nvSpPr>
        <p:spPr>
          <a:xfrm xmlns:a="http://schemas.openxmlformats.org/drawingml/2006/main">
            <a:off x="5029200" y="3790950"/>
            <a:ext cx="6343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C38"/>
                </a:solidFill>
                <a:latin typeface="Aptos"/>
                <a:ea typeface="Aptos"/>
                <a:cs typeface="Aptos"/>
              </a:defRPr>
            </a:pPr>
            <a:r>
              <a:rPr sz="1875" b="0">
                <a:solidFill>
                  <a:srgbClr val="142C38"/>
                </a:solidFill>
                <a:latin typeface="Aptos"/>
                <a:ea typeface="Aptos"/>
                <a:cs typeface="Aptos"/>
              </a:rPr>
              <a:t>What skills and capacity do we need?</a:t>
            </a:r>
          </a:p>
        </p:txBody>
      </p:sp>
      <p:sp>
        <p:nvSpPr>
          <p:cNvPr id="18" name="shape">
            <a:extLst xmlns:a="http://schemas.openxmlformats.org/drawingml/2006/main">
              <a:ext uri="{FF2B5EF4-FFF2-40B4-BE49-F238E27FC236}">
                <a16:creationId xmlns:a16="http://schemas.microsoft.com/office/drawing/2014/main" id="{74ECBE47-1377-4632-9BD0-4BB7FAF4EBB7}"/>
              </a:ext>
            </a:extLst>
          </p:cNvPr>
          <p:cNvSpPr>
            <a:spLocks xmlns:a="http://schemas.openxmlformats.org/drawingml/2006/main" noGrp="1"/>
          </p:cNvSpPr>
          <p:nvPr/>
        </p:nvSpPr>
        <p:spPr>
          <a:xfrm xmlns:a="http://schemas.openxmlformats.org/drawingml/2006/main">
            <a:off x="609600" y="42576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49252D16-E102-48D9-BB4A-B2AD90C18571}"/>
              </a:ext>
            </a:extLst>
          </p:cNvPr>
          <p:cNvSpPr>
            <a:spLocks xmlns:a="http://schemas.openxmlformats.org/drawingml/2006/main" noGrp="1"/>
          </p:cNvSpPr>
          <p:nvPr/>
        </p:nvSpPr>
        <p:spPr>
          <a:xfrm xmlns:a="http://schemas.openxmlformats.org/drawingml/2006/main">
            <a:off x="609600" y="4362450"/>
            <a:ext cx="1466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142C38"/>
                </a:solidFill>
                <a:latin typeface="Aptos"/>
                <a:ea typeface="Aptos"/>
                <a:cs typeface="Aptos"/>
              </a:defRPr>
            </a:pPr>
            <a:r>
              <a:rPr sz="1875" b="1">
                <a:solidFill>
                  <a:srgbClr val="142C38"/>
                </a:solidFill>
                <a:latin typeface="Aptos"/>
                <a:ea typeface="Aptos"/>
                <a:cs typeface="Aptos"/>
              </a:rPr>
              <a:t>ATLAS</a:t>
            </a:r>
          </a:p>
        </p:txBody>
      </p:sp>
      <p:sp>
        <p:nvSpPr>
          <p:cNvPr id="20" name="text">
            <a:extLst xmlns:a="http://schemas.openxmlformats.org/drawingml/2006/main">
              <a:ext uri="{FF2B5EF4-FFF2-40B4-BE49-F238E27FC236}">
                <a16:creationId xmlns:a16="http://schemas.microsoft.com/office/drawing/2014/main" id="{4C9C8F9F-6185-45EE-8145-82B101656D05}"/>
              </a:ext>
            </a:extLst>
          </p:cNvPr>
          <p:cNvSpPr>
            <a:spLocks xmlns:a="http://schemas.openxmlformats.org/drawingml/2006/main" noGrp="1"/>
          </p:cNvSpPr>
          <p:nvPr/>
        </p:nvSpPr>
        <p:spPr>
          <a:xfrm xmlns:a="http://schemas.openxmlformats.org/drawingml/2006/main">
            <a:off x="2286000" y="4362450"/>
            <a:ext cx="2533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C38"/>
                </a:solidFill>
                <a:latin typeface="Aptos"/>
                <a:ea typeface="Aptos"/>
                <a:cs typeface="Aptos"/>
              </a:defRPr>
            </a:pPr>
            <a:r>
              <a:rPr sz="1875" b="0">
                <a:solidFill>
                  <a:srgbClr val="142C38"/>
                </a:solidFill>
                <a:latin typeface="Aptos"/>
                <a:ea typeface="Aptos"/>
                <a:cs typeface="Aptos"/>
              </a:rPr>
              <a:t>Operations</a:t>
            </a:r>
          </a:p>
        </p:txBody>
      </p:sp>
      <p:sp>
        <p:nvSpPr>
          <p:cNvPr id="21" name="text">
            <a:extLst xmlns:a="http://schemas.openxmlformats.org/drawingml/2006/main">
              <a:ext uri="{FF2B5EF4-FFF2-40B4-BE49-F238E27FC236}">
                <a16:creationId xmlns:a16="http://schemas.microsoft.com/office/drawing/2014/main" id="{F1E4EDCB-E558-41BA-8574-A2757C72BEA8}"/>
              </a:ext>
            </a:extLst>
          </p:cNvPr>
          <p:cNvSpPr>
            <a:spLocks xmlns:a="http://schemas.openxmlformats.org/drawingml/2006/main" noGrp="1"/>
          </p:cNvSpPr>
          <p:nvPr/>
        </p:nvSpPr>
        <p:spPr>
          <a:xfrm xmlns:a="http://schemas.openxmlformats.org/drawingml/2006/main">
            <a:off x="5029200" y="4362450"/>
            <a:ext cx="6343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C38"/>
                </a:solidFill>
                <a:latin typeface="Aptos"/>
                <a:ea typeface="Aptos"/>
                <a:cs typeface="Aptos"/>
              </a:defRPr>
            </a:pPr>
            <a:r>
              <a:rPr sz="1875" b="0">
                <a:solidFill>
                  <a:srgbClr val="142C38"/>
                </a:solidFill>
                <a:latin typeface="Aptos"/>
                <a:ea typeface="Aptos"/>
                <a:cs typeface="Aptos"/>
              </a:rPr>
              <a:t>Can we deliver on time?</a:t>
            </a:r>
          </a:p>
        </p:txBody>
      </p:sp>
      <p:sp>
        <p:nvSpPr>
          <p:cNvPr id="22" name="shape">
            <a:extLst xmlns:a="http://schemas.openxmlformats.org/drawingml/2006/main">
              <a:ext uri="{FF2B5EF4-FFF2-40B4-BE49-F238E27FC236}">
                <a16:creationId xmlns:a16="http://schemas.microsoft.com/office/drawing/2014/main" id="{054E272A-2BF9-4D63-9C9A-1D2E9B3C205A}"/>
              </a:ext>
            </a:extLst>
          </p:cNvPr>
          <p:cNvSpPr>
            <a:spLocks xmlns:a="http://schemas.openxmlformats.org/drawingml/2006/main" noGrp="1"/>
          </p:cNvSpPr>
          <p:nvPr/>
        </p:nvSpPr>
        <p:spPr>
          <a:xfrm xmlns:a="http://schemas.openxmlformats.org/drawingml/2006/main">
            <a:off x="609600" y="4829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23" name="text">
            <a:extLst xmlns:a="http://schemas.openxmlformats.org/drawingml/2006/main">
              <a:ext uri="{FF2B5EF4-FFF2-40B4-BE49-F238E27FC236}">
                <a16:creationId xmlns:a16="http://schemas.microsoft.com/office/drawing/2014/main" id="{04C3DEBF-82BB-45A5-9BAD-D308D431E80B}"/>
              </a:ext>
            </a:extLst>
          </p:cNvPr>
          <p:cNvSpPr>
            <a:spLocks xmlns:a="http://schemas.openxmlformats.org/drawingml/2006/main" noGrp="1"/>
          </p:cNvSpPr>
          <p:nvPr/>
        </p:nvSpPr>
        <p:spPr>
          <a:xfrm xmlns:a="http://schemas.openxmlformats.org/drawingml/2006/main">
            <a:off x="609600" y="4933950"/>
            <a:ext cx="1466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142C38"/>
                </a:solidFill>
                <a:latin typeface="Aptos"/>
                <a:ea typeface="Aptos"/>
                <a:cs typeface="Aptos"/>
              </a:defRPr>
            </a:pPr>
            <a:r>
              <a:rPr sz="1875" b="1">
                <a:solidFill>
                  <a:srgbClr val="142C38"/>
                </a:solidFill>
                <a:latin typeface="Aptos"/>
                <a:ea typeface="Aptos"/>
                <a:cs typeface="Aptos"/>
              </a:rPr>
              <a:t>LEDGER</a:t>
            </a:r>
          </a:p>
        </p:txBody>
      </p:sp>
      <p:sp>
        <p:nvSpPr>
          <p:cNvPr id="24" name="text">
            <a:extLst xmlns:a="http://schemas.openxmlformats.org/drawingml/2006/main">
              <a:ext uri="{FF2B5EF4-FFF2-40B4-BE49-F238E27FC236}">
                <a16:creationId xmlns:a16="http://schemas.microsoft.com/office/drawing/2014/main" id="{5328B185-9957-4103-B91E-92E956DEBB56}"/>
              </a:ext>
            </a:extLst>
          </p:cNvPr>
          <p:cNvSpPr>
            <a:spLocks xmlns:a="http://schemas.openxmlformats.org/drawingml/2006/main" noGrp="1"/>
          </p:cNvSpPr>
          <p:nvPr/>
        </p:nvSpPr>
        <p:spPr>
          <a:xfrm xmlns:a="http://schemas.openxmlformats.org/drawingml/2006/main">
            <a:off x="2286000" y="4933950"/>
            <a:ext cx="2533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C38"/>
                </a:solidFill>
                <a:latin typeface="Aptos"/>
                <a:ea typeface="Aptos"/>
                <a:cs typeface="Aptos"/>
              </a:defRPr>
            </a:pPr>
            <a:r>
              <a:rPr sz="1875" b="0">
                <a:solidFill>
                  <a:srgbClr val="142C38"/>
                </a:solidFill>
                <a:latin typeface="Aptos"/>
                <a:ea typeface="Aptos"/>
                <a:cs typeface="Aptos"/>
              </a:rPr>
              <a:t>Finance</a:t>
            </a:r>
          </a:p>
        </p:txBody>
      </p:sp>
      <p:sp>
        <p:nvSpPr>
          <p:cNvPr id="25" name="text">
            <a:extLst xmlns:a="http://schemas.openxmlformats.org/drawingml/2006/main">
              <a:ext uri="{FF2B5EF4-FFF2-40B4-BE49-F238E27FC236}">
                <a16:creationId xmlns:a16="http://schemas.microsoft.com/office/drawing/2014/main" id="{0877DBE0-E2D2-40B1-90F7-C61537E67C54}"/>
              </a:ext>
            </a:extLst>
          </p:cNvPr>
          <p:cNvSpPr>
            <a:spLocks xmlns:a="http://schemas.openxmlformats.org/drawingml/2006/main" noGrp="1"/>
          </p:cNvSpPr>
          <p:nvPr/>
        </p:nvSpPr>
        <p:spPr>
          <a:xfrm xmlns:a="http://schemas.openxmlformats.org/drawingml/2006/main">
            <a:off x="5029200" y="4933950"/>
            <a:ext cx="6343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C38"/>
                </a:solidFill>
                <a:latin typeface="Aptos"/>
                <a:ea typeface="Aptos"/>
                <a:cs typeface="Aptos"/>
              </a:defRPr>
            </a:pPr>
            <a:r>
              <a:rPr sz="1875" b="0">
                <a:solidFill>
                  <a:srgbClr val="142C38"/>
                </a:solidFill>
                <a:latin typeface="Aptos"/>
                <a:ea typeface="Aptos"/>
                <a:cs typeface="Aptos"/>
              </a:rPr>
              <a:t>Can we fund the plan?</a:t>
            </a:r>
          </a:p>
        </p:txBody>
      </p:sp>
      <p:sp>
        <p:nvSpPr>
          <p:cNvPr id="26" name="shape">
            <a:extLst xmlns:a="http://schemas.openxmlformats.org/drawingml/2006/main">
              <a:ext uri="{FF2B5EF4-FFF2-40B4-BE49-F238E27FC236}">
                <a16:creationId xmlns:a16="http://schemas.microsoft.com/office/drawing/2014/main" id="{EF523AFE-FBCD-4FF3-8B9A-35E881D0B3D0}"/>
              </a:ext>
            </a:extLst>
          </p:cNvPr>
          <p:cNvSpPr>
            <a:spLocks xmlns:a="http://schemas.openxmlformats.org/drawingml/2006/main" noGrp="1"/>
          </p:cNvSpPr>
          <p:nvPr/>
        </p:nvSpPr>
        <p:spPr>
          <a:xfrm xmlns:a="http://schemas.openxmlformats.org/drawingml/2006/main">
            <a:off x="609600" y="54006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27" name="text">
            <a:extLst xmlns:a="http://schemas.openxmlformats.org/drawingml/2006/main">
              <a:ext uri="{FF2B5EF4-FFF2-40B4-BE49-F238E27FC236}">
                <a16:creationId xmlns:a16="http://schemas.microsoft.com/office/drawing/2014/main" id="{909E6FA0-A39C-4787-A6A5-2AA73DEE781D}"/>
              </a:ext>
            </a:extLst>
          </p:cNvPr>
          <p:cNvSpPr>
            <a:spLocks xmlns:a="http://schemas.openxmlformats.org/drawingml/2006/main" noGrp="1"/>
          </p:cNvSpPr>
          <p:nvPr/>
        </p:nvSpPr>
        <p:spPr>
          <a:xfrm xmlns:a="http://schemas.openxmlformats.org/drawingml/2006/main">
            <a:off x="609600" y="5505450"/>
            <a:ext cx="1466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142C38"/>
                </a:solidFill>
                <a:latin typeface="Aptos"/>
                <a:ea typeface="Aptos"/>
                <a:cs typeface="Aptos"/>
              </a:defRPr>
            </a:pPr>
            <a:r>
              <a:rPr sz="1875" b="1">
                <a:solidFill>
                  <a:srgbClr val="142C38"/>
                </a:solidFill>
                <a:latin typeface="Aptos"/>
                <a:ea typeface="Aptos"/>
                <a:cs typeface="Aptos"/>
              </a:rPr>
              <a:t>JARVIS</a:t>
            </a:r>
          </a:p>
        </p:txBody>
      </p:sp>
      <p:sp>
        <p:nvSpPr>
          <p:cNvPr id="28" name="text">
            <a:extLst xmlns:a="http://schemas.openxmlformats.org/drawingml/2006/main">
              <a:ext uri="{FF2B5EF4-FFF2-40B4-BE49-F238E27FC236}">
                <a16:creationId xmlns:a16="http://schemas.microsoft.com/office/drawing/2014/main" id="{84C158E0-3755-48F2-8FE9-28B6EC108403}"/>
              </a:ext>
            </a:extLst>
          </p:cNvPr>
          <p:cNvSpPr>
            <a:spLocks xmlns:a="http://schemas.openxmlformats.org/drawingml/2006/main" noGrp="1"/>
          </p:cNvSpPr>
          <p:nvPr/>
        </p:nvSpPr>
        <p:spPr>
          <a:xfrm xmlns:a="http://schemas.openxmlformats.org/drawingml/2006/main">
            <a:off x="2286000" y="5505450"/>
            <a:ext cx="2533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C38"/>
                </a:solidFill>
                <a:latin typeface="Aptos"/>
                <a:ea typeface="Aptos"/>
                <a:cs typeface="Aptos"/>
              </a:defRPr>
            </a:pPr>
            <a:r>
              <a:rPr sz="1875" b="0">
                <a:solidFill>
                  <a:srgbClr val="142C38"/>
                </a:solidFill>
                <a:latin typeface="Aptos"/>
                <a:ea typeface="Aptos"/>
                <a:cs typeface="Aptos"/>
              </a:rPr>
              <a:t>General Management</a:t>
            </a:r>
          </a:p>
        </p:txBody>
      </p:sp>
      <p:sp>
        <p:nvSpPr>
          <p:cNvPr id="29" name="text">
            <a:extLst xmlns:a="http://schemas.openxmlformats.org/drawingml/2006/main">
              <a:ext uri="{FF2B5EF4-FFF2-40B4-BE49-F238E27FC236}">
                <a16:creationId xmlns:a16="http://schemas.microsoft.com/office/drawing/2014/main" id="{F75B967F-0023-4003-AE33-59E080090CD8}"/>
              </a:ext>
            </a:extLst>
          </p:cNvPr>
          <p:cNvSpPr>
            <a:spLocks xmlns:a="http://schemas.openxmlformats.org/drawingml/2006/main" noGrp="1"/>
          </p:cNvSpPr>
          <p:nvPr/>
        </p:nvSpPr>
        <p:spPr>
          <a:xfrm xmlns:a="http://schemas.openxmlformats.org/drawingml/2006/main">
            <a:off x="5029200" y="5505450"/>
            <a:ext cx="6343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C38"/>
                </a:solidFill>
                <a:latin typeface="Aptos"/>
                <a:ea typeface="Aptos"/>
                <a:cs typeface="Aptos"/>
              </a:defRPr>
            </a:pPr>
            <a:r>
              <a:rPr sz="1875" b="0">
                <a:solidFill>
                  <a:srgbClr val="142C38"/>
                </a:solidFill>
                <a:latin typeface="Aptos"/>
                <a:ea typeface="Aptos"/>
                <a:cs typeface="Aptos"/>
              </a:rPr>
              <a:t>What should the whole team do next?</a:t>
            </a:r>
          </a:p>
        </p:txBody>
      </p:sp>
      <p:sp>
        <p:nvSpPr>
          <p:cNvPr id="30" name="shape">
            <a:extLst xmlns:a="http://schemas.openxmlformats.org/drawingml/2006/main">
              <a:ext uri="{FF2B5EF4-FFF2-40B4-BE49-F238E27FC236}">
                <a16:creationId xmlns:a16="http://schemas.microsoft.com/office/drawing/2014/main" id="{B5D607D2-4663-4896-A40C-6FDEBA53E9B0}"/>
              </a:ext>
            </a:extLst>
          </p:cNvPr>
          <p:cNvSpPr>
            <a:spLocks xmlns:a="http://schemas.openxmlformats.org/drawingml/2006/main" noGrp="1"/>
          </p:cNvSpPr>
          <p:nvPr/>
        </p:nvSpPr>
        <p:spPr>
          <a:xfrm xmlns:a="http://schemas.openxmlformats.org/drawingml/2006/main">
            <a:off x="609600" y="5972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31" name="shape">
            <a:extLst xmlns:a="http://schemas.openxmlformats.org/drawingml/2006/main">
              <a:ext uri="{FF2B5EF4-FFF2-40B4-BE49-F238E27FC236}">
                <a16:creationId xmlns:a16="http://schemas.microsoft.com/office/drawing/2014/main" id="{73A644F5-00D8-434C-80EE-04777C961C26}"/>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32" name="text">
            <a:extLst xmlns:a="http://schemas.openxmlformats.org/drawingml/2006/main">
              <a:ext uri="{FF2B5EF4-FFF2-40B4-BE49-F238E27FC236}">
                <a16:creationId xmlns:a16="http://schemas.microsoft.com/office/drawing/2014/main" id="{5EB99D7D-FC48-4372-9CA7-25E40010ADB0}"/>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33" name="text">
            <a:extLst xmlns:a="http://schemas.openxmlformats.org/drawingml/2006/main">
              <a:ext uri="{FF2B5EF4-FFF2-40B4-BE49-F238E27FC236}">
                <a16:creationId xmlns:a16="http://schemas.microsoft.com/office/drawing/2014/main" id="{9113C46A-FC41-497D-98F4-3D04FB6C844D}"/>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13</a:t>
            </a:r>
          </a:p>
        </p:txBody>
      </p:sp>
    </p:spTree>
    <p:extLst>
      <p:ext uri="{BB962C8B-B14F-4D97-AF65-F5344CB8AC3E}">
        <p14:creationId xmlns:p14="http://schemas.microsoft.com/office/powerpoint/2010/main" val="856160980"/>
      </p:ext>
    </p:extLst>
  </p:cSld>
</p:sld>
</file>

<file path=ppt/slides/slide14.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5" name="text">
            <a:extLst xmlns:a="http://schemas.openxmlformats.org/drawingml/2006/main">
              <a:ext uri="{FF2B5EF4-FFF2-40B4-BE49-F238E27FC236}">
                <a16:creationId xmlns:a16="http://schemas.microsoft.com/office/drawing/2014/main" id="{A7463F74-F0DA-488D-877B-468434FF2D9C}"/>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DAY 1 · SESSION 1 · 90 MINUTES</a:t>
            </a:r>
          </a:p>
        </p:txBody>
      </p:sp>
      <p:sp>
        <p:nvSpPr>
          <p:cNvPr id="2" name="text">
            <a:extLst xmlns:a="http://schemas.openxmlformats.org/drawingml/2006/main">
              <a:ext uri="{FF2B5EF4-FFF2-40B4-BE49-F238E27FC236}">
                <a16:creationId xmlns:a16="http://schemas.microsoft.com/office/drawing/2014/main" id="{1BBD5054-1A21-4825-AED9-FFA17592A604}"/>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Our shared case is Project Monsoon.</a:t>
            </a:r>
          </a:p>
        </p:txBody>
      </p:sp>
      <p:sp>
        <p:nvSpPr>
          <p:cNvPr id="3" name="text">
            <a:extLst xmlns:a="http://schemas.openxmlformats.org/drawingml/2006/main">
              <a:ext uri="{FF2B5EF4-FFF2-40B4-BE49-F238E27FC236}">
                <a16:creationId xmlns:a16="http://schemas.microsoft.com/office/drawing/2014/main" id="{34E2E0DA-291B-40FF-A5A2-245CBAABF16D}"/>
              </a:ext>
            </a:extLst>
          </p:cNvPr>
          <p:cNvSpPr>
            <a:spLocks xmlns:a="http://schemas.openxmlformats.org/drawingml/2006/main" noGrp="1"/>
          </p:cNvSpPr>
          <p:nvPr/>
        </p:nvSpPr>
        <p:spPr>
          <a:xfrm xmlns:a="http://schemas.openxmlformats.org/drawingml/2006/main">
            <a:off x="609600" y="2228850"/>
            <a:ext cx="5286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350" b="1">
                <a:solidFill>
                  <a:srgbClr val="142C38"/>
                </a:solidFill>
                <a:latin typeface="Aptos"/>
                <a:ea typeface="Aptos"/>
                <a:cs typeface="Aptos"/>
              </a:defRPr>
            </a:pPr>
            <a:r>
              <a:rPr sz="4350" b="1">
                <a:solidFill>
                  <a:srgbClr val="142C38"/>
                </a:solidFill>
                <a:latin typeface="Aptos"/>
                <a:ea typeface="Aptos"/>
                <a:cs typeface="Aptos"/>
              </a:rPr>
              <a:t>₹24 lakh</a:t>
            </a:r>
          </a:p>
        </p:txBody>
      </p:sp>
      <p:sp>
        <p:nvSpPr>
          <p:cNvPr id="4" name="text">
            <a:extLst xmlns:a="http://schemas.openxmlformats.org/drawingml/2006/main">
              <a:ext uri="{FF2B5EF4-FFF2-40B4-BE49-F238E27FC236}">
                <a16:creationId xmlns:a16="http://schemas.microsoft.com/office/drawing/2014/main" id="{D911D52A-F2A4-472E-9C5F-88C5ECC3B5C0}"/>
              </a:ext>
            </a:extLst>
          </p:cNvPr>
          <p:cNvSpPr>
            <a:spLocks xmlns:a="http://schemas.openxmlformats.org/drawingml/2006/main" noGrp="1"/>
          </p:cNvSpPr>
          <p:nvPr/>
        </p:nvSpPr>
        <p:spPr>
          <a:xfrm xmlns:a="http://schemas.openxmlformats.org/drawingml/2006/main">
            <a:off x="609600" y="3067050"/>
            <a:ext cx="5143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537078"/>
                </a:solidFill>
                <a:latin typeface="Aptos"/>
                <a:ea typeface="Aptos"/>
                <a:cs typeface="Aptos"/>
              </a:defRPr>
            </a:pPr>
            <a:r>
              <a:rPr sz="2100" b="0">
                <a:solidFill>
                  <a:srgbClr val="537078"/>
                </a:solidFill>
                <a:latin typeface="Aptos"/>
                <a:ea typeface="Aptos"/>
                <a:cs typeface="Aptos"/>
              </a:rPr>
              <a:t>Launch cash budget</a:t>
            </a:r>
          </a:p>
        </p:txBody>
      </p:sp>
      <p:sp>
        <p:nvSpPr>
          <p:cNvPr id="5" name="text">
            <a:extLst xmlns:a="http://schemas.openxmlformats.org/drawingml/2006/main">
              <a:ext uri="{FF2B5EF4-FFF2-40B4-BE49-F238E27FC236}">
                <a16:creationId xmlns:a16="http://schemas.microsoft.com/office/drawing/2014/main" id="{C943C67C-8D43-4966-AD16-50775183ADF8}"/>
              </a:ext>
            </a:extLst>
          </p:cNvPr>
          <p:cNvSpPr>
            <a:spLocks xmlns:a="http://schemas.openxmlformats.org/drawingml/2006/main" noGrp="1"/>
          </p:cNvSpPr>
          <p:nvPr/>
        </p:nvSpPr>
        <p:spPr>
          <a:xfrm xmlns:a="http://schemas.openxmlformats.org/drawingml/2006/main">
            <a:off x="6191250" y="2228850"/>
            <a:ext cx="5286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350" b="1">
                <a:solidFill>
                  <a:srgbClr val="142C38"/>
                </a:solidFill>
                <a:latin typeface="Aptos"/>
                <a:ea typeface="Aptos"/>
                <a:cs typeface="Aptos"/>
              </a:defRPr>
            </a:pPr>
            <a:r>
              <a:rPr sz="4350" b="1">
                <a:solidFill>
                  <a:srgbClr val="142C38"/>
                </a:solidFill>
                <a:latin typeface="Aptos"/>
                <a:ea typeface="Aptos"/>
                <a:cs typeface="Aptos"/>
              </a:rPr>
              <a:t>30,000</a:t>
            </a:r>
          </a:p>
        </p:txBody>
      </p:sp>
      <p:sp>
        <p:nvSpPr>
          <p:cNvPr id="6" name="text">
            <a:extLst xmlns:a="http://schemas.openxmlformats.org/drawingml/2006/main">
              <a:ext uri="{FF2B5EF4-FFF2-40B4-BE49-F238E27FC236}">
                <a16:creationId xmlns:a16="http://schemas.microsoft.com/office/drawing/2014/main" id="{863DB5C4-D8B1-47A9-9CF2-2DD98DE2363C}"/>
              </a:ext>
            </a:extLst>
          </p:cNvPr>
          <p:cNvSpPr>
            <a:spLocks xmlns:a="http://schemas.openxmlformats.org/drawingml/2006/main" noGrp="1"/>
          </p:cNvSpPr>
          <p:nvPr/>
        </p:nvSpPr>
        <p:spPr>
          <a:xfrm xmlns:a="http://schemas.openxmlformats.org/drawingml/2006/main">
            <a:off x="6191250" y="3067050"/>
            <a:ext cx="5143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537078"/>
                </a:solidFill>
                <a:latin typeface="Aptos"/>
                <a:ea typeface="Aptos"/>
                <a:cs typeface="Aptos"/>
              </a:defRPr>
            </a:pPr>
            <a:r>
              <a:rPr sz="2100" b="0">
                <a:solidFill>
                  <a:srgbClr val="537078"/>
                </a:solidFill>
                <a:latin typeface="Aptos"/>
                <a:ea typeface="Aptos"/>
                <a:cs typeface="Aptos"/>
              </a:rPr>
              <a:t>Units to produce</a:t>
            </a:r>
          </a:p>
        </p:txBody>
      </p:sp>
      <p:sp>
        <p:nvSpPr>
          <p:cNvPr id="7" name="text">
            <a:extLst xmlns:a="http://schemas.openxmlformats.org/drawingml/2006/main">
              <a:ext uri="{FF2B5EF4-FFF2-40B4-BE49-F238E27FC236}">
                <a16:creationId xmlns:a16="http://schemas.microsoft.com/office/drawing/2014/main" id="{1F7CD840-B0E2-41A0-AF69-908334F5C133}"/>
              </a:ext>
            </a:extLst>
          </p:cNvPr>
          <p:cNvSpPr>
            <a:spLocks xmlns:a="http://schemas.openxmlformats.org/drawingml/2006/main" noGrp="1"/>
          </p:cNvSpPr>
          <p:nvPr/>
        </p:nvSpPr>
        <p:spPr>
          <a:xfrm xmlns:a="http://schemas.openxmlformats.org/drawingml/2006/main">
            <a:off x="609600" y="3886200"/>
            <a:ext cx="5286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350" b="1">
                <a:solidFill>
                  <a:srgbClr val="142C38"/>
                </a:solidFill>
                <a:latin typeface="Aptos"/>
                <a:ea typeface="Aptos"/>
                <a:cs typeface="Aptos"/>
              </a:defRPr>
            </a:pPr>
            <a:r>
              <a:rPr sz="4350" b="1">
                <a:solidFill>
                  <a:srgbClr val="142C38"/>
                </a:solidFill>
                <a:latin typeface="Aptos"/>
                <a:ea typeface="Aptos"/>
                <a:cs typeface="Aptos"/>
              </a:rPr>
              <a:t>84 days</a:t>
            </a:r>
          </a:p>
        </p:txBody>
      </p:sp>
      <p:sp>
        <p:nvSpPr>
          <p:cNvPr id="8" name="text">
            <a:extLst xmlns:a="http://schemas.openxmlformats.org/drawingml/2006/main">
              <a:ext uri="{FF2B5EF4-FFF2-40B4-BE49-F238E27FC236}">
                <a16:creationId xmlns:a16="http://schemas.microsoft.com/office/drawing/2014/main" id="{9F133D07-7763-4FF8-BCBE-71AE9CA2ACE4}"/>
              </a:ext>
            </a:extLst>
          </p:cNvPr>
          <p:cNvSpPr>
            <a:spLocks xmlns:a="http://schemas.openxmlformats.org/drawingml/2006/main" noGrp="1"/>
          </p:cNvSpPr>
          <p:nvPr/>
        </p:nvSpPr>
        <p:spPr>
          <a:xfrm xmlns:a="http://schemas.openxmlformats.org/drawingml/2006/main">
            <a:off x="609600" y="4724400"/>
            <a:ext cx="5143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537078"/>
                </a:solidFill>
                <a:latin typeface="Aptos"/>
                <a:ea typeface="Aptos"/>
                <a:cs typeface="Aptos"/>
              </a:defRPr>
            </a:pPr>
            <a:r>
              <a:rPr sz="2100" b="0">
                <a:solidFill>
                  <a:srgbClr val="537078"/>
                </a:solidFill>
                <a:latin typeface="Aptos"/>
                <a:ea typeface="Aptos"/>
                <a:cs typeface="Aptos"/>
              </a:rPr>
              <a:t>Launch window</a:t>
            </a:r>
          </a:p>
        </p:txBody>
      </p:sp>
      <p:sp>
        <p:nvSpPr>
          <p:cNvPr id="9" name="text">
            <a:extLst xmlns:a="http://schemas.openxmlformats.org/drawingml/2006/main">
              <a:ext uri="{FF2B5EF4-FFF2-40B4-BE49-F238E27FC236}">
                <a16:creationId xmlns:a16="http://schemas.microsoft.com/office/drawing/2014/main" id="{5B641A48-3B6F-4182-8DCF-483D6A1A5D3D}"/>
              </a:ext>
            </a:extLst>
          </p:cNvPr>
          <p:cNvSpPr>
            <a:spLocks xmlns:a="http://schemas.openxmlformats.org/drawingml/2006/main" noGrp="1"/>
          </p:cNvSpPr>
          <p:nvPr/>
        </p:nvSpPr>
        <p:spPr>
          <a:xfrm xmlns:a="http://schemas.openxmlformats.org/drawingml/2006/main">
            <a:off x="6191250" y="3886200"/>
            <a:ext cx="5286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350" b="1">
                <a:solidFill>
                  <a:srgbClr val="142C38"/>
                </a:solidFill>
                <a:latin typeface="Aptos"/>
                <a:ea typeface="Aptos"/>
                <a:cs typeface="Aptos"/>
              </a:defRPr>
            </a:pPr>
            <a:r>
              <a:rPr sz="4350" b="1">
                <a:solidFill>
                  <a:srgbClr val="142C38"/>
                </a:solidFill>
                <a:latin typeface="Aptos"/>
                <a:ea typeface="Aptos"/>
                <a:cs typeface="Aptos"/>
              </a:rPr>
              <a:t>₹120 / ₹65</a:t>
            </a:r>
          </a:p>
        </p:txBody>
      </p:sp>
      <p:sp>
        <p:nvSpPr>
          <p:cNvPr id="10" name="text">
            <a:extLst xmlns:a="http://schemas.openxmlformats.org/drawingml/2006/main">
              <a:ext uri="{FF2B5EF4-FFF2-40B4-BE49-F238E27FC236}">
                <a16:creationId xmlns:a16="http://schemas.microsoft.com/office/drawing/2014/main" id="{D4489D8E-32BE-41C5-8D57-BF30C657A0D2}"/>
              </a:ext>
            </a:extLst>
          </p:cNvPr>
          <p:cNvSpPr>
            <a:spLocks xmlns:a="http://schemas.openxmlformats.org/drawingml/2006/main" noGrp="1"/>
          </p:cNvSpPr>
          <p:nvPr/>
        </p:nvSpPr>
        <p:spPr>
          <a:xfrm xmlns:a="http://schemas.openxmlformats.org/drawingml/2006/main">
            <a:off x="6191250" y="4724400"/>
            <a:ext cx="5143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537078"/>
                </a:solidFill>
                <a:latin typeface="Aptos"/>
                <a:ea typeface="Aptos"/>
                <a:cs typeface="Aptos"/>
              </a:defRPr>
            </a:pPr>
            <a:r>
              <a:rPr sz="2100" b="0">
                <a:solidFill>
                  <a:srgbClr val="537078"/>
                </a:solidFill>
                <a:latin typeface="Aptos"/>
                <a:ea typeface="Aptos"/>
                <a:cs typeface="Aptos"/>
              </a:rPr>
              <a:t>Price / unit cost</a:t>
            </a:r>
          </a:p>
        </p:txBody>
      </p:sp>
      <p:sp>
        <p:nvSpPr>
          <p:cNvPr id="11" name="text">
            <a:extLst xmlns:a="http://schemas.openxmlformats.org/drawingml/2006/main">
              <a:ext uri="{FF2B5EF4-FFF2-40B4-BE49-F238E27FC236}">
                <a16:creationId xmlns:a16="http://schemas.microsoft.com/office/drawing/2014/main" id="{E7E2B9B3-9CED-4741-80DB-E1FD4BDA8D7B}"/>
              </a:ext>
            </a:extLst>
          </p:cNvPr>
          <p:cNvSpPr>
            <a:spLocks xmlns:a="http://schemas.openxmlformats.org/drawingml/2006/main" noGrp="1"/>
          </p:cNvSpPr>
          <p:nvPr/>
        </p:nvSpPr>
        <p:spPr>
          <a:xfrm xmlns:a="http://schemas.openxmlformats.org/drawingml/2006/main">
            <a:off x="609600" y="58483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Aster Foods is fictional. All figures are teaching assumptions.</a:t>
            </a:r>
          </a:p>
        </p:txBody>
      </p:sp>
      <p:sp>
        <p:nvSpPr>
          <p:cNvPr id="12" name="shape">
            <a:extLst xmlns:a="http://schemas.openxmlformats.org/drawingml/2006/main">
              <a:ext uri="{FF2B5EF4-FFF2-40B4-BE49-F238E27FC236}">
                <a16:creationId xmlns:a16="http://schemas.microsoft.com/office/drawing/2014/main" id="{1818E844-1278-4217-A9C4-802C3FBB1A3D}"/>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4A4ACFBF-D225-4132-9481-EF0208893284}"/>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14" name="text">
            <a:extLst xmlns:a="http://schemas.openxmlformats.org/drawingml/2006/main">
              <a:ext uri="{FF2B5EF4-FFF2-40B4-BE49-F238E27FC236}">
                <a16:creationId xmlns:a16="http://schemas.microsoft.com/office/drawing/2014/main" id="{BC8B7780-53F3-478C-BC37-A1399FAA507F}"/>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14</a:t>
            </a:r>
          </a:p>
        </p:txBody>
      </p:sp>
    </p:spTree>
    <p:extLst>
      <p:ext uri="{BB962C8B-B14F-4D97-AF65-F5344CB8AC3E}">
        <p14:creationId xmlns:p14="http://schemas.microsoft.com/office/powerpoint/2010/main" val="1614197249"/>
      </p:ext>
    </p:extLst>
  </p:cSld>
</p:sld>
</file>

<file path=ppt/slides/slide15.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3" name="text">
            <a:extLst xmlns:a="http://schemas.openxmlformats.org/drawingml/2006/main">
              <a:ext uri="{FF2B5EF4-FFF2-40B4-BE49-F238E27FC236}">
                <a16:creationId xmlns:a16="http://schemas.microsoft.com/office/drawing/2014/main" id="{FD094A9E-26CB-4978-A1F7-50A1506CF57C}"/>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DAY 1 · SESSION 1 · 90 MINUTES</a:t>
            </a:r>
          </a:p>
        </p:txBody>
      </p:sp>
      <p:sp>
        <p:nvSpPr>
          <p:cNvPr id="2" name="text">
            <a:extLst xmlns:a="http://schemas.openxmlformats.org/drawingml/2006/main">
              <a:ext uri="{FF2B5EF4-FFF2-40B4-BE49-F238E27FC236}">
                <a16:creationId xmlns:a16="http://schemas.microsoft.com/office/drawing/2014/main" id="{F644FDA5-DF33-4A72-9304-1286035D8798}"/>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Before we code, check the cash by hand.</a:t>
            </a:r>
          </a:p>
        </p:txBody>
      </p:sp>
      <p:sp>
        <p:nvSpPr>
          <p:cNvPr id="3" name="text">
            <a:extLst xmlns:a="http://schemas.openxmlformats.org/drawingml/2006/main">
              <a:ext uri="{FF2B5EF4-FFF2-40B4-BE49-F238E27FC236}">
                <a16:creationId xmlns:a16="http://schemas.microsoft.com/office/drawing/2014/main" id="{56CC3F39-1CB0-4CF9-97C2-457AA1A3DFD1}"/>
              </a:ext>
            </a:extLst>
          </p:cNvPr>
          <p:cNvSpPr>
            <a:spLocks xmlns:a="http://schemas.openxmlformats.org/drawingml/2006/main" noGrp="1"/>
          </p:cNvSpPr>
          <p:nvPr/>
        </p:nvSpPr>
        <p:spPr>
          <a:xfrm xmlns:a="http://schemas.openxmlformats.org/drawingml/2006/main">
            <a:off x="609600" y="2524125"/>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01 · START</a:t>
            </a:r>
          </a:p>
        </p:txBody>
      </p:sp>
      <p:sp>
        <p:nvSpPr>
          <p:cNvPr id="4" name="text">
            <a:extLst xmlns:a="http://schemas.openxmlformats.org/drawingml/2006/main">
              <a:ext uri="{FF2B5EF4-FFF2-40B4-BE49-F238E27FC236}">
                <a16:creationId xmlns:a16="http://schemas.microsoft.com/office/drawing/2014/main" id="{6158C4B5-C811-4A7F-BF4B-754D39EF46B5}"/>
              </a:ext>
            </a:extLst>
          </p:cNvPr>
          <p:cNvSpPr>
            <a:spLocks xmlns:a="http://schemas.openxmlformats.org/drawingml/2006/main" noGrp="1"/>
          </p:cNvSpPr>
          <p:nvPr/>
        </p:nvSpPr>
        <p:spPr>
          <a:xfrm xmlns:a="http://schemas.openxmlformats.org/drawingml/2006/main">
            <a:off x="609600" y="3114675"/>
            <a:ext cx="345757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142C38"/>
                </a:solidFill>
                <a:latin typeface="Aptos"/>
                <a:ea typeface="Aptos"/>
                <a:cs typeface="Aptos"/>
              </a:defRPr>
            </a:pPr>
            <a:r>
              <a:rPr sz="3150" b="1">
                <a:solidFill>
                  <a:srgbClr val="142C38"/>
                </a:solidFill>
                <a:latin typeface="Aptos"/>
                <a:ea typeface="Aptos"/>
                <a:cs typeface="Aptos"/>
              </a:rPr>
              <a:t>30,000 × ₹65</a:t>
            </a:r>
          </a:p>
        </p:txBody>
      </p:sp>
      <p:sp>
        <p:nvSpPr>
          <p:cNvPr id="5" name="text">
            <a:extLst xmlns:a="http://schemas.openxmlformats.org/drawingml/2006/main">
              <a:ext uri="{FF2B5EF4-FFF2-40B4-BE49-F238E27FC236}">
                <a16:creationId xmlns:a16="http://schemas.microsoft.com/office/drawing/2014/main" id="{85C1860E-D145-4700-BB2D-3A4C32F37AF3}"/>
              </a:ext>
            </a:extLst>
          </p:cNvPr>
          <p:cNvSpPr>
            <a:spLocks xmlns:a="http://schemas.openxmlformats.org/drawingml/2006/main" noGrp="1"/>
          </p:cNvSpPr>
          <p:nvPr/>
        </p:nvSpPr>
        <p:spPr>
          <a:xfrm xmlns:a="http://schemas.openxmlformats.org/drawingml/2006/main">
            <a:off x="4314825" y="2524125"/>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02 · CHANGE</a:t>
            </a:r>
          </a:p>
        </p:txBody>
      </p:sp>
      <p:sp>
        <p:nvSpPr>
          <p:cNvPr id="6" name="text">
            <a:extLst xmlns:a="http://schemas.openxmlformats.org/drawingml/2006/main">
              <a:ext uri="{FF2B5EF4-FFF2-40B4-BE49-F238E27FC236}">
                <a16:creationId xmlns:a16="http://schemas.microsoft.com/office/drawing/2014/main" id="{FBBE0A30-27D6-46C9-B93B-20E4CD889498}"/>
              </a:ext>
            </a:extLst>
          </p:cNvPr>
          <p:cNvSpPr>
            <a:spLocks xmlns:a="http://schemas.openxmlformats.org/drawingml/2006/main" noGrp="1"/>
          </p:cNvSpPr>
          <p:nvPr/>
        </p:nvSpPr>
        <p:spPr>
          <a:xfrm xmlns:a="http://schemas.openxmlformats.org/drawingml/2006/main">
            <a:off x="4314825" y="3114675"/>
            <a:ext cx="345757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142C38"/>
                </a:solidFill>
                <a:latin typeface="Aptos"/>
                <a:ea typeface="Aptos"/>
                <a:cs typeface="Aptos"/>
              </a:defRPr>
            </a:pPr>
            <a:r>
              <a:rPr sz="3150" b="1">
                <a:solidFill>
                  <a:srgbClr val="142C38"/>
                </a:solidFill>
                <a:latin typeface="Aptos"/>
                <a:ea typeface="Aptos"/>
                <a:cs typeface="Aptos"/>
              </a:rPr>
              <a:t>+ ₹4,50,000</a:t>
            </a:r>
          </a:p>
        </p:txBody>
      </p:sp>
      <p:sp>
        <p:nvSpPr>
          <p:cNvPr id="7" name="text">
            <a:extLst xmlns:a="http://schemas.openxmlformats.org/drawingml/2006/main">
              <a:ext uri="{FF2B5EF4-FFF2-40B4-BE49-F238E27FC236}">
                <a16:creationId xmlns:a16="http://schemas.microsoft.com/office/drawing/2014/main" id="{6373E730-CF3E-4E60-B2F6-5F6C83E1DFC8}"/>
              </a:ext>
            </a:extLst>
          </p:cNvPr>
          <p:cNvSpPr>
            <a:spLocks xmlns:a="http://schemas.openxmlformats.org/drawingml/2006/main" noGrp="1"/>
          </p:cNvSpPr>
          <p:nvPr/>
        </p:nvSpPr>
        <p:spPr>
          <a:xfrm xmlns:a="http://schemas.openxmlformats.org/drawingml/2006/main">
            <a:off x="8020050" y="2524125"/>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03 · CHECK</a:t>
            </a:r>
          </a:p>
        </p:txBody>
      </p:sp>
      <p:sp>
        <p:nvSpPr>
          <p:cNvPr id="8" name="text">
            <a:extLst xmlns:a="http://schemas.openxmlformats.org/drawingml/2006/main">
              <a:ext uri="{FF2B5EF4-FFF2-40B4-BE49-F238E27FC236}">
                <a16:creationId xmlns:a16="http://schemas.microsoft.com/office/drawing/2014/main" id="{86E99058-B570-4A1A-8D05-C267070CC027}"/>
              </a:ext>
            </a:extLst>
          </p:cNvPr>
          <p:cNvSpPr>
            <a:spLocks xmlns:a="http://schemas.openxmlformats.org/drawingml/2006/main" noGrp="1"/>
          </p:cNvSpPr>
          <p:nvPr/>
        </p:nvSpPr>
        <p:spPr>
          <a:xfrm xmlns:a="http://schemas.openxmlformats.org/drawingml/2006/main">
            <a:off x="8020050" y="3114675"/>
            <a:ext cx="345757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142C38"/>
                </a:solidFill>
                <a:latin typeface="Aptos"/>
                <a:ea typeface="Aptos"/>
                <a:cs typeface="Aptos"/>
              </a:defRPr>
            </a:pPr>
            <a:r>
              <a:rPr sz="3150" b="1">
                <a:solidFill>
                  <a:srgbClr val="142C38"/>
                </a:solidFill>
                <a:latin typeface="Aptos"/>
                <a:ea typeface="Aptos"/>
                <a:cs typeface="Aptos"/>
              </a:rPr>
              <a:t>= ₹24,00,000</a:t>
            </a:r>
          </a:p>
        </p:txBody>
      </p:sp>
      <p:sp>
        <p:nvSpPr>
          <p:cNvPr id="9" name="text">
            <a:extLst xmlns:a="http://schemas.openxmlformats.org/drawingml/2006/main">
              <a:ext uri="{FF2B5EF4-FFF2-40B4-BE49-F238E27FC236}">
                <a16:creationId xmlns:a16="http://schemas.microsoft.com/office/drawing/2014/main" id="{A22112C6-08F4-4648-8C77-34A34155114B}"/>
              </a:ext>
            </a:extLst>
          </p:cNvPr>
          <p:cNvSpPr>
            <a:spLocks xmlns:a="http://schemas.openxmlformats.org/drawingml/2006/main" noGrp="1"/>
          </p:cNvSpPr>
          <p:nvPr/>
        </p:nvSpPr>
        <p:spPr>
          <a:xfrm xmlns:a="http://schemas.openxmlformats.org/drawingml/2006/main">
            <a:off x="609600" y="53625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Production cost + other launch costs = cash needed upfront.</a:t>
            </a:r>
          </a:p>
        </p:txBody>
      </p:sp>
      <p:sp>
        <p:nvSpPr>
          <p:cNvPr id="10" name="shape">
            <a:extLst xmlns:a="http://schemas.openxmlformats.org/drawingml/2006/main">
              <a:ext uri="{FF2B5EF4-FFF2-40B4-BE49-F238E27FC236}">
                <a16:creationId xmlns:a16="http://schemas.microsoft.com/office/drawing/2014/main" id="{679A1009-EDB5-4831-8521-AF79208BCF3B}"/>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1D0CDDD6-7383-4268-B0D0-A4767B230139}"/>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12" name="text">
            <a:extLst xmlns:a="http://schemas.openxmlformats.org/drawingml/2006/main">
              <a:ext uri="{FF2B5EF4-FFF2-40B4-BE49-F238E27FC236}">
                <a16:creationId xmlns:a16="http://schemas.microsoft.com/office/drawing/2014/main" id="{77A0C541-AC9E-4D66-AEB4-6A5F78DCBC2B}"/>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15</a:t>
            </a:r>
          </a:p>
        </p:txBody>
      </p:sp>
    </p:spTree>
    <p:extLst>
      <p:ext uri="{BB962C8B-B14F-4D97-AF65-F5344CB8AC3E}">
        <p14:creationId xmlns:p14="http://schemas.microsoft.com/office/powerpoint/2010/main" val="209767871"/>
      </p:ext>
    </p:extLst>
  </p:cSld>
</p:sld>
</file>

<file path=ppt/slides/slide16.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8" name="text">
            <a:extLst xmlns:a="http://schemas.openxmlformats.org/drawingml/2006/main">
              <a:ext uri="{FF2B5EF4-FFF2-40B4-BE49-F238E27FC236}">
                <a16:creationId xmlns:a16="http://schemas.microsoft.com/office/drawing/2014/main" id="{C72C0F5A-9ADF-4416-8533-01322E6B63DB}"/>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DAY 1 · SESSION 1 · 90 MINUTES</a:t>
            </a:r>
          </a:p>
        </p:txBody>
      </p:sp>
      <p:sp>
        <p:nvSpPr>
          <p:cNvPr id="2" name="text">
            <a:extLst xmlns:a="http://schemas.openxmlformats.org/drawingml/2006/main">
              <a:ext uri="{FF2B5EF4-FFF2-40B4-BE49-F238E27FC236}">
                <a16:creationId xmlns:a16="http://schemas.microsoft.com/office/drawing/2014/main" id="{E410B87F-A992-470F-8627-0D81B2E2307C}"/>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Turn a vague prompt into a testable job.</a:t>
            </a:r>
          </a:p>
        </p:txBody>
      </p:sp>
      <p:sp>
        <p:nvSpPr>
          <p:cNvPr id="3" name="text">
            <a:extLst xmlns:a="http://schemas.openxmlformats.org/drawingml/2006/main">
              <a:ext uri="{FF2B5EF4-FFF2-40B4-BE49-F238E27FC236}">
                <a16:creationId xmlns:a16="http://schemas.microsoft.com/office/drawing/2014/main" id="{D608AE63-7C0C-430C-AC0C-8DC03529A3BC}"/>
              </a:ext>
            </a:extLst>
          </p:cNvPr>
          <p:cNvSpPr>
            <a:spLocks xmlns:a="http://schemas.openxmlformats.org/drawingml/2006/main" noGrp="1"/>
          </p:cNvSpPr>
          <p:nvPr/>
        </p:nvSpPr>
        <p:spPr>
          <a:xfrm xmlns:a="http://schemas.openxmlformats.org/drawingml/2006/main">
            <a:off x="609600" y="2238375"/>
            <a:ext cx="5276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VAGUE REQUEST</a:t>
            </a:r>
          </a:p>
        </p:txBody>
      </p:sp>
      <p:sp>
        <p:nvSpPr>
          <p:cNvPr id="4" name="text">
            <a:extLst xmlns:a="http://schemas.openxmlformats.org/drawingml/2006/main">
              <a:ext uri="{FF2B5EF4-FFF2-40B4-BE49-F238E27FC236}">
                <a16:creationId xmlns:a16="http://schemas.microsoft.com/office/drawing/2014/main" id="{8C945885-D7FF-456E-8947-02A4C7C299DD}"/>
              </a:ext>
            </a:extLst>
          </p:cNvPr>
          <p:cNvSpPr>
            <a:spLocks xmlns:a="http://schemas.openxmlformats.org/drawingml/2006/main" noGrp="1"/>
          </p:cNvSpPr>
          <p:nvPr/>
        </p:nvSpPr>
        <p:spPr>
          <a:xfrm xmlns:a="http://schemas.openxmlformats.org/drawingml/2006/main">
            <a:off x="6096000" y="2238375"/>
            <a:ext cx="5276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AGENT BLUEPRINT</a:t>
            </a:r>
          </a:p>
        </p:txBody>
      </p:sp>
      <p:sp>
        <p:nvSpPr>
          <p:cNvPr id="5" name="shape">
            <a:extLst xmlns:a="http://schemas.openxmlformats.org/drawingml/2006/main">
              <a:ext uri="{FF2B5EF4-FFF2-40B4-BE49-F238E27FC236}">
                <a16:creationId xmlns:a16="http://schemas.microsoft.com/office/drawing/2014/main" id="{36678673-0E5F-42C2-B494-50999C8D919D}"/>
              </a:ext>
            </a:extLst>
          </p:cNvPr>
          <p:cNvSpPr>
            <a:spLocks xmlns:a="http://schemas.openxmlformats.org/drawingml/2006/main" noGrp="1"/>
          </p:cNvSpPr>
          <p:nvPr/>
        </p:nvSpPr>
        <p:spPr>
          <a:xfrm xmlns:a="http://schemas.openxmlformats.org/drawingml/2006/main">
            <a:off x="609600" y="26479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BC6E1EC6-4D7C-4E62-85C8-41021EE5F452}"/>
              </a:ext>
            </a:extLst>
          </p:cNvPr>
          <p:cNvSpPr>
            <a:spLocks xmlns:a="http://schemas.openxmlformats.org/drawingml/2006/main" noGrp="1"/>
          </p:cNvSpPr>
          <p:nvPr/>
        </p:nvSpPr>
        <p:spPr>
          <a:xfrm xmlns:a="http://schemas.openxmlformats.org/drawingml/2006/main">
            <a:off x="609600" y="28194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Help with our launch</a:t>
            </a:r>
          </a:p>
        </p:txBody>
      </p:sp>
      <p:sp>
        <p:nvSpPr>
          <p:cNvPr id="7" name="text">
            <a:extLst xmlns:a="http://schemas.openxmlformats.org/drawingml/2006/main">
              <a:ext uri="{FF2B5EF4-FFF2-40B4-BE49-F238E27FC236}">
                <a16:creationId xmlns:a16="http://schemas.microsoft.com/office/drawing/2014/main" id="{53B77D00-9DAD-4800-A311-E2C68F4C33EB}"/>
              </a:ext>
            </a:extLst>
          </p:cNvPr>
          <p:cNvSpPr>
            <a:spLocks xmlns:a="http://schemas.openxmlformats.org/drawingml/2006/main" noGrp="1"/>
          </p:cNvSpPr>
          <p:nvPr/>
        </p:nvSpPr>
        <p:spPr>
          <a:xfrm xmlns:a="http://schemas.openxmlformats.org/drawingml/2006/main">
            <a:off x="6096000" y="28194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Compare cash need with the approved budget</a:t>
            </a:r>
          </a:p>
        </p:txBody>
      </p:sp>
      <p:sp>
        <p:nvSpPr>
          <p:cNvPr id="8" name="shape">
            <a:extLst xmlns:a="http://schemas.openxmlformats.org/drawingml/2006/main">
              <a:ext uri="{FF2B5EF4-FFF2-40B4-BE49-F238E27FC236}">
                <a16:creationId xmlns:a16="http://schemas.microsoft.com/office/drawing/2014/main" id="{CADF1C00-9A0F-425E-B7D1-3D719ACB2875}"/>
              </a:ext>
            </a:extLst>
          </p:cNvPr>
          <p:cNvSpPr>
            <a:spLocks xmlns:a="http://schemas.openxmlformats.org/drawingml/2006/main" noGrp="1"/>
          </p:cNvSpPr>
          <p:nvPr/>
        </p:nvSpPr>
        <p:spPr>
          <a:xfrm xmlns:a="http://schemas.openxmlformats.org/drawingml/2006/main">
            <a:off x="609600" y="34004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C47ADBF6-7487-4E00-8E59-D536A49E1C0A}"/>
              </a:ext>
            </a:extLst>
          </p:cNvPr>
          <p:cNvSpPr>
            <a:spLocks xmlns:a="http://schemas.openxmlformats.org/drawingml/2006/main" noGrp="1"/>
          </p:cNvSpPr>
          <p:nvPr/>
        </p:nvSpPr>
        <p:spPr>
          <a:xfrm xmlns:a="http://schemas.openxmlformats.org/drawingml/2006/main">
            <a:off x="609600" y="35052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Make it impressive</a:t>
            </a:r>
          </a:p>
        </p:txBody>
      </p:sp>
      <p:sp>
        <p:nvSpPr>
          <p:cNvPr id="10" name="text">
            <a:extLst xmlns:a="http://schemas.openxmlformats.org/drawingml/2006/main">
              <a:ext uri="{FF2B5EF4-FFF2-40B4-BE49-F238E27FC236}">
                <a16:creationId xmlns:a16="http://schemas.microsoft.com/office/drawing/2014/main" id="{B6372C7D-7B9F-43BF-AE47-7F77B512C291}"/>
              </a:ext>
            </a:extLst>
          </p:cNvPr>
          <p:cNvSpPr>
            <a:spLocks xmlns:a="http://schemas.openxmlformats.org/drawingml/2006/main" noGrp="1"/>
          </p:cNvSpPr>
          <p:nvPr/>
        </p:nvSpPr>
        <p:spPr>
          <a:xfrm xmlns:a="http://schemas.openxmlformats.org/drawingml/2006/main">
            <a:off x="6096000" y="35052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Show source arithmetic and one limitation</a:t>
            </a:r>
          </a:p>
        </p:txBody>
      </p:sp>
      <p:sp>
        <p:nvSpPr>
          <p:cNvPr id="11" name="shape">
            <a:extLst xmlns:a="http://schemas.openxmlformats.org/drawingml/2006/main">
              <a:ext uri="{FF2B5EF4-FFF2-40B4-BE49-F238E27FC236}">
                <a16:creationId xmlns:a16="http://schemas.microsoft.com/office/drawing/2014/main" id="{1E31F476-765D-4B63-8413-BCAD593A6869}"/>
              </a:ext>
            </a:extLst>
          </p:cNvPr>
          <p:cNvSpPr>
            <a:spLocks xmlns:a="http://schemas.openxmlformats.org/drawingml/2006/main" noGrp="1"/>
          </p:cNvSpPr>
          <p:nvPr/>
        </p:nvSpPr>
        <p:spPr>
          <a:xfrm xmlns:a="http://schemas.openxmlformats.org/drawingml/2006/main">
            <a:off x="609600" y="40862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E3D311F3-8765-4595-A776-6ADBC0A37E20}"/>
              </a:ext>
            </a:extLst>
          </p:cNvPr>
          <p:cNvSpPr>
            <a:spLocks xmlns:a="http://schemas.openxmlformats.org/drawingml/2006/main" noGrp="1"/>
          </p:cNvSpPr>
          <p:nvPr/>
        </p:nvSpPr>
        <p:spPr>
          <a:xfrm xmlns:a="http://schemas.openxmlformats.org/drawingml/2006/main">
            <a:off x="609600" y="41910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Do everything</a:t>
            </a:r>
          </a:p>
        </p:txBody>
      </p:sp>
      <p:sp>
        <p:nvSpPr>
          <p:cNvPr id="13" name="text">
            <a:extLst xmlns:a="http://schemas.openxmlformats.org/drawingml/2006/main">
              <a:ext uri="{FF2B5EF4-FFF2-40B4-BE49-F238E27FC236}">
                <a16:creationId xmlns:a16="http://schemas.microsoft.com/office/drawing/2014/main" id="{A2AB15DC-C82A-4706-B873-A196025A0CA9}"/>
              </a:ext>
            </a:extLst>
          </p:cNvPr>
          <p:cNvSpPr>
            <a:spLocks xmlns:a="http://schemas.openxmlformats.org/drawingml/2006/main" noGrp="1"/>
          </p:cNvSpPr>
          <p:nvPr/>
        </p:nvSpPr>
        <p:spPr>
          <a:xfrm xmlns:a="http://schemas.openxmlformats.org/drawingml/2006/main">
            <a:off x="6096000" y="41910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Use only the named tools; ask for approval</a:t>
            </a:r>
          </a:p>
        </p:txBody>
      </p:sp>
      <p:sp>
        <p:nvSpPr>
          <p:cNvPr id="14" name="shape">
            <a:extLst xmlns:a="http://schemas.openxmlformats.org/drawingml/2006/main">
              <a:ext uri="{FF2B5EF4-FFF2-40B4-BE49-F238E27FC236}">
                <a16:creationId xmlns:a16="http://schemas.microsoft.com/office/drawing/2014/main" id="{D30FF522-7B22-40F7-A8AA-2CD8BBB4DBE6}"/>
              </a:ext>
            </a:extLst>
          </p:cNvPr>
          <p:cNvSpPr>
            <a:spLocks xmlns:a="http://schemas.openxmlformats.org/drawingml/2006/main" noGrp="1"/>
          </p:cNvSpPr>
          <p:nvPr/>
        </p:nvSpPr>
        <p:spPr>
          <a:xfrm xmlns:a="http://schemas.openxmlformats.org/drawingml/2006/main">
            <a:off x="609600" y="47720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5" name="shape">
            <a:extLst xmlns:a="http://schemas.openxmlformats.org/drawingml/2006/main">
              <a:ext uri="{FF2B5EF4-FFF2-40B4-BE49-F238E27FC236}">
                <a16:creationId xmlns:a16="http://schemas.microsoft.com/office/drawing/2014/main" id="{75370A85-9B66-44D3-9DEC-1A5D90DD8834}"/>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F260EF38-1C3B-46CD-8BF9-5FE4E07BE746}"/>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17" name="text">
            <a:extLst xmlns:a="http://schemas.openxmlformats.org/drawingml/2006/main">
              <a:ext uri="{FF2B5EF4-FFF2-40B4-BE49-F238E27FC236}">
                <a16:creationId xmlns:a16="http://schemas.microsoft.com/office/drawing/2014/main" id="{5DF735E8-318B-4810-A234-95B37A764F85}"/>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16</a:t>
            </a:r>
          </a:p>
        </p:txBody>
      </p:sp>
    </p:spTree>
    <p:extLst>
      <p:ext uri="{BB962C8B-B14F-4D97-AF65-F5344CB8AC3E}">
        <p14:creationId xmlns:p14="http://schemas.microsoft.com/office/powerpoint/2010/main" val="1778006879"/>
      </p:ext>
    </p:extLst>
  </p:cSld>
</p:sld>
</file>

<file path=ppt/slides/slide17.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C0E14498-4DFD-4687-B515-5CF2A503E1B1}"/>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DAY 1 · SESSION 1 · 90 MINUTES</a:t>
            </a:r>
          </a:p>
        </p:txBody>
      </p:sp>
      <p:sp>
        <p:nvSpPr>
          <p:cNvPr id="2" name="text">
            <a:extLst xmlns:a="http://schemas.openxmlformats.org/drawingml/2006/main">
              <a:ext uri="{FF2B5EF4-FFF2-40B4-BE49-F238E27FC236}">
                <a16:creationId xmlns:a16="http://schemas.microsoft.com/office/drawing/2014/main" id="{127DBFB3-9441-45E4-BD3C-A6251E2E97AF}"/>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Checkpoint: explain it without AI jargon.</a:t>
            </a:r>
          </a:p>
        </p:txBody>
      </p:sp>
      <p:sp>
        <p:nvSpPr>
          <p:cNvPr id="3" name="text">
            <a:extLst xmlns:a="http://schemas.openxmlformats.org/drawingml/2006/main">
              <a:ext uri="{FF2B5EF4-FFF2-40B4-BE49-F238E27FC236}">
                <a16:creationId xmlns:a16="http://schemas.microsoft.com/office/drawing/2014/main" id="{E6377C4C-BBC0-4DB0-8BCE-A0FFF1582DEA}"/>
              </a:ext>
            </a:extLst>
          </p:cNvPr>
          <p:cNvSpPr>
            <a:spLocks xmlns:a="http://schemas.openxmlformats.org/drawingml/2006/main" noGrp="1"/>
          </p:cNvSpPr>
          <p:nvPr/>
        </p:nvSpPr>
        <p:spPr>
          <a:xfrm xmlns:a="http://schemas.openxmlformats.org/drawingml/2006/main">
            <a:off x="609600" y="221932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01</a:t>
            </a:r>
          </a:p>
        </p:txBody>
      </p:sp>
      <p:sp>
        <p:nvSpPr>
          <p:cNvPr id="4" name="text">
            <a:extLst xmlns:a="http://schemas.openxmlformats.org/drawingml/2006/main">
              <a:ext uri="{FF2B5EF4-FFF2-40B4-BE49-F238E27FC236}">
                <a16:creationId xmlns:a16="http://schemas.microsoft.com/office/drawing/2014/main" id="{A8206F85-BFEE-40B4-8C1A-F30222537310}"/>
              </a:ext>
            </a:extLst>
          </p:cNvPr>
          <p:cNvSpPr>
            <a:spLocks xmlns:a="http://schemas.openxmlformats.org/drawingml/2006/main" noGrp="1"/>
          </p:cNvSpPr>
          <p:nvPr/>
        </p:nvSpPr>
        <p:spPr>
          <a:xfrm xmlns:a="http://schemas.openxmlformats.org/drawingml/2006/main">
            <a:off x="1314450" y="2190750"/>
            <a:ext cx="10267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An agent is a software helper with tools.</a:t>
            </a:r>
          </a:p>
        </p:txBody>
      </p:sp>
      <p:sp>
        <p:nvSpPr>
          <p:cNvPr id="5" name="text">
            <a:extLst xmlns:a="http://schemas.openxmlformats.org/drawingml/2006/main">
              <a:ext uri="{FF2B5EF4-FFF2-40B4-BE49-F238E27FC236}">
                <a16:creationId xmlns:a16="http://schemas.microsoft.com/office/drawing/2014/main" id="{2C7BCC23-5FA3-4DAB-B799-FF3C23814651}"/>
              </a:ext>
            </a:extLst>
          </p:cNvPr>
          <p:cNvSpPr>
            <a:spLocks xmlns:a="http://schemas.openxmlformats.org/drawingml/2006/main" noGrp="1"/>
          </p:cNvSpPr>
          <p:nvPr/>
        </p:nvSpPr>
        <p:spPr>
          <a:xfrm xmlns:a="http://schemas.openxmlformats.org/drawingml/2006/main">
            <a:off x="609600" y="30480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02</a:t>
            </a:r>
          </a:p>
        </p:txBody>
      </p:sp>
      <p:sp>
        <p:nvSpPr>
          <p:cNvPr id="6" name="text">
            <a:extLst xmlns:a="http://schemas.openxmlformats.org/drawingml/2006/main">
              <a:ext uri="{FF2B5EF4-FFF2-40B4-BE49-F238E27FC236}">
                <a16:creationId xmlns:a16="http://schemas.microsoft.com/office/drawing/2014/main" id="{4246DDB6-47DB-4FDE-9F39-DD42B0E25E49}"/>
              </a:ext>
            </a:extLst>
          </p:cNvPr>
          <p:cNvSpPr>
            <a:spLocks xmlns:a="http://schemas.openxmlformats.org/drawingml/2006/main" noGrp="1"/>
          </p:cNvSpPr>
          <p:nvPr/>
        </p:nvSpPr>
        <p:spPr>
          <a:xfrm xmlns:a="http://schemas.openxmlformats.org/drawingml/2006/main">
            <a:off x="1314450" y="3019425"/>
            <a:ext cx="10267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The model proposes; the tool performs.</a:t>
            </a:r>
          </a:p>
        </p:txBody>
      </p:sp>
      <p:sp>
        <p:nvSpPr>
          <p:cNvPr id="7" name="text">
            <a:extLst xmlns:a="http://schemas.openxmlformats.org/drawingml/2006/main">
              <a:ext uri="{FF2B5EF4-FFF2-40B4-BE49-F238E27FC236}">
                <a16:creationId xmlns:a16="http://schemas.microsoft.com/office/drawing/2014/main" id="{55083FB4-4D1E-449C-A8D2-45BB4CB17795}"/>
              </a:ext>
            </a:extLst>
          </p:cNvPr>
          <p:cNvSpPr>
            <a:spLocks xmlns:a="http://schemas.openxmlformats.org/drawingml/2006/main" noGrp="1"/>
          </p:cNvSpPr>
          <p:nvPr/>
        </p:nvSpPr>
        <p:spPr>
          <a:xfrm xmlns:a="http://schemas.openxmlformats.org/drawingml/2006/main">
            <a:off x="609600" y="387667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03</a:t>
            </a:r>
          </a:p>
        </p:txBody>
      </p:sp>
      <p:sp>
        <p:nvSpPr>
          <p:cNvPr id="8" name="text">
            <a:extLst xmlns:a="http://schemas.openxmlformats.org/drawingml/2006/main">
              <a:ext uri="{FF2B5EF4-FFF2-40B4-BE49-F238E27FC236}">
                <a16:creationId xmlns:a16="http://schemas.microsoft.com/office/drawing/2014/main" id="{9226E7A9-8CD2-4E96-BD4D-7465F4865A90}"/>
              </a:ext>
            </a:extLst>
          </p:cNvPr>
          <p:cNvSpPr>
            <a:spLocks xmlns:a="http://schemas.openxmlformats.org/drawingml/2006/main" noGrp="1"/>
          </p:cNvSpPr>
          <p:nvPr/>
        </p:nvSpPr>
        <p:spPr>
          <a:xfrm xmlns:a="http://schemas.openxmlformats.org/drawingml/2006/main">
            <a:off x="1314450" y="3848100"/>
            <a:ext cx="10267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State carries this job; memory keeps past evidence.</a:t>
            </a:r>
          </a:p>
        </p:txBody>
      </p:sp>
      <p:sp>
        <p:nvSpPr>
          <p:cNvPr id="9" name="text">
            <a:extLst xmlns:a="http://schemas.openxmlformats.org/drawingml/2006/main">
              <a:ext uri="{FF2B5EF4-FFF2-40B4-BE49-F238E27FC236}">
                <a16:creationId xmlns:a16="http://schemas.microsoft.com/office/drawing/2014/main" id="{1987BA2F-0C78-4DF4-9B84-9580C721F96E}"/>
              </a:ext>
            </a:extLst>
          </p:cNvPr>
          <p:cNvSpPr>
            <a:spLocks xmlns:a="http://schemas.openxmlformats.org/drawingml/2006/main" noGrp="1"/>
          </p:cNvSpPr>
          <p:nvPr/>
        </p:nvSpPr>
        <p:spPr>
          <a:xfrm xmlns:a="http://schemas.openxmlformats.org/drawingml/2006/main">
            <a:off x="609600" y="47053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04</a:t>
            </a:r>
          </a:p>
        </p:txBody>
      </p:sp>
      <p:sp>
        <p:nvSpPr>
          <p:cNvPr id="10" name="text">
            <a:extLst xmlns:a="http://schemas.openxmlformats.org/drawingml/2006/main">
              <a:ext uri="{FF2B5EF4-FFF2-40B4-BE49-F238E27FC236}">
                <a16:creationId xmlns:a16="http://schemas.microsoft.com/office/drawing/2014/main" id="{37475455-E06E-48A7-87E2-EE6EB9E19998}"/>
              </a:ext>
            </a:extLst>
          </p:cNvPr>
          <p:cNvSpPr>
            <a:spLocks xmlns:a="http://schemas.openxmlformats.org/drawingml/2006/main" noGrp="1"/>
          </p:cNvSpPr>
          <p:nvPr/>
        </p:nvSpPr>
        <p:spPr>
          <a:xfrm xmlns:a="http://schemas.openxmlformats.org/drawingml/2006/main">
            <a:off x="1314450" y="4676775"/>
            <a:ext cx="10267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A human owns the final business action.</a:t>
            </a:r>
          </a:p>
        </p:txBody>
      </p:sp>
      <p:sp>
        <p:nvSpPr>
          <p:cNvPr id="11" name="shape">
            <a:extLst xmlns:a="http://schemas.openxmlformats.org/drawingml/2006/main">
              <a:ext uri="{FF2B5EF4-FFF2-40B4-BE49-F238E27FC236}">
                <a16:creationId xmlns:a16="http://schemas.microsoft.com/office/drawing/2014/main" id="{40C2F10C-6E28-48B2-B923-6DDF8B07478A}"/>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EC256BA6-0668-4BA2-A813-0E4E82CE3CB7}"/>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13" name="text">
            <a:extLst xmlns:a="http://schemas.openxmlformats.org/drawingml/2006/main">
              <a:ext uri="{FF2B5EF4-FFF2-40B4-BE49-F238E27FC236}">
                <a16:creationId xmlns:a16="http://schemas.microsoft.com/office/drawing/2014/main" id="{C161F970-5DF1-4F14-8412-926A356E8CD4}"/>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17</a:t>
            </a:r>
          </a:p>
        </p:txBody>
      </p:sp>
    </p:spTree>
    <p:extLst>
      <p:ext uri="{BB962C8B-B14F-4D97-AF65-F5344CB8AC3E}">
        <p14:creationId xmlns:p14="http://schemas.microsoft.com/office/powerpoint/2010/main" val="561154750"/>
      </p:ext>
    </p:extLst>
  </p:cSld>
</p:sld>
</file>

<file path=ppt/slides/slide18.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1095F9F3-7D0F-4109-A3E4-F8FDF06C5AE5}"/>
              </a:ext>
            </a:extLst>
          </p:cNvPr>
          <p:cNvSpPr>
            <a:spLocks xmlns:a="http://schemas.openxmlformats.org/drawingml/2006/main" noGrp="1"/>
          </p:cNvSpPr>
          <p:nvPr/>
        </p:nvSpPr>
        <p:spPr>
          <a:xfrm xmlns:a="http://schemas.openxmlformats.org/drawingml/2006/main">
            <a:off x="609600" y="4000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DAY 1 · SESSION 2 · 90 MINUTES</a:t>
            </a:r>
          </a:p>
        </p:txBody>
      </p:sp>
      <p:sp>
        <p:nvSpPr>
          <p:cNvPr id="2" name="text">
            <a:extLst xmlns:a="http://schemas.openxmlformats.org/drawingml/2006/main">
              <a:ext uri="{FF2B5EF4-FFF2-40B4-BE49-F238E27FC236}">
                <a16:creationId xmlns:a16="http://schemas.microsoft.com/office/drawing/2014/main" id="{BA3C1D3D-D88B-4BFC-9401-464DE74C98FE}"/>
              </a:ext>
            </a:extLst>
          </p:cNvPr>
          <p:cNvSpPr>
            <a:spLocks xmlns:a="http://schemas.openxmlformats.org/drawingml/2006/main" noGrp="1"/>
          </p:cNvSpPr>
          <p:nvPr/>
        </p:nvSpPr>
        <p:spPr>
          <a:xfrm xmlns:a="http://schemas.openxmlformats.org/drawingml/2006/main">
            <a:off x="8096250" y="1143000"/>
            <a:ext cx="38100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250" b="1">
                <a:solidFill>
                  <a:srgbClr val="173946"/>
                </a:solidFill>
                <a:latin typeface="Aptos"/>
                <a:ea typeface="Aptos"/>
                <a:cs typeface="Aptos"/>
              </a:defRPr>
            </a:pPr>
            <a:r>
              <a:rPr sz="5250" b="1">
                <a:solidFill>
                  <a:srgbClr val="173946"/>
                </a:solidFill>
                <a:latin typeface="Aptos"/>
                <a:ea typeface="Aptos"/>
                <a:cs typeface="Aptos"/>
              </a:rPr>
              <a:t>SESSION</a:t>
            </a:r>
          </a:p>
          <a:p xmlns:a="http://schemas.openxmlformats.org/drawingml/2006/main">
            <a:pPr>
              <a:defRPr sz="5250" b="1">
                <a:solidFill>
                  <a:srgbClr val="173946"/>
                </a:solidFill>
                <a:latin typeface="Aptos"/>
                <a:ea typeface="Aptos"/>
                <a:cs typeface="Aptos"/>
              </a:defRPr>
            </a:pPr>
            <a:r>
              <a:rPr sz="5250" b="1">
                <a:solidFill>
                  <a:srgbClr val="173946"/>
                </a:solidFill>
                <a:latin typeface="Aptos"/>
                <a:ea typeface="Aptos"/>
                <a:cs typeface="Aptos"/>
              </a:rPr>
              <a:t>02</a:t>
            </a:r>
          </a:p>
        </p:txBody>
      </p:sp>
      <p:sp>
        <p:nvSpPr>
          <p:cNvPr id="3" name="text">
            <a:extLst xmlns:a="http://schemas.openxmlformats.org/drawingml/2006/main">
              <a:ext uri="{FF2B5EF4-FFF2-40B4-BE49-F238E27FC236}">
                <a16:creationId xmlns:a16="http://schemas.microsoft.com/office/drawing/2014/main" id="{01F6568D-9D72-40E6-86DC-DE20BC1208F4}"/>
              </a:ext>
            </a:extLst>
          </p:cNvPr>
          <p:cNvSpPr>
            <a:spLocks xmlns:a="http://schemas.openxmlformats.org/drawingml/2006/main" noGrp="1"/>
          </p:cNvSpPr>
          <p:nvPr/>
        </p:nvSpPr>
        <p:spPr>
          <a:xfrm xmlns:a="http://schemas.openxmlformats.org/drawingml/2006/main">
            <a:off x="609600" y="1438275"/>
            <a:ext cx="738187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650" b="1">
                <a:solidFill>
                  <a:srgbClr val="EDF5F1"/>
                </a:solidFill>
                <a:latin typeface="Aptos"/>
                <a:ea typeface="Aptos"/>
                <a:cs typeface="Aptos"/>
              </a:defRPr>
            </a:pPr>
            <a:r>
              <a:rPr sz="4650" b="1">
                <a:solidFill>
                  <a:srgbClr val="EDF5F1"/>
                </a:solidFill>
                <a:latin typeface="Aptos"/>
                <a:ea typeface="Aptos"/>
                <a:cs typeface="Aptos"/>
              </a:rPr>
              <a:t>Build your first live agent.</a:t>
            </a:r>
          </a:p>
        </p:txBody>
      </p:sp>
      <p:sp>
        <p:nvSpPr>
          <p:cNvPr id="4" name="text">
            <a:extLst xmlns:a="http://schemas.openxmlformats.org/drawingml/2006/main">
              <a:ext uri="{FF2B5EF4-FFF2-40B4-BE49-F238E27FC236}">
                <a16:creationId xmlns:a16="http://schemas.microsoft.com/office/drawing/2014/main" id="{2361C11F-0AD7-4F26-BD39-E1D897A61D63}"/>
              </a:ext>
            </a:extLst>
          </p:cNvPr>
          <p:cNvSpPr>
            <a:spLocks xmlns:a="http://schemas.openxmlformats.org/drawingml/2006/main" noGrp="1"/>
          </p:cNvSpPr>
          <p:nvPr/>
        </p:nvSpPr>
        <p:spPr>
          <a:xfrm xmlns:a="http://schemas.openxmlformats.org/drawingml/2006/main">
            <a:off x="609600" y="4000500"/>
            <a:ext cx="723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0">
                <a:solidFill>
                  <a:srgbClr val="61DFBF"/>
                </a:solidFill>
                <a:latin typeface="Aptos"/>
                <a:ea typeface="Aptos"/>
                <a:cs typeface="Aptos"/>
              </a:defRPr>
            </a:pPr>
            <a:r>
              <a:rPr sz="2475" b="0">
                <a:solidFill>
                  <a:srgbClr val="61DFBF"/>
                </a:solidFill>
                <a:latin typeface="Aptos"/>
                <a:ea typeface="Aptos"/>
                <a:cs typeface="Aptos"/>
              </a:rPr>
              <a:t>90 minutes to learn, build,</a:t>
            </a:r>
          </a:p>
          <a:p xmlns:a="http://schemas.openxmlformats.org/drawingml/2006/main">
            <a:pPr>
              <a:defRPr sz="2475" b="0">
                <a:solidFill>
                  <a:srgbClr val="61DFBF"/>
                </a:solidFill>
                <a:latin typeface="Aptos"/>
                <a:ea typeface="Aptos"/>
                <a:cs typeface="Aptos"/>
              </a:defRPr>
            </a:pPr>
            <a:r>
              <a:rPr sz="2475" b="0">
                <a:solidFill>
                  <a:srgbClr val="61DFBF"/>
                </a:solidFill>
                <a:latin typeface="Aptos"/>
                <a:ea typeface="Aptos"/>
                <a:cs typeface="Aptos"/>
              </a:rPr>
              <a:t>test and explain.</a:t>
            </a:r>
          </a:p>
        </p:txBody>
      </p:sp>
      <p:sp>
        <p:nvSpPr>
          <p:cNvPr id="5" name="text">
            <a:extLst xmlns:a="http://schemas.openxmlformats.org/drawingml/2006/main">
              <a:ext uri="{FF2B5EF4-FFF2-40B4-BE49-F238E27FC236}">
                <a16:creationId xmlns:a16="http://schemas.microsoft.com/office/drawing/2014/main" id="{D47A8187-6806-4460-ABDF-D527A409E2CC}"/>
              </a:ext>
            </a:extLst>
          </p:cNvPr>
          <p:cNvSpPr>
            <a:spLocks xmlns:a="http://schemas.openxmlformats.org/drawingml/2006/main" noGrp="1"/>
          </p:cNvSpPr>
          <p:nvPr/>
        </p:nvSpPr>
        <p:spPr>
          <a:xfrm xmlns:a="http://schemas.openxmlformats.org/drawingml/2006/main">
            <a:off x="609600" y="58102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DFBF"/>
                </a:solidFill>
                <a:latin typeface="Aptos"/>
                <a:ea typeface="Aptos"/>
                <a:cs typeface="Aptos"/>
              </a:defRPr>
            </a:pPr>
            <a:r>
              <a:rPr sz="1800" b="0">
                <a:solidFill>
                  <a:srgbClr val="61DFBF"/>
                </a:solidFill>
                <a:latin typeface="Aptos"/>
                <a:ea typeface="Aptos"/>
                <a:cs typeface="Aptos"/>
              </a:rPr>
              <a:t>Deliverable: working Python code that calls Gemini and a real tool.</a:t>
            </a:r>
          </a:p>
        </p:txBody>
      </p:sp>
      <p:sp>
        <p:nvSpPr>
          <p:cNvPr id="6" name="shape">
            <a:extLst xmlns:a="http://schemas.openxmlformats.org/drawingml/2006/main">
              <a:ext uri="{FF2B5EF4-FFF2-40B4-BE49-F238E27FC236}">
                <a16:creationId xmlns:a16="http://schemas.microsoft.com/office/drawing/2014/main" id="{4D8BC034-2D7A-4F49-83E7-AD5ABDB65995}"/>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8C32E93C-AF03-4FCB-B261-0F7A541E6DA4}"/>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8" name="text">
            <a:extLst xmlns:a="http://schemas.openxmlformats.org/drawingml/2006/main">
              <a:ext uri="{FF2B5EF4-FFF2-40B4-BE49-F238E27FC236}">
                <a16:creationId xmlns:a16="http://schemas.microsoft.com/office/drawing/2014/main" id="{1D707961-1A15-46E2-94D7-95B83077096D}"/>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18</a:t>
            </a:r>
          </a:p>
        </p:txBody>
      </p:sp>
    </p:spTree>
    <p:extLst>
      <p:ext uri="{BB962C8B-B14F-4D97-AF65-F5344CB8AC3E}">
        <p14:creationId xmlns:p14="http://schemas.microsoft.com/office/powerpoint/2010/main" val="1987634300"/>
      </p:ext>
    </p:extLst>
  </p:cSld>
</p:sld>
</file>

<file path=ppt/slides/slide19.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6" name="text">
            <a:extLst xmlns:a="http://schemas.openxmlformats.org/drawingml/2006/main">
              <a:ext uri="{FF2B5EF4-FFF2-40B4-BE49-F238E27FC236}">
                <a16:creationId xmlns:a16="http://schemas.microsoft.com/office/drawing/2014/main" id="{9189D405-9407-4D94-A6C8-62F238EE4DB9}"/>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DAY 1 · SESSION 2 · 90 MINUTES</a:t>
            </a:r>
          </a:p>
        </p:txBody>
      </p:sp>
      <p:sp>
        <p:nvSpPr>
          <p:cNvPr id="2" name="text">
            <a:extLst xmlns:a="http://schemas.openxmlformats.org/drawingml/2006/main">
              <a:ext uri="{FF2B5EF4-FFF2-40B4-BE49-F238E27FC236}">
                <a16:creationId xmlns:a16="http://schemas.microsoft.com/office/drawing/2014/main" id="{E1754D80-391B-49EA-AE54-756575132504}"/>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Prepare a simple local workstation.</a:t>
            </a:r>
          </a:p>
        </p:txBody>
      </p:sp>
      <p:sp>
        <p:nvSpPr>
          <p:cNvPr id="3" name="text">
            <a:extLst xmlns:a="http://schemas.openxmlformats.org/drawingml/2006/main">
              <a:ext uri="{FF2B5EF4-FFF2-40B4-BE49-F238E27FC236}">
                <a16:creationId xmlns:a16="http://schemas.microsoft.com/office/drawing/2014/main" id="{ADC73953-B346-4DEF-B1CB-589E54F4FDD7}"/>
              </a:ext>
            </a:extLst>
          </p:cNvPr>
          <p:cNvSpPr>
            <a:spLocks xmlns:a="http://schemas.openxmlformats.org/drawingml/2006/main" noGrp="1"/>
          </p:cNvSpPr>
          <p:nvPr/>
        </p:nvSpPr>
        <p:spPr>
          <a:xfrm xmlns:a="http://schemas.openxmlformats.org/drawingml/2006/main">
            <a:off x="609600" y="221932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01</a:t>
            </a:r>
          </a:p>
        </p:txBody>
      </p:sp>
      <p:sp>
        <p:nvSpPr>
          <p:cNvPr id="4" name="text">
            <a:extLst xmlns:a="http://schemas.openxmlformats.org/drawingml/2006/main">
              <a:ext uri="{FF2B5EF4-FFF2-40B4-BE49-F238E27FC236}">
                <a16:creationId xmlns:a16="http://schemas.microsoft.com/office/drawing/2014/main" id="{1BD40590-772F-4CF5-8441-D5C57C910E87}"/>
              </a:ext>
            </a:extLst>
          </p:cNvPr>
          <p:cNvSpPr>
            <a:spLocks xmlns:a="http://schemas.openxmlformats.org/drawingml/2006/main" noGrp="1"/>
          </p:cNvSpPr>
          <p:nvPr/>
        </p:nvSpPr>
        <p:spPr>
          <a:xfrm xmlns:a="http://schemas.openxmlformats.org/drawingml/2006/main">
            <a:off x="1314450" y="2190750"/>
            <a:ext cx="1026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Git: copy the project and track your changes.</a:t>
            </a:r>
          </a:p>
        </p:txBody>
      </p:sp>
      <p:sp>
        <p:nvSpPr>
          <p:cNvPr id="5" name="text">
            <a:extLst xmlns:a="http://schemas.openxmlformats.org/drawingml/2006/main">
              <a:ext uri="{FF2B5EF4-FFF2-40B4-BE49-F238E27FC236}">
                <a16:creationId xmlns:a16="http://schemas.microsoft.com/office/drawing/2014/main" id="{D683ECE8-EFE9-4D8F-9736-5483AB1FE65B}"/>
              </a:ext>
            </a:extLst>
          </p:cNvPr>
          <p:cNvSpPr>
            <a:spLocks xmlns:a="http://schemas.openxmlformats.org/drawingml/2006/main" noGrp="1"/>
          </p:cNvSpPr>
          <p:nvPr/>
        </p:nvSpPr>
        <p:spPr>
          <a:xfrm xmlns:a="http://schemas.openxmlformats.org/drawingml/2006/main">
            <a:off x="609600" y="29146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02</a:t>
            </a:r>
          </a:p>
        </p:txBody>
      </p:sp>
      <p:sp>
        <p:nvSpPr>
          <p:cNvPr id="6" name="text">
            <a:extLst xmlns:a="http://schemas.openxmlformats.org/drawingml/2006/main">
              <a:ext uri="{FF2B5EF4-FFF2-40B4-BE49-F238E27FC236}">
                <a16:creationId xmlns:a16="http://schemas.microsoft.com/office/drawing/2014/main" id="{4D3B5068-BA2F-42B2-96EF-03B3E2FB7A31}"/>
              </a:ext>
            </a:extLst>
          </p:cNvPr>
          <p:cNvSpPr>
            <a:spLocks xmlns:a="http://schemas.openxmlformats.org/drawingml/2006/main" noGrp="1"/>
          </p:cNvSpPr>
          <p:nvPr/>
        </p:nvSpPr>
        <p:spPr>
          <a:xfrm xmlns:a="http://schemas.openxmlformats.org/drawingml/2006/main">
            <a:off x="1314450" y="2886075"/>
            <a:ext cx="1026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uv: install the matching Python packages.</a:t>
            </a:r>
          </a:p>
        </p:txBody>
      </p:sp>
      <p:sp>
        <p:nvSpPr>
          <p:cNvPr id="7" name="text">
            <a:extLst xmlns:a="http://schemas.openxmlformats.org/drawingml/2006/main">
              <a:ext uri="{FF2B5EF4-FFF2-40B4-BE49-F238E27FC236}">
                <a16:creationId xmlns:a16="http://schemas.microsoft.com/office/drawing/2014/main" id="{17AF06DF-381E-46E9-8F6E-5599FE3F8F99}"/>
              </a:ext>
            </a:extLst>
          </p:cNvPr>
          <p:cNvSpPr>
            <a:spLocks xmlns:a="http://schemas.openxmlformats.org/drawingml/2006/main" noGrp="1"/>
          </p:cNvSpPr>
          <p:nvPr/>
        </p:nvSpPr>
        <p:spPr>
          <a:xfrm xmlns:a="http://schemas.openxmlformats.org/drawingml/2006/main">
            <a:off x="609600" y="360997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03</a:t>
            </a:r>
          </a:p>
        </p:txBody>
      </p:sp>
      <p:sp>
        <p:nvSpPr>
          <p:cNvPr id="8" name="text">
            <a:extLst xmlns:a="http://schemas.openxmlformats.org/drawingml/2006/main">
              <a:ext uri="{FF2B5EF4-FFF2-40B4-BE49-F238E27FC236}">
                <a16:creationId xmlns:a16="http://schemas.microsoft.com/office/drawing/2014/main" id="{47D8BB3B-95B5-4C3B-9F0F-BCF5BA4D25A1}"/>
              </a:ext>
            </a:extLst>
          </p:cNvPr>
          <p:cNvSpPr>
            <a:spLocks xmlns:a="http://schemas.openxmlformats.org/drawingml/2006/main" noGrp="1"/>
          </p:cNvSpPr>
          <p:nvPr/>
        </p:nvSpPr>
        <p:spPr>
          <a:xfrm xmlns:a="http://schemas.openxmlformats.org/drawingml/2006/main">
            <a:off x="1314450" y="3581400"/>
            <a:ext cx="1026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Editor: change the starter files.</a:t>
            </a:r>
          </a:p>
        </p:txBody>
      </p:sp>
      <p:sp>
        <p:nvSpPr>
          <p:cNvPr id="9" name="text">
            <a:extLst xmlns:a="http://schemas.openxmlformats.org/drawingml/2006/main">
              <a:ext uri="{FF2B5EF4-FFF2-40B4-BE49-F238E27FC236}">
                <a16:creationId xmlns:a16="http://schemas.microsoft.com/office/drawing/2014/main" id="{7991D4FD-4386-466B-B295-51C975F1F5C9}"/>
              </a:ext>
            </a:extLst>
          </p:cNvPr>
          <p:cNvSpPr>
            <a:spLocks xmlns:a="http://schemas.openxmlformats.org/drawingml/2006/main" noGrp="1"/>
          </p:cNvSpPr>
          <p:nvPr/>
        </p:nvSpPr>
        <p:spPr>
          <a:xfrm xmlns:a="http://schemas.openxmlformats.org/drawingml/2006/main">
            <a:off x="609600" y="43053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04</a:t>
            </a:r>
          </a:p>
        </p:txBody>
      </p:sp>
      <p:sp>
        <p:nvSpPr>
          <p:cNvPr id="10" name="text">
            <a:extLst xmlns:a="http://schemas.openxmlformats.org/drawingml/2006/main">
              <a:ext uri="{FF2B5EF4-FFF2-40B4-BE49-F238E27FC236}">
                <a16:creationId xmlns:a16="http://schemas.microsoft.com/office/drawing/2014/main" id="{D13A3802-8604-4685-8778-8188DACB7691}"/>
              </a:ext>
            </a:extLst>
          </p:cNvPr>
          <p:cNvSpPr>
            <a:spLocks xmlns:a="http://schemas.openxmlformats.org/drawingml/2006/main" noGrp="1"/>
          </p:cNvSpPr>
          <p:nvPr/>
        </p:nvSpPr>
        <p:spPr>
          <a:xfrm xmlns:a="http://schemas.openxmlformats.org/drawingml/2006/main">
            <a:off x="1314450" y="4276725"/>
            <a:ext cx="1026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Google AI Studio: approved Gemini API access.</a:t>
            </a:r>
          </a:p>
        </p:txBody>
      </p:sp>
      <p:sp>
        <p:nvSpPr>
          <p:cNvPr id="11" name="text">
            <a:extLst xmlns:a="http://schemas.openxmlformats.org/drawingml/2006/main">
              <a:ext uri="{FF2B5EF4-FFF2-40B4-BE49-F238E27FC236}">
                <a16:creationId xmlns:a16="http://schemas.microsoft.com/office/drawing/2014/main" id="{125AF05C-46EE-4C12-A64E-BA154AF21619}"/>
              </a:ext>
            </a:extLst>
          </p:cNvPr>
          <p:cNvSpPr>
            <a:spLocks xmlns:a="http://schemas.openxmlformats.org/drawingml/2006/main" noGrp="1"/>
          </p:cNvSpPr>
          <p:nvPr/>
        </p:nvSpPr>
        <p:spPr>
          <a:xfrm xmlns:a="http://schemas.openxmlformats.org/drawingml/2006/main">
            <a:off x="609600" y="500062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05</a:t>
            </a:r>
          </a:p>
        </p:txBody>
      </p:sp>
      <p:sp>
        <p:nvSpPr>
          <p:cNvPr id="12" name="text">
            <a:extLst xmlns:a="http://schemas.openxmlformats.org/drawingml/2006/main">
              <a:ext uri="{FF2B5EF4-FFF2-40B4-BE49-F238E27FC236}">
                <a16:creationId xmlns:a16="http://schemas.microsoft.com/office/drawing/2014/main" id="{4F87964A-3AD4-4921-9321-F43C756C5EB9}"/>
              </a:ext>
            </a:extLst>
          </p:cNvPr>
          <p:cNvSpPr>
            <a:spLocks xmlns:a="http://schemas.openxmlformats.org/drawingml/2006/main" noGrp="1"/>
          </p:cNvSpPr>
          <p:nvPr/>
        </p:nvSpPr>
        <p:spPr>
          <a:xfrm xmlns:a="http://schemas.openxmlformats.org/drawingml/2006/main">
            <a:off x="1314450" y="4972050"/>
            <a:ext cx="1026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Internet: needed for packages and live requests.</a:t>
            </a:r>
          </a:p>
        </p:txBody>
      </p:sp>
      <p:sp>
        <p:nvSpPr>
          <p:cNvPr id="13" name="shape">
            <a:extLst xmlns:a="http://schemas.openxmlformats.org/drawingml/2006/main">
              <a:ext uri="{FF2B5EF4-FFF2-40B4-BE49-F238E27FC236}">
                <a16:creationId xmlns:a16="http://schemas.microsoft.com/office/drawing/2014/main" id="{7400FA89-73E0-4959-BFD9-9FEC7A008D0E}"/>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EB9FB835-5169-4AC2-8CD6-B572E74D2379}"/>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15" name="text">
            <a:extLst xmlns:a="http://schemas.openxmlformats.org/drawingml/2006/main">
              <a:ext uri="{FF2B5EF4-FFF2-40B4-BE49-F238E27FC236}">
                <a16:creationId xmlns:a16="http://schemas.microsoft.com/office/drawing/2014/main" id="{4299A9FA-B3EA-43C6-A9C4-9964FA6A7536}"/>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19</a:t>
            </a:r>
          </a:p>
        </p:txBody>
      </p:sp>
    </p:spTree>
    <p:extLst>
      <p:ext uri="{BB962C8B-B14F-4D97-AF65-F5344CB8AC3E}">
        <p14:creationId xmlns:p14="http://schemas.microsoft.com/office/powerpoint/2010/main" val="2031790939"/>
      </p:ext>
    </p:extLst>
  </p:cSld>
</p:sld>
</file>

<file path=ppt/slides/slide20.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EBA8A5FC-BF15-4A94-AB9C-9F1BBCF8B424}"/>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DAY 1 · SESSION 2 · 90 MINUTES</a:t>
            </a:r>
          </a:p>
        </p:txBody>
      </p:sp>
      <p:sp>
        <p:nvSpPr>
          <p:cNvPr id="2" name="text">
            <a:extLst xmlns:a="http://schemas.openxmlformats.org/drawingml/2006/main">
              <a:ext uri="{FF2B5EF4-FFF2-40B4-BE49-F238E27FC236}">
                <a16:creationId xmlns:a16="http://schemas.microsoft.com/office/drawing/2014/main" id="{8AC64279-4CE4-4080-B91B-317A54AB75FB}"/>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GitHub is the shared shelf. Clone is a copy.</a:t>
            </a:r>
          </a:p>
        </p:txBody>
      </p:sp>
      <p:sp>
        <p:nvSpPr>
          <p:cNvPr id="3" name="flow-node">
            <a:extLst xmlns:a="http://schemas.openxmlformats.org/drawingml/2006/main">
              <a:ext uri="{FF2B5EF4-FFF2-40B4-BE49-F238E27FC236}">
                <a16:creationId xmlns:a16="http://schemas.microsoft.com/office/drawing/2014/main" id="{B5F025C3-4268-45C0-9C12-EC005FA1D77E}"/>
              </a:ext>
            </a:extLst>
          </p:cNvPr>
          <p:cNvSpPr>
            <a:spLocks xmlns:a="http://schemas.openxmlformats.org/drawingml/2006/main" noGrp="1"/>
          </p:cNvSpPr>
          <p:nvPr/>
        </p:nvSpPr>
        <p:spPr>
          <a:xfrm xmlns:a="http://schemas.openxmlformats.org/drawingml/2006/main">
            <a:off x="609600"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Arthi’s repository</a:t>
            </a:r>
          </a:p>
        </p:txBody>
      </p:sp>
      <p:sp>
        <p:nvSpPr>
          <p:cNvPr id="4" name="flow-node">
            <a:extLst xmlns:a="http://schemas.openxmlformats.org/drawingml/2006/main">
              <a:ext uri="{FF2B5EF4-FFF2-40B4-BE49-F238E27FC236}">
                <a16:creationId xmlns:a16="http://schemas.microsoft.com/office/drawing/2014/main" id="{DB86F6FC-53C4-4627-9AE0-62DB9D01EBC7}"/>
              </a:ext>
            </a:extLst>
          </p:cNvPr>
          <p:cNvSpPr>
            <a:spLocks xmlns:a="http://schemas.openxmlformats.org/drawingml/2006/main" noGrp="1"/>
          </p:cNvSpPr>
          <p:nvPr/>
        </p:nvSpPr>
        <p:spPr>
          <a:xfrm xmlns:a="http://schemas.openxmlformats.org/drawingml/2006/main">
            <a:off x="3424238"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Clone over HTTPS</a:t>
            </a:r>
          </a:p>
        </p:txBody>
      </p:sp>
      <p:sp>
        <p:nvSpPr>
          <p:cNvPr id="5" name="flow-node">
            <a:extLst xmlns:a="http://schemas.openxmlformats.org/drawingml/2006/main">
              <a:ext uri="{FF2B5EF4-FFF2-40B4-BE49-F238E27FC236}">
                <a16:creationId xmlns:a16="http://schemas.microsoft.com/office/drawing/2014/main" id="{7BFE7462-3C0E-4DF6-901B-9B22CC2A08D3}"/>
              </a:ext>
            </a:extLst>
          </p:cNvPr>
          <p:cNvSpPr>
            <a:spLocks xmlns:a="http://schemas.openxmlformats.org/drawingml/2006/main" noGrp="1"/>
          </p:cNvSpPr>
          <p:nvPr/>
        </p:nvSpPr>
        <p:spPr>
          <a:xfrm xmlns:a="http://schemas.openxmlformats.org/drawingml/2006/main">
            <a:off x="6238875"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Your project folder</a:t>
            </a:r>
          </a:p>
        </p:txBody>
      </p:sp>
      <p:sp>
        <p:nvSpPr>
          <p:cNvPr id="6" name="flow-node">
            <a:extLst xmlns:a="http://schemas.openxmlformats.org/drawingml/2006/main">
              <a:ext uri="{FF2B5EF4-FFF2-40B4-BE49-F238E27FC236}">
                <a16:creationId xmlns:a16="http://schemas.microsoft.com/office/drawing/2014/main" id="{002F819B-DC91-4474-9CC4-BDB7155111B4}"/>
              </a:ext>
            </a:extLst>
          </p:cNvPr>
          <p:cNvSpPr>
            <a:spLocks xmlns:a="http://schemas.openxmlformats.org/drawingml/2006/main" noGrp="1"/>
          </p:cNvSpPr>
          <p:nvPr/>
        </p:nvSpPr>
        <p:spPr>
          <a:xfrm xmlns:a="http://schemas.openxmlformats.org/drawingml/2006/main">
            <a:off x="9053513"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Your local changes</a:t>
            </a:r>
          </a:p>
        </p:txBody>
      </p:sp>
      <p:cxnSp>
        <p:nvCxnSpPr>
          <p:cNvPr id="20" name=""/>
          <p:cNvCxnSpPr>
            <a:stCxn xmlns:a="http://schemas.openxmlformats.org/drawingml/2006/main" id="3" idx="3"/>
            <a:endCxn xmlns:a="http://schemas.openxmlformats.org/drawingml/2006/main" id="4" idx="1"/>
          </p:cNvCxnSpPr>
          <p:nvPr/>
        </p:nvCxnSpPr>
        <p:spPr>
          <a:xfrm xmlns:a="http://schemas.openxmlformats.org/drawingml/2006/main">
            <a:off x="3138488"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1" name=""/>
          <p:cNvCxnSpPr>
            <a:stCxn xmlns:a="http://schemas.openxmlformats.org/drawingml/2006/main" id="4" idx="3"/>
            <a:endCxn xmlns:a="http://schemas.openxmlformats.org/drawingml/2006/main" id="5" idx="1"/>
          </p:cNvCxnSpPr>
          <p:nvPr/>
        </p:nvCxnSpPr>
        <p:spPr>
          <a:xfrm xmlns:a="http://schemas.openxmlformats.org/drawingml/2006/main">
            <a:off x="5953126" y="3390900"/>
            <a:ext cx="285749"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2" name=""/>
          <p:cNvCxnSpPr>
            <a:stCxn xmlns:a="http://schemas.openxmlformats.org/drawingml/2006/main" id="5" idx="3"/>
            <a:endCxn xmlns:a="http://schemas.openxmlformats.org/drawingml/2006/main" id="6" idx="1"/>
          </p:cNvCxnSpPr>
          <p:nvPr/>
        </p:nvCxnSpPr>
        <p:spPr>
          <a:xfrm xmlns:a="http://schemas.openxmlformats.org/drawingml/2006/main">
            <a:off x="8767763"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sp>
        <p:nvSpPr>
          <p:cNvPr id="10" name="text">
            <a:extLst xmlns:a="http://schemas.openxmlformats.org/drawingml/2006/main">
              <a:ext uri="{FF2B5EF4-FFF2-40B4-BE49-F238E27FC236}">
                <a16:creationId xmlns:a16="http://schemas.microsoft.com/office/drawing/2014/main" id="{F0C186AE-CCFB-4EE9-BB07-AA8720287F13}"/>
              </a:ext>
            </a:extLst>
          </p:cNvPr>
          <p:cNvSpPr>
            <a:spLocks xmlns:a="http://schemas.openxmlformats.org/drawingml/2006/main" noGrp="1"/>
          </p:cNvSpPr>
          <p:nvPr/>
        </p:nvSpPr>
        <p:spPr>
          <a:xfrm xmlns:a="http://schemas.openxmlformats.org/drawingml/2006/main">
            <a:off x="609600" y="50673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DFBF"/>
                </a:solidFill>
                <a:latin typeface="Aptos"/>
                <a:ea typeface="Aptos"/>
                <a:cs typeface="Aptos"/>
              </a:defRPr>
            </a:pPr>
            <a:r>
              <a:rPr sz="1800" b="0">
                <a:solidFill>
                  <a:srgbClr val="61DFBF"/>
                </a:solidFill>
                <a:latin typeface="Aptos"/>
                <a:ea typeface="Aptos"/>
                <a:cs typeface="Aptos"/>
              </a:rPr>
              <a:t>A local edit stays on your laptop until you intentionally share it.</a:t>
            </a:r>
          </a:p>
        </p:txBody>
      </p:sp>
      <p:sp>
        <p:nvSpPr>
          <p:cNvPr id="11" name="shape">
            <a:extLst xmlns:a="http://schemas.openxmlformats.org/drawingml/2006/main">
              <a:ext uri="{FF2B5EF4-FFF2-40B4-BE49-F238E27FC236}">
                <a16:creationId xmlns:a16="http://schemas.microsoft.com/office/drawing/2014/main" id="{CEEFD019-00DD-48DC-8D2E-37CC51FDFB80}"/>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F60CEF53-0C12-4BCC-A242-215798143958}"/>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13" name="text">
            <a:extLst xmlns:a="http://schemas.openxmlformats.org/drawingml/2006/main">
              <a:ext uri="{FF2B5EF4-FFF2-40B4-BE49-F238E27FC236}">
                <a16:creationId xmlns:a16="http://schemas.microsoft.com/office/drawing/2014/main" id="{A13606D0-43FA-4C15-A86E-1397E7260D2F}"/>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20</a:t>
            </a:r>
          </a:p>
        </p:txBody>
      </p:sp>
    </p:spTree>
    <p:extLst>
      <p:ext uri="{BB962C8B-B14F-4D97-AF65-F5344CB8AC3E}">
        <p14:creationId xmlns:p14="http://schemas.microsoft.com/office/powerpoint/2010/main" val="1575903652"/>
      </p:ext>
    </p:extLst>
  </p:cSld>
</p:sld>
</file>

<file path=ppt/slides/slide21.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EE083C09-0484-455E-86F0-6E3DF50C4D84}"/>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DAY 1 · SESSION 2 · 90 MINUTES</a:t>
            </a:r>
          </a:p>
        </p:txBody>
      </p:sp>
      <p:sp>
        <p:nvSpPr>
          <p:cNvPr id="2" name="text">
            <a:extLst xmlns:a="http://schemas.openxmlformats.org/drawingml/2006/main">
              <a:ext uri="{FF2B5EF4-FFF2-40B4-BE49-F238E27FC236}">
                <a16:creationId xmlns:a16="http://schemas.microsoft.com/office/drawing/2014/main" id="{A15774C3-2465-4F40-9410-AB51BFB423D9}"/>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macOS: install only what is missing.</a:t>
            </a:r>
          </a:p>
        </p:txBody>
      </p:sp>
      <p:sp>
        <p:nvSpPr>
          <p:cNvPr id="3" name="shape">
            <a:extLst xmlns:a="http://schemas.openxmlformats.org/drawingml/2006/main">
              <a:ext uri="{FF2B5EF4-FFF2-40B4-BE49-F238E27FC236}">
                <a16:creationId xmlns:a16="http://schemas.microsoft.com/office/drawing/2014/main" id="{F7D29BD7-AF99-4B4F-9798-6456B8B09B2C}"/>
              </a:ext>
            </a:extLst>
          </p:cNvPr>
          <p:cNvSpPr>
            <a:spLocks xmlns:a="http://schemas.openxmlformats.org/drawingml/2006/main" noGrp="1"/>
          </p:cNvSpPr>
          <p:nvPr/>
        </p:nvSpPr>
        <p:spPr>
          <a:xfrm xmlns:a="http://schemas.openxmlformats.org/drawingml/2006/main">
            <a:off x="609600" y="2143125"/>
            <a:ext cx="10972800" cy="2790825"/>
          </a:xfrm>
          <a:prstGeom xmlns:a="http://schemas.openxmlformats.org/drawingml/2006/main" prst="rect">
            <a:avLst/>
          </a:prstGeom>
          <a:solidFill xmlns:a="http://schemas.openxmlformats.org/drawingml/2006/main">
            <a:srgbClr val="102735"/>
          </a:solidFill>
          <a:ln xmlns:a="http://schemas.openxmlformats.org/drawingml/2006/main" w="0">
            <a:noFill/>
          </a:ln>
        </p:spPr>
      </p:sp>
      <p:sp>
        <p:nvSpPr>
          <p:cNvPr id="4" name="text">
            <a:extLst xmlns:a="http://schemas.openxmlformats.org/drawingml/2006/main">
              <a:ext uri="{FF2B5EF4-FFF2-40B4-BE49-F238E27FC236}">
                <a16:creationId xmlns:a16="http://schemas.microsoft.com/office/drawing/2014/main" id="{7F7CBBD3-E937-4EC5-A77D-200C96128738}"/>
              </a:ext>
            </a:extLst>
          </p:cNvPr>
          <p:cNvSpPr>
            <a:spLocks xmlns:a="http://schemas.openxmlformats.org/drawingml/2006/main" noGrp="1"/>
          </p:cNvSpPr>
          <p:nvPr/>
        </p:nvSpPr>
        <p:spPr>
          <a:xfrm xmlns:a="http://schemas.openxmlformats.org/drawingml/2006/main">
            <a:off x="857250" y="2333625"/>
            <a:ext cx="10477500" cy="2466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git --version</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uv --version</a:t>
            </a:r>
          </a:p>
          <a:p xmlns:a="http://schemas.openxmlformats.org/drawingml/2006/main">
            <a:r>
              <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 If Git is missing:</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xcode-select --install</a:t>
            </a:r>
          </a:p>
          <a:p xmlns:a="http://schemas.openxmlformats.org/drawingml/2006/main">
            <a:r>
              <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 If uv is missing:</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curl -LsSf https://astral.sh/uv/install.sh | sh</a:t>
            </a:r>
          </a:p>
        </p:txBody>
      </p:sp>
      <p:sp>
        <p:nvSpPr>
          <p:cNvPr id="5" name="text">
            <a:extLst xmlns:a="http://schemas.openxmlformats.org/drawingml/2006/main">
              <a:ext uri="{FF2B5EF4-FFF2-40B4-BE49-F238E27FC236}">
                <a16:creationId xmlns:a16="http://schemas.microsoft.com/office/drawing/2014/main" id="{B9EF54BE-AD27-4D00-8414-0F00442F6B1F}"/>
              </a:ext>
            </a:extLst>
          </p:cNvPr>
          <p:cNvSpPr>
            <a:spLocks xmlns:a="http://schemas.openxmlformats.org/drawingml/2006/main" noGrp="1"/>
          </p:cNvSpPr>
          <p:nvPr/>
        </p:nvSpPr>
        <p:spPr>
          <a:xfrm xmlns:a="http://schemas.openxmlformats.org/drawingml/2006/main">
            <a:off x="609600" y="57912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Use Terminal. Reopen it after installation, then check versions again.</a:t>
            </a:r>
          </a:p>
        </p:txBody>
      </p:sp>
      <p:sp>
        <p:nvSpPr>
          <p:cNvPr id="6" name="shape">
            <a:extLst xmlns:a="http://schemas.openxmlformats.org/drawingml/2006/main">
              <a:ext uri="{FF2B5EF4-FFF2-40B4-BE49-F238E27FC236}">
                <a16:creationId xmlns:a16="http://schemas.microsoft.com/office/drawing/2014/main" id="{63633709-3EF6-40C2-AF48-82F3EAB832BB}"/>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8B627987-6295-41B9-887B-6840085063AC}"/>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8" name="text">
            <a:extLst xmlns:a="http://schemas.openxmlformats.org/drawingml/2006/main">
              <a:ext uri="{FF2B5EF4-FFF2-40B4-BE49-F238E27FC236}">
                <a16:creationId xmlns:a16="http://schemas.microsoft.com/office/drawing/2014/main" id="{898D946B-F186-49B5-BDA9-DE4F5231E609}"/>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21</a:t>
            </a:r>
          </a:p>
        </p:txBody>
      </p:sp>
    </p:spTree>
    <p:extLst>
      <p:ext uri="{BB962C8B-B14F-4D97-AF65-F5344CB8AC3E}">
        <p14:creationId xmlns:p14="http://schemas.microsoft.com/office/powerpoint/2010/main" val="1740256901"/>
      </p:ext>
    </p:extLst>
  </p:cSld>
</p:sld>
</file>

<file path=ppt/slides/slide22.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76E04848-E5A0-48FE-B91E-6BA88B8828C0}"/>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DAY 1 · SESSION 2 · 90 MINUTES</a:t>
            </a:r>
          </a:p>
        </p:txBody>
      </p:sp>
      <p:sp>
        <p:nvSpPr>
          <p:cNvPr id="2" name="text">
            <a:extLst xmlns:a="http://schemas.openxmlformats.org/drawingml/2006/main">
              <a:ext uri="{FF2B5EF4-FFF2-40B4-BE49-F238E27FC236}">
                <a16:creationId xmlns:a16="http://schemas.microsoft.com/office/drawing/2014/main" id="{2AEA3516-3E93-40AE-8007-E88832223A40}"/>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Windows: use PowerShell for setup.</a:t>
            </a:r>
          </a:p>
        </p:txBody>
      </p:sp>
      <p:sp>
        <p:nvSpPr>
          <p:cNvPr id="3" name="shape">
            <a:extLst xmlns:a="http://schemas.openxmlformats.org/drawingml/2006/main">
              <a:ext uri="{FF2B5EF4-FFF2-40B4-BE49-F238E27FC236}">
                <a16:creationId xmlns:a16="http://schemas.microsoft.com/office/drawing/2014/main" id="{E9030C19-6637-43AF-B7FF-ECCC4A6117FA}"/>
              </a:ext>
            </a:extLst>
          </p:cNvPr>
          <p:cNvSpPr>
            <a:spLocks xmlns:a="http://schemas.openxmlformats.org/drawingml/2006/main" noGrp="1"/>
          </p:cNvSpPr>
          <p:nvPr/>
        </p:nvSpPr>
        <p:spPr>
          <a:xfrm xmlns:a="http://schemas.openxmlformats.org/drawingml/2006/main">
            <a:off x="609600" y="2143125"/>
            <a:ext cx="10972800" cy="2200275"/>
          </a:xfrm>
          <a:prstGeom xmlns:a="http://schemas.openxmlformats.org/drawingml/2006/main" prst="rect">
            <a:avLst/>
          </a:prstGeom>
          <a:solidFill xmlns:a="http://schemas.openxmlformats.org/drawingml/2006/main">
            <a:srgbClr val="102735"/>
          </a:solidFill>
          <a:ln xmlns:a="http://schemas.openxmlformats.org/drawingml/2006/main" w="0">
            <a:noFill/>
          </a:ln>
        </p:spPr>
      </p:sp>
      <p:sp>
        <p:nvSpPr>
          <p:cNvPr id="4" name="text">
            <a:extLst xmlns:a="http://schemas.openxmlformats.org/drawingml/2006/main">
              <a:ext uri="{FF2B5EF4-FFF2-40B4-BE49-F238E27FC236}">
                <a16:creationId xmlns:a16="http://schemas.microsoft.com/office/drawing/2014/main" id="{1E29B60B-FE50-4F61-8FC5-A9774D9ACD55}"/>
              </a:ext>
            </a:extLst>
          </p:cNvPr>
          <p:cNvSpPr>
            <a:spLocks xmlns:a="http://schemas.openxmlformats.org/drawingml/2006/main" noGrp="1"/>
          </p:cNvSpPr>
          <p:nvPr/>
        </p:nvSpPr>
        <p:spPr>
          <a:xfrm xmlns:a="http://schemas.openxmlformats.org/drawingml/2006/main">
            <a:off x="857250" y="2333625"/>
            <a:ext cx="10477500" cy="187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git --version</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uv --version</a:t>
            </a:r>
          </a:p>
          <a:p xmlns:a="http://schemas.openxmlformats.org/drawingml/2006/main">
            <a:r>
              <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 Install missing tools:</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winget install --id Git.Git -e --source winget</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winget install --id astral-sh.uv -e</a:t>
            </a:r>
          </a:p>
        </p:txBody>
      </p:sp>
      <p:sp>
        <p:nvSpPr>
          <p:cNvPr id="5" name="text">
            <a:extLst xmlns:a="http://schemas.openxmlformats.org/drawingml/2006/main">
              <a:ext uri="{FF2B5EF4-FFF2-40B4-BE49-F238E27FC236}">
                <a16:creationId xmlns:a16="http://schemas.microsoft.com/office/drawing/2014/main" id="{BF34DF95-4651-4863-860F-5E6938F0DFF1}"/>
              </a:ext>
            </a:extLst>
          </p:cNvPr>
          <p:cNvSpPr>
            <a:spLocks xmlns:a="http://schemas.openxmlformats.org/drawingml/2006/main" noGrp="1"/>
          </p:cNvSpPr>
          <p:nvPr/>
        </p:nvSpPr>
        <p:spPr>
          <a:xfrm xmlns:a="http://schemas.openxmlformats.org/drawingml/2006/main">
            <a:off x="609600" y="57912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Close and reopen PowerShell after installation.</a:t>
            </a:r>
          </a:p>
        </p:txBody>
      </p:sp>
      <p:sp>
        <p:nvSpPr>
          <p:cNvPr id="6" name="shape">
            <a:extLst xmlns:a="http://schemas.openxmlformats.org/drawingml/2006/main">
              <a:ext uri="{FF2B5EF4-FFF2-40B4-BE49-F238E27FC236}">
                <a16:creationId xmlns:a16="http://schemas.microsoft.com/office/drawing/2014/main" id="{16D084D9-CD39-4E7B-9EB0-3572F62B0217}"/>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A806A8F8-109E-4D47-90CC-DA53BB97368D}"/>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8" name="text">
            <a:extLst xmlns:a="http://schemas.openxmlformats.org/drawingml/2006/main">
              <a:ext uri="{FF2B5EF4-FFF2-40B4-BE49-F238E27FC236}">
                <a16:creationId xmlns:a16="http://schemas.microsoft.com/office/drawing/2014/main" id="{043579C9-6265-4020-8715-9AB6A130FFE6}"/>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22</a:t>
            </a:r>
          </a:p>
        </p:txBody>
      </p:sp>
    </p:spTree>
    <p:extLst>
      <p:ext uri="{BB962C8B-B14F-4D97-AF65-F5344CB8AC3E}">
        <p14:creationId xmlns:p14="http://schemas.microsoft.com/office/powerpoint/2010/main" val="1331687401"/>
      </p:ext>
    </p:extLst>
  </p:cSld>
</p:sld>
</file>

<file path=ppt/slides/slide23.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07834509-C0CE-49C8-AB34-FB6045895584}"/>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DAY 1 · SESSION 2 · 90 MINUTES</a:t>
            </a:r>
          </a:p>
        </p:txBody>
      </p:sp>
      <p:sp>
        <p:nvSpPr>
          <p:cNvPr id="2" name="text">
            <a:extLst xmlns:a="http://schemas.openxmlformats.org/drawingml/2006/main">
              <a:ext uri="{FF2B5EF4-FFF2-40B4-BE49-F238E27FC236}">
                <a16:creationId xmlns:a16="http://schemas.microsoft.com/office/drawing/2014/main" id="{95B524C2-9DF7-461E-BC1C-2F30DA1964FF}"/>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Clone the link Arthi gives you.</a:t>
            </a:r>
          </a:p>
        </p:txBody>
      </p:sp>
      <p:sp>
        <p:nvSpPr>
          <p:cNvPr id="3" name="flow-node">
            <a:extLst xmlns:a="http://schemas.openxmlformats.org/drawingml/2006/main">
              <a:ext uri="{FF2B5EF4-FFF2-40B4-BE49-F238E27FC236}">
                <a16:creationId xmlns:a16="http://schemas.microsoft.com/office/drawing/2014/main" id="{62E27EBD-65B7-4F84-8FC3-F3C0BC5575C6}"/>
              </a:ext>
            </a:extLst>
          </p:cNvPr>
          <p:cNvSpPr>
            <a:spLocks xmlns:a="http://schemas.openxmlformats.org/drawingml/2006/main" noGrp="1"/>
          </p:cNvSpPr>
          <p:nvPr/>
        </p:nvSpPr>
        <p:spPr>
          <a:xfrm xmlns:a="http://schemas.openxmlformats.org/drawingml/2006/main">
            <a:off x="609600" y="2209800"/>
            <a:ext cx="3467100" cy="952500"/>
          </a:xfrm>
          <a:prstGeom xmlns:a="http://schemas.openxmlformats.org/drawingml/2006/main" prst="roundRect">
            <a:avLst>
              <a:gd name="adj" fmla="val 8000"/>
            </a:avLst>
          </a:prstGeom>
          <a:solidFill xmlns:a="http://schemas.openxmlformats.org/drawingml/2006/main">
            <a:srgbClr val="E4EBE4"/>
          </a:solidFill>
          <a:ln xmlns:a="http://schemas.openxmlformats.org/drawingml/2006/main" w="14288">
            <a:solidFill>
              <a:srgbClr val="C6D3CC"/>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875" b="1">
                <a:solidFill>
                  <a:srgbClr val="142C38"/>
                </a:solidFill>
                <a:latin typeface="Aptos"/>
                <a:ea typeface="Aptos"/>
                <a:cs typeface="Aptos"/>
              </a:defRPr>
            </a:pPr>
            <a:r>
              <a:rPr sz="1875" b="1">
                <a:solidFill>
                  <a:srgbClr val="142C38"/>
                </a:solidFill>
                <a:latin typeface="Aptos"/>
                <a:ea typeface="Aptos"/>
                <a:cs typeface="Aptos"/>
              </a:rPr>
              <a:t>Type git clone</a:t>
            </a:r>
          </a:p>
        </p:txBody>
      </p:sp>
      <p:sp>
        <p:nvSpPr>
          <p:cNvPr id="4" name="flow-node">
            <a:extLst xmlns:a="http://schemas.openxmlformats.org/drawingml/2006/main">
              <a:ext uri="{FF2B5EF4-FFF2-40B4-BE49-F238E27FC236}">
                <a16:creationId xmlns:a16="http://schemas.microsoft.com/office/drawing/2014/main" id="{BF7B6D9B-FA6C-4501-B7A5-F3D52211FFEB}"/>
              </a:ext>
            </a:extLst>
          </p:cNvPr>
          <p:cNvSpPr>
            <a:spLocks xmlns:a="http://schemas.openxmlformats.org/drawingml/2006/main" noGrp="1"/>
          </p:cNvSpPr>
          <p:nvPr/>
        </p:nvSpPr>
        <p:spPr>
          <a:xfrm xmlns:a="http://schemas.openxmlformats.org/drawingml/2006/main">
            <a:off x="4362450" y="2209800"/>
            <a:ext cx="3467100" cy="952500"/>
          </a:xfrm>
          <a:prstGeom xmlns:a="http://schemas.openxmlformats.org/drawingml/2006/main" prst="roundRect">
            <a:avLst>
              <a:gd name="adj" fmla="val 8000"/>
            </a:avLst>
          </a:prstGeom>
          <a:solidFill xmlns:a="http://schemas.openxmlformats.org/drawingml/2006/main">
            <a:srgbClr val="E4EBE4"/>
          </a:solidFill>
          <a:ln xmlns:a="http://schemas.openxmlformats.org/drawingml/2006/main" w="14288">
            <a:solidFill>
              <a:srgbClr val="C6D3CC"/>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875" b="1">
                <a:solidFill>
                  <a:srgbClr val="142C38"/>
                </a:solidFill>
                <a:latin typeface="Aptos"/>
                <a:ea typeface="Aptos"/>
                <a:cs typeface="Aptos"/>
              </a:defRPr>
            </a:pPr>
            <a:r>
              <a:rPr sz="1875" b="1">
                <a:solidFill>
                  <a:srgbClr val="142C38"/>
                </a:solidFill>
                <a:latin typeface="Aptos"/>
                <a:ea typeface="Aptos"/>
                <a:cs typeface="Aptos"/>
              </a:rPr>
              <a:t>Paste the HTTPS URL</a:t>
            </a:r>
          </a:p>
        </p:txBody>
      </p:sp>
      <p:sp>
        <p:nvSpPr>
          <p:cNvPr id="5" name="flow-node">
            <a:extLst xmlns:a="http://schemas.openxmlformats.org/drawingml/2006/main">
              <a:ext uri="{FF2B5EF4-FFF2-40B4-BE49-F238E27FC236}">
                <a16:creationId xmlns:a16="http://schemas.microsoft.com/office/drawing/2014/main" id="{BEDFBE78-F362-4895-9F4E-7CF92C507253}"/>
              </a:ext>
            </a:extLst>
          </p:cNvPr>
          <p:cNvSpPr>
            <a:spLocks xmlns:a="http://schemas.openxmlformats.org/drawingml/2006/main" noGrp="1"/>
          </p:cNvSpPr>
          <p:nvPr/>
        </p:nvSpPr>
        <p:spPr>
          <a:xfrm xmlns:a="http://schemas.openxmlformats.org/drawingml/2006/main">
            <a:off x="8115300" y="2209800"/>
            <a:ext cx="3467100" cy="952500"/>
          </a:xfrm>
          <a:prstGeom xmlns:a="http://schemas.openxmlformats.org/drawingml/2006/main" prst="roundRect">
            <a:avLst>
              <a:gd name="adj" fmla="val 8000"/>
            </a:avLst>
          </a:prstGeom>
          <a:solidFill xmlns:a="http://schemas.openxmlformats.org/drawingml/2006/main">
            <a:srgbClr val="E4EBE4"/>
          </a:solidFill>
          <a:ln xmlns:a="http://schemas.openxmlformats.org/drawingml/2006/main" w="14288">
            <a:solidFill>
              <a:srgbClr val="C6D3CC"/>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875" b="1">
                <a:solidFill>
                  <a:srgbClr val="142C38"/>
                </a:solidFill>
                <a:latin typeface="Aptos"/>
                <a:ea typeface="Aptos"/>
                <a:cs typeface="Aptos"/>
              </a:defRPr>
            </a:pPr>
            <a:r>
              <a:rPr sz="1875" b="1">
                <a:solidFill>
                  <a:srgbClr val="142C38"/>
                </a:solidFill>
                <a:latin typeface="Aptos"/>
                <a:ea typeface="Aptos"/>
                <a:cs typeface="Aptos"/>
              </a:rPr>
              <a:t>Add agentforge-jarvis</a:t>
            </a:r>
          </a:p>
        </p:txBody>
      </p:sp>
      <p:cxnSp>
        <p:nvCxnSpPr>
          <p:cNvPr id="19" name=""/>
          <p:cNvCxnSpPr>
            <a:stCxn xmlns:a="http://schemas.openxmlformats.org/drawingml/2006/main" id="3" idx="3"/>
            <a:endCxn xmlns:a="http://schemas.openxmlformats.org/drawingml/2006/main" id="4" idx="1"/>
          </p:cNvCxnSpPr>
          <p:nvPr/>
        </p:nvCxnSpPr>
        <p:spPr>
          <a:xfrm xmlns:a="http://schemas.openxmlformats.org/drawingml/2006/main">
            <a:off x="4076700" y="2686050"/>
            <a:ext cx="285750" cy="0"/>
          </a:xfrm>
          <a:prstGeom xmlns:a="http://schemas.openxmlformats.org/drawingml/2006/main" prst="straightConnector1">
            <a:avLst/>
          </a:prstGeom>
          <a:ln xmlns:a="http://schemas.openxmlformats.org/drawingml/2006/main" w="19050">
            <a:solidFill>
              <a:srgbClr val="537078"/>
            </a:solidFill>
            <a:tailEnd type="arrow" w="med" len="med"/>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a:off x="7829550" y="2686050"/>
            <a:ext cx="285750" cy="0"/>
          </a:xfrm>
          <a:prstGeom xmlns:a="http://schemas.openxmlformats.org/drawingml/2006/main" prst="straightConnector1">
            <a:avLst/>
          </a:prstGeom>
          <a:ln xmlns:a="http://schemas.openxmlformats.org/drawingml/2006/main" w="19050">
            <a:solidFill>
              <a:srgbClr val="537078"/>
            </a:solidFill>
            <a:tailEnd type="arrow" w="med" len="med"/>
          </a:ln>
        </p:spPr>
      </p:cxnSp>
      <p:sp>
        <p:nvSpPr>
          <p:cNvPr id="8" name="shape">
            <a:extLst xmlns:a="http://schemas.openxmlformats.org/drawingml/2006/main">
              <a:ext uri="{FF2B5EF4-FFF2-40B4-BE49-F238E27FC236}">
                <a16:creationId xmlns:a16="http://schemas.microsoft.com/office/drawing/2014/main" id="{04FC413B-C814-4B9E-8BDF-CD8575159B2D}"/>
              </a:ext>
            </a:extLst>
          </p:cNvPr>
          <p:cNvSpPr>
            <a:spLocks xmlns:a="http://schemas.openxmlformats.org/drawingml/2006/main" noGrp="1"/>
          </p:cNvSpPr>
          <p:nvPr/>
        </p:nvSpPr>
        <p:spPr>
          <a:xfrm xmlns:a="http://schemas.openxmlformats.org/drawingml/2006/main">
            <a:off x="609600" y="3590925"/>
            <a:ext cx="10972800" cy="1304925"/>
          </a:xfrm>
          <a:prstGeom xmlns:a="http://schemas.openxmlformats.org/drawingml/2006/main" prst="rect">
            <a:avLst/>
          </a:prstGeom>
          <a:solidFill xmlns:a="http://schemas.openxmlformats.org/drawingml/2006/main">
            <a:srgbClr val="102735"/>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3F189235-7B1C-41AF-9F0C-5F17DFA5323D}"/>
              </a:ext>
            </a:extLst>
          </p:cNvPr>
          <p:cNvSpPr>
            <a:spLocks xmlns:a="http://schemas.openxmlformats.org/drawingml/2006/main" noGrp="1"/>
          </p:cNvSpPr>
          <p:nvPr/>
        </p:nvSpPr>
        <p:spPr>
          <a:xfrm xmlns:a="http://schemas.openxmlformats.org/drawingml/2006/main">
            <a:off x="857250" y="3781425"/>
            <a:ext cx="10477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cd agentforge-jarvis</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ls</a:t>
            </a:r>
          </a:p>
        </p:txBody>
      </p:sp>
      <p:sp>
        <p:nvSpPr>
          <p:cNvPr id="10" name="text">
            <a:extLst xmlns:a="http://schemas.openxmlformats.org/drawingml/2006/main">
              <a:ext uri="{FF2B5EF4-FFF2-40B4-BE49-F238E27FC236}">
                <a16:creationId xmlns:a16="http://schemas.microsoft.com/office/drawing/2014/main" id="{63F37F1F-6531-4FC0-BA8D-57442F0D6184}"/>
              </a:ext>
            </a:extLst>
          </p:cNvPr>
          <p:cNvSpPr>
            <a:spLocks xmlns:a="http://schemas.openxmlformats.org/drawingml/2006/main" noGrp="1"/>
          </p:cNvSpPr>
          <p:nvPr/>
        </p:nvSpPr>
        <p:spPr>
          <a:xfrm xmlns:a="http://schemas.openxmlformats.org/drawingml/2006/main">
            <a:off x="609600" y="54768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Arthi supplies the tested AgentForge repository URL.</a:t>
            </a:r>
          </a:p>
        </p:txBody>
      </p:sp>
      <p:sp>
        <p:nvSpPr>
          <p:cNvPr id="11" name="shape">
            <a:extLst xmlns:a="http://schemas.openxmlformats.org/drawingml/2006/main">
              <a:ext uri="{FF2B5EF4-FFF2-40B4-BE49-F238E27FC236}">
                <a16:creationId xmlns:a16="http://schemas.microsoft.com/office/drawing/2014/main" id="{94A72E70-FABF-4582-B303-F52A4B005FDE}"/>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C3BD7A5C-466B-4D9A-B985-9BF5B422D28E}"/>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13" name="text">
            <a:extLst xmlns:a="http://schemas.openxmlformats.org/drawingml/2006/main">
              <a:ext uri="{FF2B5EF4-FFF2-40B4-BE49-F238E27FC236}">
                <a16:creationId xmlns:a16="http://schemas.microsoft.com/office/drawing/2014/main" id="{612B2E80-6B74-4858-AFF0-FEEEE6AD52BE}"/>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23</a:t>
            </a:r>
          </a:p>
        </p:txBody>
      </p:sp>
    </p:spTree>
    <p:extLst>
      <p:ext uri="{BB962C8B-B14F-4D97-AF65-F5344CB8AC3E}">
        <p14:creationId xmlns:p14="http://schemas.microsoft.com/office/powerpoint/2010/main" val="328300662"/>
      </p:ext>
    </p:extLst>
  </p:cSld>
</p:sld>
</file>

<file path=ppt/slides/slide24.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24" name="text">
            <a:extLst xmlns:a="http://schemas.openxmlformats.org/drawingml/2006/main">
              <a:ext uri="{FF2B5EF4-FFF2-40B4-BE49-F238E27FC236}">
                <a16:creationId xmlns:a16="http://schemas.microsoft.com/office/drawing/2014/main" id="{B7F1D6DC-51D2-47EF-88A3-4FE1B2FAC572}"/>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DAY 1 · SESSION 2 · 90 MINUTES</a:t>
            </a:r>
          </a:p>
        </p:txBody>
      </p:sp>
      <p:sp>
        <p:nvSpPr>
          <p:cNvPr id="2" name="text">
            <a:extLst xmlns:a="http://schemas.openxmlformats.org/drawingml/2006/main">
              <a:ext uri="{FF2B5EF4-FFF2-40B4-BE49-F238E27FC236}">
                <a16:creationId xmlns:a16="http://schemas.microsoft.com/office/drawing/2014/main" id="{41718F1C-86C3-4311-99DC-E32948B769B4}"/>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Know the few files you will touch.</a:t>
            </a:r>
          </a:p>
        </p:txBody>
      </p:sp>
      <p:sp>
        <p:nvSpPr>
          <p:cNvPr id="3" name="text">
            <a:extLst xmlns:a="http://schemas.openxmlformats.org/drawingml/2006/main">
              <a:ext uri="{FF2B5EF4-FFF2-40B4-BE49-F238E27FC236}">
                <a16:creationId xmlns:a16="http://schemas.microsoft.com/office/drawing/2014/main" id="{EFAAEE9D-C33A-4EE4-961E-4EB4B43E6634}"/>
              </a:ext>
            </a:extLst>
          </p:cNvPr>
          <p:cNvSpPr>
            <a:spLocks xmlns:a="http://schemas.openxmlformats.org/drawingml/2006/main" noGrp="1"/>
          </p:cNvSpPr>
          <p:nvPr/>
        </p:nvSpPr>
        <p:spPr>
          <a:xfrm xmlns:a="http://schemas.openxmlformats.org/drawingml/2006/main">
            <a:off x="609600" y="2171700"/>
            <a:ext cx="39814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pyproject.toml</a:t>
            </a:r>
          </a:p>
        </p:txBody>
      </p:sp>
      <p:sp>
        <p:nvSpPr>
          <p:cNvPr id="4" name="text">
            <a:extLst xmlns:a="http://schemas.openxmlformats.org/drawingml/2006/main">
              <a:ext uri="{FF2B5EF4-FFF2-40B4-BE49-F238E27FC236}">
                <a16:creationId xmlns:a16="http://schemas.microsoft.com/office/drawing/2014/main" id="{811982DD-09A8-4BA7-8BFB-D714F8E0DEF4}"/>
              </a:ext>
            </a:extLst>
          </p:cNvPr>
          <p:cNvSpPr>
            <a:spLocks xmlns:a="http://schemas.openxmlformats.org/drawingml/2006/main" noGrp="1"/>
          </p:cNvSpPr>
          <p:nvPr/>
        </p:nvSpPr>
        <p:spPr>
          <a:xfrm xmlns:a="http://schemas.openxmlformats.org/drawingml/2006/main">
            <a:off x="4800600" y="2171700"/>
            <a:ext cx="6572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The project’s package list</a:t>
            </a:r>
          </a:p>
        </p:txBody>
      </p:sp>
      <p:sp>
        <p:nvSpPr>
          <p:cNvPr id="5" name="shape">
            <a:extLst xmlns:a="http://schemas.openxmlformats.org/drawingml/2006/main">
              <a:ext uri="{FF2B5EF4-FFF2-40B4-BE49-F238E27FC236}">
                <a16:creationId xmlns:a16="http://schemas.microsoft.com/office/drawing/2014/main" id="{09EE4335-CCC4-4923-9927-187AF66C575F}"/>
              </a:ext>
            </a:extLst>
          </p:cNvPr>
          <p:cNvSpPr>
            <a:spLocks xmlns:a="http://schemas.openxmlformats.org/drawingml/2006/main" noGrp="1"/>
          </p:cNvSpPr>
          <p:nvPr/>
        </p:nvSpPr>
        <p:spPr>
          <a:xfrm xmlns:a="http://schemas.openxmlformats.org/drawingml/2006/main">
            <a:off x="609600" y="266700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784016A5-64F9-456F-A007-E85598452BF7}"/>
              </a:ext>
            </a:extLst>
          </p:cNvPr>
          <p:cNvSpPr>
            <a:spLocks xmlns:a="http://schemas.openxmlformats.org/drawingml/2006/main" noGrp="1"/>
          </p:cNvSpPr>
          <p:nvPr/>
        </p:nvSpPr>
        <p:spPr>
          <a:xfrm xmlns:a="http://schemas.openxmlformats.org/drawingml/2006/main">
            <a:off x="609600" y="2771775"/>
            <a:ext cx="39814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uv.lock</a:t>
            </a:r>
          </a:p>
        </p:txBody>
      </p:sp>
      <p:sp>
        <p:nvSpPr>
          <p:cNvPr id="7" name="text">
            <a:extLst xmlns:a="http://schemas.openxmlformats.org/drawingml/2006/main">
              <a:ext uri="{FF2B5EF4-FFF2-40B4-BE49-F238E27FC236}">
                <a16:creationId xmlns:a16="http://schemas.microsoft.com/office/drawing/2014/main" id="{A21DC2E9-BE3D-4B88-97C4-A9D0CF60D23E}"/>
              </a:ext>
            </a:extLst>
          </p:cNvPr>
          <p:cNvSpPr>
            <a:spLocks xmlns:a="http://schemas.openxmlformats.org/drawingml/2006/main" noGrp="1"/>
          </p:cNvSpPr>
          <p:nvPr/>
        </p:nvSpPr>
        <p:spPr>
          <a:xfrm xmlns:a="http://schemas.openxmlformats.org/drawingml/2006/main">
            <a:off x="4800600" y="2771775"/>
            <a:ext cx="6572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The exact dependency versions</a:t>
            </a:r>
          </a:p>
        </p:txBody>
      </p:sp>
      <p:sp>
        <p:nvSpPr>
          <p:cNvPr id="8" name="shape">
            <a:extLst xmlns:a="http://schemas.openxmlformats.org/drawingml/2006/main">
              <a:ext uri="{FF2B5EF4-FFF2-40B4-BE49-F238E27FC236}">
                <a16:creationId xmlns:a16="http://schemas.microsoft.com/office/drawing/2014/main" id="{C873589B-67C1-4D4A-9852-2A4FDD7653CC}"/>
              </a:ext>
            </a:extLst>
          </p:cNvPr>
          <p:cNvSpPr>
            <a:spLocks xmlns:a="http://schemas.openxmlformats.org/drawingml/2006/main" noGrp="1"/>
          </p:cNvSpPr>
          <p:nvPr/>
        </p:nvSpPr>
        <p:spPr>
          <a:xfrm xmlns:a="http://schemas.openxmlformats.org/drawingml/2006/main">
            <a:off x="609600" y="32670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C3263E38-CE73-4FFC-B2A8-E756DD8F9DE1}"/>
              </a:ext>
            </a:extLst>
          </p:cNvPr>
          <p:cNvSpPr>
            <a:spLocks xmlns:a="http://schemas.openxmlformats.org/drawingml/2006/main" noGrp="1"/>
          </p:cNvSpPr>
          <p:nvPr/>
        </p:nvSpPr>
        <p:spPr>
          <a:xfrm xmlns:a="http://schemas.openxmlformats.org/drawingml/2006/main">
            <a:off x="609600" y="3371850"/>
            <a:ext cx="39814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workshop/</a:t>
            </a:r>
          </a:p>
        </p:txBody>
      </p:sp>
      <p:sp>
        <p:nvSpPr>
          <p:cNvPr id="10" name="text">
            <a:extLst xmlns:a="http://schemas.openxmlformats.org/drawingml/2006/main">
              <a:ext uri="{FF2B5EF4-FFF2-40B4-BE49-F238E27FC236}">
                <a16:creationId xmlns:a16="http://schemas.microsoft.com/office/drawing/2014/main" id="{928F9E1D-999D-4674-AB5B-2FDCE82C2259}"/>
              </a:ext>
            </a:extLst>
          </p:cNvPr>
          <p:cNvSpPr>
            <a:spLocks xmlns:a="http://schemas.openxmlformats.org/drawingml/2006/main" noGrp="1"/>
          </p:cNvSpPr>
          <p:nvPr/>
        </p:nvSpPr>
        <p:spPr>
          <a:xfrm xmlns:a="http://schemas.openxmlformats.org/drawingml/2006/main">
            <a:off x="4800600" y="3371850"/>
            <a:ext cx="6572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The first-agent lab and handouts</a:t>
            </a:r>
          </a:p>
        </p:txBody>
      </p:sp>
      <p:sp>
        <p:nvSpPr>
          <p:cNvPr id="11" name="shape">
            <a:extLst xmlns:a="http://schemas.openxmlformats.org/drawingml/2006/main">
              <a:ext uri="{FF2B5EF4-FFF2-40B4-BE49-F238E27FC236}">
                <a16:creationId xmlns:a16="http://schemas.microsoft.com/office/drawing/2014/main" id="{86E45129-F76C-4454-978E-BFEBAD9068CE}"/>
              </a:ext>
            </a:extLst>
          </p:cNvPr>
          <p:cNvSpPr>
            <a:spLocks xmlns:a="http://schemas.openxmlformats.org/drawingml/2006/main" noGrp="1"/>
          </p:cNvSpPr>
          <p:nvPr/>
        </p:nvSpPr>
        <p:spPr>
          <a:xfrm xmlns:a="http://schemas.openxmlformats.org/drawingml/2006/main">
            <a:off x="609600" y="38671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6ADF1FD7-B1F1-44C9-B684-3467BBD3A25D}"/>
              </a:ext>
            </a:extLst>
          </p:cNvPr>
          <p:cNvSpPr>
            <a:spLocks xmlns:a="http://schemas.openxmlformats.org/drawingml/2006/main" noGrp="1"/>
          </p:cNvSpPr>
          <p:nvPr/>
        </p:nvSpPr>
        <p:spPr>
          <a:xfrm xmlns:a="http://schemas.openxmlformats.org/drawingml/2006/main">
            <a:off x="609600" y="3971925"/>
            <a:ext cx="39814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examples/</a:t>
            </a:r>
          </a:p>
        </p:txBody>
      </p:sp>
      <p:sp>
        <p:nvSpPr>
          <p:cNvPr id="13" name="text">
            <a:extLst xmlns:a="http://schemas.openxmlformats.org/drawingml/2006/main">
              <a:ext uri="{FF2B5EF4-FFF2-40B4-BE49-F238E27FC236}">
                <a16:creationId xmlns:a16="http://schemas.microsoft.com/office/drawing/2014/main" id="{D02378DA-ADCC-4B01-BD64-D2354272FDFB}"/>
              </a:ext>
            </a:extLst>
          </p:cNvPr>
          <p:cNvSpPr>
            <a:spLocks xmlns:a="http://schemas.openxmlformats.org/drawingml/2006/main" noGrp="1"/>
          </p:cNvSpPr>
          <p:nvPr/>
        </p:nvSpPr>
        <p:spPr>
          <a:xfrm xmlns:a="http://schemas.openxmlformats.org/drawingml/2006/main">
            <a:off x="4800600" y="3971925"/>
            <a:ext cx="6572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Fictional scenario and sample outputs</a:t>
            </a:r>
          </a:p>
        </p:txBody>
      </p:sp>
      <p:sp>
        <p:nvSpPr>
          <p:cNvPr id="14" name="shape">
            <a:extLst xmlns:a="http://schemas.openxmlformats.org/drawingml/2006/main">
              <a:ext uri="{FF2B5EF4-FFF2-40B4-BE49-F238E27FC236}">
                <a16:creationId xmlns:a16="http://schemas.microsoft.com/office/drawing/2014/main" id="{4017A7F6-09FF-46FA-B16B-26C5DBA5CFF7}"/>
              </a:ext>
            </a:extLst>
          </p:cNvPr>
          <p:cNvSpPr>
            <a:spLocks xmlns:a="http://schemas.openxmlformats.org/drawingml/2006/main" noGrp="1"/>
          </p:cNvSpPr>
          <p:nvPr/>
        </p:nvSpPr>
        <p:spPr>
          <a:xfrm xmlns:a="http://schemas.openxmlformats.org/drawingml/2006/main">
            <a:off x="609600" y="44672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DDE4AFDF-8B2E-4EC5-BCFA-D5C9A240014B}"/>
              </a:ext>
            </a:extLst>
          </p:cNvPr>
          <p:cNvSpPr>
            <a:spLocks xmlns:a="http://schemas.openxmlformats.org/drawingml/2006/main" noGrp="1"/>
          </p:cNvSpPr>
          <p:nvPr/>
        </p:nvSpPr>
        <p:spPr>
          <a:xfrm xmlns:a="http://schemas.openxmlformats.org/drawingml/2006/main">
            <a:off x="609600" y="4572000"/>
            <a:ext cx="39814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src/agentforge_jarvis/</a:t>
            </a:r>
          </a:p>
        </p:txBody>
      </p:sp>
      <p:sp>
        <p:nvSpPr>
          <p:cNvPr id="16" name="text">
            <a:extLst xmlns:a="http://schemas.openxmlformats.org/drawingml/2006/main">
              <a:ext uri="{FF2B5EF4-FFF2-40B4-BE49-F238E27FC236}">
                <a16:creationId xmlns:a16="http://schemas.microsoft.com/office/drawing/2014/main" id="{BCC813BC-AE0C-461E-AEF4-B31D53EF9A75}"/>
              </a:ext>
            </a:extLst>
          </p:cNvPr>
          <p:cNvSpPr>
            <a:spLocks xmlns:a="http://schemas.openxmlformats.org/drawingml/2006/main" noGrp="1"/>
          </p:cNvSpPr>
          <p:nvPr/>
        </p:nvSpPr>
        <p:spPr>
          <a:xfrm xmlns:a="http://schemas.openxmlformats.org/drawingml/2006/main">
            <a:off x="4800600" y="4572000"/>
            <a:ext cx="6572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The real application code</a:t>
            </a:r>
          </a:p>
        </p:txBody>
      </p:sp>
      <p:sp>
        <p:nvSpPr>
          <p:cNvPr id="17" name="shape">
            <a:extLst xmlns:a="http://schemas.openxmlformats.org/drawingml/2006/main">
              <a:ext uri="{FF2B5EF4-FFF2-40B4-BE49-F238E27FC236}">
                <a16:creationId xmlns:a16="http://schemas.microsoft.com/office/drawing/2014/main" id="{AEDD1B5A-71BF-4681-B2BB-E36497FA70CA}"/>
              </a:ext>
            </a:extLst>
          </p:cNvPr>
          <p:cNvSpPr>
            <a:spLocks xmlns:a="http://schemas.openxmlformats.org/drawingml/2006/main" noGrp="1"/>
          </p:cNvSpPr>
          <p:nvPr/>
        </p:nvSpPr>
        <p:spPr>
          <a:xfrm xmlns:a="http://schemas.openxmlformats.org/drawingml/2006/main">
            <a:off x="609600" y="506730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7CFE808B-2289-47CD-8589-620E30ACB411}"/>
              </a:ext>
            </a:extLst>
          </p:cNvPr>
          <p:cNvSpPr>
            <a:spLocks xmlns:a="http://schemas.openxmlformats.org/drawingml/2006/main" noGrp="1"/>
          </p:cNvSpPr>
          <p:nvPr/>
        </p:nvSpPr>
        <p:spPr>
          <a:xfrm xmlns:a="http://schemas.openxmlformats.org/drawingml/2006/main">
            <a:off x="609600" y="5172075"/>
            <a:ext cx="39814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.agentforge/</a:t>
            </a:r>
          </a:p>
        </p:txBody>
      </p:sp>
      <p:sp>
        <p:nvSpPr>
          <p:cNvPr id="19" name="text">
            <a:extLst xmlns:a="http://schemas.openxmlformats.org/drawingml/2006/main">
              <a:ext uri="{FF2B5EF4-FFF2-40B4-BE49-F238E27FC236}">
                <a16:creationId xmlns:a16="http://schemas.microsoft.com/office/drawing/2014/main" id="{F70BB6B5-1B64-4A14-A9BD-CF45C2F91D85}"/>
              </a:ext>
            </a:extLst>
          </p:cNvPr>
          <p:cNvSpPr>
            <a:spLocks xmlns:a="http://schemas.openxmlformats.org/drawingml/2006/main" noGrp="1"/>
          </p:cNvSpPr>
          <p:nvPr/>
        </p:nvSpPr>
        <p:spPr>
          <a:xfrm xmlns:a="http://schemas.openxmlformats.org/drawingml/2006/main">
            <a:off x="4800600" y="5172075"/>
            <a:ext cx="6572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Local saved runs and memory</a:t>
            </a:r>
          </a:p>
        </p:txBody>
      </p:sp>
      <p:sp>
        <p:nvSpPr>
          <p:cNvPr id="20" name="shape">
            <a:extLst xmlns:a="http://schemas.openxmlformats.org/drawingml/2006/main">
              <a:ext uri="{FF2B5EF4-FFF2-40B4-BE49-F238E27FC236}">
                <a16:creationId xmlns:a16="http://schemas.microsoft.com/office/drawing/2014/main" id="{507F5087-E5B3-4405-B79B-CB30C16933C2}"/>
              </a:ext>
            </a:extLst>
          </p:cNvPr>
          <p:cNvSpPr>
            <a:spLocks xmlns:a="http://schemas.openxmlformats.org/drawingml/2006/main" noGrp="1"/>
          </p:cNvSpPr>
          <p:nvPr/>
        </p:nvSpPr>
        <p:spPr>
          <a:xfrm xmlns:a="http://schemas.openxmlformats.org/drawingml/2006/main">
            <a:off x="609600" y="56673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21" name="shape">
            <a:extLst xmlns:a="http://schemas.openxmlformats.org/drawingml/2006/main">
              <a:ext uri="{FF2B5EF4-FFF2-40B4-BE49-F238E27FC236}">
                <a16:creationId xmlns:a16="http://schemas.microsoft.com/office/drawing/2014/main" id="{2CDBC72D-85AA-4988-877C-3E912ACC9FF6}"/>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22" name="text">
            <a:extLst xmlns:a="http://schemas.openxmlformats.org/drawingml/2006/main">
              <a:ext uri="{FF2B5EF4-FFF2-40B4-BE49-F238E27FC236}">
                <a16:creationId xmlns:a16="http://schemas.microsoft.com/office/drawing/2014/main" id="{EA0E565D-5BCF-40F3-89DA-B7F679DF87E0}"/>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23" name="text">
            <a:extLst xmlns:a="http://schemas.openxmlformats.org/drawingml/2006/main">
              <a:ext uri="{FF2B5EF4-FFF2-40B4-BE49-F238E27FC236}">
                <a16:creationId xmlns:a16="http://schemas.microsoft.com/office/drawing/2014/main" id="{9E303FE8-6654-4703-AC94-2A7E7075D846}"/>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24</a:t>
            </a:r>
          </a:p>
        </p:txBody>
      </p:sp>
    </p:spTree>
    <p:extLst>
      <p:ext uri="{BB962C8B-B14F-4D97-AF65-F5344CB8AC3E}">
        <p14:creationId xmlns:p14="http://schemas.microsoft.com/office/powerpoint/2010/main" val="207002017"/>
      </p:ext>
    </p:extLst>
  </p:cSld>
</p:sld>
</file>

<file path=ppt/slides/slide25.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CB577C21-5317-402A-818E-BA9EF9C7B430}"/>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DAY 1 · SESSION 2 · 90 MINUTES</a:t>
            </a:r>
          </a:p>
        </p:txBody>
      </p:sp>
      <p:sp>
        <p:nvSpPr>
          <p:cNvPr id="2" name="text">
            <a:extLst xmlns:a="http://schemas.openxmlformats.org/drawingml/2006/main">
              <a:ext uri="{FF2B5EF4-FFF2-40B4-BE49-F238E27FC236}">
                <a16:creationId xmlns:a16="http://schemas.microsoft.com/office/drawing/2014/main" id="{803B947F-95AA-4001-B95A-35FEE9B0F1E0}"/>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uv prepares a separate toolbox for this app.</a:t>
            </a:r>
          </a:p>
        </p:txBody>
      </p:sp>
      <p:sp>
        <p:nvSpPr>
          <p:cNvPr id="3" name="flow-node">
            <a:extLst xmlns:a="http://schemas.openxmlformats.org/drawingml/2006/main">
              <a:ext uri="{FF2B5EF4-FFF2-40B4-BE49-F238E27FC236}">
                <a16:creationId xmlns:a16="http://schemas.microsoft.com/office/drawing/2014/main" id="{FD42FC6F-BC82-4A2B-B54E-B0F783904EE4}"/>
              </a:ext>
            </a:extLst>
          </p:cNvPr>
          <p:cNvSpPr>
            <a:spLocks xmlns:a="http://schemas.openxmlformats.org/drawingml/2006/main" noGrp="1"/>
          </p:cNvSpPr>
          <p:nvPr/>
        </p:nvSpPr>
        <p:spPr>
          <a:xfrm xmlns:a="http://schemas.openxmlformats.org/drawingml/2006/main">
            <a:off x="609600"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pyproject.toml</a:t>
            </a:r>
          </a:p>
        </p:txBody>
      </p:sp>
      <p:sp>
        <p:nvSpPr>
          <p:cNvPr id="4" name="flow-node">
            <a:extLst xmlns:a="http://schemas.openxmlformats.org/drawingml/2006/main">
              <a:ext uri="{FF2B5EF4-FFF2-40B4-BE49-F238E27FC236}">
                <a16:creationId xmlns:a16="http://schemas.microsoft.com/office/drawing/2014/main" id="{199A2082-A4D3-4681-9E6F-DEAC5C889339}"/>
              </a:ext>
            </a:extLst>
          </p:cNvPr>
          <p:cNvSpPr>
            <a:spLocks xmlns:a="http://schemas.openxmlformats.org/drawingml/2006/main" noGrp="1"/>
          </p:cNvSpPr>
          <p:nvPr/>
        </p:nvSpPr>
        <p:spPr>
          <a:xfrm xmlns:a="http://schemas.openxmlformats.org/drawingml/2006/main">
            <a:off x="3424238"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uv.lock</a:t>
            </a:r>
          </a:p>
        </p:txBody>
      </p:sp>
      <p:sp>
        <p:nvSpPr>
          <p:cNvPr id="5" name="flow-node">
            <a:extLst xmlns:a="http://schemas.openxmlformats.org/drawingml/2006/main">
              <a:ext uri="{FF2B5EF4-FFF2-40B4-BE49-F238E27FC236}">
                <a16:creationId xmlns:a16="http://schemas.microsoft.com/office/drawing/2014/main" id="{AC9CBDDC-364A-4C8A-95B2-A6B2AA502EBF}"/>
              </a:ext>
            </a:extLst>
          </p:cNvPr>
          <p:cNvSpPr>
            <a:spLocks xmlns:a="http://schemas.openxmlformats.org/drawingml/2006/main" noGrp="1"/>
          </p:cNvSpPr>
          <p:nvPr/>
        </p:nvSpPr>
        <p:spPr>
          <a:xfrm xmlns:a="http://schemas.openxmlformats.org/drawingml/2006/main">
            <a:off x="6238875"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uv sync --frozen</a:t>
            </a:r>
          </a:p>
        </p:txBody>
      </p:sp>
      <p:sp>
        <p:nvSpPr>
          <p:cNvPr id="6" name="flow-node">
            <a:extLst xmlns:a="http://schemas.openxmlformats.org/drawingml/2006/main">
              <a:ext uri="{FF2B5EF4-FFF2-40B4-BE49-F238E27FC236}">
                <a16:creationId xmlns:a16="http://schemas.microsoft.com/office/drawing/2014/main" id="{802EE3BD-A7C2-4DF3-A7BD-DC6E2481F961}"/>
              </a:ext>
            </a:extLst>
          </p:cNvPr>
          <p:cNvSpPr>
            <a:spLocks xmlns:a="http://schemas.openxmlformats.org/drawingml/2006/main" noGrp="1"/>
          </p:cNvSpPr>
          <p:nvPr/>
        </p:nvSpPr>
        <p:spPr>
          <a:xfrm xmlns:a="http://schemas.openxmlformats.org/drawingml/2006/main">
            <a:off x="9053513"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.venv</a:t>
            </a:r>
          </a:p>
        </p:txBody>
      </p:sp>
      <p:cxnSp>
        <p:nvCxnSpPr>
          <p:cNvPr id="20" name=""/>
          <p:cNvCxnSpPr>
            <a:stCxn xmlns:a="http://schemas.openxmlformats.org/drawingml/2006/main" id="3" idx="3"/>
            <a:endCxn xmlns:a="http://schemas.openxmlformats.org/drawingml/2006/main" id="4" idx="1"/>
          </p:cNvCxnSpPr>
          <p:nvPr/>
        </p:nvCxnSpPr>
        <p:spPr>
          <a:xfrm xmlns:a="http://schemas.openxmlformats.org/drawingml/2006/main">
            <a:off x="3138488"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1" name=""/>
          <p:cNvCxnSpPr>
            <a:stCxn xmlns:a="http://schemas.openxmlformats.org/drawingml/2006/main" id="4" idx="3"/>
            <a:endCxn xmlns:a="http://schemas.openxmlformats.org/drawingml/2006/main" id="5" idx="1"/>
          </p:cNvCxnSpPr>
          <p:nvPr/>
        </p:nvCxnSpPr>
        <p:spPr>
          <a:xfrm xmlns:a="http://schemas.openxmlformats.org/drawingml/2006/main">
            <a:off x="5953126" y="3390900"/>
            <a:ext cx="285749"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2" name=""/>
          <p:cNvCxnSpPr>
            <a:stCxn xmlns:a="http://schemas.openxmlformats.org/drawingml/2006/main" id="5" idx="3"/>
            <a:endCxn xmlns:a="http://schemas.openxmlformats.org/drawingml/2006/main" id="6" idx="1"/>
          </p:cNvCxnSpPr>
          <p:nvPr/>
        </p:nvCxnSpPr>
        <p:spPr>
          <a:xfrm xmlns:a="http://schemas.openxmlformats.org/drawingml/2006/main">
            <a:off x="8767763"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sp>
        <p:nvSpPr>
          <p:cNvPr id="10" name="text">
            <a:extLst xmlns:a="http://schemas.openxmlformats.org/drawingml/2006/main">
              <a:ext uri="{FF2B5EF4-FFF2-40B4-BE49-F238E27FC236}">
                <a16:creationId xmlns:a16="http://schemas.microsoft.com/office/drawing/2014/main" id="{1D917D2D-6EA0-4635-857F-D8AD3D938472}"/>
              </a:ext>
            </a:extLst>
          </p:cNvPr>
          <p:cNvSpPr>
            <a:spLocks xmlns:a="http://schemas.openxmlformats.org/drawingml/2006/main" noGrp="1"/>
          </p:cNvSpPr>
          <p:nvPr/>
        </p:nvSpPr>
        <p:spPr>
          <a:xfrm xmlns:a="http://schemas.openxmlformats.org/drawingml/2006/main">
            <a:off x="609600" y="50673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DFBF"/>
                </a:solidFill>
                <a:latin typeface="Aptos"/>
                <a:ea typeface="Aptos"/>
                <a:cs typeface="Aptos"/>
              </a:defRPr>
            </a:pPr>
            <a:r>
              <a:rPr sz="1800" b="0">
                <a:solidFill>
                  <a:srgbClr val="61DFBF"/>
                </a:solidFill>
                <a:latin typeface="Aptos"/>
                <a:ea typeface="Aptos"/>
                <a:cs typeface="Aptos"/>
              </a:rPr>
              <a:t>The project’s packages are kept in its own local environment.</a:t>
            </a:r>
          </a:p>
        </p:txBody>
      </p:sp>
      <p:sp>
        <p:nvSpPr>
          <p:cNvPr id="11" name="shape">
            <a:extLst xmlns:a="http://schemas.openxmlformats.org/drawingml/2006/main">
              <a:ext uri="{FF2B5EF4-FFF2-40B4-BE49-F238E27FC236}">
                <a16:creationId xmlns:a16="http://schemas.microsoft.com/office/drawing/2014/main" id="{BDBB1FF0-382E-4F35-BDB1-564F147506B0}"/>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A8CBAFCC-EB63-4F24-99E8-DD83EBDF5BBD}"/>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13" name="text">
            <a:extLst xmlns:a="http://schemas.openxmlformats.org/drawingml/2006/main">
              <a:ext uri="{FF2B5EF4-FFF2-40B4-BE49-F238E27FC236}">
                <a16:creationId xmlns:a16="http://schemas.microsoft.com/office/drawing/2014/main" id="{B1B55532-2B4C-42E2-8CAC-018C3C025B39}"/>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25</a:t>
            </a:r>
          </a:p>
        </p:txBody>
      </p:sp>
    </p:spTree>
    <p:extLst>
      <p:ext uri="{BB962C8B-B14F-4D97-AF65-F5344CB8AC3E}">
        <p14:creationId xmlns:p14="http://schemas.microsoft.com/office/powerpoint/2010/main" val="1806296552"/>
      </p:ext>
    </p:extLst>
  </p:cSld>
</p:sld>
</file>

<file path=ppt/slides/slide26.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E8E59A4E-92C3-4FC4-948C-895B39DFB9DE}"/>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DAY 1 · SESSION 2 · 90 MINUTES</a:t>
            </a:r>
          </a:p>
        </p:txBody>
      </p:sp>
      <p:sp>
        <p:nvSpPr>
          <p:cNvPr id="2" name="text">
            <a:extLst xmlns:a="http://schemas.openxmlformats.org/drawingml/2006/main">
              <a:ext uri="{FF2B5EF4-FFF2-40B4-BE49-F238E27FC236}">
                <a16:creationId xmlns:a16="http://schemas.microsoft.com/office/drawing/2014/main" id="{0B24FD35-EA00-4B26-9074-C7E52B171CA1}"/>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Install the locked dependencies once.</a:t>
            </a:r>
          </a:p>
        </p:txBody>
      </p:sp>
      <p:sp>
        <p:nvSpPr>
          <p:cNvPr id="3" name="shape">
            <a:extLst xmlns:a="http://schemas.openxmlformats.org/drawingml/2006/main">
              <a:ext uri="{FF2B5EF4-FFF2-40B4-BE49-F238E27FC236}">
                <a16:creationId xmlns:a16="http://schemas.microsoft.com/office/drawing/2014/main" id="{AF8A0457-7D8A-46A9-A778-0A0E2A3FEDF9}"/>
              </a:ext>
            </a:extLst>
          </p:cNvPr>
          <p:cNvSpPr>
            <a:spLocks xmlns:a="http://schemas.openxmlformats.org/drawingml/2006/main" noGrp="1"/>
          </p:cNvSpPr>
          <p:nvPr/>
        </p:nvSpPr>
        <p:spPr>
          <a:xfrm xmlns:a="http://schemas.openxmlformats.org/drawingml/2006/main">
            <a:off x="609600" y="2143125"/>
            <a:ext cx="10972800" cy="2190750"/>
          </a:xfrm>
          <a:prstGeom xmlns:a="http://schemas.openxmlformats.org/drawingml/2006/main" prst="rect">
            <a:avLst/>
          </a:prstGeom>
          <a:solidFill xmlns:a="http://schemas.openxmlformats.org/drawingml/2006/main">
            <a:srgbClr val="102735"/>
          </a:solidFill>
          <a:ln xmlns:a="http://schemas.openxmlformats.org/drawingml/2006/main" w="0">
            <a:noFill/>
          </a:ln>
        </p:spPr>
      </p:sp>
      <p:sp>
        <p:nvSpPr>
          <p:cNvPr id="4" name="text">
            <a:extLst xmlns:a="http://schemas.openxmlformats.org/drawingml/2006/main">
              <a:ext uri="{FF2B5EF4-FFF2-40B4-BE49-F238E27FC236}">
                <a16:creationId xmlns:a16="http://schemas.microsoft.com/office/drawing/2014/main" id="{00132103-6A93-4FDA-8629-F9E5C266BF92}"/>
              </a:ext>
            </a:extLst>
          </p:cNvPr>
          <p:cNvSpPr>
            <a:spLocks xmlns:a="http://schemas.openxmlformats.org/drawingml/2006/main" noGrp="1"/>
          </p:cNvSpPr>
          <p:nvPr/>
        </p:nvSpPr>
        <p:spPr>
          <a:xfrm xmlns:a="http://schemas.openxmlformats.org/drawingml/2006/main">
            <a:off x="857250" y="2333625"/>
            <a:ext cx="104775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uv sync --frozen</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uv run pytest -q</a:t>
            </a:r>
          </a:p>
        </p:txBody>
      </p:sp>
      <p:sp>
        <p:nvSpPr>
          <p:cNvPr id="5" name="text">
            <a:extLst xmlns:a="http://schemas.openxmlformats.org/drawingml/2006/main">
              <a:ext uri="{FF2B5EF4-FFF2-40B4-BE49-F238E27FC236}">
                <a16:creationId xmlns:a16="http://schemas.microsoft.com/office/drawing/2014/main" id="{1A735531-75C2-4873-985F-E33517A32130}"/>
              </a:ext>
            </a:extLst>
          </p:cNvPr>
          <p:cNvSpPr>
            <a:spLocks xmlns:a="http://schemas.openxmlformats.org/drawingml/2006/main" noGrp="1"/>
          </p:cNvSpPr>
          <p:nvPr/>
        </p:nvSpPr>
        <p:spPr>
          <a:xfrm xmlns:a="http://schemas.openxmlformats.org/drawingml/2006/main">
            <a:off x="609600" y="57912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The test suite should pass before you make your first change.</a:t>
            </a:r>
          </a:p>
        </p:txBody>
      </p:sp>
      <p:sp>
        <p:nvSpPr>
          <p:cNvPr id="6" name="shape">
            <a:extLst xmlns:a="http://schemas.openxmlformats.org/drawingml/2006/main">
              <a:ext uri="{FF2B5EF4-FFF2-40B4-BE49-F238E27FC236}">
                <a16:creationId xmlns:a16="http://schemas.microsoft.com/office/drawing/2014/main" id="{80582CC9-2582-469A-8AB3-EF813AD88692}"/>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CB0BBFDD-6405-4F9D-9A92-07672A5C6839}"/>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8" name="text">
            <a:extLst xmlns:a="http://schemas.openxmlformats.org/drawingml/2006/main">
              <a:ext uri="{FF2B5EF4-FFF2-40B4-BE49-F238E27FC236}">
                <a16:creationId xmlns:a16="http://schemas.microsoft.com/office/drawing/2014/main" id="{368A4903-5285-4870-BB65-70AC7EFEDB77}"/>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26</a:t>
            </a:r>
          </a:p>
        </p:txBody>
      </p:sp>
    </p:spTree>
    <p:extLst>
      <p:ext uri="{BB962C8B-B14F-4D97-AF65-F5344CB8AC3E}">
        <p14:creationId xmlns:p14="http://schemas.microsoft.com/office/powerpoint/2010/main" val="1003869111"/>
      </p:ext>
    </p:extLst>
  </p:cSld>
</p:sld>
</file>

<file path=ppt/slides/slide27.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DBB56C70-1C5F-4EB0-933D-B06590482B02}"/>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DAY 1 · SESSION 2 · 90 MINUTES</a:t>
            </a:r>
          </a:p>
        </p:txBody>
      </p:sp>
      <p:sp>
        <p:nvSpPr>
          <p:cNvPr id="2" name="text">
            <a:extLst xmlns:a="http://schemas.openxmlformats.org/drawingml/2006/main">
              <a:ext uri="{FF2B5EF4-FFF2-40B4-BE49-F238E27FC236}">
                <a16:creationId xmlns:a16="http://schemas.microsoft.com/office/drawing/2014/main" id="{6CEA07D9-B599-4656-9E99-5B73D935B381}"/>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Connect Gemini on your own laptop.</a:t>
            </a:r>
          </a:p>
        </p:txBody>
      </p:sp>
      <p:sp>
        <p:nvSpPr>
          <p:cNvPr id="3" name="shape">
            <a:extLst xmlns:a="http://schemas.openxmlformats.org/drawingml/2006/main">
              <a:ext uri="{FF2B5EF4-FFF2-40B4-BE49-F238E27FC236}">
                <a16:creationId xmlns:a16="http://schemas.microsoft.com/office/drawing/2014/main" id="{DE232E4A-77D4-4413-A1B1-D20EBECE8B48}"/>
              </a:ext>
            </a:extLst>
          </p:cNvPr>
          <p:cNvSpPr>
            <a:spLocks xmlns:a="http://schemas.openxmlformats.org/drawingml/2006/main" noGrp="1"/>
          </p:cNvSpPr>
          <p:nvPr/>
        </p:nvSpPr>
        <p:spPr>
          <a:xfrm xmlns:a="http://schemas.openxmlformats.org/drawingml/2006/main">
            <a:off x="609600" y="2143125"/>
            <a:ext cx="10972800" cy="2190750"/>
          </a:xfrm>
          <a:prstGeom xmlns:a="http://schemas.openxmlformats.org/drawingml/2006/main" prst="rect">
            <a:avLst/>
          </a:prstGeom>
          <a:solidFill xmlns:a="http://schemas.openxmlformats.org/drawingml/2006/main">
            <a:srgbClr val="102735"/>
          </a:solidFill>
          <a:ln xmlns:a="http://schemas.openxmlformats.org/drawingml/2006/main" w="0">
            <a:noFill/>
          </a:ln>
        </p:spPr>
      </p:sp>
      <p:sp>
        <p:nvSpPr>
          <p:cNvPr id="4" name="text">
            <a:extLst xmlns:a="http://schemas.openxmlformats.org/drawingml/2006/main">
              <a:ext uri="{FF2B5EF4-FFF2-40B4-BE49-F238E27FC236}">
                <a16:creationId xmlns:a16="http://schemas.microsoft.com/office/drawing/2014/main" id="{95EF605B-D068-427D-A66F-9FF901F5DDDF}"/>
              </a:ext>
            </a:extLst>
          </p:cNvPr>
          <p:cNvSpPr>
            <a:spLocks xmlns:a="http://schemas.openxmlformats.org/drawingml/2006/main" noGrp="1"/>
          </p:cNvSpPr>
          <p:nvPr/>
        </p:nvSpPr>
        <p:spPr>
          <a:xfrm xmlns:a="http://schemas.openxmlformats.org/drawingml/2006/main">
            <a:off x="857250" y="2333625"/>
            <a:ext cx="104775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AGENTFORGE_PROVIDER=gemini</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AGENTFORGE_MODEL=gemini-3.1-flash-lite</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GEMINI_API_KEY=your-own-key</a:t>
            </a:r>
          </a:p>
        </p:txBody>
      </p:sp>
      <p:sp>
        <p:nvSpPr>
          <p:cNvPr id="5" name="text">
            <a:extLst xmlns:a="http://schemas.openxmlformats.org/drawingml/2006/main">
              <a:ext uri="{FF2B5EF4-FFF2-40B4-BE49-F238E27FC236}">
                <a16:creationId xmlns:a16="http://schemas.microsoft.com/office/drawing/2014/main" id="{353D713C-FE1A-4CCA-AC55-E64E31F12EE1}"/>
              </a:ext>
            </a:extLst>
          </p:cNvPr>
          <p:cNvSpPr>
            <a:spLocks xmlns:a="http://schemas.openxmlformats.org/drawingml/2006/main" noGrp="1"/>
          </p:cNvSpPr>
          <p:nvPr/>
        </p:nvSpPr>
        <p:spPr>
          <a:xfrm xmlns:a="http://schemas.openxmlformats.org/drawingml/2006/main">
            <a:off x="609600" y="57912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Copy .env.example to .env; replace the key locally, then save.</a:t>
            </a:r>
          </a:p>
        </p:txBody>
      </p:sp>
      <p:sp>
        <p:nvSpPr>
          <p:cNvPr id="6" name="shape">
            <a:extLst xmlns:a="http://schemas.openxmlformats.org/drawingml/2006/main">
              <a:ext uri="{FF2B5EF4-FFF2-40B4-BE49-F238E27FC236}">
                <a16:creationId xmlns:a16="http://schemas.microsoft.com/office/drawing/2014/main" id="{D9523515-267D-446F-8209-96564920A6E8}"/>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75EBDD81-4E81-4967-BE81-09ECE4344506}"/>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8" name="text">
            <a:extLst xmlns:a="http://schemas.openxmlformats.org/drawingml/2006/main">
              <a:ext uri="{FF2B5EF4-FFF2-40B4-BE49-F238E27FC236}">
                <a16:creationId xmlns:a16="http://schemas.microsoft.com/office/drawing/2014/main" id="{F5110A82-830B-486A-8DC2-712053EFB71A}"/>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27</a:t>
            </a:r>
          </a:p>
        </p:txBody>
      </p:sp>
    </p:spTree>
    <p:extLst>
      <p:ext uri="{BB962C8B-B14F-4D97-AF65-F5344CB8AC3E}">
        <p14:creationId xmlns:p14="http://schemas.microsoft.com/office/powerpoint/2010/main" val="807676864"/>
      </p:ext>
    </p:extLst>
  </p:cSld>
</p:sld>
</file>

<file path=ppt/slides/slide28.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92308ADC-BE88-4CB8-AE88-C5D58181D021}"/>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DAY 1 · SESSION 2 · 90 MINUTES</a:t>
            </a:r>
          </a:p>
        </p:txBody>
      </p:sp>
      <p:sp>
        <p:nvSpPr>
          <p:cNvPr id="2" name="text">
            <a:extLst xmlns:a="http://schemas.openxmlformats.org/drawingml/2006/main">
              <a:ext uri="{FF2B5EF4-FFF2-40B4-BE49-F238E27FC236}">
                <a16:creationId xmlns:a16="http://schemas.microsoft.com/office/drawing/2014/main" id="{598E103F-3EFD-4192-BFDE-80BB2A9DA76F}"/>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Check configuration, then test a real response.</a:t>
            </a:r>
          </a:p>
        </p:txBody>
      </p:sp>
      <p:sp>
        <p:nvSpPr>
          <p:cNvPr id="3" name="shape">
            <a:extLst xmlns:a="http://schemas.openxmlformats.org/drawingml/2006/main">
              <a:ext uri="{FF2B5EF4-FFF2-40B4-BE49-F238E27FC236}">
                <a16:creationId xmlns:a16="http://schemas.microsoft.com/office/drawing/2014/main" id="{74F398C5-44DC-4A76-BDB0-29795688DB5A}"/>
              </a:ext>
            </a:extLst>
          </p:cNvPr>
          <p:cNvSpPr>
            <a:spLocks xmlns:a="http://schemas.openxmlformats.org/drawingml/2006/main" noGrp="1"/>
          </p:cNvSpPr>
          <p:nvPr/>
        </p:nvSpPr>
        <p:spPr>
          <a:xfrm xmlns:a="http://schemas.openxmlformats.org/drawingml/2006/main">
            <a:off x="609600" y="2143125"/>
            <a:ext cx="10972800" cy="2190750"/>
          </a:xfrm>
          <a:prstGeom xmlns:a="http://schemas.openxmlformats.org/drawingml/2006/main" prst="rect">
            <a:avLst/>
          </a:prstGeom>
          <a:solidFill xmlns:a="http://schemas.openxmlformats.org/drawingml/2006/main">
            <a:srgbClr val="102735"/>
          </a:solidFill>
          <a:ln xmlns:a="http://schemas.openxmlformats.org/drawingml/2006/main" w="0">
            <a:noFill/>
          </a:ln>
        </p:spPr>
      </p:sp>
      <p:sp>
        <p:nvSpPr>
          <p:cNvPr id="4" name="text">
            <a:extLst xmlns:a="http://schemas.openxmlformats.org/drawingml/2006/main">
              <a:ext uri="{FF2B5EF4-FFF2-40B4-BE49-F238E27FC236}">
                <a16:creationId xmlns:a16="http://schemas.microsoft.com/office/drawing/2014/main" id="{64161D99-0118-4B57-BEFA-7CF1B26ABEBC}"/>
              </a:ext>
            </a:extLst>
          </p:cNvPr>
          <p:cNvSpPr>
            <a:spLocks xmlns:a="http://schemas.openxmlformats.org/drawingml/2006/main" noGrp="1"/>
          </p:cNvSpPr>
          <p:nvPr/>
        </p:nvSpPr>
        <p:spPr>
          <a:xfrm xmlns:a="http://schemas.openxmlformats.org/drawingml/2006/main">
            <a:off x="857250" y="2333625"/>
            <a:ext cx="104775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uv run agentforge-jarvis doctor</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uv run python workshop/first_agent_live.py</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uv run agentforge-jarvis web</a:t>
            </a:r>
          </a:p>
        </p:txBody>
      </p:sp>
      <p:sp>
        <p:nvSpPr>
          <p:cNvPr id="5" name="text">
            <a:extLst xmlns:a="http://schemas.openxmlformats.org/drawingml/2006/main">
              <a:ext uri="{FF2B5EF4-FFF2-40B4-BE49-F238E27FC236}">
                <a16:creationId xmlns:a16="http://schemas.microsoft.com/office/drawing/2014/main" id="{26B86D96-0274-4229-B834-E843BF099E2A}"/>
              </a:ext>
            </a:extLst>
          </p:cNvPr>
          <p:cNvSpPr>
            <a:spLocks xmlns:a="http://schemas.openxmlformats.org/drawingml/2006/main" noGrp="1"/>
          </p:cNvSpPr>
          <p:nvPr/>
        </p:nvSpPr>
        <p:spPr>
          <a:xfrm xmlns:a="http://schemas.openxmlformats.org/drawingml/2006/main">
            <a:off x="609600" y="57912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Configuration success and live response success are different checks.</a:t>
            </a:r>
          </a:p>
        </p:txBody>
      </p:sp>
      <p:sp>
        <p:nvSpPr>
          <p:cNvPr id="6" name="shape">
            <a:extLst xmlns:a="http://schemas.openxmlformats.org/drawingml/2006/main">
              <a:ext uri="{FF2B5EF4-FFF2-40B4-BE49-F238E27FC236}">
                <a16:creationId xmlns:a16="http://schemas.microsoft.com/office/drawing/2014/main" id="{1FFFCEC9-4CF8-42D6-A2F3-6E225B587E03}"/>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0C066CAF-FF7C-4E44-9856-5A5629904C86}"/>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8" name="text">
            <a:extLst xmlns:a="http://schemas.openxmlformats.org/drawingml/2006/main">
              <a:ext uri="{FF2B5EF4-FFF2-40B4-BE49-F238E27FC236}">
                <a16:creationId xmlns:a16="http://schemas.microsoft.com/office/drawing/2014/main" id="{7033E160-0CF0-4526-9757-58D9D18D1C66}"/>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28</a:t>
            </a:r>
          </a:p>
        </p:txBody>
      </p:sp>
    </p:spTree>
    <p:extLst>
      <p:ext uri="{BB962C8B-B14F-4D97-AF65-F5344CB8AC3E}">
        <p14:creationId xmlns:p14="http://schemas.microsoft.com/office/powerpoint/2010/main" val="700166724"/>
      </p:ext>
    </p:extLst>
  </p:cSld>
</p:sld>
</file>

<file path=ppt/slides/slide29.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77205653-3E6C-4FCF-9F76-C78AFA6BD884}"/>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DAY 1 · SESSION 2 · 90 MINUTES</a:t>
            </a:r>
          </a:p>
        </p:txBody>
      </p:sp>
      <p:sp>
        <p:nvSpPr>
          <p:cNvPr id="2" name="text">
            <a:extLst xmlns:a="http://schemas.openxmlformats.org/drawingml/2006/main">
              <a:ext uri="{FF2B5EF4-FFF2-40B4-BE49-F238E27FC236}">
                <a16:creationId xmlns:a16="http://schemas.microsoft.com/office/drawing/2014/main" id="{D021F335-4A01-4287-8F0F-7489D7870DBE}"/>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Hosted team access uses a different secret.</a:t>
            </a:r>
          </a:p>
        </p:txBody>
      </p:sp>
      <p:sp>
        <p:nvSpPr>
          <p:cNvPr id="3" name="flow-node">
            <a:extLst xmlns:a="http://schemas.openxmlformats.org/drawingml/2006/main">
              <a:ext uri="{FF2B5EF4-FFF2-40B4-BE49-F238E27FC236}">
                <a16:creationId xmlns:a16="http://schemas.microsoft.com/office/drawing/2014/main" id="{0F489706-A00A-430D-B79B-5A4588A2716F}"/>
              </a:ext>
            </a:extLst>
          </p:cNvPr>
          <p:cNvSpPr>
            <a:spLocks xmlns:a="http://schemas.openxmlformats.org/drawingml/2006/main" noGrp="1"/>
          </p:cNvSpPr>
          <p:nvPr/>
        </p:nvSpPr>
        <p:spPr>
          <a:xfrm xmlns:a="http://schemas.openxmlformats.org/drawingml/2006/main">
            <a:off x="609600"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Open workshop URL</a:t>
            </a:r>
          </a:p>
        </p:txBody>
      </p:sp>
      <p:sp>
        <p:nvSpPr>
          <p:cNvPr id="4" name="flow-node">
            <a:extLst xmlns:a="http://schemas.openxmlformats.org/drawingml/2006/main">
              <a:ext uri="{FF2B5EF4-FFF2-40B4-BE49-F238E27FC236}">
                <a16:creationId xmlns:a16="http://schemas.microsoft.com/office/drawing/2014/main" id="{001D1CC4-6DAC-42B2-981B-4B7EE43AE7FB}"/>
              </a:ext>
            </a:extLst>
          </p:cNvPr>
          <p:cNvSpPr>
            <a:spLocks xmlns:a="http://schemas.openxmlformats.org/drawingml/2006/main" noGrp="1"/>
          </p:cNvSpPr>
          <p:nvPr/>
        </p:nvSpPr>
        <p:spPr>
          <a:xfrm xmlns:a="http://schemas.openxmlformats.org/drawingml/2006/main">
            <a:off x="3424238"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Enter your team ID</a:t>
            </a:r>
          </a:p>
        </p:txBody>
      </p:sp>
      <p:sp>
        <p:nvSpPr>
          <p:cNvPr id="5" name="flow-node">
            <a:extLst xmlns:a="http://schemas.openxmlformats.org/drawingml/2006/main">
              <a:ext uri="{FF2B5EF4-FFF2-40B4-BE49-F238E27FC236}">
                <a16:creationId xmlns:a16="http://schemas.microsoft.com/office/drawing/2014/main" id="{1E23E701-95B4-4F1F-9466-E740CBA6E015}"/>
              </a:ext>
            </a:extLst>
          </p:cNvPr>
          <p:cNvSpPr>
            <a:spLocks xmlns:a="http://schemas.openxmlformats.org/drawingml/2006/main" noGrp="1"/>
          </p:cNvSpPr>
          <p:nvPr/>
        </p:nvSpPr>
        <p:spPr>
          <a:xfrm xmlns:a="http://schemas.openxmlformats.org/drawingml/2006/main">
            <a:off x="6238875"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Use your access code</a:t>
            </a:r>
          </a:p>
        </p:txBody>
      </p:sp>
      <p:sp>
        <p:nvSpPr>
          <p:cNvPr id="6" name="flow-node">
            <a:extLst xmlns:a="http://schemas.openxmlformats.org/drawingml/2006/main">
              <a:ext uri="{FF2B5EF4-FFF2-40B4-BE49-F238E27FC236}">
                <a16:creationId xmlns:a16="http://schemas.microsoft.com/office/drawing/2014/main" id="{917DA750-C42D-449B-BB74-1BFBEA669D39}"/>
              </a:ext>
            </a:extLst>
          </p:cNvPr>
          <p:cNvSpPr>
            <a:spLocks xmlns:a="http://schemas.openxmlformats.org/drawingml/2006/main" noGrp="1"/>
          </p:cNvSpPr>
          <p:nvPr/>
        </p:nvSpPr>
        <p:spPr>
          <a:xfrm xmlns:a="http://schemas.openxmlformats.org/drawingml/2006/main">
            <a:off x="9053513"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Open your workspace</a:t>
            </a:r>
          </a:p>
        </p:txBody>
      </p:sp>
      <p:cxnSp>
        <p:nvCxnSpPr>
          <p:cNvPr id="20" name=""/>
          <p:cNvCxnSpPr>
            <a:stCxn xmlns:a="http://schemas.openxmlformats.org/drawingml/2006/main" id="3" idx="3"/>
            <a:endCxn xmlns:a="http://schemas.openxmlformats.org/drawingml/2006/main" id="4" idx="1"/>
          </p:cNvCxnSpPr>
          <p:nvPr/>
        </p:nvCxnSpPr>
        <p:spPr>
          <a:xfrm xmlns:a="http://schemas.openxmlformats.org/drawingml/2006/main">
            <a:off x="3138488"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1" name=""/>
          <p:cNvCxnSpPr>
            <a:stCxn xmlns:a="http://schemas.openxmlformats.org/drawingml/2006/main" id="4" idx="3"/>
            <a:endCxn xmlns:a="http://schemas.openxmlformats.org/drawingml/2006/main" id="5" idx="1"/>
          </p:cNvCxnSpPr>
          <p:nvPr/>
        </p:nvCxnSpPr>
        <p:spPr>
          <a:xfrm xmlns:a="http://schemas.openxmlformats.org/drawingml/2006/main">
            <a:off x="5953126" y="3390900"/>
            <a:ext cx="285749"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2" name=""/>
          <p:cNvCxnSpPr>
            <a:stCxn xmlns:a="http://schemas.openxmlformats.org/drawingml/2006/main" id="5" idx="3"/>
            <a:endCxn xmlns:a="http://schemas.openxmlformats.org/drawingml/2006/main" id="6" idx="1"/>
          </p:cNvCxnSpPr>
          <p:nvPr/>
        </p:nvCxnSpPr>
        <p:spPr>
          <a:xfrm xmlns:a="http://schemas.openxmlformats.org/drawingml/2006/main">
            <a:off x="8767763"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sp>
        <p:nvSpPr>
          <p:cNvPr id="10" name="text">
            <a:extLst xmlns:a="http://schemas.openxmlformats.org/drawingml/2006/main">
              <a:ext uri="{FF2B5EF4-FFF2-40B4-BE49-F238E27FC236}">
                <a16:creationId xmlns:a16="http://schemas.microsoft.com/office/drawing/2014/main" id="{4DD3B951-596E-453B-83B4-9B82F31B2276}"/>
              </a:ext>
            </a:extLst>
          </p:cNvPr>
          <p:cNvSpPr>
            <a:spLocks xmlns:a="http://schemas.openxmlformats.org/drawingml/2006/main" noGrp="1"/>
          </p:cNvSpPr>
          <p:nvPr/>
        </p:nvSpPr>
        <p:spPr>
          <a:xfrm xmlns:a="http://schemas.openxmlformats.org/drawingml/2006/main">
            <a:off x="609600" y="50673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DFBF"/>
                </a:solidFill>
                <a:latin typeface="Aptos"/>
                <a:ea typeface="Aptos"/>
                <a:cs typeface="Aptos"/>
              </a:defRPr>
            </a:pPr>
            <a:r>
              <a:rPr sz="1800" b="0">
                <a:solidFill>
                  <a:srgbClr val="61DFBF"/>
                </a:solidFill>
                <a:latin typeface="Aptos"/>
                <a:ea typeface="Aptos"/>
                <a:cs typeface="Aptos"/>
              </a:rPr>
              <a:t>A team access code is not a Gemini API key.</a:t>
            </a:r>
          </a:p>
        </p:txBody>
      </p:sp>
      <p:sp>
        <p:nvSpPr>
          <p:cNvPr id="11" name="shape">
            <a:extLst xmlns:a="http://schemas.openxmlformats.org/drawingml/2006/main">
              <a:ext uri="{FF2B5EF4-FFF2-40B4-BE49-F238E27FC236}">
                <a16:creationId xmlns:a16="http://schemas.microsoft.com/office/drawing/2014/main" id="{768E60A3-C9F3-49D3-ADC9-F38F3927D4A3}"/>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034BBBAA-701B-4273-A2D3-31A346389D36}"/>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13" name="text">
            <a:extLst xmlns:a="http://schemas.openxmlformats.org/drawingml/2006/main">
              <a:ext uri="{FF2B5EF4-FFF2-40B4-BE49-F238E27FC236}">
                <a16:creationId xmlns:a16="http://schemas.microsoft.com/office/drawing/2014/main" id="{4A56E982-15AE-44DE-8233-B43F2F21C1CF}"/>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29</a:t>
            </a:r>
          </a:p>
        </p:txBody>
      </p:sp>
    </p:spTree>
    <p:extLst>
      <p:ext uri="{BB962C8B-B14F-4D97-AF65-F5344CB8AC3E}">
        <p14:creationId xmlns:p14="http://schemas.microsoft.com/office/powerpoint/2010/main" val="421726465"/>
      </p:ext>
    </p:extLst>
  </p:cSld>
</p:sld>
</file>

<file path=ppt/slides/slide30.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3" name="text">
            <a:extLst xmlns:a="http://schemas.openxmlformats.org/drawingml/2006/main">
              <a:ext uri="{FF2B5EF4-FFF2-40B4-BE49-F238E27FC236}">
                <a16:creationId xmlns:a16="http://schemas.microsoft.com/office/drawing/2014/main" id="{E643BCCE-F806-4D07-BFC3-E3667456F87C}"/>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DAY 1 · SESSION 2 · 90 MINUTES</a:t>
            </a:r>
          </a:p>
        </p:txBody>
      </p:sp>
      <p:sp>
        <p:nvSpPr>
          <p:cNvPr id="2" name="text">
            <a:extLst xmlns:a="http://schemas.openxmlformats.org/drawingml/2006/main">
              <a:ext uri="{FF2B5EF4-FFF2-40B4-BE49-F238E27FC236}">
                <a16:creationId xmlns:a16="http://schemas.microsoft.com/office/drawing/2014/main" id="{71F1D0AB-221E-4D3B-9450-38B90EC58E7C}"/>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Build a small agent you can inspect.</a:t>
            </a:r>
          </a:p>
        </p:txBody>
      </p:sp>
      <p:sp>
        <p:nvSpPr>
          <p:cNvPr id="3" name="text">
            <a:extLst xmlns:a="http://schemas.openxmlformats.org/drawingml/2006/main">
              <a:ext uri="{FF2B5EF4-FFF2-40B4-BE49-F238E27FC236}">
                <a16:creationId xmlns:a16="http://schemas.microsoft.com/office/drawing/2014/main" id="{0789F514-7A80-44AE-A6A8-EBB9E5C5B4B7}"/>
              </a:ext>
            </a:extLst>
          </p:cNvPr>
          <p:cNvSpPr>
            <a:spLocks xmlns:a="http://schemas.openxmlformats.org/drawingml/2006/main" noGrp="1"/>
          </p:cNvSpPr>
          <p:nvPr/>
        </p:nvSpPr>
        <p:spPr>
          <a:xfrm xmlns:a="http://schemas.openxmlformats.org/drawingml/2006/main">
            <a:off x="609600" y="221932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01</a:t>
            </a:r>
          </a:p>
        </p:txBody>
      </p:sp>
      <p:sp>
        <p:nvSpPr>
          <p:cNvPr id="4" name="text">
            <a:extLst xmlns:a="http://schemas.openxmlformats.org/drawingml/2006/main">
              <a:ext uri="{FF2B5EF4-FFF2-40B4-BE49-F238E27FC236}">
                <a16:creationId xmlns:a16="http://schemas.microsoft.com/office/drawing/2014/main" id="{4687B15F-09BE-40DE-B2AC-50AC177A0CD0}"/>
              </a:ext>
            </a:extLst>
          </p:cNvPr>
          <p:cNvSpPr>
            <a:spLocks xmlns:a="http://schemas.openxmlformats.org/drawingml/2006/main" noGrp="1"/>
          </p:cNvSpPr>
          <p:nvPr/>
        </p:nvSpPr>
        <p:spPr>
          <a:xfrm xmlns:a="http://schemas.openxmlformats.org/drawingml/2006/main">
            <a:off x="1314450" y="2190750"/>
            <a:ext cx="10267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Complete two calculations in Python.</a:t>
            </a:r>
          </a:p>
        </p:txBody>
      </p:sp>
      <p:sp>
        <p:nvSpPr>
          <p:cNvPr id="5" name="text">
            <a:extLst xmlns:a="http://schemas.openxmlformats.org/drawingml/2006/main">
              <a:ext uri="{FF2B5EF4-FFF2-40B4-BE49-F238E27FC236}">
                <a16:creationId xmlns:a16="http://schemas.microsoft.com/office/drawing/2014/main" id="{9CA0971B-0B64-48EC-ADC5-384B111172AC}"/>
              </a:ext>
            </a:extLst>
          </p:cNvPr>
          <p:cNvSpPr>
            <a:spLocks xmlns:a="http://schemas.openxmlformats.org/drawingml/2006/main" noGrp="1"/>
          </p:cNvSpPr>
          <p:nvPr/>
        </p:nvSpPr>
        <p:spPr>
          <a:xfrm xmlns:a="http://schemas.openxmlformats.org/drawingml/2006/main">
            <a:off x="609600" y="30480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02</a:t>
            </a:r>
          </a:p>
        </p:txBody>
      </p:sp>
      <p:sp>
        <p:nvSpPr>
          <p:cNvPr id="6" name="text">
            <a:extLst xmlns:a="http://schemas.openxmlformats.org/drawingml/2006/main">
              <a:ext uri="{FF2B5EF4-FFF2-40B4-BE49-F238E27FC236}">
                <a16:creationId xmlns:a16="http://schemas.microsoft.com/office/drawing/2014/main" id="{4679D357-1AD2-4761-AB84-5A867EB825D7}"/>
              </a:ext>
            </a:extLst>
          </p:cNvPr>
          <p:cNvSpPr>
            <a:spLocks xmlns:a="http://schemas.openxmlformats.org/drawingml/2006/main" noGrp="1"/>
          </p:cNvSpPr>
          <p:nvPr/>
        </p:nvSpPr>
        <p:spPr>
          <a:xfrm xmlns:a="http://schemas.openxmlformats.org/drawingml/2006/main">
            <a:off x="1314450" y="3019425"/>
            <a:ext cx="10267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Connect the live model and the cash tool.</a:t>
            </a:r>
          </a:p>
        </p:txBody>
      </p:sp>
      <p:sp>
        <p:nvSpPr>
          <p:cNvPr id="7" name="text">
            <a:extLst xmlns:a="http://schemas.openxmlformats.org/drawingml/2006/main">
              <a:ext uri="{FF2B5EF4-FFF2-40B4-BE49-F238E27FC236}">
                <a16:creationId xmlns:a16="http://schemas.microsoft.com/office/drawing/2014/main" id="{988DC6AD-6DF8-488C-95A3-7F0A7964F6C9}"/>
              </a:ext>
            </a:extLst>
          </p:cNvPr>
          <p:cNvSpPr>
            <a:spLocks xmlns:a="http://schemas.openxmlformats.org/drawingml/2006/main" noGrp="1"/>
          </p:cNvSpPr>
          <p:nvPr/>
        </p:nvSpPr>
        <p:spPr>
          <a:xfrm xmlns:a="http://schemas.openxmlformats.org/drawingml/2006/main">
            <a:off x="609600" y="387667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03</a:t>
            </a:r>
          </a:p>
        </p:txBody>
      </p:sp>
      <p:sp>
        <p:nvSpPr>
          <p:cNvPr id="8" name="text">
            <a:extLst xmlns:a="http://schemas.openxmlformats.org/drawingml/2006/main">
              <a:ext uri="{FF2B5EF4-FFF2-40B4-BE49-F238E27FC236}">
                <a16:creationId xmlns:a16="http://schemas.microsoft.com/office/drawing/2014/main" id="{CE32D71A-FF01-47E2-9AE8-26EFAF873787}"/>
              </a:ext>
            </a:extLst>
          </p:cNvPr>
          <p:cNvSpPr>
            <a:spLocks xmlns:a="http://schemas.openxmlformats.org/drawingml/2006/main" noGrp="1"/>
          </p:cNvSpPr>
          <p:nvPr/>
        </p:nvSpPr>
        <p:spPr>
          <a:xfrm xmlns:a="http://schemas.openxmlformats.org/drawingml/2006/main">
            <a:off x="1314450" y="3848100"/>
            <a:ext cx="10267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Run, inspect the evidence, then change the budget.</a:t>
            </a:r>
          </a:p>
        </p:txBody>
      </p:sp>
      <p:sp>
        <p:nvSpPr>
          <p:cNvPr id="9" name="text">
            <a:extLst xmlns:a="http://schemas.openxmlformats.org/drawingml/2006/main">
              <a:ext uri="{FF2B5EF4-FFF2-40B4-BE49-F238E27FC236}">
                <a16:creationId xmlns:a16="http://schemas.microsoft.com/office/drawing/2014/main" id="{79970B9A-8B1F-4BC0-8D9B-4623E371EF9B}"/>
              </a:ext>
            </a:extLst>
          </p:cNvPr>
          <p:cNvSpPr>
            <a:spLocks xmlns:a="http://schemas.openxmlformats.org/drawingml/2006/main" noGrp="1"/>
          </p:cNvSpPr>
          <p:nvPr/>
        </p:nvSpPr>
        <p:spPr>
          <a:xfrm xmlns:a="http://schemas.openxmlformats.org/drawingml/2006/main">
            <a:off x="609600" y="57531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Live Gemini + a Python calculator + LangChain.</a:t>
            </a:r>
          </a:p>
        </p:txBody>
      </p:sp>
      <p:sp>
        <p:nvSpPr>
          <p:cNvPr id="10" name="shape">
            <a:extLst xmlns:a="http://schemas.openxmlformats.org/drawingml/2006/main">
              <a:ext uri="{FF2B5EF4-FFF2-40B4-BE49-F238E27FC236}">
                <a16:creationId xmlns:a16="http://schemas.microsoft.com/office/drawing/2014/main" id="{B6AFA317-4A1B-4F4E-81F6-2F4A1B2DA911}"/>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EB24D742-EF11-4680-A786-6A1BB3B60928}"/>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12" name="text">
            <a:extLst xmlns:a="http://schemas.openxmlformats.org/drawingml/2006/main">
              <a:ext uri="{FF2B5EF4-FFF2-40B4-BE49-F238E27FC236}">
                <a16:creationId xmlns:a16="http://schemas.microsoft.com/office/drawing/2014/main" id="{9C5AAEBB-B9A4-4356-916E-2C7F249092B2}"/>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30</a:t>
            </a:r>
          </a:p>
        </p:txBody>
      </p:sp>
    </p:spTree>
    <p:extLst>
      <p:ext uri="{BB962C8B-B14F-4D97-AF65-F5344CB8AC3E}">
        <p14:creationId xmlns:p14="http://schemas.microsoft.com/office/powerpoint/2010/main" val="500617818"/>
      </p:ext>
    </p:extLst>
  </p:cSld>
</p:sld>
</file>

<file path=ppt/slides/slide31.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3AAC8436-B20F-44E3-90A5-E02FD4217362}"/>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DAY 1 · SESSION 2 · 90 MINUTES</a:t>
            </a:r>
          </a:p>
        </p:txBody>
      </p:sp>
      <p:sp>
        <p:nvSpPr>
          <p:cNvPr id="2" name="text">
            <a:extLst xmlns:a="http://schemas.openxmlformats.org/drawingml/2006/main">
              <a:ext uri="{FF2B5EF4-FFF2-40B4-BE49-F238E27FC236}">
                <a16:creationId xmlns:a16="http://schemas.microsoft.com/office/drawing/2014/main" id="{CF97735E-0634-47A7-BE58-04617CA37617}"/>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Open the starter and find the two blanks.</a:t>
            </a:r>
          </a:p>
        </p:txBody>
      </p:sp>
      <p:sp>
        <p:nvSpPr>
          <p:cNvPr id="3" name="shape">
            <a:extLst xmlns:a="http://schemas.openxmlformats.org/drawingml/2006/main">
              <a:ext uri="{FF2B5EF4-FFF2-40B4-BE49-F238E27FC236}">
                <a16:creationId xmlns:a16="http://schemas.microsoft.com/office/drawing/2014/main" id="{DDCA8372-7B21-4BA5-8FAA-45905EB734B0}"/>
              </a:ext>
            </a:extLst>
          </p:cNvPr>
          <p:cNvSpPr>
            <a:spLocks xmlns:a="http://schemas.openxmlformats.org/drawingml/2006/main" noGrp="1"/>
          </p:cNvSpPr>
          <p:nvPr/>
        </p:nvSpPr>
        <p:spPr>
          <a:xfrm xmlns:a="http://schemas.openxmlformats.org/drawingml/2006/main">
            <a:off x="609600" y="2143125"/>
            <a:ext cx="10972800" cy="2200275"/>
          </a:xfrm>
          <a:prstGeom xmlns:a="http://schemas.openxmlformats.org/drawingml/2006/main" prst="rect">
            <a:avLst/>
          </a:prstGeom>
          <a:solidFill xmlns:a="http://schemas.openxmlformats.org/drawingml/2006/main">
            <a:srgbClr val="102735"/>
          </a:solidFill>
          <a:ln xmlns:a="http://schemas.openxmlformats.org/drawingml/2006/main" w="0">
            <a:noFill/>
          </a:ln>
        </p:spPr>
      </p:sp>
      <p:sp>
        <p:nvSpPr>
          <p:cNvPr id="4" name="text">
            <a:extLst xmlns:a="http://schemas.openxmlformats.org/drawingml/2006/main">
              <a:ext uri="{FF2B5EF4-FFF2-40B4-BE49-F238E27FC236}">
                <a16:creationId xmlns:a16="http://schemas.microsoft.com/office/drawing/2014/main" id="{94D08902-CE5B-4529-85E6-ED260CA0A621}"/>
              </a:ext>
            </a:extLst>
          </p:cNvPr>
          <p:cNvSpPr>
            <a:spLocks xmlns:a="http://schemas.openxmlformats.org/drawingml/2006/main" noGrp="1"/>
          </p:cNvSpPr>
          <p:nvPr/>
        </p:nvSpPr>
        <p:spPr>
          <a:xfrm xmlns:a="http://schemas.openxmlformats.org/drawingml/2006/main">
            <a:off x="857250" y="2333625"/>
            <a:ext cx="10477500" cy="187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workshop/first_agent_starter_live.py</a:t>
            </a:r>
          </a:p>
          <a:p xmlns:a="http://schemas.openxmlformats.org/drawingml/2006/main">
            <a:r>
              <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BUDGET = 2_400_000</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UNITS = 30_000</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UNIT_COST = 65</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OTHER_LAUNCH_COSTS = 450_000</a:t>
            </a:r>
          </a:p>
        </p:txBody>
      </p:sp>
      <p:sp>
        <p:nvSpPr>
          <p:cNvPr id="5" name="text">
            <a:extLst xmlns:a="http://schemas.openxmlformats.org/drawingml/2006/main">
              <a:ext uri="{FF2B5EF4-FFF2-40B4-BE49-F238E27FC236}">
                <a16:creationId xmlns:a16="http://schemas.microsoft.com/office/drawing/2014/main" id="{85503390-8C7A-4420-922E-CFBBB70CE7E9}"/>
              </a:ext>
            </a:extLst>
          </p:cNvPr>
          <p:cNvSpPr>
            <a:spLocks xmlns:a="http://schemas.openxmlformats.org/drawingml/2006/main" noGrp="1"/>
          </p:cNvSpPr>
          <p:nvPr/>
        </p:nvSpPr>
        <p:spPr>
          <a:xfrm xmlns:a="http://schemas.openxmlformats.org/drawingml/2006/main">
            <a:off x="609600" y="57912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Underscores make large Python numbers easier to read.</a:t>
            </a:r>
          </a:p>
        </p:txBody>
      </p:sp>
      <p:sp>
        <p:nvSpPr>
          <p:cNvPr id="6" name="shape">
            <a:extLst xmlns:a="http://schemas.openxmlformats.org/drawingml/2006/main">
              <a:ext uri="{FF2B5EF4-FFF2-40B4-BE49-F238E27FC236}">
                <a16:creationId xmlns:a16="http://schemas.microsoft.com/office/drawing/2014/main" id="{F9A32416-BC5B-4E13-933E-409CE00BF9AF}"/>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7E2B29B4-CD25-45B0-961F-850159F8DF3E}"/>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8" name="text">
            <a:extLst xmlns:a="http://schemas.openxmlformats.org/drawingml/2006/main">
              <a:ext uri="{FF2B5EF4-FFF2-40B4-BE49-F238E27FC236}">
                <a16:creationId xmlns:a16="http://schemas.microsoft.com/office/drawing/2014/main" id="{2C0CBAF7-1735-4749-BDB5-AFA2BB71B5FC}"/>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31</a:t>
            </a:r>
          </a:p>
        </p:txBody>
      </p:sp>
    </p:spTree>
    <p:extLst>
      <p:ext uri="{BB962C8B-B14F-4D97-AF65-F5344CB8AC3E}">
        <p14:creationId xmlns:p14="http://schemas.microsoft.com/office/powerpoint/2010/main" val="1999964134"/>
      </p:ext>
    </p:extLst>
  </p:cSld>
</p:sld>
</file>

<file path=ppt/slides/slide32.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A109D9D5-600D-4975-B779-9273842897C3}"/>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DAY 1 · SESSION 2 · 90 MINUTES</a:t>
            </a:r>
          </a:p>
        </p:txBody>
      </p:sp>
      <p:sp>
        <p:nvSpPr>
          <p:cNvPr id="2" name="text">
            <a:extLst xmlns:a="http://schemas.openxmlformats.org/drawingml/2006/main">
              <a:ext uri="{FF2B5EF4-FFF2-40B4-BE49-F238E27FC236}">
                <a16:creationId xmlns:a16="http://schemas.microsoft.com/office/drawing/2014/main" id="{1452D810-9A39-4C16-92FB-DFC7F0CC0E96}"/>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Complete the calculator in two lines.</a:t>
            </a:r>
          </a:p>
        </p:txBody>
      </p:sp>
      <p:sp>
        <p:nvSpPr>
          <p:cNvPr id="3" name="shape">
            <a:extLst xmlns:a="http://schemas.openxmlformats.org/drawingml/2006/main">
              <a:ext uri="{FF2B5EF4-FFF2-40B4-BE49-F238E27FC236}">
                <a16:creationId xmlns:a16="http://schemas.microsoft.com/office/drawing/2014/main" id="{C5B8723E-EEF8-4821-8461-C54EFFCE138C}"/>
              </a:ext>
            </a:extLst>
          </p:cNvPr>
          <p:cNvSpPr>
            <a:spLocks xmlns:a="http://schemas.openxmlformats.org/drawingml/2006/main" noGrp="1"/>
          </p:cNvSpPr>
          <p:nvPr/>
        </p:nvSpPr>
        <p:spPr>
          <a:xfrm xmlns:a="http://schemas.openxmlformats.org/drawingml/2006/main">
            <a:off x="609600" y="2143125"/>
            <a:ext cx="10972800" cy="2190750"/>
          </a:xfrm>
          <a:prstGeom xmlns:a="http://schemas.openxmlformats.org/drawingml/2006/main" prst="rect">
            <a:avLst/>
          </a:prstGeom>
          <a:solidFill xmlns:a="http://schemas.openxmlformats.org/drawingml/2006/main">
            <a:srgbClr val="102735"/>
          </a:solidFill>
          <a:ln xmlns:a="http://schemas.openxmlformats.org/drawingml/2006/main" w="0">
            <a:noFill/>
          </a:ln>
        </p:spPr>
      </p:sp>
      <p:sp>
        <p:nvSpPr>
          <p:cNvPr id="4" name="text">
            <a:extLst xmlns:a="http://schemas.openxmlformats.org/drawingml/2006/main">
              <a:ext uri="{FF2B5EF4-FFF2-40B4-BE49-F238E27FC236}">
                <a16:creationId xmlns:a16="http://schemas.microsoft.com/office/drawing/2014/main" id="{E4CC3CA2-CD21-44F9-BCCE-6CF7186ED3BE}"/>
              </a:ext>
            </a:extLst>
          </p:cNvPr>
          <p:cNvSpPr>
            <a:spLocks xmlns:a="http://schemas.openxmlformats.org/drawingml/2006/main" noGrp="1"/>
          </p:cNvSpPr>
          <p:nvPr/>
        </p:nvSpPr>
        <p:spPr>
          <a:xfrm xmlns:a="http://schemas.openxmlformats.org/drawingml/2006/main">
            <a:off x="857250" y="2333625"/>
            <a:ext cx="104775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cash_needed = UNITS * UNIT_COST + OTHER_LAUNCH_COSTS</a:t>
            </a:r>
          </a:p>
          <a:p xmlns:a="http://schemas.openxmlformats.org/drawingml/2006/main">
            <a:r>
              <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funding_gap = max(0, cash_needed - BUDGET)</a:t>
            </a:r>
          </a:p>
        </p:txBody>
      </p:sp>
      <p:sp>
        <p:nvSpPr>
          <p:cNvPr id="5" name="text">
            <a:extLst xmlns:a="http://schemas.openxmlformats.org/drawingml/2006/main">
              <a:ext uri="{FF2B5EF4-FFF2-40B4-BE49-F238E27FC236}">
                <a16:creationId xmlns:a16="http://schemas.microsoft.com/office/drawing/2014/main" id="{BCDBF1D8-A787-48FE-89CB-90B3769368AD}"/>
              </a:ext>
            </a:extLst>
          </p:cNvPr>
          <p:cNvSpPr>
            <a:spLocks xmlns:a="http://schemas.openxmlformats.org/drawingml/2006/main" noGrp="1"/>
          </p:cNvSpPr>
          <p:nvPr/>
        </p:nvSpPr>
        <p:spPr>
          <a:xfrm xmlns:a="http://schemas.openxmlformats.org/drawingml/2006/main">
            <a:off x="609600" y="57912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max(0, …) means a surplus is not reported as a negative funding gap.</a:t>
            </a:r>
          </a:p>
        </p:txBody>
      </p:sp>
      <p:sp>
        <p:nvSpPr>
          <p:cNvPr id="6" name="shape">
            <a:extLst xmlns:a="http://schemas.openxmlformats.org/drawingml/2006/main">
              <a:ext uri="{FF2B5EF4-FFF2-40B4-BE49-F238E27FC236}">
                <a16:creationId xmlns:a16="http://schemas.microsoft.com/office/drawing/2014/main" id="{2393EB5F-B640-4650-A31F-DEB967B42F04}"/>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50011B7F-D281-4E11-813A-6F0D57628952}"/>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8" name="text">
            <a:extLst xmlns:a="http://schemas.openxmlformats.org/drawingml/2006/main">
              <a:ext uri="{FF2B5EF4-FFF2-40B4-BE49-F238E27FC236}">
                <a16:creationId xmlns:a16="http://schemas.microsoft.com/office/drawing/2014/main" id="{C72ACF92-2D8B-42B0-AFE6-A2869119EA5D}"/>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32</a:t>
            </a:r>
          </a:p>
        </p:txBody>
      </p:sp>
    </p:spTree>
    <p:extLst>
      <p:ext uri="{BB962C8B-B14F-4D97-AF65-F5344CB8AC3E}">
        <p14:creationId xmlns:p14="http://schemas.microsoft.com/office/powerpoint/2010/main" val="307215345"/>
      </p:ext>
    </p:extLst>
  </p:cSld>
</p:sld>
</file>

<file path=ppt/slides/slide33.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85F732E0-AB84-464E-820D-C8FE64ED267A}"/>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DAY 1 · SESSION 2 · 90 MINUTES</a:t>
            </a:r>
          </a:p>
        </p:txBody>
      </p:sp>
      <p:sp>
        <p:nvSpPr>
          <p:cNvPr id="2" name="text">
            <a:extLst xmlns:a="http://schemas.openxmlformats.org/drawingml/2006/main">
              <a:ext uri="{FF2B5EF4-FFF2-40B4-BE49-F238E27FC236}">
                <a16:creationId xmlns:a16="http://schemas.microsoft.com/office/drawing/2014/main" id="{E816F23D-6C37-4036-805D-E629A45971A6}"/>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@tool gives the calculator a clear label.</a:t>
            </a:r>
          </a:p>
        </p:txBody>
      </p:sp>
      <p:sp>
        <p:nvSpPr>
          <p:cNvPr id="3" name="shape">
            <a:extLst xmlns:a="http://schemas.openxmlformats.org/drawingml/2006/main">
              <a:ext uri="{FF2B5EF4-FFF2-40B4-BE49-F238E27FC236}">
                <a16:creationId xmlns:a16="http://schemas.microsoft.com/office/drawing/2014/main" id="{822AA6F4-BE47-4D27-9FF1-F266D4EE424D}"/>
              </a:ext>
            </a:extLst>
          </p:cNvPr>
          <p:cNvSpPr>
            <a:spLocks xmlns:a="http://schemas.openxmlformats.org/drawingml/2006/main" noGrp="1"/>
          </p:cNvSpPr>
          <p:nvPr/>
        </p:nvSpPr>
        <p:spPr>
          <a:xfrm xmlns:a="http://schemas.openxmlformats.org/drawingml/2006/main">
            <a:off x="609600" y="2143125"/>
            <a:ext cx="10972800" cy="2190750"/>
          </a:xfrm>
          <a:prstGeom xmlns:a="http://schemas.openxmlformats.org/drawingml/2006/main" prst="rect">
            <a:avLst/>
          </a:prstGeom>
          <a:solidFill xmlns:a="http://schemas.openxmlformats.org/drawingml/2006/main">
            <a:srgbClr val="102735"/>
          </a:solidFill>
          <a:ln xmlns:a="http://schemas.openxmlformats.org/drawingml/2006/main" w="0">
            <a:noFill/>
          </a:ln>
        </p:spPr>
      </p:sp>
      <p:sp>
        <p:nvSpPr>
          <p:cNvPr id="4" name="text">
            <a:extLst xmlns:a="http://schemas.openxmlformats.org/drawingml/2006/main">
              <a:ext uri="{FF2B5EF4-FFF2-40B4-BE49-F238E27FC236}">
                <a16:creationId xmlns:a16="http://schemas.microsoft.com/office/drawing/2014/main" id="{D709890A-3192-4146-9B2A-079727C1900D}"/>
              </a:ext>
            </a:extLst>
          </p:cNvPr>
          <p:cNvSpPr>
            <a:spLocks xmlns:a="http://schemas.openxmlformats.org/drawingml/2006/main" noGrp="1"/>
          </p:cNvSpPr>
          <p:nvPr/>
        </p:nvSpPr>
        <p:spPr>
          <a:xfrm xmlns:a="http://schemas.openxmlformats.org/drawingml/2006/main">
            <a:off x="857250" y="2333625"/>
            <a:ext cx="104775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@tool</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def estimate_launch_cash() -&gt; dict:</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    """Calculate launch cash and compare the budget."""</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    cash_needed = UNITS * UNIT_COST + OTHER_LAUNCH_COSTS</a:t>
            </a:r>
          </a:p>
        </p:txBody>
      </p:sp>
      <p:sp>
        <p:nvSpPr>
          <p:cNvPr id="5" name="text">
            <a:extLst xmlns:a="http://schemas.openxmlformats.org/drawingml/2006/main">
              <a:ext uri="{FF2B5EF4-FFF2-40B4-BE49-F238E27FC236}">
                <a16:creationId xmlns:a16="http://schemas.microsoft.com/office/drawing/2014/main" id="{127696C9-EB80-447B-AFBC-7BC44D99C735}"/>
              </a:ext>
            </a:extLst>
          </p:cNvPr>
          <p:cNvSpPr>
            <a:spLocks xmlns:a="http://schemas.openxmlformats.org/drawingml/2006/main" noGrp="1"/>
          </p:cNvSpPr>
          <p:nvPr/>
        </p:nvSpPr>
        <p:spPr>
          <a:xfrm xmlns:a="http://schemas.openxmlformats.org/drawingml/2006/main">
            <a:off x="609600" y="57912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A named function becomes a capability the agent may call.</a:t>
            </a:r>
          </a:p>
        </p:txBody>
      </p:sp>
      <p:sp>
        <p:nvSpPr>
          <p:cNvPr id="6" name="shape">
            <a:extLst xmlns:a="http://schemas.openxmlformats.org/drawingml/2006/main">
              <a:ext uri="{FF2B5EF4-FFF2-40B4-BE49-F238E27FC236}">
                <a16:creationId xmlns:a16="http://schemas.microsoft.com/office/drawing/2014/main" id="{8BEFD810-A5E5-400F-B571-539A6F956A12}"/>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39822D85-5EE0-4EF5-92F6-5589CFB58340}"/>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8" name="text">
            <a:extLst xmlns:a="http://schemas.openxmlformats.org/drawingml/2006/main">
              <a:ext uri="{FF2B5EF4-FFF2-40B4-BE49-F238E27FC236}">
                <a16:creationId xmlns:a16="http://schemas.microsoft.com/office/drawing/2014/main" id="{8AC1EC92-E4EE-4EC7-96D0-E4D111AC790B}"/>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33</a:t>
            </a:r>
          </a:p>
        </p:txBody>
      </p:sp>
    </p:spTree>
    <p:extLst>
      <p:ext uri="{BB962C8B-B14F-4D97-AF65-F5344CB8AC3E}">
        <p14:creationId xmlns:p14="http://schemas.microsoft.com/office/powerpoint/2010/main" val="480073715"/>
      </p:ext>
    </p:extLst>
  </p:cSld>
</p:sld>
</file>

<file path=ppt/slides/slide34.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04CD1F51-B5FB-45A0-815F-2F232FBBEE20}"/>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DAY 1 · SESSION 2 · 90 MINUTES</a:t>
            </a:r>
          </a:p>
        </p:txBody>
      </p:sp>
      <p:sp>
        <p:nvSpPr>
          <p:cNvPr id="2" name="text">
            <a:extLst xmlns:a="http://schemas.openxmlformats.org/drawingml/2006/main">
              <a:ext uri="{FF2B5EF4-FFF2-40B4-BE49-F238E27FC236}">
                <a16:creationId xmlns:a16="http://schemas.microsoft.com/office/drawing/2014/main" id="{49A56316-5EA0-41CF-94D4-2042933C29EE}"/>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create_agent connects the working parts.</a:t>
            </a:r>
          </a:p>
        </p:txBody>
      </p:sp>
      <p:sp>
        <p:nvSpPr>
          <p:cNvPr id="3" name="shape">
            <a:extLst xmlns:a="http://schemas.openxmlformats.org/drawingml/2006/main">
              <a:ext uri="{FF2B5EF4-FFF2-40B4-BE49-F238E27FC236}">
                <a16:creationId xmlns:a16="http://schemas.microsoft.com/office/drawing/2014/main" id="{592D09E9-A530-4484-A69D-52CA39E1B1B3}"/>
              </a:ext>
            </a:extLst>
          </p:cNvPr>
          <p:cNvSpPr>
            <a:spLocks xmlns:a="http://schemas.openxmlformats.org/drawingml/2006/main" noGrp="1"/>
          </p:cNvSpPr>
          <p:nvPr/>
        </p:nvSpPr>
        <p:spPr>
          <a:xfrm xmlns:a="http://schemas.openxmlformats.org/drawingml/2006/main">
            <a:off x="609600" y="2143125"/>
            <a:ext cx="10972800" cy="2190750"/>
          </a:xfrm>
          <a:prstGeom xmlns:a="http://schemas.openxmlformats.org/drawingml/2006/main" prst="rect">
            <a:avLst/>
          </a:prstGeom>
          <a:solidFill xmlns:a="http://schemas.openxmlformats.org/drawingml/2006/main">
            <a:srgbClr val="102735"/>
          </a:solidFill>
          <a:ln xmlns:a="http://schemas.openxmlformats.org/drawingml/2006/main" w="0">
            <a:noFill/>
          </a:ln>
        </p:spPr>
      </p:sp>
      <p:sp>
        <p:nvSpPr>
          <p:cNvPr id="4" name="text">
            <a:extLst xmlns:a="http://schemas.openxmlformats.org/drawingml/2006/main">
              <a:ext uri="{FF2B5EF4-FFF2-40B4-BE49-F238E27FC236}">
                <a16:creationId xmlns:a16="http://schemas.microsoft.com/office/drawing/2014/main" id="{7899AB9B-90D6-4311-9637-B3417B332958}"/>
              </a:ext>
            </a:extLst>
          </p:cNvPr>
          <p:cNvSpPr>
            <a:spLocks xmlns:a="http://schemas.openxmlformats.org/drawingml/2006/main" noGrp="1"/>
          </p:cNvSpPr>
          <p:nvPr/>
        </p:nvSpPr>
        <p:spPr>
          <a:xfrm xmlns:a="http://schemas.openxmlformats.org/drawingml/2006/main">
            <a:off x="857250" y="2333625"/>
            <a:ext cx="104775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agent = create_agent(</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    model=workshop_model(),</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    tools=[estimate_launch_cash],</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    system_prompt="Use the cash tool. A human decides.",</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a:t>
            </a:r>
          </a:p>
        </p:txBody>
      </p:sp>
      <p:sp>
        <p:nvSpPr>
          <p:cNvPr id="5" name="text">
            <a:extLst xmlns:a="http://schemas.openxmlformats.org/drawingml/2006/main">
              <a:ext uri="{FF2B5EF4-FFF2-40B4-BE49-F238E27FC236}">
                <a16:creationId xmlns:a16="http://schemas.microsoft.com/office/drawing/2014/main" id="{854F233C-9181-4FD7-A30E-384C8488E3B3}"/>
              </a:ext>
            </a:extLst>
          </p:cNvPr>
          <p:cNvSpPr>
            <a:spLocks xmlns:a="http://schemas.openxmlformats.org/drawingml/2006/main" noGrp="1"/>
          </p:cNvSpPr>
          <p:nvPr/>
        </p:nvSpPr>
        <p:spPr>
          <a:xfrm xmlns:a="http://schemas.openxmlformats.org/drawingml/2006/main">
            <a:off x="609600" y="57912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workshop_model() loads your live Gemini configuration.</a:t>
            </a:r>
          </a:p>
        </p:txBody>
      </p:sp>
      <p:sp>
        <p:nvSpPr>
          <p:cNvPr id="6" name="shape">
            <a:extLst xmlns:a="http://schemas.openxmlformats.org/drawingml/2006/main">
              <a:ext uri="{FF2B5EF4-FFF2-40B4-BE49-F238E27FC236}">
                <a16:creationId xmlns:a16="http://schemas.microsoft.com/office/drawing/2014/main" id="{D0A07471-5948-4B33-B153-1D4169D58FEE}"/>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8D3E32CE-9780-4286-8C8B-9E44FD74068B}"/>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8" name="text">
            <a:extLst xmlns:a="http://schemas.openxmlformats.org/drawingml/2006/main">
              <a:ext uri="{FF2B5EF4-FFF2-40B4-BE49-F238E27FC236}">
                <a16:creationId xmlns:a16="http://schemas.microsoft.com/office/drawing/2014/main" id="{9FE91475-9C83-413D-9EE9-78577FD985DB}"/>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34</a:t>
            </a:r>
          </a:p>
        </p:txBody>
      </p:sp>
    </p:spTree>
    <p:extLst>
      <p:ext uri="{BB962C8B-B14F-4D97-AF65-F5344CB8AC3E}">
        <p14:creationId xmlns:p14="http://schemas.microsoft.com/office/powerpoint/2010/main" val="1634564318"/>
      </p:ext>
    </p:extLst>
  </p:cSld>
</p:sld>
</file>

<file path=ppt/slides/slide35.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39D50337-29F3-41F0-A97A-3D712D3ED7E6}"/>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DAY 1 · SESSION 2 · 90 MINUTES</a:t>
            </a:r>
          </a:p>
        </p:txBody>
      </p:sp>
      <p:sp>
        <p:nvSpPr>
          <p:cNvPr id="2" name="text">
            <a:extLst xmlns:a="http://schemas.openxmlformats.org/drawingml/2006/main">
              <a:ext uri="{FF2B5EF4-FFF2-40B4-BE49-F238E27FC236}">
                <a16:creationId xmlns:a16="http://schemas.microsoft.com/office/drawing/2014/main" id="{203C22CC-D902-4616-B75B-93C6A3F7FBE8}"/>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invoke starts one conversation turn.</a:t>
            </a:r>
          </a:p>
        </p:txBody>
      </p:sp>
      <p:sp>
        <p:nvSpPr>
          <p:cNvPr id="3" name="shape">
            <a:extLst xmlns:a="http://schemas.openxmlformats.org/drawingml/2006/main">
              <a:ext uri="{FF2B5EF4-FFF2-40B4-BE49-F238E27FC236}">
                <a16:creationId xmlns:a16="http://schemas.microsoft.com/office/drawing/2014/main" id="{A35789D2-8993-489F-9C02-0314850E4A7E}"/>
              </a:ext>
            </a:extLst>
          </p:cNvPr>
          <p:cNvSpPr>
            <a:spLocks xmlns:a="http://schemas.openxmlformats.org/drawingml/2006/main" noGrp="1"/>
          </p:cNvSpPr>
          <p:nvPr/>
        </p:nvSpPr>
        <p:spPr>
          <a:xfrm xmlns:a="http://schemas.openxmlformats.org/drawingml/2006/main">
            <a:off x="609600" y="2143125"/>
            <a:ext cx="10972800" cy="2495550"/>
          </a:xfrm>
          <a:prstGeom xmlns:a="http://schemas.openxmlformats.org/drawingml/2006/main" prst="rect">
            <a:avLst/>
          </a:prstGeom>
          <a:solidFill xmlns:a="http://schemas.openxmlformats.org/drawingml/2006/main">
            <a:srgbClr val="102735"/>
          </a:solidFill>
          <a:ln xmlns:a="http://schemas.openxmlformats.org/drawingml/2006/main" w="0">
            <a:noFill/>
          </a:ln>
        </p:spPr>
      </p:sp>
      <p:sp>
        <p:nvSpPr>
          <p:cNvPr id="4" name="text">
            <a:extLst xmlns:a="http://schemas.openxmlformats.org/drawingml/2006/main">
              <a:ext uri="{FF2B5EF4-FFF2-40B4-BE49-F238E27FC236}">
                <a16:creationId xmlns:a16="http://schemas.microsoft.com/office/drawing/2014/main" id="{9BBE0B28-1487-4FD2-BA7C-ED506CF4D98D}"/>
              </a:ext>
            </a:extLst>
          </p:cNvPr>
          <p:cNvSpPr>
            <a:spLocks xmlns:a="http://schemas.openxmlformats.org/drawingml/2006/main" noGrp="1"/>
          </p:cNvSpPr>
          <p:nvPr/>
        </p:nvSpPr>
        <p:spPr>
          <a:xfrm xmlns:a="http://schemas.openxmlformats.org/drawingml/2006/main">
            <a:off x="857250" y="2333625"/>
            <a:ext cx="10477500"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result = agent.invoke({</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    "messages": [{</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        "role": "user",</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        "content": "Check the launch budget."</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    }]</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print(result["messages"][-1].content)</a:t>
            </a:r>
          </a:p>
        </p:txBody>
      </p:sp>
      <p:sp>
        <p:nvSpPr>
          <p:cNvPr id="5" name="text">
            <a:extLst xmlns:a="http://schemas.openxmlformats.org/drawingml/2006/main">
              <a:ext uri="{FF2B5EF4-FFF2-40B4-BE49-F238E27FC236}">
                <a16:creationId xmlns:a16="http://schemas.microsoft.com/office/drawing/2014/main" id="{15CF127F-DD7C-48C3-9448-93F1E9719CAB}"/>
              </a:ext>
            </a:extLst>
          </p:cNvPr>
          <p:cNvSpPr>
            <a:spLocks xmlns:a="http://schemas.openxmlformats.org/drawingml/2006/main" noGrp="1"/>
          </p:cNvSpPr>
          <p:nvPr/>
        </p:nvSpPr>
        <p:spPr>
          <a:xfrm xmlns:a="http://schemas.openxmlformats.org/drawingml/2006/main">
            <a:off x="609600" y="57912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messages is the conversation. [-1] selects its final message.</a:t>
            </a:r>
          </a:p>
        </p:txBody>
      </p:sp>
      <p:sp>
        <p:nvSpPr>
          <p:cNvPr id="6" name="shape">
            <a:extLst xmlns:a="http://schemas.openxmlformats.org/drawingml/2006/main">
              <a:ext uri="{FF2B5EF4-FFF2-40B4-BE49-F238E27FC236}">
                <a16:creationId xmlns:a16="http://schemas.microsoft.com/office/drawing/2014/main" id="{A4F8278C-B51F-4FF7-9EFC-07FCCCB14226}"/>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5780D5C8-83DA-43B2-94F0-E4097AA59DB3}"/>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8" name="text">
            <a:extLst xmlns:a="http://schemas.openxmlformats.org/drawingml/2006/main">
              <a:ext uri="{FF2B5EF4-FFF2-40B4-BE49-F238E27FC236}">
                <a16:creationId xmlns:a16="http://schemas.microsoft.com/office/drawing/2014/main" id="{A5A6343E-12F6-44D7-8ABA-044096759A93}"/>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35</a:t>
            </a:r>
          </a:p>
        </p:txBody>
      </p:sp>
    </p:spTree>
    <p:extLst>
      <p:ext uri="{BB962C8B-B14F-4D97-AF65-F5344CB8AC3E}">
        <p14:creationId xmlns:p14="http://schemas.microsoft.com/office/powerpoint/2010/main" val="2108663551"/>
      </p:ext>
    </p:extLst>
  </p:cSld>
</p:sld>
</file>

<file path=ppt/slides/slide36.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8" name="text">
            <a:extLst xmlns:a="http://schemas.openxmlformats.org/drawingml/2006/main">
              <a:ext uri="{FF2B5EF4-FFF2-40B4-BE49-F238E27FC236}">
                <a16:creationId xmlns:a16="http://schemas.microsoft.com/office/drawing/2014/main" id="{86163280-580F-4736-86B3-44CABFA30E87}"/>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DAY 1 · SESSION 2 · 90 MINUTES</a:t>
            </a:r>
          </a:p>
        </p:txBody>
      </p:sp>
      <p:sp>
        <p:nvSpPr>
          <p:cNvPr id="2" name="text">
            <a:extLst xmlns:a="http://schemas.openxmlformats.org/drawingml/2006/main">
              <a:ext uri="{FF2B5EF4-FFF2-40B4-BE49-F238E27FC236}">
                <a16:creationId xmlns:a16="http://schemas.microsoft.com/office/drawing/2014/main" id="{5792AB28-5CF7-4AB2-95FF-98DCA861D73A}"/>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Run your first agent and check the result.</a:t>
            </a:r>
          </a:p>
        </p:txBody>
      </p:sp>
      <p:sp>
        <p:nvSpPr>
          <p:cNvPr id="3" name="shape">
            <a:extLst xmlns:a="http://schemas.openxmlformats.org/drawingml/2006/main">
              <a:ext uri="{FF2B5EF4-FFF2-40B4-BE49-F238E27FC236}">
                <a16:creationId xmlns:a16="http://schemas.microsoft.com/office/drawing/2014/main" id="{7FCB216A-DB69-4C72-9F32-BA1F8E4CBD90}"/>
              </a:ext>
            </a:extLst>
          </p:cNvPr>
          <p:cNvSpPr>
            <a:spLocks xmlns:a="http://schemas.openxmlformats.org/drawingml/2006/main" noGrp="1"/>
          </p:cNvSpPr>
          <p:nvPr/>
        </p:nvSpPr>
        <p:spPr>
          <a:xfrm xmlns:a="http://schemas.openxmlformats.org/drawingml/2006/main">
            <a:off x="609600" y="2143125"/>
            <a:ext cx="10972800" cy="2200275"/>
          </a:xfrm>
          <a:prstGeom xmlns:a="http://schemas.openxmlformats.org/drawingml/2006/main" prst="rect">
            <a:avLst/>
          </a:prstGeom>
          <a:solidFill xmlns:a="http://schemas.openxmlformats.org/drawingml/2006/main">
            <a:srgbClr val="102735"/>
          </a:solidFill>
          <a:ln xmlns:a="http://schemas.openxmlformats.org/drawingml/2006/main" w="0">
            <a:noFill/>
          </a:ln>
        </p:spPr>
      </p:sp>
      <p:sp>
        <p:nvSpPr>
          <p:cNvPr id="4" name="text">
            <a:extLst xmlns:a="http://schemas.openxmlformats.org/drawingml/2006/main">
              <a:ext uri="{FF2B5EF4-FFF2-40B4-BE49-F238E27FC236}">
                <a16:creationId xmlns:a16="http://schemas.microsoft.com/office/drawing/2014/main" id="{5E3CDD26-90FD-4CA5-8FB0-89D3E6AC73CC}"/>
              </a:ext>
            </a:extLst>
          </p:cNvPr>
          <p:cNvSpPr>
            <a:spLocks xmlns:a="http://schemas.openxmlformats.org/drawingml/2006/main" noGrp="1"/>
          </p:cNvSpPr>
          <p:nvPr/>
        </p:nvSpPr>
        <p:spPr>
          <a:xfrm xmlns:a="http://schemas.openxmlformats.org/drawingml/2006/main">
            <a:off x="857250" y="2333625"/>
            <a:ext cx="10477500" cy="187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uv run python workshop/first_agent_starter_live.py</a:t>
            </a:r>
          </a:p>
          <a:p xmlns:a="http://schemas.openxmlformats.org/drawingml/2006/main">
            <a:r>
              <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 Check the numbers in the live answer:</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 cash needed: 2400000</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 funding gap: 0</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 decision: human review required</a:t>
            </a:r>
          </a:p>
        </p:txBody>
      </p:sp>
      <p:sp>
        <p:nvSpPr>
          <p:cNvPr id="5" name="shape">
            <a:extLst xmlns:a="http://schemas.openxmlformats.org/drawingml/2006/main">
              <a:ext uri="{FF2B5EF4-FFF2-40B4-BE49-F238E27FC236}">
                <a16:creationId xmlns:a16="http://schemas.microsoft.com/office/drawing/2014/main" id="{A4B227B2-6520-4FB4-B241-8E9C584E3254}"/>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EF3C8D68-2670-4531-9B53-A2C11A92370B}"/>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7" name="text">
            <a:extLst xmlns:a="http://schemas.openxmlformats.org/drawingml/2006/main">
              <a:ext uri="{FF2B5EF4-FFF2-40B4-BE49-F238E27FC236}">
                <a16:creationId xmlns:a16="http://schemas.microsoft.com/office/drawing/2014/main" id="{918A6B2E-B9E2-48A3-8AA9-461499B1A27A}"/>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36</a:t>
            </a:r>
          </a:p>
        </p:txBody>
      </p:sp>
    </p:spTree>
    <p:extLst>
      <p:ext uri="{BB962C8B-B14F-4D97-AF65-F5344CB8AC3E}">
        <p14:creationId xmlns:p14="http://schemas.microsoft.com/office/powerpoint/2010/main" val="1001760846"/>
      </p:ext>
    </p:extLst>
  </p:cSld>
</p:sld>
</file>

<file path=ppt/slides/slide37.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3" name="text">
            <a:extLst xmlns:a="http://schemas.openxmlformats.org/drawingml/2006/main">
              <a:ext uri="{FF2B5EF4-FFF2-40B4-BE49-F238E27FC236}">
                <a16:creationId xmlns:a16="http://schemas.microsoft.com/office/drawing/2014/main" id="{3499961F-C719-44DA-9E5B-4D9687490FD6}"/>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DAY 1 · SESSION 2 · 90 MINUTES</a:t>
            </a:r>
          </a:p>
        </p:txBody>
      </p:sp>
      <p:sp>
        <p:nvSpPr>
          <p:cNvPr id="2" name="text">
            <a:extLst xmlns:a="http://schemas.openxmlformats.org/drawingml/2006/main">
              <a:ext uri="{FF2B5EF4-FFF2-40B4-BE49-F238E27FC236}">
                <a16:creationId xmlns:a16="http://schemas.microsoft.com/office/drawing/2014/main" id="{592F13AA-4EED-41C3-B038-245BBC0E39F4}"/>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Change one number. Predict before you run.</a:t>
            </a:r>
          </a:p>
        </p:txBody>
      </p:sp>
      <p:sp>
        <p:nvSpPr>
          <p:cNvPr id="3" name="text">
            <a:extLst xmlns:a="http://schemas.openxmlformats.org/drawingml/2006/main">
              <a:ext uri="{FF2B5EF4-FFF2-40B4-BE49-F238E27FC236}">
                <a16:creationId xmlns:a16="http://schemas.microsoft.com/office/drawing/2014/main" id="{4C382679-949C-468F-B29C-027A9652B910}"/>
              </a:ext>
            </a:extLst>
          </p:cNvPr>
          <p:cNvSpPr>
            <a:spLocks xmlns:a="http://schemas.openxmlformats.org/drawingml/2006/main" noGrp="1"/>
          </p:cNvSpPr>
          <p:nvPr/>
        </p:nvSpPr>
        <p:spPr>
          <a:xfrm xmlns:a="http://schemas.openxmlformats.org/drawingml/2006/main">
            <a:off x="609600" y="2524125"/>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01 · START</a:t>
            </a:r>
          </a:p>
        </p:txBody>
      </p:sp>
      <p:sp>
        <p:nvSpPr>
          <p:cNvPr id="4" name="text">
            <a:extLst xmlns:a="http://schemas.openxmlformats.org/drawingml/2006/main">
              <a:ext uri="{FF2B5EF4-FFF2-40B4-BE49-F238E27FC236}">
                <a16:creationId xmlns:a16="http://schemas.microsoft.com/office/drawing/2014/main" id="{F1A1B8DD-CBBB-43A5-9EAB-69F3EE68DB26}"/>
              </a:ext>
            </a:extLst>
          </p:cNvPr>
          <p:cNvSpPr>
            <a:spLocks xmlns:a="http://schemas.openxmlformats.org/drawingml/2006/main" noGrp="1"/>
          </p:cNvSpPr>
          <p:nvPr/>
        </p:nvSpPr>
        <p:spPr>
          <a:xfrm xmlns:a="http://schemas.openxmlformats.org/drawingml/2006/main">
            <a:off x="609600" y="3114675"/>
            <a:ext cx="345757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142C38"/>
                </a:solidFill>
                <a:latin typeface="Aptos"/>
                <a:ea typeface="Aptos"/>
                <a:cs typeface="Aptos"/>
              </a:defRPr>
            </a:pPr>
            <a:r>
              <a:rPr sz="3150" b="1">
                <a:solidFill>
                  <a:srgbClr val="142C38"/>
                </a:solidFill>
                <a:latin typeface="Aptos"/>
                <a:ea typeface="Aptos"/>
                <a:cs typeface="Aptos"/>
              </a:rPr>
              <a:t>Budget ₹18 lakh</a:t>
            </a:r>
          </a:p>
        </p:txBody>
      </p:sp>
      <p:sp>
        <p:nvSpPr>
          <p:cNvPr id="5" name="text">
            <a:extLst xmlns:a="http://schemas.openxmlformats.org/drawingml/2006/main">
              <a:ext uri="{FF2B5EF4-FFF2-40B4-BE49-F238E27FC236}">
                <a16:creationId xmlns:a16="http://schemas.microsoft.com/office/drawing/2014/main" id="{C20D20D8-F21D-437F-8AAE-7AF8BD65A361}"/>
              </a:ext>
            </a:extLst>
          </p:cNvPr>
          <p:cNvSpPr>
            <a:spLocks xmlns:a="http://schemas.openxmlformats.org/drawingml/2006/main" noGrp="1"/>
          </p:cNvSpPr>
          <p:nvPr/>
        </p:nvSpPr>
        <p:spPr>
          <a:xfrm xmlns:a="http://schemas.openxmlformats.org/drawingml/2006/main">
            <a:off x="4314825" y="2524125"/>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02 · CHANGE</a:t>
            </a:r>
          </a:p>
        </p:txBody>
      </p:sp>
      <p:sp>
        <p:nvSpPr>
          <p:cNvPr id="6" name="text">
            <a:extLst xmlns:a="http://schemas.openxmlformats.org/drawingml/2006/main">
              <a:ext uri="{FF2B5EF4-FFF2-40B4-BE49-F238E27FC236}">
                <a16:creationId xmlns:a16="http://schemas.microsoft.com/office/drawing/2014/main" id="{DAE1F1EF-9BAA-4D21-8217-6F360B41D82B}"/>
              </a:ext>
            </a:extLst>
          </p:cNvPr>
          <p:cNvSpPr>
            <a:spLocks xmlns:a="http://schemas.openxmlformats.org/drawingml/2006/main" noGrp="1"/>
          </p:cNvSpPr>
          <p:nvPr/>
        </p:nvSpPr>
        <p:spPr>
          <a:xfrm xmlns:a="http://schemas.openxmlformats.org/drawingml/2006/main">
            <a:off x="4314825" y="3114675"/>
            <a:ext cx="345757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142C38"/>
                </a:solidFill>
                <a:latin typeface="Aptos"/>
                <a:ea typeface="Aptos"/>
                <a:cs typeface="Aptos"/>
              </a:defRPr>
            </a:pPr>
            <a:r>
              <a:rPr sz="3150" b="1">
                <a:solidFill>
                  <a:srgbClr val="142C38"/>
                </a:solidFill>
                <a:latin typeface="Aptos"/>
                <a:ea typeface="Aptos"/>
                <a:cs typeface="Aptos"/>
              </a:rPr>
              <a:t>Cash = ₹24 lakh</a:t>
            </a:r>
          </a:p>
        </p:txBody>
      </p:sp>
      <p:sp>
        <p:nvSpPr>
          <p:cNvPr id="7" name="text">
            <a:extLst xmlns:a="http://schemas.openxmlformats.org/drawingml/2006/main">
              <a:ext uri="{FF2B5EF4-FFF2-40B4-BE49-F238E27FC236}">
                <a16:creationId xmlns:a16="http://schemas.microsoft.com/office/drawing/2014/main" id="{D441357E-1DAC-4EB0-9D11-DC4DC9CBFF3C}"/>
              </a:ext>
            </a:extLst>
          </p:cNvPr>
          <p:cNvSpPr>
            <a:spLocks xmlns:a="http://schemas.openxmlformats.org/drawingml/2006/main" noGrp="1"/>
          </p:cNvSpPr>
          <p:nvPr/>
        </p:nvSpPr>
        <p:spPr>
          <a:xfrm xmlns:a="http://schemas.openxmlformats.org/drawingml/2006/main">
            <a:off x="8020050" y="2524125"/>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03 · CHECK</a:t>
            </a:r>
          </a:p>
        </p:txBody>
      </p:sp>
      <p:sp>
        <p:nvSpPr>
          <p:cNvPr id="8" name="text">
            <a:extLst xmlns:a="http://schemas.openxmlformats.org/drawingml/2006/main">
              <a:ext uri="{FF2B5EF4-FFF2-40B4-BE49-F238E27FC236}">
                <a16:creationId xmlns:a16="http://schemas.microsoft.com/office/drawing/2014/main" id="{3D856B06-4503-4DC6-82C7-764680AE9CE9}"/>
              </a:ext>
            </a:extLst>
          </p:cNvPr>
          <p:cNvSpPr>
            <a:spLocks xmlns:a="http://schemas.openxmlformats.org/drawingml/2006/main" noGrp="1"/>
          </p:cNvSpPr>
          <p:nvPr/>
        </p:nvSpPr>
        <p:spPr>
          <a:xfrm xmlns:a="http://schemas.openxmlformats.org/drawingml/2006/main">
            <a:off x="8020050" y="3114675"/>
            <a:ext cx="345757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142C38"/>
                </a:solidFill>
                <a:latin typeface="Aptos"/>
                <a:ea typeface="Aptos"/>
                <a:cs typeface="Aptos"/>
              </a:defRPr>
            </a:pPr>
            <a:r>
              <a:rPr sz="3150" b="1">
                <a:solidFill>
                  <a:srgbClr val="142C38"/>
                </a:solidFill>
                <a:latin typeface="Aptos"/>
                <a:ea typeface="Aptos"/>
                <a:cs typeface="Aptos"/>
              </a:rPr>
              <a:t>Gap = ₹6 lakh</a:t>
            </a:r>
          </a:p>
        </p:txBody>
      </p:sp>
      <p:sp>
        <p:nvSpPr>
          <p:cNvPr id="9" name="text">
            <a:extLst xmlns:a="http://schemas.openxmlformats.org/drawingml/2006/main">
              <a:ext uri="{FF2B5EF4-FFF2-40B4-BE49-F238E27FC236}">
                <a16:creationId xmlns:a16="http://schemas.microsoft.com/office/drawing/2014/main" id="{4D2D08A9-2840-4E93-9E21-6783900F5FBA}"/>
              </a:ext>
            </a:extLst>
          </p:cNvPr>
          <p:cNvSpPr>
            <a:spLocks xmlns:a="http://schemas.openxmlformats.org/drawingml/2006/main" noGrp="1"/>
          </p:cNvSpPr>
          <p:nvPr/>
        </p:nvSpPr>
        <p:spPr>
          <a:xfrm xmlns:a="http://schemas.openxmlformats.org/drawingml/2006/main">
            <a:off x="609600" y="53625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Set BUDGET = 1_800_000 in the starter, save, then rerun. Expected: HOLD.</a:t>
            </a:r>
          </a:p>
        </p:txBody>
      </p:sp>
      <p:sp>
        <p:nvSpPr>
          <p:cNvPr id="10" name="shape">
            <a:extLst xmlns:a="http://schemas.openxmlformats.org/drawingml/2006/main">
              <a:ext uri="{FF2B5EF4-FFF2-40B4-BE49-F238E27FC236}">
                <a16:creationId xmlns:a16="http://schemas.microsoft.com/office/drawing/2014/main" id="{ACB4FE23-E96E-4DC5-BA96-9CA2F52368F5}"/>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350C2732-E1B6-4363-BA04-18F4EDEB9259}"/>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12" name="text">
            <a:extLst xmlns:a="http://schemas.openxmlformats.org/drawingml/2006/main">
              <a:ext uri="{FF2B5EF4-FFF2-40B4-BE49-F238E27FC236}">
                <a16:creationId xmlns:a16="http://schemas.microsoft.com/office/drawing/2014/main" id="{F4358018-7FFC-455C-A589-E6F502A99EBD}"/>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37</a:t>
            </a:r>
          </a:p>
        </p:txBody>
      </p:sp>
    </p:spTree>
    <p:extLst>
      <p:ext uri="{BB962C8B-B14F-4D97-AF65-F5344CB8AC3E}">
        <p14:creationId xmlns:p14="http://schemas.microsoft.com/office/powerpoint/2010/main" val="1086522637"/>
      </p:ext>
    </p:extLst>
  </p:cSld>
</p:sld>
</file>

<file path=ppt/slides/slide38.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21" name="text">
            <a:extLst xmlns:a="http://schemas.openxmlformats.org/drawingml/2006/main">
              <a:ext uri="{FF2B5EF4-FFF2-40B4-BE49-F238E27FC236}">
                <a16:creationId xmlns:a16="http://schemas.microsoft.com/office/drawing/2014/main" id="{FECE9C58-7D2E-4BCC-9E7D-7258EE21322F}"/>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DAY 1 · SESSION 2 · 90 MINUTES</a:t>
            </a:r>
          </a:p>
        </p:txBody>
      </p:sp>
      <p:sp>
        <p:nvSpPr>
          <p:cNvPr id="2" name="text">
            <a:extLst xmlns:a="http://schemas.openxmlformats.org/drawingml/2006/main">
              <a:ext uri="{FF2B5EF4-FFF2-40B4-BE49-F238E27FC236}">
                <a16:creationId xmlns:a16="http://schemas.microsoft.com/office/drawing/2014/main" id="{9B1BDCA2-8FD2-46A5-90C7-F49145320963}"/>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The tiny lab and the full app are separate.</a:t>
            </a:r>
          </a:p>
        </p:txBody>
      </p:sp>
      <p:sp>
        <p:nvSpPr>
          <p:cNvPr id="3" name="text">
            <a:extLst xmlns:a="http://schemas.openxmlformats.org/drawingml/2006/main">
              <a:ext uri="{FF2B5EF4-FFF2-40B4-BE49-F238E27FC236}">
                <a16:creationId xmlns:a16="http://schemas.microsoft.com/office/drawing/2014/main" id="{B63CC3F8-B966-4C19-B1C5-98C928E3B1CF}"/>
              </a:ext>
            </a:extLst>
          </p:cNvPr>
          <p:cNvSpPr>
            <a:spLocks xmlns:a="http://schemas.openxmlformats.org/drawingml/2006/main" noGrp="1"/>
          </p:cNvSpPr>
          <p:nvPr/>
        </p:nvSpPr>
        <p:spPr>
          <a:xfrm xmlns:a="http://schemas.openxmlformats.org/drawingml/2006/main">
            <a:off x="609600" y="2238375"/>
            <a:ext cx="5276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FIRST-AGENT LAB</a:t>
            </a:r>
          </a:p>
        </p:txBody>
      </p:sp>
      <p:sp>
        <p:nvSpPr>
          <p:cNvPr id="4" name="text">
            <a:extLst xmlns:a="http://schemas.openxmlformats.org/drawingml/2006/main">
              <a:ext uri="{FF2B5EF4-FFF2-40B4-BE49-F238E27FC236}">
                <a16:creationId xmlns:a16="http://schemas.microsoft.com/office/drawing/2014/main" id="{733C6400-D09B-43A0-8FE6-5BA6601C9A10}"/>
              </a:ext>
            </a:extLst>
          </p:cNvPr>
          <p:cNvSpPr>
            <a:spLocks xmlns:a="http://schemas.openxmlformats.org/drawingml/2006/main" noGrp="1"/>
          </p:cNvSpPr>
          <p:nvPr/>
        </p:nvSpPr>
        <p:spPr>
          <a:xfrm xmlns:a="http://schemas.openxmlformats.org/drawingml/2006/main">
            <a:off x="6096000" y="2238375"/>
            <a:ext cx="5276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FULL COMMAND CENTER</a:t>
            </a:r>
          </a:p>
        </p:txBody>
      </p:sp>
      <p:sp>
        <p:nvSpPr>
          <p:cNvPr id="5" name="shape">
            <a:extLst xmlns:a="http://schemas.openxmlformats.org/drawingml/2006/main">
              <a:ext uri="{FF2B5EF4-FFF2-40B4-BE49-F238E27FC236}">
                <a16:creationId xmlns:a16="http://schemas.microsoft.com/office/drawing/2014/main" id="{0C6FB78A-743B-4760-B988-ACAA2382A771}"/>
              </a:ext>
            </a:extLst>
          </p:cNvPr>
          <p:cNvSpPr>
            <a:spLocks xmlns:a="http://schemas.openxmlformats.org/drawingml/2006/main" noGrp="1"/>
          </p:cNvSpPr>
          <p:nvPr/>
        </p:nvSpPr>
        <p:spPr>
          <a:xfrm xmlns:a="http://schemas.openxmlformats.org/drawingml/2006/main">
            <a:off x="609600" y="26479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93418178-F386-4C31-BE54-7DF4DDDF5421}"/>
              </a:ext>
            </a:extLst>
          </p:cNvPr>
          <p:cNvSpPr>
            <a:spLocks xmlns:a="http://schemas.openxmlformats.org/drawingml/2006/main" noGrp="1"/>
          </p:cNvSpPr>
          <p:nvPr/>
        </p:nvSpPr>
        <p:spPr>
          <a:xfrm xmlns:a="http://schemas.openxmlformats.org/drawingml/2006/main">
            <a:off x="609600" y="28194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workshop/first_agent_starter_live.py</a:t>
            </a:r>
          </a:p>
        </p:txBody>
      </p:sp>
      <p:sp>
        <p:nvSpPr>
          <p:cNvPr id="7" name="text">
            <a:extLst xmlns:a="http://schemas.openxmlformats.org/drawingml/2006/main">
              <a:ext uri="{FF2B5EF4-FFF2-40B4-BE49-F238E27FC236}">
                <a16:creationId xmlns:a16="http://schemas.microsoft.com/office/drawing/2014/main" id="{9F52FA86-D5FC-4524-9C90-22D9DE2955D5}"/>
              </a:ext>
            </a:extLst>
          </p:cNvPr>
          <p:cNvSpPr>
            <a:spLocks xmlns:a="http://schemas.openxmlformats.org/drawingml/2006/main" noGrp="1"/>
          </p:cNvSpPr>
          <p:nvPr/>
        </p:nvSpPr>
        <p:spPr>
          <a:xfrm xmlns:a="http://schemas.openxmlformats.org/drawingml/2006/main">
            <a:off x="6096000" y="28194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src/agentforge_jarvis/</a:t>
            </a:r>
          </a:p>
        </p:txBody>
      </p:sp>
      <p:sp>
        <p:nvSpPr>
          <p:cNvPr id="8" name="shape">
            <a:extLst xmlns:a="http://schemas.openxmlformats.org/drawingml/2006/main">
              <a:ext uri="{FF2B5EF4-FFF2-40B4-BE49-F238E27FC236}">
                <a16:creationId xmlns:a16="http://schemas.microsoft.com/office/drawing/2014/main" id="{3608E28D-6372-4ECB-8DA2-9281A3301182}"/>
              </a:ext>
            </a:extLst>
          </p:cNvPr>
          <p:cNvSpPr>
            <a:spLocks xmlns:a="http://schemas.openxmlformats.org/drawingml/2006/main" noGrp="1"/>
          </p:cNvSpPr>
          <p:nvPr/>
        </p:nvSpPr>
        <p:spPr>
          <a:xfrm xmlns:a="http://schemas.openxmlformats.org/drawingml/2006/main">
            <a:off x="609600" y="34004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AA6E66B0-F091-40DF-B056-F8DC3619EE03}"/>
              </a:ext>
            </a:extLst>
          </p:cNvPr>
          <p:cNvSpPr>
            <a:spLocks xmlns:a="http://schemas.openxmlformats.org/drawingml/2006/main" noGrp="1"/>
          </p:cNvSpPr>
          <p:nvPr/>
        </p:nvSpPr>
        <p:spPr>
          <a:xfrm xmlns:a="http://schemas.openxmlformats.org/drawingml/2006/main">
            <a:off x="609600" y="35052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One cash tool and live Gemini</a:t>
            </a:r>
          </a:p>
        </p:txBody>
      </p:sp>
      <p:sp>
        <p:nvSpPr>
          <p:cNvPr id="10" name="text">
            <a:extLst xmlns:a="http://schemas.openxmlformats.org/drawingml/2006/main">
              <a:ext uri="{FF2B5EF4-FFF2-40B4-BE49-F238E27FC236}">
                <a16:creationId xmlns:a16="http://schemas.microsoft.com/office/drawing/2014/main" id="{6682E66A-64D2-4732-8356-D2EC0D71E906}"/>
              </a:ext>
            </a:extLst>
          </p:cNvPr>
          <p:cNvSpPr>
            <a:spLocks xmlns:a="http://schemas.openxmlformats.org/drawingml/2006/main" noGrp="1"/>
          </p:cNvSpPr>
          <p:nvPr/>
        </p:nvSpPr>
        <p:spPr>
          <a:xfrm xmlns:a="http://schemas.openxmlformats.org/drawingml/2006/main">
            <a:off x="6096000" y="35052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Six domain tools and shared reports</a:t>
            </a:r>
          </a:p>
        </p:txBody>
      </p:sp>
      <p:sp>
        <p:nvSpPr>
          <p:cNvPr id="11" name="shape">
            <a:extLst xmlns:a="http://schemas.openxmlformats.org/drawingml/2006/main">
              <a:ext uri="{FF2B5EF4-FFF2-40B4-BE49-F238E27FC236}">
                <a16:creationId xmlns:a16="http://schemas.microsoft.com/office/drawing/2014/main" id="{DC1FE47B-37C7-41F1-865D-68350B24A2A0}"/>
              </a:ext>
            </a:extLst>
          </p:cNvPr>
          <p:cNvSpPr>
            <a:spLocks xmlns:a="http://schemas.openxmlformats.org/drawingml/2006/main" noGrp="1"/>
          </p:cNvSpPr>
          <p:nvPr/>
        </p:nvSpPr>
        <p:spPr>
          <a:xfrm xmlns:a="http://schemas.openxmlformats.org/drawingml/2006/main">
            <a:off x="609600" y="40862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22B0EBBC-A5EE-4555-8AFA-80B9CEBFD574}"/>
              </a:ext>
            </a:extLst>
          </p:cNvPr>
          <p:cNvSpPr>
            <a:spLocks xmlns:a="http://schemas.openxmlformats.org/drawingml/2006/main" noGrp="1"/>
          </p:cNvSpPr>
          <p:nvPr/>
        </p:nvSpPr>
        <p:spPr>
          <a:xfrm xmlns:a="http://schemas.openxmlformats.org/drawingml/2006/main">
            <a:off x="609600" y="41910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Edit Python constants</a:t>
            </a:r>
          </a:p>
        </p:txBody>
      </p:sp>
      <p:sp>
        <p:nvSpPr>
          <p:cNvPr id="13" name="text">
            <a:extLst xmlns:a="http://schemas.openxmlformats.org/drawingml/2006/main">
              <a:ext uri="{FF2B5EF4-FFF2-40B4-BE49-F238E27FC236}">
                <a16:creationId xmlns:a16="http://schemas.microsoft.com/office/drawing/2014/main" id="{ECBE0E94-1342-4628-9160-A89B739F9559}"/>
              </a:ext>
            </a:extLst>
          </p:cNvPr>
          <p:cNvSpPr>
            <a:spLocks xmlns:a="http://schemas.openxmlformats.org/drawingml/2006/main" noGrp="1"/>
          </p:cNvSpPr>
          <p:nvPr/>
        </p:nvSpPr>
        <p:spPr>
          <a:xfrm xmlns:a="http://schemas.openxmlformats.org/drawingml/2006/main">
            <a:off x="6096000" y="41910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Edit the shared scenario in the UI</a:t>
            </a:r>
          </a:p>
        </p:txBody>
      </p:sp>
      <p:sp>
        <p:nvSpPr>
          <p:cNvPr id="14" name="shape">
            <a:extLst xmlns:a="http://schemas.openxmlformats.org/drawingml/2006/main">
              <a:ext uri="{FF2B5EF4-FFF2-40B4-BE49-F238E27FC236}">
                <a16:creationId xmlns:a16="http://schemas.microsoft.com/office/drawing/2014/main" id="{D808641E-472E-4F8F-8455-EC8090D111BA}"/>
              </a:ext>
            </a:extLst>
          </p:cNvPr>
          <p:cNvSpPr>
            <a:spLocks xmlns:a="http://schemas.openxmlformats.org/drawingml/2006/main" noGrp="1"/>
          </p:cNvSpPr>
          <p:nvPr/>
        </p:nvSpPr>
        <p:spPr>
          <a:xfrm xmlns:a="http://schemas.openxmlformats.org/drawingml/2006/main">
            <a:off x="609600" y="47720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1D2E0175-70A2-47F4-96E3-8597EE3C20E2}"/>
              </a:ext>
            </a:extLst>
          </p:cNvPr>
          <p:cNvSpPr>
            <a:spLocks xmlns:a="http://schemas.openxmlformats.org/drawingml/2006/main" noGrp="1"/>
          </p:cNvSpPr>
          <p:nvPr/>
        </p:nvSpPr>
        <p:spPr>
          <a:xfrm xmlns:a="http://schemas.openxmlformats.org/drawingml/2006/main">
            <a:off x="609600" y="48768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Run a terminal command</a:t>
            </a:r>
          </a:p>
        </p:txBody>
      </p:sp>
      <p:sp>
        <p:nvSpPr>
          <p:cNvPr id="16" name="text">
            <a:extLst xmlns:a="http://schemas.openxmlformats.org/drawingml/2006/main">
              <a:ext uri="{FF2B5EF4-FFF2-40B4-BE49-F238E27FC236}">
                <a16:creationId xmlns:a16="http://schemas.microsoft.com/office/drawing/2014/main" id="{D06CF4D4-CCE9-402D-AAAB-927FB60DD642}"/>
              </a:ext>
            </a:extLst>
          </p:cNvPr>
          <p:cNvSpPr>
            <a:spLocks xmlns:a="http://schemas.openxmlformats.org/drawingml/2006/main" noGrp="1"/>
          </p:cNvSpPr>
          <p:nvPr/>
        </p:nvSpPr>
        <p:spPr>
          <a:xfrm xmlns:a="http://schemas.openxmlformats.org/drawingml/2006/main">
            <a:off x="6096000" y="48768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Run specialists or the complete swarm</a:t>
            </a:r>
          </a:p>
        </p:txBody>
      </p:sp>
      <p:sp>
        <p:nvSpPr>
          <p:cNvPr id="17" name="shape">
            <a:extLst xmlns:a="http://schemas.openxmlformats.org/drawingml/2006/main">
              <a:ext uri="{FF2B5EF4-FFF2-40B4-BE49-F238E27FC236}">
                <a16:creationId xmlns:a16="http://schemas.microsoft.com/office/drawing/2014/main" id="{672FB448-0DEF-46FC-8FD2-4867DC15D1DA}"/>
              </a:ext>
            </a:extLst>
          </p:cNvPr>
          <p:cNvSpPr>
            <a:spLocks xmlns:a="http://schemas.openxmlformats.org/drawingml/2006/main" noGrp="1"/>
          </p:cNvSpPr>
          <p:nvPr/>
        </p:nvSpPr>
        <p:spPr>
          <a:xfrm xmlns:a="http://schemas.openxmlformats.org/drawingml/2006/main">
            <a:off x="609600" y="54578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8" name="shape">
            <a:extLst xmlns:a="http://schemas.openxmlformats.org/drawingml/2006/main">
              <a:ext uri="{FF2B5EF4-FFF2-40B4-BE49-F238E27FC236}">
                <a16:creationId xmlns:a16="http://schemas.microsoft.com/office/drawing/2014/main" id="{C3F5CF0C-F4D8-422F-B953-C75AA6EA3444}"/>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89B87E9D-5E1E-42E2-BA89-286E80833BF8}"/>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20" name="text">
            <a:extLst xmlns:a="http://schemas.openxmlformats.org/drawingml/2006/main">
              <a:ext uri="{FF2B5EF4-FFF2-40B4-BE49-F238E27FC236}">
                <a16:creationId xmlns:a16="http://schemas.microsoft.com/office/drawing/2014/main" id="{6814A0A7-E8C5-4006-B097-F94088BE4680}"/>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38</a:t>
            </a:r>
          </a:p>
        </p:txBody>
      </p:sp>
    </p:spTree>
    <p:extLst>
      <p:ext uri="{BB962C8B-B14F-4D97-AF65-F5344CB8AC3E}">
        <p14:creationId xmlns:p14="http://schemas.microsoft.com/office/powerpoint/2010/main" val="212318959"/>
      </p:ext>
    </p:extLst>
  </p:cSld>
</p:sld>
</file>

<file path=ppt/slides/slide39.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E4CE9CE9-C4CD-4978-A4D8-4F7CCBA97900}"/>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DAY 1 · SESSION 2 · 90 MINUTES</a:t>
            </a:r>
          </a:p>
        </p:txBody>
      </p:sp>
      <p:sp>
        <p:nvSpPr>
          <p:cNvPr id="2" name="text">
            <a:extLst xmlns:a="http://schemas.openxmlformats.org/drawingml/2006/main">
              <a:ext uri="{FF2B5EF4-FFF2-40B4-BE49-F238E27FC236}">
                <a16:creationId xmlns:a16="http://schemas.microsoft.com/office/drawing/2014/main" id="{012F555B-80B3-4CDD-A20A-FD5FD36A7644}"/>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Build the agent blueprint before tuning it.</a:t>
            </a:r>
          </a:p>
        </p:txBody>
      </p:sp>
      <p:sp>
        <p:nvSpPr>
          <p:cNvPr id="3" name="flow-node">
            <a:extLst xmlns:a="http://schemas.openxmlformats.org/drawingml/2006/main">
              <a:ext uri="{FF2B5EF4-FFF2-40B4-BE49-F238E27FC236}">
                <a16:creationId xmlns:a16="http://schemas.microsoft.com/office/drawing/2014/main" id="{844A4B57-4C3C-484C-AB9E-4300AB2B255E}"/>
              </a:ext>
            </a:extLst>
          </p:cNvPr>
          <p:cNvSpPr>
            <a:spLocks xmlns:a="http://schemas.openxmlformats.org/drawingml/2006/main" noGrp="1"/>
          </p:cNvSpPr>
          <p:nvPr/>
        </p:nvSpPr>
        <p:spPr>
          <a:xfrm xmlns:a="http://schemas.openxmlformats.org/drawingml/2006/main">
            <a:off x="609600"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Select a specialist</a:t>
            </a:r>
          </a:p>
        </p:txBody>
      </p:sp>
      <p:sp>
        <p:nvSpPr>
          <p:cNvPr id="4" name="flow-node">
            <a:extLst xmlns:a="http://schemas.openxmlformats.org/drawingml/2006/main">
              <a:ext uri="{FF2B5EF4-FFF2-40B4-BE49-F238E27FC236}">
                <a16:creationId xmlns:a16="http://schemas.microsoft.com/office/drawing/2014/main" id="{F0A21F13-9598-4FBB-9160-236FB25B309C}"/>
              </a:ext>
            </a:extLst>
          </p:cNvPr>
          <p:cNvSpPr>
            <a:spLocks xmlns:a="http://schemas.openxmlformats.org/drawingml/2006/main" noGrp="1"/>
          </p:cNvSpPr>
          <p:nvPr/>
        </p:nvSpPr>
        <p:spPr>
          <a:xfrm xmlns:a="http://schemas.openxmlformats.org/drawingml/2006/main">
            <a:off x="3424238"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Agent blueprint</a:t>
            </a:r>
          </a:p>
        </p:txBody>
      </p:sp>
      <p:sp>
        <p:nvSpPr>
          <p:cNvPr id="5" name="flow-node">
            <a:extLst xmlns:a="http://schemas.openxmlformats.org/drawingml/2006/main">
              <a:ext uri="{FF2B5EF4-FFF2-40B4-BE49-F238E27FC236}">
                <a16:creationId xmlns:a16="http://schemas.microsoft.com/office/drawing/2014/main" id="{284A2699-DA1C-4403-BDCA-24B7F506114E}"/>
              </a:ext>
            </a:extLst>
          </p:cNvPr>
          <p:cNvSpPr>
            <a:spLocks xmlns:a="http://schemas.openxmlformats.org/drawingml/2006/main" noGrp="1"/>
          </p:cNvSpPr>
          <p:nvPr/>
        </p:nvSpPr>
        <p:spPr>
          <a:xfrm xmlns:a="http://schemas.openxmlformats.org/drawingml/2006/main">
            <a:off x="6238875"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Review its contract</a:t>
            </a:r>
          </a:p>
        </p:txBody>
      </p:sp>
      <p:sp>
        <p:nvSpPr>
          <p:cNvPr id="6" name="flow-node">
            <a:extLst xmlns:a="http://schemas.openxmlformats.org/drawingml/2006/main">
              <a:ext uri="{FF2B5EF4-FFF2-40B4-BE49-F238E27FC236}">
                <a16:creationId xmlns:a16="http://schemas.microsoft.com/office/drawing/2014/main" id="{54152CCA-A30E-403E-90C1-0B2C26430D8B}"/>
              </a:ext>
            </a:extLst>
          </p:cNvPr>
          <p:cNvSpPr>
            <a:spLocks xmlns:a="http://schemas.openxmlformats.org/drawingml/2006/main" noGrp="1"/>
          </p:cNvSpPr>
          <p:nvPr/>
        </p:nvSpPr>
        <p:spPr>
          <a:xfrm xmlns:a="http://schemas.openxmlformats.org/drawingml/2006/main">
            <a:off x="9053513"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Save instructions</a:t>
            </a:r>
          </a:p>
        </p:txBody>
      </p:sp>
      <p:cxnSp>
        <p:nvCxnSpPr>
          <p:cNvPr id="20" name=""/>
          <p:cNvCxnSpPr>
            <a:stCxn xmlns:a="http://schemas.openxmlformats.org/drawingml/2006/main" id="3" idx="3"/>
            <a:endCxn xmlns:a="http://schemas.openxmlformats.org/drawingml/2006/main" id="4" idx="1"/>
          </p:cNvCxnSpPr>
          <p:nvPr/>
        </p:nvCxnSpPr>
        <p:spPr>
          <a:xfrm xmlns:a="http://schemas.openxmlformats.org/drawingml/2006/main">
            <a:off x="3138488"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1" name=""/>
          <p:cNvCxnSpPr>
            <a:stCxn xmlns:a="http://schemas.openxmlformats.org/drawingml/2006/main" id="4" idx="3"/>
            <a:endCxn xmlns:a="http://schemas.openxmlformats.org/drawingml/2006/main" id="5" idx="1"/>
          </p:cNvCxnSpPr>
          <p:nvPr/>
        </p:nvCxnSpPr>
        <p:spPr>
          <a:xfrm xmlns:a="http://schemas.openxmlformats.org/drawingml/2006/main">
            <a:off x="5953126" y="3390900"/>
            <a:ext cx="285749"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2" name=""/>
          <p:cNvCxnSpPr>
            <a:stCxn xmlns:a="http://schemas.openxmlformats.org/drawingml/2006/main" id="5" idx="3"/>
            <a:endCxn xmlns:a="http://schemas.openxmlformats.org/drawingml/2006/main" id="6" idx="1"/>
          </p:cNvCxnSpPr>
          <p:nvPr/>
        </p:nvCxnSpPr>
        <p:spPr>
          <a:xfrm xmlns:a="http://schemas.openxmlformats.org/drawingml/2006/main">
            <a:off x="8767763"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sp>
        <p:nvSpPr>
          <p:cNvPr id="10" name="text">
            <a:extLst xmlns:a="http://schemas.openxmlformats.org/drawingml/2006/main">
              <a:ext uri="{FF2B5EF4-FFF2-40B4-BE49-F238E27FC236}">
                <a16:creationId xmlns:a16="http://schemas.microsoft.com/office/drawing/2014/main" id="{10A4B52F-36C8-4DDB-9143-FFA333229E48}"/>
              </a:ext>
            </a:extLst>
          </p:cNvPr>
          <p:cNvSpPr>
            <a:spLocks xmlns:a="http://schemas.openxmlformats.org/drawingml/2006/main" noGrp="1"/>
          </p:cNvSpPr>
          <p:nvPr/>
        </p:nvSpPr>
        <p:spPr>
          <a:xfrm xmlns:a="http://schemas.openxmlformats.org/drawingml/2006/main">
            <a:off x="609600" y="50673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DFBF"/>
                </a:solidFill>
                <a:latin typeface="Aptos"/>
                <a:ea typeface="Aptos"/>
                <a:cs typeface="Aptos"/>
              </a:defRPr>
            </a:pPr>
            <a:r>
              <a:rPr sz="1800" b="0">
                <a:solidFill>
                  <a:srgbClr val="61DFBF"/>
                </a:solidFill>
                <a:latin typeface="Aptos"/>
                <a:ea typeface="Aptos"/>
                <a:cs typeface="Aptos"/>
              </a:rPr>
              <a:t>Saved blueprint instructions guide live Gemini’s explanations.</a:t>
            </a:r>
          </a:p>
        </p:txBody>
      </p:sp>
      <p:sp>
        <p:nvSpPr>
          <p:cNvPr id="11" name="shape">
            <a:extLst xmlns:a="http://schemas.openxmlformats.org/drawingml/2006/main">
              <a:ext uri="{FF2B5EF4-FFF2-40B4-BE49-F238E27FC236}">
                <a16:creationId xmlns:a16="http://schemas.microsoft.com/office/drawing/2014/main" id="{A3C62EDB-59DA-42FC-8826-C173CDCB892F}"/>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E165665D-103D-4FB0-B0E7-4AD4BD6CDBC6}"/>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13" name="text">
            <a:extLst xmlns:a="http://schemas.openxmlformats.org/drawingml/2006/main">
              <a:ext uri="{FF2B5EF4-FFF2-40B4-BE49-F238E27FC236}">
                <a16:creationId xmlns:a16="http://schemas.microsoft.com/office/drawing/2014/main" id="{1F9D8DCA-0BA4-41BA-9DA1-607CF8D64F31}"/>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39</a:t>
            </a:r>
          </a:p>
        </p:txBody>
      </p:sp>
    </p:spTree>
    <p:extLst>
      <p:ext uri="{BB962C8B-B14F-4D97-AF65-F5344CB8AC3E}">
        <p14:creationId xmlns:p14="http://schemas.microsoft.com/office/powerpoint/2010/main" val="1179351315"/>
      </p:ext>
    </p:extLst>
  </p:cSld>
</p:sld>
</file>

<file path=ppt/slides/slide40.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0AD36220-41FF-4D98-BDFA-7D7B80179CF9}"/>
              </a:ext>
            </a:extLst>
          </p:cNvPr>
          <p:cNvSpPr>
            <a:spLocks xmlns:a="http://schemas.openxmlformats.org/drawingml/2006/main" noGrp="1"/>
          </p:cNvSpPr>
          <p:nvPr/>
        </p:nvSpPr>
        <p:spPr>
          <a:xfrm xmlns:a="http://schemas.openxmlformats.org/drawingml/2006/main">
            <a:off x="609600" y="4000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DAY 1 · SESSION 3 · 90 MINUTES</a:t>
            </a:r>
          </a:p>
        </p:txBody>
      </p:sp>
      <p:sp>
        <p:nvSpPr>
          <p:cNvPr id="2" name="text">
            <a:extLst xmlns:a="http://schemas.openxmlformats.org/drawingml/2006/main">
              <a:ext uri="{FF2B5EF4-FFF2-40B4-BE49-F238E27FC236}">
                <a16:creationId xmlns:a16="http://schemas.microsoft.com/office/drawing/2014/main" id="{41AD4E15-7396-46A8-8D4F-879035CB1393}"/>
              </a:ext>
            </a:extLst>
          </p:cNvPr>
          <p:cNvSpPr>
            <a:spLocks xmlns:a="http://schemas.openxmlformats.org/drawingml/2006/main" noGrp="1"/>
          </p:cNvSpPr>
          <p:nvPr/>
        </p:nvSpPr>
        <p:spPr>
          <a:xfrm xmlns:a="http://schemas.openxmlformats.org/drawingml/2006/main">
            <a:off x="8096250" y="1143000"/>
            <a:ext cx="38100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250" b="1">
                <a:solidFill>
                  <a:srgbClr val="173946"/>
                </a:solidFill>
                <a:latin typeface="Aptos"/>
                <a:ea typeface="Aptos"/>
                <a:cs typeface="Aptos"/>
              </a:defRPr>
            </a:pPr>
            <a:r>
              <a:rPr sz="5250" b="1">
                <a:solidFill>
                  <a:srgbClr val="173946"/>
                </a:solidFill>
                <a:latin typeface="Aptos"/>
                <a:ea typeface="Aptos"/>
                <a:cs typeface="Aptos"/>
              </a:rPr>
              <a:t>SESSION</a:t>
            </a:r>
          </a:p>
          <a:p xmlns:a="http://schemas.openxmlformats.org/drawingml/2006/main">
            <a:pPr>
              <a:defRPr sz="5250" b="1">
                <a:solidFill>
                  <a:srgbClr val="173946"/>
                </a:solidFill>
                <a:latin typeface="Aptos"/>
                <a:ea typeface="Aptos"/>
                <a:cs typeface="Aptos"/>
              </a:defRPr>
            </a:pPr>
            <a:r>
              <a:rPr sz="5250" b="1">
                <a:solidFill>
                  <a:srgbClr val="173946"/>
                </a:solidFill>
                <a:latin typeface="Aptos"/>
                <a:ea typeface="Aptos"/>
                <a:cs typeface="Aptos"/>
              </a:rPr>
              <a:t>03</a:t>
            </a:r>
          </a:p>
        </p:txBody>
      </p:sp>
      <p:sp>
        <p:nvSpPr>
          <p:cNvPr id="3" name="text">
            <a:extLst xmlns:a="http://schemas.openxmlformats.org/drawingml/2006/main">
              <a:ext uri="{FF2B5EF4-FFF2-40B4-BE49-F238E27FC236}">
                <a16:creationId xmlns:a16="http://schemas.microsoft.com/office/drawing/2014/main" id="{CF68F923-5077-4450-B465-A4050E3E3764}"/>
              </a:ext>
            </a:extLst>
          </p:cNvPr>
          <p:cNvSpPr>
            <a:spLocks xmlns:a="http://schemas.openxmlformats.org/drawingml/2006/main" noGrp="1"/>
          </p:cNvSpPr>
          <p:nvPr/>
        </p:nvSpPr>
        <p:spPr>
          <a:xfrm xmlns:a="http://schemas.openxmlformats.org/drawingml/2006/main">
            <a:off x="609600" y="1438275"/>
            <a:ext cx="738187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650" b="1">
                <a:solidFill>
                  <a:srgbClr val="EDF5F1"/>
                </a:solidFill>
                <a:latin typeface="Aptos"/>
                <a:ea typeface="Aptos"/>
                <a:cs typeface="Aptos"/>
              </a:defRPr>
            </a:pPr>
            <a:r>
              <a:rPr sz="4650" b="1">
                <a:solidFill>
                  <a:srgbClr val="EDF5F1"/>
                </a:solidFill>
                <a:latin typeface="Aptos"/>
                <a:ea typeface="Aptos"/>
                <a:cs typeface="Aptos"/>
              </a:rPr>
              <a:t>Adapt the six specialists.</a:t>
            </a:r>
          </a:p>
        </p:txBody>
      </p:sp>
      <p:sp>
        <p:nvSpPr>
          <p:cNvPr id="4" name="text">
            <a:extLst xmlns:a="http://schemas.openxmlformats.org/drawingml/2006/main">
              <a:ext uri="{FF2B5EF4-FFF2-40B4-BE49-F238E27FC236}">
                <a16:creationId xmlns:a16="http://schemas.microsoft.com/office/drawing/2014/main" id="{9C5C8913-FFF4-4F77-A172-491C51BF3AF8}"/>
              </a:ext>
            </a:extLst>
          </p:cNvPr>
          <p:cNvSpPr>
            <a:spLocks xmlns:a="http://schemas.openxmlformats.org/drawingml/2006/main" noGrp="1"/>
          </p:cNvSpPr>
          <p:nvPr/>
        </p:nvSpPr>
        <p:spPr>
          <a:xfrm xmlns:a="http://schemas.openxmlformats.org/drawingml/2006/main">
            <a:off x="609600" y="4000500"/>
            <a:ext cx="723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0">
                <a:solidFill>
                  <a:srgbClr val="61DFBF"/>
                </a:solidFill>
                <a:latin typeface="Aptos"/>
                <a:ea typeface="Aptos"/>
                <a:cs typeface="Aptos"/>
              </a:defRPr>
            </a:pPr>
            <a:r>
              <a:rPr sz="2475" b="0">
                <a:solidFill>
                  <a:srgbClr val="61DFBF"/>
                </a:solidFill>
                <a:latin typeface="Aptos"/>
                <a:ea typeface="Aptos"/>
                <a:cs typeface="Aptos"/>
              </a:rPr>
              <a:t>90 minutes to learn, build,</a:t>
            </a:r>
          </a:p>
          <a:p xmlns:a="http://schemas.openxmlformats.org/drawingml/2006/main">
            <a:pPr>
              <a:defRPr sz="2475" b="0">
                <a:solidFill>
                  <a:srgbClr val="61DFBF"/>
                </a:solidFill>
                <a:latin typeface="Aptos"/>
                <a:ea typeface="Aptos"/>
                <a:cs typeface="Aptos"/>
              </a:defRPr>
            </a:pPr>
            <a:r>
              <a:rPr sz="2475" b="0">
                <a:solidFill>
                  <a:srgbClr val="61DFBF"/>
                </a:solidFill>
                <a:latin typeface="Aptos"/>
                <a:ea typeface="Aptos"/>
                <a:cs typeface="Aptos"/>
              </a:rPr>
              <a:t>test and explain.</a:t>
            </a:r>
          </a:p>
        </p:txBody>
      </p:sp>
      <p:sp>
        <p:nvSpPr>
          <p:cNvPr id="5" name="text">
            <a:extLst xmlns:a="http://schemas.openxmlformats.org/drawingml/2006/main">
              <a:ext uri="{FF2B5EF4-FFF2-40B4-BE49-F238E27FC236}">
                <a16:creationId xmlns:a16="http://schemas.microsoft.com/office/drawing/2014/main" id="{AA82AD2B-6E15-4AB1-8772-B20B574BF71B}"/>
              </a:ext>
            </a:extLst>
          </p:cNvPr>
          <p:cNvSpPr>
            <a:spLocks xmlns:a="http://schemas.openxmlformats.org/drawingml/2006/main" noGrp="1"/>
          </p:cNvSpPr>
          <p:nvPr/>
        </p:nvSpPr>
        <p:spPr>
          <a:xfrm xmlns:a="http://schemas.openxmlformats.org/drawingml/2006/main">
            <a:off x="609600" y="58102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DFBF"/>
                </a:solidFill>
                <a:latin typeface="Aptos"/>
                <a:ea typeface="Aptos"/>
                <a:cs typeface="Aptos"/>
              </a:defRPr>
            </a:pPr>
            <a:r>
              <a:rPr sz="1800" b="0">
                <a:solidFill>
                  <a:srgbClr val="61DFBF"/>
                </a:solidFill>
                <a:latin typeface="Aptos"/>
                <a:ea typeface="Aptos"/>
                <a:cs typeface="Aptos"/>
              </a:rPr>
              <a:t>Deliverable: a domain agent with a tested improvement.</a:t>
            </a:r>
          </a:p>
        </p:txBody>
      </p:sp>
      <p:sp>
        <p:nvSpPr>
          <p:cNvPr id="6" name="shape">
            <a:extLst xmlns:a="http://schemas.openxmlformats.org/drawingml/2006/main">
              <a:ext uri="{FF2B5EF4-FFF2-40B4-BE49-F238E27FC236}">
                <a16:creationId xmlns:a16="http://schemas.microsoft.com/office/drawing/2014/main" id="{816547C7-CB8D-46EE-8EB9-293F60994395}"/>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C847B0F5-D8D7-40F2-99B7-F9725AF784B2}"/>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8" name="text">
            <a:extLst xmlns:a="http://schemas.openxmlformats.org/drawingml/2006/main">
              <a:ext uri="{FF2B5EF4-FFF2-40B4-BE49-F238E27FC236}">
                <a16:creationId xmlns:a16="http://schemas.microsoft.com/office/drawing/2014/main" id="{8234A07E-9A26-4084-92AE-596CD7835CD6}"/>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40</a:t>
            </a:r>
          </a:p>
        </p:txBody>
      </p:sp>
    </p:spTree>
    <p:extLst>
      <p:ext uri="{BB962C8B-B14F-4D97-AF65-F5344CB8AC3E}">
        <p14:creationId xmlns:p14="http://schemas.microsoft.com/office/powerpoint/2010/main" val="1987175544"/>
      </p:ext>
    </p:extLst>
  </p:cSld>
</p:sld>
</file>

<file path=ppt/slides/slide41.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6" name="text">
            <a:extLst xmlns:a="http://schemas.openxmlformats.org/drawingml/2006/main">
              <a:ext uri="{FF2B5EF4-FFF2-40B4-BE49-F238E27FC236}">
                <a16:creationId xmlns:a16="http://schemas.microsoft.com/office/drawing/2014/main" id="{C521C2C1-C5C0-4CE2-B4D1-C539CA4956CB}"/>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DAY 1 · SESSION 3 · 90 MINUTES</a:t>
            </a:r>
          </a:p>
        </p:txBody>
      </p:sp>
      <p:sp>
        <p:nvSpPr>
          <p:cNvPr id="2" name="text">
            <a:extLst xmlns:a="http://schemas.openxmlformats.org/drawingml/2006/main">
              <a:ext uri="{FF2B5EF4-FFF2-40B4-BE49-F238E27FC236}">
                <a16:creationId xmlns:a16="http://schemas.microsoft.com/office/drawing/2014/main" id="{EC424637-5BE3-44E7-BC40-D5A6EA7BE6F0}"/>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Use a fresh baseline for every experiment.</a:t>
            </a:r>
          </a:p>
        </p:txBody>
      </p:sp>
      <p:sp>
        <p:nvSpPr>
          <p:cNvPr id="3" name="flow-node">
            <a:extLst xmlns:a="http://schemas.openxmlformats.org/drawingml/2006/main">
              <a:ext uri="{FF2B5EF4-FFF2-40B4-BE49-F238E27FC236}">
                <a16:creationId xmlns:a16="http://schemas.microsoft.com/office/drawing/2014/main" id="{B2E07A32-3796-4EC5-AE54-D19AF3BCC3C9}"/>
              </a:ext>
            </a:extLst>
          </p:cNvPr>
          <p:cNvSpPr>
            <a:spLocks xmlns:a="http://schemas.openxmlformats.org/drawingml/2006/main" noGrp="1"/>
          </p:cNvSpPr>
          <p:nvPr/>
        </p:nvSpPr>
        <p:spPr>
          <a:xfrm xmlns:a="http://schemas.openxmlformats.org/drawingml/2006/main">
            <a:off x="609600" y="2857500"/>
            <a:ext cx="1965960"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Select Baseline</a:t>
            </a:r>
          </a:p>
        </p:txBody>
      </p:sp>
      <p:sp>
        <p:nvSpPr>
          <p:cNvPr id="4" name="flow-node">
            <a:extLst xmlns:a="http://schemas.openxmlformats.org/drawingml/2006/main">
              <a:ext uri="{FF2B5EF4-FFF2-40B4-BE49-F238E27FC236}">
                <a16:creationId xmlns:a16="http://schemas.microsoft.com/office/drawing/2014/main" id="{8A9FBFB8-2A85-4EC2-9236-FE30302615EE}"/>
              </a:ext>
            </a:extLst>
          </p:cNvPr>
          <p:cNvSpPr>
            <a:spLocks xmlns:a="http://schemas.openxmlformats.org/drawingml/2006/main" noGrp="1"/>
          </p:cNvSpPr>
          <p:nvPr/>
        </p:nvSpPr>
        <p:spPr>
          <a:xfrm xmlns:a="http://schemas.openxmlformats.org/drawingml/2006/main">
            <a:off x="2861310" y="2857500"/>
            <a:ext cx="1965960"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Edit brief</a:t>
            </a:r>
          </a:p>
        </p:txBody>
      </p:sp>
      <p:sp>
        <p:nvSpPr>
          <p:cNvPr id="5" name="flow-node">
            <a:extLst xmlns:a="http://schemas.openxmlformats.org/drawingml/2006/main">
              <a:ext uri="{FF2B5EF4-FFF2-40B4-BE49-F238E27FC236}">
                <a16:creationId xmlns:a16="http://schemas.microsoft.com/office/drawing/2014/main" id="{3AC247DD-7636-47CE-A022-9BBCDBD119CF}"/>
              </a:ext>
            </a:extLst>
          </p:cNvPr>
          <p:cNvSpPr>
            <a:spLocks xmlns:a="http://schemas.openxmlformats.org/drawingml/2006/main" noGrp="1"/>
          </p:cNvSpPr>
          <p:nvPr/>
        </p:nvSpPr>
        <p:spPr>
          <a:xfrm xmlns:a="http://schemas.openxmlformats.org/drawingml/2006/main">
            <a:off x="5113020" y="2857500"/>
            <a:ext cx="1965960"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Change one field</a:t>
            </a:r>
          </a:p>
        </p:txBody>
      </p:sp>
      <p:sp>
        <p:nvSpPr>
          <p:cNvPr id="6" name="flow-node">
            <a:extLst xmlns:a="http://schemas.openxmlformats.org/drawingml/2006/main">
              <a:ext uri="{FF2B5EF4-FFF2-40B4-BE49-F238E27FC236}">
                <a16:creationId xmlns:a16="http://schemas.microsoft.com/office/drawing/2014/main" id="{9C227B47-1CA7-49C6-B464-5401980D0F4F}"/>
              </a:ext>
            </a:extLst>
          </p:cNvPr>
          <p:cNvSpPr>
            <a:spLocks xmlns:a="http://schemas.openxmlformats.org/drawingml/2006/main" noGrp="1"/>
          </p:cNvSpPr>
          <p:nvPr/>
        </p:nvSpPr>
        <p:spPr>
          <a:xfrm xmlns:a="http://schemas.openxmlformats.org/drawingml/2006/main">
            <a:off x="7364730" y="2857500"/>
            <a:ext cx="1965960"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Apply scenario</a:t>
            </a:r>
          </a:p>
        </p:txBody>
      </p:sp>
      <p:sp>
        <p:nvSpPr>
          <p:cNvPr id="7" name="flow-node">
            <a:extLst xmlns:a="http://schemas.openxmlformats.org/drawingml/2006/main">
              <a:ext uri="{FF2B5EF4-FFF2-40B4-BE49-F238E27FC236}">
                <a16:creationId xmlns:a16="http://schemas.microsoft.com/office/drawing/2014/main" id="{9CA8D08F-EED6-42B0-9F84-48C4EE7D3DD0}"/>
              </a:ext>
            </a:extLst>
          </p:cNvPr>
          <p:cNvSpPr>
            <a:spLocks xmlns:a="http://schemas.openxmlformats.org/drawingml/2006/main" noGrp="1"/>
          </p:cNvSpPr>
          <p:nvPr/>
        </p:nvSpPr>
        <p:spPr>
          <a:xfrm xmlns:a="http://schemas.openxmlformats.org/drawingml/2006/main">
            <a:off x="9616440" y="2857500"/>
            <a:ext cx="1965960"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Run &amp; inspect</a:t>
            </a:r>
          </a:p>
        </p:txBody>
      </p:sp>
      <p:cxnSp>
        <p:nvCxnSpPr>
          <p:cNvPr id="23" name=""/>
          <p:cNvCxnSpPr>
            <a:stCxn xmlns:a="http://schemas.openxmlformats.org/drawingml/2006/main" id="3" idx="3"/>
            <a:endCxn xmlns:a="http://schemas.openxmlformats.org/drawingml/2006/main" id="4" idx="1"/>
          </p:cNvCxnSpPr>
          <p:nvPr/>
        </p:nvCxnSpPr>
        <p:spPr>
          <a:xfrm xmlns:a="http://schemas.openxmlformats.org/drawingml/2006/main">
            <a:off x="2575560"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4" name=""/>
          <p:cNvCxnSpPr>
            <a:stCxn xmlns:a="http://schemas.openxmlformats.org/drawingml/2006/main" id="4" idx="3"/>
            <a:endCxn xmlns:a="http://schemas.openxmlformats.org/drawingml/2006/main" id="5" idx="1"/>
          </p:cNvCxnSpPr>
          <p:nvPr/>
        </p:nvCxnSpPr>
        <p:spPr>
          <a:xfrm xmlns:a="http://schemas.openxmlformats.org/drawingml/2006/main">
            <a:off x="4827270"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5" name=""/>
          <p:cNvCxnSpPr>
            <a:stCxn xmlns:a="http://schemas.openxmlformats.org/drawingml/2006/main" id="5" idx="3"/>
            <a:endCxn xmlns:a="http://schemas.openxmlformats.org/drawingml/2006/main" id="6" idx="1"/>
          </p:cNvCxnSpPr>
          <p:nvPr/>
        </p:nvCxnSpPr>
        <p:spPr>
          <a:xfrm xmlns:a="http://schemas.openxmlformats.org/drawingml/2006/main">
            <a:off x="7078980"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6" name=""/>
          <p:cNvCxnSpPr>
            <a:stCxn xmlns:a="http://schemas.openxmlformats.org/drawingml/2006/main" id="6" idx="3"/>
            <a:endCxn xmlns:a="http://schemas.openxmlformats.org/drawingml/2006/main" id="7" idx="1"/>
          </p:cNvCxnSpPr>
          <p:nvPr/>
        </p:nvCxnSpPr>
        <p:spPr>
          <a:xfrm xmlns:a="http://schemas.openxmlformats.org/drawingml/2006/main">
            <a:off x="9330690"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sp>
        <p:nvSpPr>
          <p:cNvPr id="12" name="text">
            <a:extLst xmlns:a="http://schemas.openxmlformats.org/drawingml/2006/main">
              <a:ext uri="{FF2B5EF4-FFF2-40B4-BE49-F238E27FC236}">
                <a16:creationId xmlns:a16="http://schemas.microsoft.com/office/drawing/2014/main" id="{F3BF5EDA-54A0-4527-8371-9B25D0CF5DD3}"/>
              </a:ext>
            </a:extLst>
          </p:cNvPr>
          <p:cNvSpPr>
            <a:spLocks xmlns:a="http://schemas.openxmlformats.org/drawingml/2006/main" noGrp="1"/>
          </p:cNvSpPr>
          <p:nvPr/>
        </p:nvSpPr>
        <p:spPr>
          <a:xfrm xmlns:a="http://schemas.openxmlformats.org/drawingml/2006/main">
            <a:off x="609600" y="50673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DFBF"/>
                </a:solidFill>
                <a:latin typeface="Aptos"/>
                <a:ea typeface="Aptos"/>
                <a:cs typeface="Aptos"/>
              </a:defRPr>
            </a:pPr>
            <a:r>
              <a:rPr sz="1800" b="0">
                <a:solidFill>
                  <a:srgbClr val="61DFBF"/>
                </a:solidFill>
                <a:latin typeface="Aptos"/>
                <a:ea typeface="Aptos"/>
                <a:cs typeface="Aptos"/>
              </a:rPr>
              <a:t>Restore examples/project-monsoon.json between experiments.</a:t>
            </a:r>
          </a:p>
        </p:txBody>
      </p:sp>
      <p:sp>
        <p:nvSpPr>
          <p:cNvPr id="13" name="shape">
            <a:extLst xmlns:a="http://schemas.openxmlformats.org/drawingml/2006/main">
              <a:ext uri="{FF2B5EF4-FFF2-40B4-BE49-F238E27FC236}">
                <a16:creationId xmlns:a16="http://schemas.microsoft.com/office/drawing/2014/main" id="{4FE59CCF-3F44-4527-BB71-DCC1DBDC4C82}"/>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47BC28C8-D478-4E78-991A-81492E7D35D4}"/>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15" name="text">
            <a:extLst xmlns:a="http://schemas.openxmlformats.org/drawingml/2006/main">
              <a:ext uri="{FF2B5EF4-FFF2-40B4-BE49-F238E27FC236}">
                <a16:creationId xmlns:a16="http://schemas.microsoft.com/office/drawing/2014/main" id="{514D5CB8-9220-4CCE-8F53-D646AC0BCA7A}"/>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41</a:t>
            </a:r>
          </a:p>
        </p:txBody>
      </p:sp>
    </p:spTree>
    <p:extLst>
      <p:ext uri="{BB962C8B-B14F-4D97-AF65-F5344CB8AC3E}">
        <p14:creationId xmlns:p14="http://schemas.microsoft.com/office/powerpoint/2010/main" val="1729339565"/>
      </p:ext>
    </p:extLst>
  </p:cSld>
</p:sld>
</file>

<file path=ppt/slides/slide42.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8" name="text">
            <a:extLst xmlns:a="http://schemas.openxmlformats.org/drawingml/2006/main">
              <a:ext uri="{FF2B5EF4-FFF2-40B4-BE49-F238E27FC236}">
                <a16:creationId xmlns:a16="http://schemas.microsoft.com/office/drawing/2014/main" id="{28180A55-1644-4E7B-B5CF-B2F8B2A2A1DD}"/>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DAY 1 · SESSION 3 · 90 MINUTES</a:t>
            </a:r>
          </a:p>
        </p:txBody>
      </p:sp>
      <p:sp>
        <p:nvSpPr>
          <p:cNvPr id="2" name="text">
            <a:extLst xmlns:a="http://schemas.openxmlformats.org/drawingml/2006/main">
              <a:ext uri="{FF2B5EF4-FFF2-40B4-BE49-F238E27FC236}">
                <a16:creationId xmlns:a16="http://schemas.microsoft.com/office/drawing/2014/main" id="{35CF063C-AE45-4A01-8A85-3D7F4D4CD8B4}"/>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PRISM turns counts into a useful signal.</a:t>
            </a:r>
          </a:p>
        </p:txBody>
      </p:sp>
      <p:sp>
        <p:nvSpPr>
          <p:cNvPr id="3" name="flow-node">
            <a:extLst xmlns:a="http://schemas.openxmlformats.org/drawingml/2006/main">
              <a:ext uri="{FF2B5EF4-FFF2-40B4-BE49-F238E27FC236}">
                <a16:creationId xmlns:a16="http://schemas.microsoft.com/office/drawing/2014/main" id="{8C4A8ADD-4F46-42CB-BA08-13BDFBB070C3}"/>
              </a:ext>
            </a:extLst>
          </p:cNvPr>
          <p:cNvSpPr>
            <a:spLocks xmlns:a="http://schemas.openxmlformats.org/drawingml/2006/main" noGrp="1"/>
          </p:cNvSpPr>
          <p:nvPr/>
        </p:nvSpPr>
        <p:spPr>
          <a:xfrm xmlns:a="http://schemas.openxmlformats.org/drawingml/2006/main">
            <a:off x="609600" y="2228850"/>
            <a:ext cx="3467100" cy="981075"/>
          </a:xfrm>
          <a:prstGeom xmlns:a="http://schemas.openxmlformats.org/drawingml/2006/main" prst="roundRect">
            <a:avLst>
              <a:gd name="adj" fmla="val 7767"/>
            </a:avLst>
          </a:prstGeom>
          <a:solidFill xmlns:a="http://schemas.openxmlformats.org/drawingml/2006/main">
            <a:srgbClr val="E4EBE4"/>
          </a:solidFill>
          <a:ln xmlns:a="http://schemas.openxmlformats.org/drawingml/2006/main" w="14288">
            <a:solidFill>
              <a:srgbClr val="C6D3CC"/>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950" b="1">
                <a:solidFill>
                  <a:srgbClr val="142C38"/>
                </a:solidFill>
                <a:latin typeface="Aptos"/>
                <a:ea typeface="Aptos"/>
                <a:cs typeface="Aptos"/>
              </a:defRPr>
            </a:pPr>
            <a:r>
              <a:rPr sz="1950" b="1">
                <a:solidFill>
                  <a:srgbClr val="142C38"/>
                </a:solidFill>
                <a:latin typeface="Aptos"/>
                <a:ea typeface="Aptos"/>
                <a:cs typeface="Aptos"/>
              </a:rPr>
              <a:t>Survey counts</a:t>
            </a:r>
          </a:p>
        </p:txBody>
      </p:sp>
      <p:sp>
        <p:nvSpPr>
          <p:cNvPr id="4" name="flow-node">
            <a:extLst xmlns:a="http://schemas.openxmlformats.org/drawingml/2006/main">
              <a:ext uri="{FF2B5EF4-FFF2-40B4-BE49-F238E27FC236}">
                <a16:creationId xmlns:a16="http://schemas.microsoft.com/office/drawing/2014/main" id="{A6FB0260-3333-4EAB-AAC0-8FAC99324C7B}"/>
              </a:ext>
            </a:extLst>
          </p:cNvPr>
          <p:cNvSpPr>
            <a:spLocks xmlns:a="http://schemas.openxmlformats.org/drawingml/2006/main" noGrp="1"/>
          </p:cNvSpPr>
          <p:nvPr/>
        </p:nvSpPr>
        <p:spPr>
          <a:xfrm xmlns:a="http://schemas.openxmlformats.org/drawingml/2006/main">
            <a:off x="4362450" y="2228850"/>
            <a:ext cx="3467100" cy="981075"/>
          </a:xfrm>
          <a:prstGeom xmlns:a="http://schemas.openxmlformats.org/drawingml/2006/main" prst="roundRect">
            <a:avLst>
              <a:gd name="adj" fmla="val 7767"/>
            </a:avLst>
          </a:prstGeom>
          <a:solidFill xmlns:a="http://schemas.openxmlformats.org/drawingml/2006/main">
            <a:srgbClr val="E4EBE4"/>
          </a:solidFill>
          <a:ln xmlns:a="http://schemas.openxmlformats.org/drawingml/2006/main" w="14288">
            <a:solidFill>
              <a:srgbClr val="C6D3CC"/>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950" b="1">
                <a:solidFill>
                  <a:srgbClr val="142C38"/>
                </a:solidFill>
                <a:latin typeface="Aptos"/>
                <a:ea typeface="Aptos"/>
                <a:cs typeface="Aptos"/>
              </a:defRPr>
            </a:pPr>
            <a:r>
              <a:rPr sz="1950" b="1">
                <a:solidFill>
                  <a:srgbClr val="142C38"/>
                </a:solidFill>
                <a:latin typeface="Aptos"/>
                <a:ea typeface="Aptos"/>
                <a:cs typeface="Aptos"/>
              </a:rPr>
              <a:t>Positive rate</a:t>
            </a:r>
          </a:p>
        </p:txBody>
      </p:sp>
      <p:sp>
        <p:nvSpPr>
          <p:cNvPr id="5" name="flow-node">
            <a:extLst xmlns:a="http://schemas.openxmlformats.org/drawingml/2006/main">
              <a:ext uri="{FF2B5EF4-FFF2-40B4-BE49-F238E27FC236}">
                <a16:creationId xmlns:a16="http://schemas.microsoft.com/office/drawing/2014/main" id="{55279A01-340A-4052-8157-CFA76D4DF49F}"/>
              </a:ext>
            </a:extLst>
          </p:cNvPr>
          <p:cNvSpPr>
            <a:spLocks xmlns:a="http://schemas.openxmlformats.org/drawingml/2006/main" noGrp="1"/>
          </p:cNvSpPr>
          <p:nvPr/>
        </p:nvSpPr>
        <p:spPr>
          <a:xfrm xmlns:a="http://schemas.openxmlformats.org/drawingml/2006/main">
            <a:off x="8115300" y="2228850"/>
            <a:ext cx="3467100" cy="981075"/>
          </a:xfrm>
          <a:prstGeom xmlns:a="http://schemas.openxmlformats.org/drawingml/2006/main" prst="roundRect">
            <a:avLst>
              <a:gd name="adj" fmla="val 7767"/>
            </a:avLst>
          </a:prstGeom>
          <a:solidFill xmlns:a="http://schemas.openxmlformats.org/drawingml/2006/main">
            <a:srgbClr val="E4EBE4"/>
          </a:solidFill>
          <a:ln xmlns:a="http://schemas.openxmlformats.org/drawingml/2006/main" w="14288">
            <a:solidFill>
              <a:srgbClr val="C6D3CC"/>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950" b="1">
                <a:solidFill>
                  <a:srgbClr val="142C38"/>
                </a:solidFill>
                <a:latin typeface="Aptos"/>
                <a:ea typeface="Aptos"/>
                <a:cs typeface="Aptos"/>
              </a:defRPr>
            </a:pPr>
            <a:r>
              <a:rPr sz="1950" b="1">
                <a:solidFill>
                  <a:srgbClr val="142C38"/>
                </a:solidFill>
                <a:latin typeface="Aptos"/>
                <a:ea typeface="Aptos"/>
                <a:cs typeface="Aptos"/>
              </a:rPr>
              <a:t>Trend + limits</a:t>
            </a:r>
          </a:p>
        </p:txBody>
      </p:sp>
      <p:cxnSp>
        <p:nvCxnSpPr>
          <p:cNvPr id="23" name=""/>
          <p:cNvCxnSpPr>
            <a:stCxn xmlns:a="http://schemas.openxmlformats.org/drawingml/2006/main" id="3" idx="3"/>
            <a:endCxn xmlns:a="http://schemas.openxmlformats.org/drawingml/2006/main" id="4" idx="1"/>
          </p:cNvCxnSpPr>
          <p:nvPr/>
        </p:nvCxnSpPr>
        <p:spPr>
          <a:xfrm xmlns:a="http://schemas.openxmlformats.org/drawingml/2006/main">
            <a:off x="4076700" y="2719388"/>
            <a:ext cx="285750" cy="0"/>
          </a:xfrm>
          <a:prstGeom xmlns:a="http://schemas.openxmlformats.org/drawingml/2006/main" prst="straightConnector1">
            <a:avLst/>
          </a:prstGeom>
          <a:ln xmlns:a="http://schemas.openxmlformats.org/drawingml/2006/main" w="19050">
            <a:solidFill>
              <a:srgbClr val="537078"/>
            </a:solidFill>
            <a:tailEnd type="arrow" w="med" len="med"/>
          </a:ln>
        </p:spPr>
      </p:cxnSp>
      <p:cxnSp>
        <p:nvCxnSpPr>
          <p:cNvPr id="24" name=""/>
          <p:cNvCxnSpPr>
            <a:stCxn xmlns:a="http://schemas.openxmlformats.org/drawingml/2006/main" id="4" idx="3"/>
            <a:endCxn xmlns:a="http://schemas.openxmlformats.org/drawingml/2006/main" id="5" idx="1"/>
          </p:cNvCxnSpPr>
          <p:nvPr/>
        </p:nvCxnSpPr>
        <p:spPr>
          <a:xfrm xmlns:a="http://schemas.openxmlformats.org/drawingml/2006/main">
            <a:off x="7829550" y="2719388"/>
            <a:ext cx="285750" cy="0"/>
          </a:xfrm>
          <a:prstGeom xmlns:a="http://schemas.openxmlformats.org/drawingml/2006/main" prst="straightConnector1">
            <a:avLst/>
          </a:prstGeom>
          <a:ln xmlns:a="http://schemas.openxmlformats.org/drawingml/2006/main" w="19050">
            <a:solidFill>
              <a:srgbClr val="537078"/>
            </a:solidFill>
            <a:tailEnd type="arrow" w="med" len="med"/>
          </a:ln>
        </p:spPr>
      </p:cxnSp>
      <p:sp>
        <p:nvSpPr>
          <p:cNvPr id="8" name="text">
            <a:extLst xmlns:a="http://schemas.openxmlformats.org/drawingml/2006/main">
              <a:ext uri="{FF2B5EF4-FFF2-40B4-BE49-F238E27FC236}">
                <a16:creationId xmlns:a16="http://schemas.microsoft.com/office/drawing/2014/main" id="{198130F3-2AAF-45DC-BB86-4EE7A696A218}"/>
              </a:ext>
            </a:extLst>
          </p:cNvPr>
          <p:cNvSpPr>
            <a:spLocks xmlns:a="http://schemas.openxmlformats.org/drawingml/2006/main" noGrp="1"/>
          </p:cNvSpPr>
          <p:nvPr/>
        </p:nvSpPr>
        <p:spPr>
          <a:xfrm xmlns:a="http://schemas.openxmlformats.org/drawingml/2006/main">
            <a:off x="609600" y="355282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01</a:t>
            </a:r>
          </a:p>
        </p:txBody>
      </p:sp>
      <p:sp>
        <p:nvSpPr>
          <p:cNvPr id="9" name="text">
            <a:extLst xmlns:a="http://schemas.openxmlformats.org/drawingml/2006/main">
              <a:ext uri="{FF2B5EF4-FFF2-40B4-BE49-F238E27FC236}">
                <a16:creationId xmlns:a16="http://schemas.microsoft.com/office/drawing/2014/main" id="{2DDC13A1-3856-45B4-AE65-3EE2A2500861}"/>
              </a:ext>
            </a:extLst>
          </p:cNvPr>
          <p:cNvSpPr>
            <a:spLocks xmlns:a="http://schemas.openxmlformats.org/drawingml/2006/main" noGrp="1"/>
          </p:cNvSpPr>
          <p:nvPr/>
        </p:nvSpPr>
        <p:spPr>
          <a:xfrm xmlns:a="http://schemas.openxmlformats.org/drawingml/2006/main">
            <a:off x="1314450" y="3524250"/>
            <a:ext cx="102679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C38"/>
                </a:solidFill>
                <a:latin typeface="Aptos"/>
                <a:ea typeface="Aptos"/>
                <a:cs typeface="Aptos"/>
              </a:defRPr>
            </a:pPr>
            <a:r>
              <a:rPr sz="1875" b="0">
                <a:solidFill>
                  <a:srgbClr val="142C38"/>
                </a:solidFill>
                <a:latin typeface="Aptos"/>
                <a:ea typeface="Aptos"/>
                <a:cs typeface="Aptos"/>
              </a:rPr>
              <a:t>Change signals[0].positive: 92 → 60.</a:t>
            </a:r>
          </a:p>
        </p:txBody>
      </p:sp>
      <p:sp>
        <p:nvSpPr>
          <p:cNvPr id="10" name="text">
            <a:extLst xmlns:a="http://schemas.openxmlformats.org/drawingml/2006/main">
              <a:ext uri="{FF2B5EF4-FFF2-40B4-BE49-F238E27FC236}">
                <a16:creationId xmlns:a16="http://schemas.microsoft.com/office/drawing/2014/main" id="{5210741A-3DC4-4B0F-9285-923A34567507}"/>
              </a:ext>
            </a:extLst>
          </p:cNvPr>
          <p:cNvSpPr>
            <a:spLocks xmlns:a="http://schemas.openxmlformats.org/drawingml/2006/main" noGrp="1"/>
          </p:cNvSpPr>
          <p:nvPr/>
        </p:nvSpPr>
        <p:spPr>
          <a:xfrm xmlns:a="http://schemas.openxmlformats.org/drawingml/2006/main">
            <a:off x="609600" y="42100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02</a:t>
            </a:r>
          </a:p>
        </p:txBody>
      </p:sp>
      <p:sp>
        <p:nvSpPr>
          <p:cNvPr id="11" name="text">
            <a:extLst xmlns:a="http://schemas.openxmlformats.org/drawingml/2006/main">
              <a:ext uri="{FF2B5EF4-FFF2-40B4-BE49-F238E27FC236}">
                <a16:creationId xmlns:a16="http://schemas.microsoft.com/office/drawing/2014/main" id="{75F8C5EA-DDAE-4ACF-A2F5-5EA49E457720}"/>
              </a:ext>
            </a:extLst>
          </p:cNvPr>
          <p:cNvSpPr>
            <a:spLocks xmlns:a="http://schemas.openxmlformats.org/drawingml/2006/main" noGrp="1"/>
          </p:cNvSpPr>
          <p:nvPr/>
        </p:nvSpPr>
        <p:spPr>
          <a:xfrm xmlns:a="http://schemas.openxmlformats.org/drawingml/2006/main">
            <a:off x="1314450" y="4181475"/>
            <a:ext cx="102679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C38"/>
                </a:solidFill>
                <a:latin typeface="Aptos"/>
                <a:ea typeface="Aptos"/>
                <a:cs typeface="Aptos"/>
              </a:defRPr>
            </a:pPr>
            <a:r>
              <a:rPr sz="1875" b="0">
                <a:solidFill>
                  <a:srgbClr val="142C38"/>
                </a:solidFill>
                <a:latin typeface="Aptos"/>
                <a:ea typeface="Aptos"/>
                <a:cs typeface="Aptos"/>
              </a:rPr>
              <a:t>Run PRISM with the baseline scenario.</a:t>
            </a:r>
          </a:p>
        </p:txBody>
      </p:sp>
      <p:sp>
        <p:nvSpPr>
          <p:cNvPr id="12" name="text">
            <a:extLst xmlns:a="http://schemas.openxmlformats.org/drawingml/2006/main">
              <a:ext uri="{FF2B5EF4-FFF2-40B4-BE49-F238E27FC236}">
                <a16:creationId xmlns:a16="http://schemas.microsoft.com/office/drawing/2014/main" id="{9531266A-20A6-4D43-8F6F-E02938B7766F}"/>
              </a:ext>
            </a:extLst>
          </p:cNvPr>
          <p:cNvSpPr>
            <a:spLocks xmlns:a="http://schemas.openxmlformats.org/drawingml/2006/main" noGrp="1"/>
          </p:cNvSpPr>
          <p:nvPr/>
        </p:nvSpPr>
        <p:spPr>
          <a:xfrm xmlns:a="http://schemas.openxmlformats.org/drawingml/2006/main">
            <a:off x="609600" y="486727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03</a:t>
            </a:r>
          </a:p>
        </p:txBody>
      </p:sp>
      <p:sp>
        <p:nvSpPr>
          <p:cNvPr id="13" name="text">
            <a:extLst xmlns:a="http://schemas.openxmlformats.org/drawingml/2006/main">
              <a:ext uri="{FF2B5EF4-FFF2-40B4-BE49-F238E27FC236}">
                <a16:creationId xmlns:a16="http://schemas.microsoft.com/office/drawing/2014/main" id="{41AECAED-B862-4042-861C-883D0D5591B9}"/>
              </a:ext>
            </a:extLst>
          </p:cNvPr>
          <p:cNvSpPr>
            <a:spLocks xmlns:a="http://schemas.openxmlformats.org/drawingml/2006/main" noGrp="1"/>
          </p:cNvSpPr>
          <p:nvPr/>
        </p:nvSpPr>
        <p:spPr>
          <a:xfrm xmlns:a="http://schemas.openxmlformats.org/drawingml/2006/main">
            <a:off x="1314450" y="4838700"/>
            <a:ext cx="102679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C38"/>
                </a:solidFill>
                <a:latin typeface="Aptos"/>
                <a:ea typeface="Aptos"/>
                <a:cs typeface="Aptos"/>
              </a:defRPr>
            </a:pPr>
            <a:r>
              <a:rPr sz="1875" b="0">
                <a:solidFill>
                  <a:srgbClr val="142C38"/>
                </a:solidFill>
                <a:latin typeface="Aptos"/>
                <a:ea typeface="Aptos"/>
                <a:cs typeface="Aptos"/>
              </a:rPr>
              <a:t>Expect overall positive rate: 72.5% → 63.6%.</a:t>
            </a:r>
          </a:p>
        </p:txBody>
      </p:sp>
      <p:sp>
        <p:nvSpPr>
          <p:cNvPr id="14" name="text">
            <a:extLst xmlns:a="http://schemas.openxmlformats.org/drawingml/2006/main">
              <a:ext uri="{FF2B5EF4-FFF2-40B4-BE49-F238E27FC236}">
                <a16:creationId xmlns:a16="http://schemas.microsoft.com/office/drawing/2014/main" id="{13A20434-8341-4AA6-9A70-53045F50912D}"/>
              </a:ext>
            </a:extLst>
          </p:cNvPr>
          <p:cNvSpPr>
            <a:spLocks xmlns:a="http://schemas.openxmlformats.org/drawingml/2006/main" noGrp="1"/>
          </p:cNvSpPr>
          <p:nvPr/>
        </p:nvSpPr>
        <p:spPr>
          <a:xfrm xmlns:a="http://schemas.openxmlformats.org/drawingml/2006/main">
            <a:off x="609600" y="58483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Responses are not purchases. A sample is not the whole market.</a:t>
            </a:r>
          </a:p>
        </p:txBody>
      </p:sp>
      <p:sp>
        <p:nvSpPr>
          <p:cNvPr id="15" name="shape">
            <a:extLst xmlns:a="http://schemas.openxmlformats.org/drawingml/2006/main">
              <a:ext uri="{FF2B5EF4-FFF2-40B4-BE49-F238E27FC236}">
                <a16:creationId xmlns:a16="http://schemas.microsoft.com/office/drawing/2014/main" id="{991E86A9-BA2D-42AA-AF2E-8D65D12EF99A}"/>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348BF933-3A38-4431-8FEA-D05563AA5860}"/>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17" name="text">
            <a:extLst xmlns:a="http://schemas.openxmlformats.org/drawingml/2006/main">
              <a:ext uri="{FF2B5EF4-FFF2-40B4-BE49-F238E27FC236}">
                <a16:creationId xmlns:a16="http://schemas.microsoft.com/office/drawing/2014/main" id="{26D34133-FF2C-4807-971F-EC5CB3A9950B}"/>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42</a:t>
            </a:r>
          </a:p>
        </p:txBody>
      </p:sp>
    </p:spTree>
    <p:extLst>
      <p:ext uri="{BB962C8B-B14F-4D97-AF65-F5344CB8AC3E}">
        <p14:creationId xmlns:p14="http://schemas.microsoft.com/office/powerpoint/2010/main" val="1182179501"/>
      </p:ext>
    </p:extLst>
  </p:cSld>
</p:sld>
</file>

<file path=ppt/slides/slide43.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8" name="text">
            <a:extLst xmlns:a="http://schemas.openxmlformats.org/drawingml/2006/main">
              <a:ext uri="{FF2B5EF4-FFF2-40B4-BE49-F238E27FC236}">
                <a16:creationId xmlns:a16="http://schemas.microsoft.com/office/drawing/2014/main" id="{77DCA2F2-BFA1-4274-BD90-6E0F4C4DD640}"/>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DAY 1 · SESSION 3 · 90 MINUTES</a:t>
            </a:r>
          </a:p>
        </p:txBody>
      </p:sp>
      <p:sp>
        <p:nvSpPr>
          <p:cNvPr id="2" name="text">
            <a:extLst xmlns:a="http://schemas.openxmlformats.org/drawingml/2006/main">
              <a:ext uri="{FF2B5EF4-FFF2-40B4-BE49-F238E27FC236}">
                <a16:creationId xmlns:a16="http://schemas.microsoft.com/office/drawing/2014/main" id="{A6A12EDD-67DC-4B57-A9C1-649BDAEF76B5}"/>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PULSE turns signals into a testable campaign.</a:t>
            </a:r>
          </a:p>
        </p:txBody>
      </p:sp>
      <p:sp>
        <p:nvSpPr>
          <p:cNvPr id="3" name="flow-node">
            <a:extLst xmlns:a="http://schemas.openxmlformats.org/drawingml/2006/main">
              <a:ext uri="{FF2B5EF4-FFF2-40B4-BE49-F238E27FC236}">
                <a16:creationId xmlns:a16="http://schemas.microsoft.com/office/drawing/2014/main" id="{F3EA73AC-0C01-4618-9E04-74705D042722}"/>
              </a:ext>
            </a:extLst>
          </p:cNvPr>
          <p:cNvSpPr>
            <a:spLocks xmlns:a="http://schemas.openxmlformats.org/drawingml/2006/main" noGrp="1"/>
          </p:cNvSpPr>
          <p:nvPr/>
        </p:nvSpPr>
        <p:spPr>
          <a:xfrm xmlns:a="http://schemas.openxmlformats.org/drawingml/2006/main">
            <a:off x="609600" y="2228850"/>
            <a:ext cx="3467100" cy="981075"/>
          </a:xfrm>
          <a:prstGeom xmlns:a="http://schemas.openxmlformats.org/drawingml/2006/main" prst="roundRect">
            <a:avLst>
              <a:gd name="adj" fmla="val 7767"/>
            </a:avLst>
          </a:prstGeom>
          <a:solidFill xmlns:a="http://schemas.openxmlformats.org/drawingml/2006/main">
            <a:srgbClr val="E4EBE4"/>
          </a:solidFill>
          <a:ln xmlns:a="http://schemas.openxmlformats.org/drawingml/2006/main" w="14288">
            <a:solidFill>
              <a:srgbClr val="C6D3CC"/>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950" b="1">
                <a:solidFill>
                  <a:srgbClr val="142C38"/>
                </a:solidFill>
                <a:latin typeface="Aptos"/>
                <a:ea typeface="Aptos"/>
                <a:cs typeface="Aptos"/>
              </a:defRPr>
            </a:pPr>
            <a:r>
              <a:rPr sz="1950" b="1">
                <a:solidFill>
                  <a:srgbClr val="142C38"/>
                </a:solidFill>
                <a:latin typeface="Aptos"/>
                <a:ea typeface="Aptos"/>
                <a:cs typeface="Aptos"/>
              </a:rPr>
              <a:t>PRISM report</a:t>
            </a:r>
          </a:p>
        </p:txBody>
      </p:sp>
      <p:sp>
        <p:nvSpPr>
          <p:cNvPr id="4" name="flow-node">
            <a:extLst xmlns:a="http://schemas.openxmlformats.org/drawingml/2006/main">
              <a:ext uri="{FF2B5EF4-FFF2-40B4-BE49-F238E27FC236}">
                <a16:creationId xmlns:a16="http://schemas.microsoft.com/office/drawing/2014/main" id="{498CBAC0-DA32-439D-8759-01060AA34383}"/>
              </a:ext>
            </a:extLst>
          </p:cNvPr>
          <p:cNvSpPr>
            <a:spLocks xmlns:a="http://schemas.openxmlformats.org/drawingml/2006/main" noGrp="1"/>
          </p:cNvSpPr>
          <p:nvPr/>
        </p:nvSpPr>
        <p:spPr>
          <a:xfrm xmlns:a="http://schemas.openxmlformats.org/drawingml/2006/main">
            <a:off x="4362450" y="2228850"/>
            <a:ext cx="3467100" cy="981075"/>
          </a:xfrm>
          <a:prstGeom xmlns:a="http://schemas.openxmlformats.org/drawingml/2006/main" prst="roundRect">
            <a:avLst>
              <a:gd name="adj" fmla="val 7767"/>
            </a:avLst>
          </a:prstGeom>
          <a:solidFill xmlns:a="http://schemas.openxmlformats.org/drawingml/2006/main">
            <a:srgbClr val="E4EBE4"/>
          </a:solidFill>
          <a:ln xmlns:a="http://schemas.openxmlformats.org/drawingml/2006/main" w="14288">
            <a:solidFill>
              <a:srgbClr val="C6D3CC"/>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950" b="1">
                <a:solidFill>
                  <a:srgbClr val="142C38"/>
                </a:solidFill>
                <a:latin typeface="Aptos"/>
                <a:ea typeface="Aptos"/>
                <a:cs typeface="Aptos"/>
              </a:defRPr>
            </a:pPr>
            <a:r>
              <a:rPr sz="1950" b="1">
                <a:solidFill>
                  <a:srgbClr val="142C38"/>
                </a:solidFill>
                <a:latin typeface="Aptos"/>
                <a:ea typeface="Aptos"/>
                <a:cs typeface="Aptos"/>
              </a:rPr>
              <a:t>Channel budgets</a:t>
            </a:r>
          </a:p>
        </p:txBody>
      </p:sp>
      <p:sp>
        <p:nvSpPr>
          <p:cNvPr id="5" name="flow-node">
            <a:extLst xmlns:a="http://schemas.openxmlformats.org/drawingml/2006/main">
              <a:ext uri="{FF2B5EF4-FFF2-40B4-BE49-F238E27FC236}">
                <a16:creationId xmlns:a16="http://schemas.microsoft.com/office/drawing/2014/main" id="{BAE4196D-48AC-49F1-AB4F-E37E9098268E}"/>
              </a:ext>
            </a:extLst>
          </p:cNvPr>
          <p:cNvSpPr>
            <a:spLocks xmlns:a="http://schemas.openxmlformats.org/drawingml/2006/main" noGrp="1"/>
          </p:cNvSpPr>
          <p:nvPr/>
        </p:nvSpPr>
        <p:spPr>
          <a:xfrm xmlns:a="http://schemas.openxmlformats.org/drawingml/2006/main">
            <a:off x="8115300" y="2228850"/>
            <a:ext cx="3467100" cy="981075"/>
          </a:xfrm>
          <a:prstGeom xmlns:a="http://schemas.openxmlformats.org/drawingml/2006/main" prst="roundRect">
            <a:avLst>
              <a:gd name="adj" fmla="val 7767"/>
            </a:avLst>
          </a:prstGeom>
          <a:solidFill xmlns:a="http://schemas.openxmlformats.org/drawingml/2006/main">
            <a:srgbClr val="E4EBE4"/>
          </a:solidFill>
          <a:ln xmlns:a="http://schemas.openxmlformats.org/drawingml/2006/main" w="14288">
            <a:solidFill>
              <a:srgbClr val="C6D3CC"/>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950" b="1">
                <a:solidFill>
                  <a:srgbClr val="142C38"/>
                </a:solidFill>
                <a:latin typeface="Aptos"/>
                <a:ea typeface="Aptos"/>
                <a:cs typeface="Aptos"/>
              </a:defRPr>
            </a:pPr>
            <a:r>
              <a:rPr sz="1950" b="1">
                <a:solidFill>
                  <a:srgbClr val="142C38"/>
                </a:solidFill>
                <a:latin typeface="Aptos"/>
                <a:ea typeface="Aptos"/>
                <a:cs typeface="Aptos"/>
              </a:rPr>
              <a:t>Reviewed draft</a:t>
            </a:r>
          </a:p>
        </p:txBody>
      </p:sp>
      <p:cxnSp>
        <p:nvCxnSpPr>
          <p:cNvPr id="23" name=""/>
          <p:cNvCxnSpPr>
            <a:stCxn xmlns:a="http://schemas.openxmlformats.org/drawingml/2006/main" id="3" idx="3"/>
            <a:endCxn xmlns:a="http://schemas.openxmlformats.org/drawingml/2006/main" id="4" idx="1"/>
          </p:cNvCxnSpPr>
          <p:nvPr/>
        </p:nvCxnSpPr>
        <p:spPr>
          <a:xfrm xmlns:a="http://schemas.openxmlformats.org/drawingml/2006/main">
            <a:off x="4076700" y="2719388"/>
            <a:ext cx="285750" cy="0"/>
          </a:xfrm>
          <a:prstGeom xmlns:a="http://schemas.openxmlformats.org/drawingml/2006/main" prst="straightConnector1">
            <a:avLst/>
          </a:prstGeom>
          <a:ln xmlns:a="http://schemas.openxmlformats.org/drawingml/2006/main" w="19050">
            <a:solidFill>
              <a:srgbClr val="537078"/>
            </a:solidFill>
            <a:tailEnd type="arrow" w="med" len="med"/>
          </a:ln>
        </p:spPr>
      </p:cxnSp>
      <p:cxnSp>
        <p:nvCxnSpPr>
          <p:cNvPr id="24" name=""/>
          <p:cNvCxnSpPr>
            <a:stCxn xmlns:a="http://schemas.openxmlformats.org/drawingml/2006/main" id="4" idx="3"/>
            <a:endCxn xmlns:a="http://schemas.openxmlformats.org/drawingml/2006/main" id="5" idx="1"/>
          </p:cNvCxnSpPr>
          <p:nvPr/>
        </p:nvCxnSpPr>
        <p:spPr>
          <a:xfrm xmlns:a="http://schemas.openxmlformats.org/drawingml/2006/main">
            <a:off x="7829550" y="2719388"/>
            <a:ext cx="285750" cy="0"/>
          </a:xfrm>
          <a:prstGeom xmlns:a="http://schemas.openxmlformats.org/drawingml/2006/main" prst="straightConnector1">
            <a:avLst/>
          </a:prstGeom>
          <a:ln xmlns:a="http://schemas.openxmlformats.org/drawingml/2006/main" w="19050">
            <a:solidFill>
              <a:srgbClr val="537078"/>
            </a:solidFill>
            <a:tailEnd type="arrow" w="med" len="med"/>
          </a:ln>
        </p:spPr>
      </p:cxnSp>
      <p:sp>
        <p:nvSpPr>
          <p:cNvPr id="8" name="text">
            <a:extLst xmlns:a="http://schemas.openxmlformats.org/drawingml/2006/main">
              <a:ext uri="{FF2B5EF4-FFF2-40B4-BE49-F238E27FC236}">
                <a16:creationId xmlns:a16="http://schemas.microsoft.com/office/drawing/2014/main" id="{1D9BCB73-A2C5-4173-80E7-1CDED46743F5}"/>
              </a:ext>
            </a:extLst>
          </p:cNvPr>
          <p:cNvSpPr>
            <a:spLocks xmlns:a="http://schemas.openxmlformats.org/drawingml/2006/main" noGrp="1"/>
          </p:cNvSpPr>
          <p:nvPr/>
        </p:nvSpPr>
        <p:spPr>
          <a:xfrm xmlns:a="http://schemas.openxmlformats.org/drawingml/2006/main">
            <a:off x="609600" y="355282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01</a:t>
            </a:r>
          </a:p>
        </p:txBody>
      </p:sp>
      <p:sp>
        <p:nvSpPr>
          <p:cNvPr id="9" name="text">
            <a:extLst xmlns:a="http://schemas.openxmlformats.org/drawingml/2006/main">
              <a:ext uri="{FF2B5EF4-FFF2-40B4-BE49-F238E27FC236}">
                <a16:creationId xmlns:a16="http://schemas.microsoft.com/office/drawing/2014/main" id="{83FC1E03-3377-459D-BEA4-B2FC6CA9DDF2}"/>
              </a:ext>
            </a:extLst>
          </p:cNvPr>
          <p:cNvSpPr>
            <a:spLocks xmlns:a="http://schemas.openxmlformats.org/drawingml/2006/main" noGrp="1"/>
          </p:cNvSpPr>
          <p:nvPr/>
        </p:nvSpPr>
        <p:spPr>
          <a:xfrm xmlns:a="http://schemas.openxmlformats.org/drawingml/2006/main">
            <a:off x="1314450" y="3524250"/>
            <a:ext cx="102679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C38"/>
                </a:solidFill>
                <a:latin typeface="Aptos"/>
                <a:ea typeface="Aptos"/>
                <a:cs typeface="Aptos"/>
              </a:defRPr>
            </a:pPr>
            <a:r>
              <a:rPr sz="1875" b="0">
                <a:solidFill>
                  <a:srgbClr val="142C38"/>
                </a:solidFill>
                <a:latin typeface="Aptos"/>
                <a:ea typeface="Aptos"/>
                <a:cs typeface="Aptos"/>
              </a:rPr>
              <a:t>Restore defaults. Set marketing_budget: 180000 → 90000.</a:t>
            </a:r>
          </a:p>
        </p:txBody>
      </p:sp>
      <p:sp>
        <p:nvSpPr>
          <p:cNvPr id="10" name="text">
            <a:extLst xmlns:a="http://schemas.openxmlformats.org/drawingml/2006/main">
              <a:ext uri="{FF2B5EF4-FFF2-40B4-BE49-F238E27FC236}">
                <a16:creationId xmlns:a16="http://schemas.microsoft.com/office/drawing/2014/main" id="{DB18C204-7F4A-4E26-84EF-A4F2F3668083}"/>
              </a:ext>
            </a:extLst>
          </p:cNvPr>
          <p:cNvSpPr>
            <a:spLocks xmlns:a="http://schemas.openxmlformats.org/drawingml/2006/main" noGrp="1"/>
          </p:cNvSpPr>
          <p:nvPr/>
        </p:nvSpPr>
        <p:spPr>
          <a:xfrm xmlns:a="http://schemas.openxmlformats.org/drawingml/2006/main">
            <a:off x="609600" y="42100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02</a:t>
            </a:r>
          </a:p>
        </p:txBody>
      </p:sp>
      <p:sp>
        <p:nvSpPr>
          <p:cNvPr id="11" name="text">
            <a:extLst xmlns:a="http://schemas.openxmlformats.org/drawingml/2006/main">
              <a:ext uri="{FF2B5EF4-FFF2-40B4-BE49-F238E27FC236}">
                <a16:creationId xmlns:a16="http://schemas.microsoft.com/office/drawing/2014/main" id="{867DC63D-93EA-4DFE-AB15-209038264063}"/>
              </a:ext>
            </a:extLst>
          </p:cNvPr>
          <p:cNvSpPr>
            <a:spLocks xmlns:a="http://schemas.openxmlformats.org/drawingml/2006/main" noGrp="1"/>
          </p:cNvSpPr>
          <p:nvPr/>
        </p:nvSpPr>
        <p:spPr>
          <a:xfrm xmlns:a="http://schemas.openxmlformats.org/drawingml/2006/main">
            <a:off x="1314450" y="4181475"/>
            <a:ext cx="102679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C38"/>
                </a:solidFill>
                <a:latin typeface="Aptos"/>
                <a:ea typeface="Aptos"/>
                <a:cs typeface="Aptos"/>
              </a:defRPr>
            </a:pPr>
            <a:r>
              <a:rPr sz="1875" b="0">
                <a:solidFill>
                  <a:srgbClr val="142C38"/>
                </a:solidFill>
                <a:latin typeface="Aptos"/>
                <a:ea typeface="Aptos"/>
                <a:cs typeface="Aptos"/>
              </a:rPr>
              <a:t>Run PULSE and inspect the channel worksheet.</a:t>
            </a:r>
          </a:p>
        </p:txBody>
      </p:sp>
      <p:sp>
        <p:nvSpPr>
          <p:cNvPr id="12" name="text">
            <a:extLst xmlns:a="http://schemas.openxmlformats.org/drawingml/2006/main">
              <a:ext uri="{FF2B5EF4-FFF2-40B4-BE49-F238E27FC236}">
                <a16:creationId xmlns:a16="http://schemas.microsoft.com/office/drawing/2014/main" id="{1F401D6F-B986-4713-B0F2-D9E3C5A38B70}"/>
              </a:ext>
            </a:extLst>
          </p:cNvPr>
          <p:cNvSpPr>
            <a:spLocks xmlns:a="http://schemas.openxmlformats.org/drawingml/2006/main" noGrp="1"/>
          </p:cNvSpPr>
          <p:nvPr/>
        </p:nvSpPr>
        <p:spPr>
          <a:xfrm xmlns:a="http://schemas.openxmlformats.org/drawingml/2006/main">
            <a:off x="609600" y="486727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03</a:t>
            </a:r>
          </a:p>
        </p:txBody>
      </p:sp>
      <p:sp>
        <p:nvSpPr>
          <p:cNvPr id="13" name="text">
            <a:extLst xmlns:a="http://schemas.openxmlformats.org/drawingml/2006/main">
              <a:ext uri="{FF2B5EF4-FFF2-40B4-BE49-F238E27FC236}">
                <a16:creationId xmlns:a16="http://schemas.microsoft.com/office/drawing/2014/main" id="{D204967C-679C-4D51-ADD6-BD711CC2B587}"/>
              </a:ext>
            </a:extLst>
          </p:cNvPr>
          <p:cNvSpPr>
            <a:spLocks xmlns:a="http://schemas.openxmlformats.org/drawingml/2006/main" noGrp="1"/>
          </p:cNvSpPr>
          <p:nvPr/>
        </p:nvSpPr>
        <p:spPr>
          <a:xfrm xmlns:a="http://schemas.openxmlformats.org/drawingml/2006/main">
            <a:off x="1314450" y="4838700"/>
            <a:ext cx="102679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C38"/>
                </a:solidFill>
                <a:latin typeface="Aptos"/>
                <a:ea typeface="Aptos"/>
                <a:cs typeface="Aptos"/>
              </a:defRPr>
            </a:pPr>
            <a:r>
              <a:rPr sz="1875" b="0">
                <a:solidFill>
                  <a:srgbClr val="142C38"/>
                </a:solidFill>
                <a:latin typeface="Aptos"/>
                <a:ea typeface="Aptos"/>
                <a:cs typeface="Aptos"/>
              </a:rPr>
              <a:t>Expect allocated budgets to total ₹90,000.</a:t>
            </a:r>
          </a:p>
        </p:txBody>
      </p:sp>
      <p:sp>
        <p:nvSpPr>
          <p:cNvPr id="14" name="text">
            <a:extLst xmlns:a="http://schemas.openxmlformats.org/drawingml/2006/main">
              <a:ext uri="{FF2B5EF4-FFF2-40B4-BE49-F238E27FC236}">
                <a16:creationId xmlns:a16="http://schemas.microsoft.com/office/drawing/2014/main" id="{0FFB49FC-E56A-4CE4-BCFC-19D07E99E0F2}"/>
              </a:ext>
            </a:extLst>
          </p:cNvPr>
          <p:cNvSpPr>
            <a:spLocks xmlns:a="http://schemas.openxmlformats.org/drawingml/2006/main" noGrp="1"/>
          </p:cNvSpPr>
          <p:nvPr/>
        </p:nvSpPr>
        <p:spPr>
          <a:xfrm xmlns:a="http://schemas.openxmlformats.org/drawingml/2006/main">
            <a:off x="609600" y="58483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The allocation is a teaching rule, not a proven ROI forecast.</a:t>
            </a:r>
          </a:p>
        </p:txBody>
      </p:sp>
      <p:sp>
        <p:nvSpPr>
          <p:cNvPr id="15" name="shape">
            <a:extLst xmlns:a="http://schemas.openxmlformats.org/drawingml/2006/main">
              <a:ext uri="{FF2B5EF4-FFF2-40B4-BE49-F238E27FC236}">
                <a16:creationId xmlns:a16="http://schemas.microsoft.com/office/drawing/2014/main" id="{0D84F02F-6330-4CA8-B9EB-F12C41CFEC72}"/>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7CAF0984-82FD-4257-A884-7CE052E21AF6}"/>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17" name="text">
            <a:extLst xmlns:a="http://schemas.openxmlformats.org/drawingml/2006/main">
              <a:ext uri="{FF2B5EF4-FFF2-40B4-BE49-F238E27FC236}">
                <a16:creationId xmlns:a16="http://schemas.microsoft.com/office/drawing/2014/main" id="{72339BF4-A0DB-4DF3-B3D1-923515568FFD}"/>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43</a:t>
            </a:r>
          </a:p>
        </p:txBody>
      </p:sp>
    </p:spTree>
    <p:extLst>
      <p:ext uri="{BB962C8B-B14F-4D97-AF65-F5344CB8AC3E}">
        <p14:creationId xmlns:p14="http://schemas.microsoft.com/office/powerpoint/2010/main" val="517522815"/>
      </p:ext>
    </p:extLst>
  </p:cSld>
</p:sld>
</file>

<file path=ppt/slides/slide44.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8" name="text">
            <a:extLst xmlns:a="http://schemas.openxmlformats.org/drawingml/2006/main">
              <a:ext uri="{FF2B5EF4-FFF2-40B4-BE49-F238E27FC236}">
                <a16:creationId xmlns:a16="http://schemas.microsoft.com/office/drawing/2014/main" id="{26CC2A2E-4D67-4991-8758-8245EA04853E}"/>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DAY 1 · SESSION 3 · 90 MINUTES</a:t>
            </a:r>
          </a:p>
        </p:txBody>
      </p:sp>
      <p:sp>
        <p:nvSpPr>
          <p:cNvPr id="2" name="text">
            <a:extLst xmlns:a="http://schemas.openxmlformats.org/drawingml/2006/main">
              <a:ext uri="{FF2B5EF4-FFF2-40B4-BE49-F238E27FC236}">
                <a16:creationId xmlns:a16="http://schemas.microsoft.com/office/drawing/2014/main" id="{F0B712B8-4C85-44BB-AAEE-3000BE89891C}"/>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NOVA shows capacity and skills for review.</a:t>
            </a:r>
          </a:p>
        </p:txBody>
      </p:sp>
      <p:sp>
        <p:nvSpPr>
          <p:cNvPr id="3" name="flow-node">
            <a:extLst xmlns:a="http://schemas.openxmlformats.org/drawingml/2006/main">
              <a:ext uri="{FF2B5EF4-FFF2-40B4-BE49-F238E27FC236}">
                <a16:creationId xmlns:a16="http://schemas.microsoft.com/office/drawing/2014/main" id="{B8613CE2-431E-428F-B1A5-C3641A4F142E}"/>
              </a:ext>
            </a:extLst>
          </p:cNvPr>
          <p:cNvSpPr>
            <a:spLocks xmlns:a="http://schemas.openxmlformats.org/drawingml/2006/main" noGrp="1"/>
          </p:cNvSpPr>
          <p:nvPr/>
        </p:nvSpPr>
        <p:spPr>
          <a:xfrm xmlns:a="http://schemas.openxmlformats.org/drawingml/2006/main">
            <a:off x="609600" y="2228850"/>
            <a:ext cx="3467100" cy="981075"/>
          </a:xfrm>
          <a:prstGeom xmlns:a="http://schemas.openxmlformats.org/drawingml/2006/main" prst="roundRect">
            <a:avLst>
              <a:gd name="adj" fmla="val 7767"/>
            </a:avLst>
          </a:prstGeom>
          <a:solidFill xmlns:a="http://schemas.openxmlformats.org/drawingml/2006/main">
            <a:srgbClr val="E4EBE4"/>
          </a:solidFill>
          <a:ln xmlns:a="http://schemas.openxmlformats.org/drawingml/2006/main" w="14288">
            <a:solidFill>
              <a:srgbClr val="C6D3CC"/>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950" b="1">
                <a:solidFill>
                  <a:srgbClr val="142C38"/>
                </a:solidFill>
                <a:latin typeface="Aptos"/>
                <a:ea typeface="Aptos"/>
                <a:cs typeface="Aptos"/>
              </a:defRPr>
            </a:pPr>
            <a:r>
              <a:rPr sz="1950" b="1">
                <a:solidFill>
                  <a:srgbClr val="142C38"/>
                </a:solidFill>
                <a:latin typeface="Aptos"/>
                <a:ea typeface="Aptos"/>
                <a:cs typeface="Aptos"/>
              </a:rPr>
              <a:t>8 available FTE</a:t>
            </a:r>
          </a:p>
        </p:txBody>
      </p:sp>
      <p:sp>
        <p:nvSpPr>
          <p:cNvPr id="4" name="flow-node">
            <a:extLst xmlns:a="http://schemas.openxmlformats.org/drawingml/2006/main">
              <a:ext uri="{FF2B5EF4-FFF2-40B4-BE49-F238E27FC236}">
                <a16:creationId xmlns:a16="http://schemas.microsoft.com/office/drawing/2014/main" id="{1BEC9402-BF86-4BD9-A737-4971553C3E7F}"/>
              </a:ext>
            </a:extLst>
          </p:cNvPr>
          <p:cNvSpPr>
            <a:spLocks xmlns:a="http://schemas.openxmlformats.org/drawingml/2006/main" noGrp="1"/>
          </p:cNvSpPr>
          <p:nvPr/>
        </p:nvSpPr>
        <p:spPr>
          <a:xfrm xmlns:a="http://schemas.openxmlformats.org/drawingml/2006/main">
            <a:off x="4362450" y="2228850"/>
            <a:ext cx="3467100" cy="981075"/>
          </a:xfrm>
          <a:prstGeom xmlns:a="http://schemas.openxmlformats.org/drawingml/2006/main" prst="roundRect">
            <a:avLst>
              <a:gd name="adj" fmla="val 7767"/>
            </a:avLst>
          </a:prstGeom>
          <a:solidFill xmlns:a="http://schemas.openxmlformats.org/drawingml/2006/main">
            <a:srgbClr val="E4EBE4"/>
          </a:solidFill>
          <a:ln xmlns:a="http://schemas.openxmlformats.org/drawingml/2006/main" w="14288">
            <a:solidFill>
              <a:srgbClr val="C6D3CC"/>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950" b="1">
                <a:solidFill>
                  <a:srgbClr val="142C38"/>
                </a:solidFill>
                <a:latin typeface="Aptos"/>
                <a:ea typeface="Aptos"/>
                <a:cs typeface="Aptos"/>
              </a:defRPr>
            </a:pPr>
            <a:r>
              <a:rPr sz="1950" b="1">
                <a:solidFill>
                  <a:srgbClr val="142C38"/>
                </a:solidFill>
                <a:latin typeface="Aptos"/>
                <a:ea typeface="Aptos"/>
                <a:cs typeface="Aptos"/>
              </a:rPr>
              <a:t>12 required FTE</a:t>
            </a:r>
          </a:p>
        </p:txBody>
      </p:sp>
      <p:sp>
        <p:nvSpPr>
          <p:cNvPr id="5" name="flow-node">
            <a:extLst xmlns:a="http://schemas.openxmlformats.org/drawingml/2006/main">
              <a:ext uri="{FF2B5EF4-FFF2-40B4-BE49-F238E27FC236}">
                <a16:creationId xmlns:a16="http://schemas.microsoft.com/office/drawing/2014/main" id="{B37AE62B-849D-4289-9D47-DD6AE6EA37BD}"/>
              </a:ext>
            </a:extLst>
          </p:cNvPr>
          <p:cNvSpPr>
            <a:spLocks xmlns:a="http://schemas.openxmlformats.org/drawingml/2006/main" noGrp="1"/>
          </p:cNvSpPr>
          <p:nvPr/>
        </p:nvSpPr>
        <p:spPr>
          <a:xfrm xmlns:a="http://schemas.openxmlformats.org/drawingml/2006/main">
            <a:off x="8115300" y="2228850"/>
            <a:ext cx="3467100" cy="981075"/>
          </a:xfrm>
          <a:prstGeom xmlns:a="http://schemas.openxmlformats.org/drawingml/2006/main" prst="roundRect">
            <a:avLst>
              <a:gd name="adj" fmla="val 7767"/>
            </a:avLst>
          </a:prstGeom>
          <a:solidFill xmlns:a="http://schemas.openxmlformats.org/drawingml/2006/main">
            <a:srgbClr val="E4EBE4"/>
          </a:solidFill>
          <a:ln xmlns:a="http://schemas.openxmlformats.org/drawingml/2006/main" w="14288">
            <a:solidFill>
              <a:srgbClr val="C6D3CC"/>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950" b="1">
                <a:solidFill>
                  <a:srgbClr val="142C38"/>
                </a:solidFill>
                <a:latin typeface="Aptos"/>
                <a:ea typeface="Aptos"/>
                <a:cs typeface="Aptos"/>
              </a:defRPr>
            </a:pPr>
            <a:r>
              <a:rPr sz="1950" b="1">
                <a:solidFill>
                  <a:srgbClr val="142C38"/>
                </a:solidFill>
                <a:latin typeface="Aptos"/>
                <a:ea typeface="Aptos"/>
                <a:cs typeface="Aptos"/>
              </a:rPr>
              <a:t>4 FTE gap</a:t>
            </a:r>
          </a:p>
        </p:txBody>
      </p:sp>
      <p:cxnSp>
        <p:nvCxnSpPr>
          <p:cNvPr id="23" name=""/>
          <p:cNvCxnSpPr>
            <a:stCxn xmlns:a="http://schemas.openxmlformats.org/drawingml/2006/main" id="3" idx="3"/>
            <a:endCxn xmlns:a="http://schemas.openxmlformats.org/drawingml/2006/main" id="4" idx="1"/>
          </p:cNvCxnSpPr>
          <p:nvPr/>
        </p:nvCxnSpPr>
        <p:spPr>
          <a:xfrm xmlns:a="http://schemas.openxmlformats.org/drawingml/2006/main">
            <a:off x="4076700" y="2719388"/>
            <a:ext cx="285750" cy="0"/>
          </a:xfrm>
          <a:prstGeom xmlns:a="http://schemas.openxmlformats.org/drawingml/2006/main" prst="straightConnector1">
            <a:avLst/>
          </a:prstGeom>
          <a:ln xmlns:a="http://schemas.openxmlformats.org/drawingml/2006/main" w="19050">
            <a:solidFill>
              <a:srgbClr val="537078"/>
            </a:solidFill>
            <a:tailEnd type="arrow" w="med" len="med"/>
          </a:ln>
        </p:spPr>
      </p:cxnSp>
      <p:cxnSp>
        <p:nvCxnSpPr>
          <p:cNvPr id="24" name=""/>
          <p:cNvCxnSpPr>
            <a:stCxn xmlns:a="http://schemas.openxmlformats.org/drawingml/2006/main" id="4" idx="3"/>
            <a:endCxn xmlns:a="http://schemas.openxmlformats.org/drawingml/2006/main" id="5" idx="1"/>
          </p:cNvCxnSpPr>
          <p:nvPr/>
        </p:nvCxnSpPr>
        <p:spPr>
          <a:xfrm xmlns:a="http://schemas.openxmlformats.org/drawingml/2006/main">
            <a:off x="7829550" y="2719388"/>
            <a:ext cx="285750" cy="0"/>
          </a:xfrm>
          <a:prstGeom xmlns:a="http://schemas.openxmlformats.org/drawingml/2006/main" prst="straightConnector1">
            <a:avLst/>
          </a:prstGeom>
          <a:ln xmlns:a="http://schemas.openxmlformats.org/drawingml/2006/main" w="19050">
            <a:solidFill>
              <a:srgbClr val="537078"/>
            </a:solidFill>
            <a:tailEnd type="arrow" w="med" len="med"/>
          </a:ln>
        </p:spPr>
      </p:cxnSp>
      <p:sp>
        <p:nvSpPr>
          <p:cNvPr id="8" name="text">
            <a:extLst xmlns:a="http://schemas.openxmlformats.org/drawingml/2006/main">
              <a:ext uri="{FF2B5EF4-FFF2-40B4-BE49-F238E27FC236}">
                <a16:creationId xmlns:a16="http://schemas.microsoft.com/office/drawing/2014/main" id="{0198CB95-9312-4DFA-BDB2-909BA45E1195}"/>
              </a:ext>
            </a:extLst>
          </p:cNvPr>
          <p:cNvSpPr>
            <a:spLocks xmlns:a="http://schemas.openxmlformats.org/drawingml/2006/main" noGrp="1"/>
          </p:cNvSpPr>
          <p:nvPr/>
        </p:nvSpPr>
        <p:spPr>
          <a:xfrm xmlns:a="http://schemas.openxmlformats.org/drawingml/2006/main">
            <a:off x="609600" y="355282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01</a:t>
            </a:r>
          </a:p>
        </p:txBody>
      </p:sp>
      <p:sp>
        <p:nvSpPr>
          <p:cNvPr id="9" name="text">
            <a:extLst xmlns:a="http://schemas.openxmlformats.org/drawingml/2006/main">
              <a:ext uri="{FF2B5EF4-FFF2-40B4-BE49-F238E27FC236}">
                <a16:creationId xmlns:a16="http://schemas.microsoft.com/office/drawing/2014/main" id="{F32306E5-EE55-44DB-B83C-8D25D42E0E83}"/>
              </a:ext>
            </a:extLst>
          </p:cNvPr>
          <p:cNvSpPr>
            <a:spLocks xmlns:a="http://schemas.openxmlformats.org/drawingml/2006/main" noGrp="1"/>
          </p:cNvSpPr>
          <p:nvPr/>
        </p:nvSpPr>
        <p:spPr>
          <a:xfrm xmlns:a="http://schemas.openxmlformats.org/drawingml/2006/main">
            <a:off x="1314450" y="3524250"/>
            <a:ext cx="102679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C38"/>
                </a:solidFill>
                <a:latin typeface="Aptos"/>
                <a:ea typeface="Aptos"/>
                <a:cs typeface="Aptos"/>
              </a:defRPr>
            </a:pPr>
            <a:r>
              <a:rPr sz="1875" b="0">
                <a:solidFill>
                  <a:srgbClr val="142C38"/>
                </a:solidFill>
                <a:latin typeface="Aptos"/>
                <a:ea typeface="Aptos"/>
                <a:cs typeface="Aptos"/>
              </a:rPr>
              <a:t>Restore defaults. Set required_fte: 10 → 12.</a:t>
            </a:r>
          </a:p>
        </p:txBody>
      </p:sp>
      <p:sp>
        <p:nvSpPr>
          <p:cNvPr id="10" name="text">
            <a:extLst xmlns:a="http://schemas.openxmlformats.org/drawingml/2006/main">
              <a:ext uri="{FF2B5EF4-FFF2-40B4-BE49-F238E27FC236}">
                <a16:creationId xmlns:a16="http://schemas.microsoft.com/office/drawing/2014/main" id="{AE8F937D-0576-4E7F-A40F-EF8A2B221754}"/>
              </a:ext>
            </a:extLst>
          </p:cNvPr>
          <p:cNvSpPr>
            <a:spLocks xmlns:a="http://schemas.openxmlformats.org/drawingml/2006/main" noGrp="1"/>
          </p:cNvSpPr>
          <p:nvPr/>
        </p:nvSpPr>
        <p:spPr>
          <a:xfrm xmlns:a="http://schemas.openxmlformats.org/drawingml/2006/main">
            <a:off x="609600" y="42100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02</a:t>
            </a:r>
          </a:p>
        </p:txBody>
      </p:sp>
      <p:sp>
        <p:nvSpPr>
          <p:cNvPr id="11" name="text">
            <a:extLst xmlns:a="http://schemas.openxmlformats.org/drawingml/2006/main">
              <a:ext uri="{FF2B5EF4-FFF2-40B4-BE49-F238E27FC236}">
                <a16:creationId xmlns:a16="http://schemas.microsoft.com/office/drawing/2014/main" id="{81401DC3-A174-4837-92EE-9A4F96118357}"/>
              </a:ext>
            </a:extLst>
          </p:cNvPr>
          <p:cNvSpPr>
            <a:spLocks xmlns:a="http://schemas.openxmlformats.org/drawingml/2006/main" noGrp="1"/>
          </p:cNvSpPr>
          <p:nvPr/>
        </p:nvSpPr>
        <p:spPr>
          <a:xfrm xmlns:a="http://schemas.openxmlformats.org/drawingml/2006/main">
            <a:off x="1314450" y="4181475"/>
            <a:ext cx="102679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C38"/>
                </a:solidFill>
                <a:latin typeface="Aptos"/>
                <a:ea typeface="Aptos"/>
                <a:cs typeface="Aptos"/>
              </a:defRPr>
            </a:pPr>
            <a:r>
              <a:rPr sz="1875" b="0">
                <a:solidFill>
                  <a:srgbClr val="142C38"/>
                </a:solidFill>
                <a:latin typeface="Aptos"/>
                <a:ea typeface="Aptos"/>
                <a:cs typeface="Aptos"/>
              </a:rPr>
              <a:t>Inspect anonymous candidate skill coverage.</a:t>
            </a:r>
          </a:p>
        </p:txBody>
      </p:sp>
      <p:sp>
        <p:nvSpPr>
          <p:cNvPr id="12" name="text">
            <a:extLst xmlns:a="http://schemas.openxmlformats.org/drawingml/2006/main">
              <a:ext uri="{FF2B5EF4-FFF2-40B4-BE49-F238E27FC236}">
                <a16:creationId xmlns:a16="http://schemas.microsoft.com/office/drawing/2014/main" id="{160240B3-5A7F-4DD2-9F28-13B111BA47D1}"/>
              </a:ext>
            </a:extLst>
          </p:cNvPr>
          <p:cNvSpPr>
            <a:spLocks xmlns:a="http://schemas.openxmlformats.org/drawingml/2006/main" noGrp="1"/>
          </p:cNvSpPr>
          <p:nvPr/>
        </p:nvSpPr>
        <p:spPr>
          <a:xfrm xmlns:a="http://schemas.openxmlformats.org/drawingml/2006/main">
            <a:off x="609600" y="486727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03</a:t>
            </a:r>
          </a:p>
        </p:txBody>
      </p:sp>
      <p:sp>
        <p:nvSpPr>
          <p:cNvPr id="13" name="text">
            <a:extLst xmlns:a="http://schemas.openxmlformats.org/drawingml/2006/main">
              <a:ext uri="{FF2B5EF4-FFF2-40B4-BE49-F238E27FC236}">
                <a16:creationId xmlns:a16="http://schemas.microsoft.com/office/drawing/2014/main" id="{357EFEF6-01C0-42F4-A760-F19F84DC7D4D}"/>
              </a:ext>
            </a:extLst>
          </p:cNvPr>
          <p:cNvSpPr>
            <a:spLocks xmlns:a="http://schemas.openxmlformats.org/drawingml/2006/main" noGrp="1"/>
          </p:cNvSpPr>
          <p:nvPr/>
        </p:nvSpPr>
        <p:spPr>
          <a:xfrm xmlns:a="http://schemas.openxmlformats.org/drawingml/2006/main">
            <a:off x="1314450" y="4838700"/>
            <a:ext cx="102679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C38"/>
                </a:solidFill>
                <a:latin typeface="Aptos"/>
                <a:ea typeface="Aptos"/>
                <a:cs typeface="Aptos"/>
              </a:defRPr>
            </a:pPr>
            <a:r>
              <a:rPr sz="1875" b="0">
                <a:solidFill>
                  <a:srgbClr val="142C38"/>
                </a:solidFill>
                <a:latin typeface="Aptos"/>
                <a:ea typeface="Aptos"/>
                <a:cs typeface="Aptos"/>
              </a:rPr>
              <a:t>Expect staffing allowance: ₹40,000.</a:t>
            </a:r>
          </a:p>
        </p:txBody>
      </p:sp>
      <p:sp>
        <p:nvSpPr>
          <p:cNvPr id="14" name="text">
            <a:extLst xmlns:a="http://schemas.openxmlformats.org/drawingml/2006/main">
              <a:ext uri="{FF2B5EF4-FFF2-40B4-BE49-F238E27FC236}">
                <a16:creationId xmlns:a16="http://schemas.microsoft.com/office/drawing/2014/main" id="{1E2468C5-5A2C-4EB8-80BB-B6571F369D87}"/>
              </a:ext>
            </a:extLst>
          </p:cNvPr>
          <p:cNvSpPr>
            <a:spLocks xmlns:a="http://schemas.openxmlformats.org/drawingml/2006/main" noGrp="1"/>
          </p:cNvSpPr>
          <p:nvPr/>
        </p:nvSpPr>
        <p:spPr>
          <a:xfrm xmlns:a="http://schemas.openxmlformats.org/drawingml/2006/main">
            <a:off x="609600" y="58483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Scores support a review. They do not select or reject candidates.</a:t>
            </a:r>
          </a:p>
        </p:txBody>
      </p:sp>
      <p:sp>
        <p:nvSpPr>
          <p:cNvPr id="15" name="shape">
            <a:extLst xmlns:a="http://schemas.openxmlformats.org/drawingml/2006/main">
              <a:ext uri="{FF2B5EF4-FFF2-40B4-BE49-F238E27FC236}">
                <a16:creationId xmlns:a16="http://schemas.microsoft.com/office/drawing/2014/main" id="{81E8DFAB-7783-43AB-A07F-556F8D9A320C}"/>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640EA8CA-D85F-4018-8C66-A3DFB39B96D7}"/>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17" name="text">
            <a:extLst xmlns:a="http://schemas.openxmlformats.org/drawingml/2006/main">
              <a:ext uri="{FF2B5EF4-FFF2-40B4-BE49-F238E27FC236}">
                <a16:creationId xmlns:a16="http://schemas.microsoft.com/office/drawing/2014/main" id="{73B70EB0-32A4-4E70-B12D-8C4A49B6A354}"/>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44</a:t>
            </a:r>
          </a:p>
        </p:txBody>
      </p:sp>
    </p:spTree>
    <p:extLst>
      <p:ext uri="{BB962C8B-B14F-4D97-AF65-F5344CB8AC3E}">
        <p14:creationId xmlns:p14="http://schemas.microsoft.com/office/powerpoint/2010/main" val="1903331410"/>
      </p:ext>
    </p:extLst>
  </p:cSld>
</p:sld>
</file>

<file path=ppt/slides/slide45.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8" name="text">
            <a:extLst xmlns:a="http://schemas.openxmlformats.org/drawingml/2006/main">
              <a:ext uri="{FF2B5EF4-FFF2-40B4-BE49-F238E27FC236}">
                <a16:creationId xmlns:a16="http://schemas.microsoft.com/office/drawing/2014/main" id="{C998D06A-F7CB-4517-A268-78E117E95151}"/>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DAY 1 · SESSION 3 · 90 MINUTES</a:t>
            </a:r>
          </a:p>
        </p:txBody>
      </p:sp>
      <p:sp>
        <p:nvSpPr>
          <p:cNvPr id="2" name="text">
            <a:extLst xmlns:a="http://schemas.openxmlformats.org/drawingml/2006/main">
              <a:ext uri="{FF2B5EF4-FFF2-40B4-BE49-F238E27FC236}">
                <a16:creationId xmlns:a16="http://schemas.microsoft.com/office/drawing/2014/main" id="{03CC5349-86D4-425E-A2D4-315AE997E669}"/>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ATLAS checks whether the promise fits time.</a:t>
            </a:r>
          </a:p>
        </p:txBody>
      </p:sp>
      <p:sp>
        <p:nvSpPr>
          <p:cNvPr id="3" name="flow-node">
            <a:extLst xmlns:a="http://schemas.openxmlformats.org/drawingml/2006/main">
              <a:ext uri="{FF2B5EF4-FFF2-40B4-BE49-F238E27FC236}">
                <a16:creationId xmlns:a16="http://schemas.microsoft.com/office/drawing/2014/main" id="{22ADDC8A-FA38-4707-9185-1F7E9AEF8113}"/>
              </a:ext>
            </a:extLst>
          </p:cNvPr>
          <p:cNvSpPr>
            <a:spLocks xmlns:a="http://schemas.openxmlformats.org/drawingml/2006/main" noGrp="1"/>
          </p:cNvSpPr>
          <p:nvPr/>
        </p:nvSpPr>
        <p:spPr>
          <a:xfrm xmlns:a="http://schemas.openxmlformats.org/drawingml/2006/main">
            <a:off x="609600" y="2228850"/>
            <a:ext cx="3467100" cy="981075"/>
          </a:xfrm>
          <a:prstGeom xmlns:a="http://schemas.openxmlformats.org/drawingml/2006/main" prst="roundRect">
            <a:avLst>
              <a:gd name="adj" fmla="val 7767"/>
            </a:avLst>
          </a:prstGeom>
          <a:solidFill xmlns:a="http://schemas.openxmlformats.org/drawingml/2006/main">
            <a:srgbClr val="E4EBE4"/>
          </a:solidFill>
          <a:ln xmlns:a="http://schemas.openxmlformats.org/drawingml/2006/main" w="14288">
            <a:solidFill>
              <a:srgbClr val="C6D3CC"/>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950" b="1">
                <a:solidFill>
                  <a:srgbClr val="142C38"/>
                </a:solidFill>
                <a:latin typeface="Aptos"/>
                <a:ea typeface="Aptos"/>
                <a:cs typeface="Aptos"/>
              </a:defRPr>
            </a:pPr>
            <a:r>
              <a:rPr sz="1950" b="1">
                <a:solidFill>
                  <a:srgbClr val="142C38"/>
                </a:solidFill>
                <a:latin typeface="Aptos"/>
                <a:ea typeface="Aptos"/>
                <a:cs typeface="Aptos"/>
              </a:rPr>
              <a:t>21 supply days</a:t>
            </a:r>
          </a:p>
        </p:txBody>
      </p:sp>
      <p:sp>
        <p:nvSpPr>
          <p:cNvPr id="4" name="flow-node">
            <a:extLst xmlns:a="http://schemas.openxmlformats.org/drawingml/2006/main">
              <a:ext uri="{FF2B5EF4-FFF2-40B4-BE49-F238E27FC236}">
                <a16:creationId xmlns:a16="http://schemas.microsoft.com/office/drawing/2014/main" id="{A8D1A5DD-5921-46F7-8A54-B6757737CCD5}"/>
              </a:ext>
            </a:extLst>
          </p:cNvPr>
          <p:cNvSpPr>
            <a:spLocks xmlns:a="http://schemas.openxmlformats.org/drawingml/2006/main" noGrp="1"/>
          </p:cNvSpPr>
          <p:nvPr/>
        </p:nvSpPr>
        <p:spPr>
          <a:xfrm xmlns:a="http://schemas.openxmlformats.org/drawingml/2006/main">
            <a:off x="4362450" y="2228850"/>
            <a:ext cx="3467100" cy="981075"/>
          </a:xfrm>
          <a:prstGeom xmlns:a="http://schemas.openxmlformats.org/drawingml/2006/main" prst="roundRect">
            <a:avLst>
              <a:gd name="adj" fmla="val 7767"/>
            </a:avLst>
          </a:prstGeom>
          <a:solidFill xmlns:a="http://schemas.openxmlformats.org/drawingml/2006/main">
            <a:srgbClr val="E4EBE4"/>
          </a:solidFill>
          <a:ln xmlns:a="http://schemas.openxmlformats.org/drawingml/2006/main" w="14288">
            <a:solidFill>
              <a:srgbClr val="C6D3CC"/>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950" b="1">
                <a:solidFill>
                  <a:srgbClr val="142C38"/>
                </a:solidFill>
                <a:latin typeface="Aptos"/>
                <a:ea typeface="Aptos"/>
                <a:cs typeface="Aptos"/>
              </a:defRPr>
            </a:pPr>
            <a:r>
              <a:rPr sz="1950" b="1">
                <a:solidFill>
                  <a:srgbClr val="142C38"/>
                </a:solidFill>
                <a:latin typeface="Aptos"/>
                <a:ea typeface="Aptos"/>
                <a:cs typeface="Aptos"/>
              </a:rPr>
              <a:t>75 production days</a:t>
            </a:r>
          </a:p>
        </p:txBody>
      </p:sp>
      <p:sp>
        <p:nvSpPr>
          <p:cNvPr id="5" name="flow-node">
            <a:extLst xmlns:a="http://schemas.openxmlformats.org/drawingml/2006/main">
              <a:ext uri="{FF2B5EF4-FFF2-40B4-BE49-F238E27FC236}">
                <a16:creationId xmlns:a16="http://schemas.microsoft.com/office/drawing/2014/main" id="{0C8C7F16-5078-4C7E-A8D3-58B1B4776FB7}"/>
              </a:ext>
            </a:extLst>
          </p:cNvPr>
          <p:cNvSpPr>
            <a:spLocks xmlns:a="http://schemas.openxmlformats.org/drawingml/2006/main" noGrp="1"/>
          </p:cNvSpPr>
          <p:nvPr/>
        </p:nvSpPr>
        <p:spPr>
          <a:xfrm xmlns:a="http://schemas.openxmlformats.org/drawingml/2006/main">
            <a:off x="8115300" y="2228850"/>
            <a:ext cx="3467100" cy="981075"/>
          </a:xfrm>
          <a:prstGeom xmlns:a="http://schemas.openxmlformats.org/drawingml/2006/main" prst="roundRect">
            <a:avLst>
              <a:gd name="adj" fmla="val 7767"/>
            </a:avLst>
          </a:prstGeom>
          <a:solidFill xmlns:a="http://schemas.openxmlformats.org/drawingml/2006/main">
            <a:srgbClr val="E4EBE4"/>
          </a:solidFill>
          <a:ln xmlns:a="http://schemas.openxmlformats.org/drawingml/2006/main" w="14288">
            <a:solidFill>
              <a:srgbClr val="C6D3CC"/>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950" b="1">
                <a:solidFill>
                  <a:srgbClr val="142C38"/>
                </a:solidFill>
                <a:latin typeface="Aptos"/>
                <a:ea typeface="Aptos"/>
                <a:cs typeface="Aptos"/>
              </a:defRPr>
            </a:pPr>
            <a:r>
              <a:rPr sz="1950" b="1">
                <a:solidFill>
                  <a:srgbClr val="142C38"/>
                </a:solidFill>
                <a:latin typeface="Aptos"/>
                <a:ea typeface="Aptos"/>
                <a:cs typeface="Aptos"/>
              </a:rPr>
              <a:t>96 days total</a:t>
            </a:r>
          </a:p>
        </p:txBody>
      </p:sp>
      <p:cxnSp>
        <p:nvCxnSpPr>
          <p:cNvPr id="23" name=""/>
          <p:cNvCxnSpPr>
            <a:stCxn xmlns:a="http://schemas.openxmlformats.org/drawingml/2006/main" id="3" idx="3"/>
            <a:endCxn xmlns:a="http://schemas.openxmlformats.org/drawingml/2006/main" id="4" idx="1"/>
          </p:cNvCxnSpPr>
          <p:nvPr/>
        </p:nvCxnSpPr>
        <p:spPr>
          <a:xfrm xmlns:a="http://schemas.openxmlformats.org/drawingml/2006/main">
            <a:off x="4076700" y="2719388"/>
            <a:ext cx="285750" cy="0"/>
          </a:xfrm>
          <a:prstGeom xmlns:a="http://schemas.openxmlformats.org/drawingml/2006/main" prst="straightConnector1">
            <a:avLst/>
          </a:prstGeom>
          <a:ln xmlns:a="http://schemas.openxmlformats.org/drawingml/2006/main" w="19050">
            <a:solidFill>
              <a:srgbClr val="537078"/>
            </a:solidFill>
            <a:tailEnd type="arrow" w="med" len="med"/>
          </a:ln>
        </p:spPr>
      </p:cxnSp>
      <p:cxnSp>
        <p:nvCxnSpPr>
          <p:cNvPr id="24" name=""/>
          <p:cNvCxnSpPr>
            <a:stCxn xmlns:a="http://schemas.openxmlformats.org/drawingml/2006/main" id="4" idx="3"/>
            <a:endCxn xmlns:a="http://schemas.openxmlformats.org/drawingml/2006/main" id="5" idx="1"/>
          </p:cNvCxnSpPr>
          <p:nvPr/>
        </p:nvCxnSpPr>
        <p:spPr>
          <a:xfrm xmlns:a="http://schemas.openxmlformats.org/drawingml/2006/main">
            <a:off x="7829550" y="2719388"/>
            <a:ext cx="285750" cy="0"/>
          </a:xfrm>
          <a:prstGeom xmlns:a="http://schemas.openxmlformats.org/drawingml/2006/main" prst="straightConnector1">
            <a:avLst/>
          </a:prstGeom>
          <a:ln xmlns:a="http://schemas.openxmlformats.org/drawingml/2006/main" w="19050">
            <a:solidFill>
              <a:srgbClr val="537078"/>
            </a:solidFill>
            <a:tailEnd type="arrow" w="med" len="med"/>
          </a:ln>
        </p:spPr>
      </p:cxnSp>
      <p:sp>
        <p:nvSpPr>
          <p:cNvPr id="8" name="text">
            <a:extLst xmlns:a="http://schemas.openxmlformats.org/drawingml/2006/main">
              <a:ext uri="{FF2B5EF4-FFF2-40B4-BE49-F238E27FC236}">
                <a16:creationId xmlns:a16="http://schemas.microsoft.com/office/drawing/2014/main" id="{69362FF5-A01A-4D5A-BE90-9D1FB5972944}"/>
              </a:ext>
            </a:extLst>
          </p:cNvPr>
          <p:cNvSpPr>
            <a:spLocks xmlns:a="http://schemas.openxmlformats.org/drawingml/2006/main" noGrp="1"/>
          </p:cNvSpPr>
          <p:nvPr/>
        </p:nvSpPr>
        <p:spPr>
          <a:xfrm xmlns:a="http://schemas.openxmlformats.org/drawingml/2006/main">
            <a:off x="609600" y="355282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01</a:t>
            </a:r>
          </a:p>
        </p:txBody>
      </p:sp>
      <p:sp>
        <p:nvSpPr>
          <p:cNvPr id="9" name="text">
            <a:extLst xmlns:a="http://schemas.openxmlformats.org/drawingml/2006/main">
              <a:ext uri="{FF2B5EF4-FFF2-40B4-BE49-F238E27FC236}">
                <a16:creationId xmlns:a16="http://schemas.microsoft.com/office/drawing/2014/main" id="{A9DAE53B-BFB5-4A95-98E4-D5326AD00376}"/>
              </a:ext>
            </a:extLst>
          </p:cNvPr>
          <p:cNvSpPr>
            <a:spLocks xmlns:a="http://schemas.openxmlformats.org/drawingml/2006/main" noGrp="1"/>
          </p:cNvSpPr>
          <p:nvPr/>
        </p:nvSpPr>
        <p:spPr>
          <a:xfrm xmlns:a="http://schemas.openxmlformats.org/drawingml/2006/main">
            <a:off x="1314450" y="3524250"/>
            <a:ext cx="102679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C38"/>
                </a:solidFill>
                <a:latin typeface="Aptos"/>
                <a:ea typeface="Aptos"/>
                <a:cs typeface="Aptos"/>
              </a:defRPr>
            </a:pPr>
            <a:r>
              <a:rPr sz="1875" b="0">
                <a:solidFill>
                  <a:srgbClr val="142C38"/>
                </a:solidFill>
                <a:latin typeface="Aptos"/>
                <a:ea typeface="Aptos"/>
                <a:cs typeface="Aptos"/>
              </a:rPr>
              <a:t>Restore defaults. Set production_per_day: 600 → 400.</a:t>
            </a:r>
          </a:p>
        </p:txBody>
      </p:sp>
      <p:sp>
        <p:nvSpPr>
          <p:cNvPr id="10" name="text">
            <a:extLst xmlns:a="http://schemas.openxmlformats.org/drawingml/2006/main">
              <a:ext uri="{FF2B5EF4-FFF2-40B4-BE49-F238E27FC236}">
                <a16:creationId xmlns:a16="http://schemas.microsoft.com/office/drawing/2014/main" id="{855353FC-4149-4B19-849E-866D40EC1B6A}"/>
              </a:ext>
            </a:extLst>
          </p:cNvPr>
          <p:cNvSpPr>
            <a:spLocks xmlns:a="http://schemas.openxmlformats.org/drawingml/2006/main" noGrp="1"/>
          </p:cNvSpPr>
          <p:nvPr/>
        </p:nvSpPr>
        <p:spPr>
          <a:xfrm xmlns:a="http://schemas.openxmlformats.org/drawingml/2006/main">
            <a:off x="609600" y="42100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02</a:t>
            </a:r>
          </a:p>
        </p:txBody>
      </p:sp>
      <p:sp>
        <p:nvSpPr>
          <p:cNvPr id="11" name="text">
            <a:extLst xmlns:a="http://schemas.openxmlformats.org/drawingml/2006/main">
              <a:ext uri="{FF2B5EF4-FFF2-40B4-BE49-F238E27FC236}">
                <a16:creationId xmlns:a16="http://schemas.microsoft.com/office/drawing/2014/main" id="{730F4E1A-4F06-4D4C-A379-5CB8910C5BC6}"/>
              </a:ext>
            </a:extLst>
          </p:cNvPr>
          <p:cNvSpPr>
            <a:spLocks xmlns:a="http://schemas.openxmlformats.org/drawingml/2006/main" noGrp="1"/>
          </p:cNvSpPr>
          <p:nvPr/>
        </p:nvSpPr>
        <p:spPr>
          <a:xfrm xmlns:a="http://schemas.openxmlformats.org/drawingml/2006/main">
            <a:off x="1314450" y="4181475"/>
            <a:ext cx="102679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C38"/>
                </a:solidFill>
                <a:latin typeface="Aptos"/>
                <a:ea typeface="Aptos"/>
                <a:cs typeface="Aptos"/>
              </a:defRPr>
            </a:pPr>
            <a:r>
              <a:rPr sz="1875" b="0">
                <a:solidFill>
                  <a:srgbClr val="142C38"/>
                </a:solidFill>
                <a:latin typeface="Aptos"/>
                <a:ea typeface="Aptos"/>
                <a:cs typeface="Aptos"/>
              </a:rPr>
              <a:t>Run ATLAS and inspect the launch buffer.</a:t>
            </a:r>
          </a:p>
        </p:txBody>
      </p:sp>
      <p:sp>
        <p:nvSpPr>
          <p:cNvPr id="12" name="text">
            <a:extLst xmlns:a="http://schemas.openxmlformats.org/drawingml/2006/main">
              <a:ext uri="{FF2B5EF4-FFF2-40B4-BE49-F238E27FC236}">
                <a16:creationId xmlns:a16="http://schemas.microsoft.com/office/drawing/2014/main" id="{311B41AC-F1EC-4882-88D9-156DAA41CC3D}"/>
              </a:ext>
            </a:extLst>
          </p:cNvPr>
          <p:cNvSpPr>
            <a:spLocks xmlns:a="http://schemas.openxmlformats.org/drawingml/2006/main" noGrp="1"/>
          </p:cNvSpPr>
          <p:nvPr/>
        </p:nvSpPr>
        <p:spPr>
          <a:xfrm xmlns:a="http://schemas.openxmlformats.org/drawingml/2006/main">
            <a:off x="609600" y="486727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03</a:t>
            </a:r>
          </a:p>
        </p:txBody>
      </p:sp>
      <p:sp>
        <p:nvSpPr>
          <p:cNvPr id="13" name="text">
            <a:extLst xmlns:a="http://schemas.openxmlformats.org/drawingml/2006/main">
              <a:ext uri="{FF2B5EF4-FFF2-40B4-BE49-F238E27FC236}">
                <a16:creationId xmlns:a16="http://schemas.microsoft.com/office/drawing/2014/main" id="{F3E83D00-0E68-4802-9D10-755BB0919683}"/>
              </a:ext>
            </a:extLst>
          </p:cNvPr>
          <p:cNvSpPr>
            <a:spLocks xmlns:a="http://schemas.openxmlformats.org/drawingml/2006/main" noGrp="1"/>
          </p:cNvSpPr>
          <p:nvPr/>
        </p:nvSpPr>
        <p:spPr>
          <a:xfrm xmlns:a="http://schemas.openxmlformats.org/drawingml/2006/main">
            <a:off x="1314450" y="4838700"/>
            <a:ext cx="102679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C38"/>
                </a:solidFill>
                <a:latin typeface="Aptos"/>
                <a:ea typeface="Aptos"/>
                <a:cs typeface="Aptos"/>
              </a:defRPr>
            </a:pPr>
            <a:r>
              <a:rPr sz="1875" b="0">
                <a:solidFill>
                  <a:srgbClr val="142C38"/>
                </a:solidFill>
                <a:latin typeface="Aptos"/>
                <a:ea typeface="Aptos"/>
                <a:cs typeface="Aptos"/>
              </a:rPr>
              <a:t>Expect 4,800 units short by day 84.</a:t>
            </a:r>
          </a:p>
        </p:txBody>
      </p:sp>
      <p:sp>
        <p:nvSpPr>
          <p:cNvPr id="14" name="text">
            <a:extLst xmlns:a="http://schemas.openxmlformats.org/drawingml/2006/main">
              <a:ext uri="{FF2B5EF4-FFF2-40B4-BE49-F238E27FC236}">
                <a16:creationId xmlns:a16="http://schemas.microsoft.com/office/drawing/2014/main" id="{965B3AE3-6A58-4887-BF77-954679EA0BFC}"/>
              </a:ext>
            </a:extLst>
          </p:cNvPr>
          <p:cNvSpPr>
            <a:spLocks xmlns:a="http://schemas.openxmlformats.org/drawingml/2006/main" noGrp="1"/>
          </p:cNvSpPr>
          <p:nvPr/>
        </p:nvSpPr>
        <p:spPr>
          <a:xfrm xmlns:a="http://schemas.openxmlformats.org/drawingml/2006/main">
            <a:off x="609600" y="58483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A slower factory changes the delivery promise.</a:t>
            </a:r>
          </a:p>
        </p:txBody>
      </p:sp>
      <p:sp>
        <p:nvSpPr>
          <p:cNvPr id="15" name="shape">
            <a:extLst xmlns:a="http://schemas.openxmlformats.org/drawingml/2006/main">
              <a:ext uri="{FF2B5EF4-FFF2-40B4-BE49-F238E27FC236}">
                <a16:creationId xmlns:a16="http://schemas.microsoft.com/office/drawing/2014/main" id="{D73A7769-028E-4FDE-B3A0-0268BC8E1FC8}"/>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E2A000E7-6FD5-49E3-B791-2CFAAF2CFB56}"/>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17" name="text">
            <a:extLst xmlns:a="http://schemas.openxmlformats.org/drawingml/2006/main">
              <a:ext uri="{FF2B5EF4-FFF2-40B4-BE49-F238E27FC236}">
                <a16:creationId xmlns:a16="http://schemas.microsoft.com/office/drawing/2014/main" id="{20072800-5BE6-45EF-94B9-03D79EE6CDE6}"/>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45</a:t>
            </a:r>
          </a:p>
        </p:txBody>
      </p:sp>
    </p:spTree>
    <p:extLst>
      <p:ext uri="{BB962C8B-B14F-4D97-AF65-F5344CB8AC3E}">
        <p14:creationId xmlns:p14="http://schemas.microsoft.com/office/powerpoint/2010/main" val="722036360"/>
      </p:ext>
    </p:extLst>
  </p:cSld>
</p:sld>
</file>

<file path=ppt/slides/slide46.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8" name="text">
            <a:extLst xmlns:a="http://schemas.openxmlformats.org/drawingml/2006/main">
              <a:ext uri="{FF2B5EF4-FFF2-40B4-BE49-F238E27FC236}">
                <a16:creationId xmlns:a16="http://schemas.microsoft.com/office/drawing/2014/main" id="{854388C7-343E-4A43-A381-B1F94F083FA1}"/>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DAY 1 · SESSION 3 · 90 MINUTES</a:t>
            </a:r>
          </a:p>
        </p:txBody>
      </p:sp>
      <p:sp>
        <p:nvSpPr>
          <p:cNvPr id="2" name="text">
            <a:extLst xmlns:a="http://schemas.openxmlformats.org/drawingml/2006/main">
              <a:ext uri="{FF2B5EF4-FFF2-40B4-BE49-F238E27FC236}">
                <a16:creationId xmlns:a16="http://schemas.microsoft.com/office/drawing/2014/main" id="{9377D54E-351D-4F5B-BAFD-62EA0874239C}"/>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LEDGER checks more than cash availability.</a:t>
            </a:r>
          </a:p>
        </p:txBody>
      </p:sp>
      <p:sp>
        <p:nvSpPr>
          <p:cNvPr id="3" name="flow-node">
            <a:extLst xmlns:a="http://schemas.openxmlformats.org/drawingml/2006/main">
              <a:ext uri="{FF2B5EF4-FFF2-40B4-BE49-F238E27FC236}">
                <a16:creationId xmlns:a16="http://schemas.microsoft.com/office/drawing/2014/main" id="{F12007F1-6A8E-4386-B833-A0B8571AE5AA}"/>
              </a:ext>
            </a:extLst>
          </p:cNvPr>
          <p:cNvSpPr>
            <a:spLocks xmlns:a="http://schemas.openxmlformats.org/drawingml/2006/main" noGrp="1"/>
          </p:cNvSpPr>
          <p:nvPr/>
        </p:nvSpPr>
        <p:spPr>
          <a:xfrm xmlns:a="http://schemas.openxmlformats.org/drawingml/2006/main">
            <a:off x="609600" y="2228850"/>
            <a:ext cx="3467100" cy="981075"/>
          </a:xfrm>
          <a:prstGeom xmlns:a="http://schemas.openxmlformats.org/drawingml/2006/main" prst="roundRect">
            <a:avLst>
              <a:gd name="adj" fmla="val 7767"/>
            </a:avLst>
          </a:prstGeom>
          <a:solidFill xmlns:a="http://schemas.openxmlformats.org/drawingml/2006/main">
            <a:srgbClr val="E4EBE4"/>
          </a:solidFill>
          <a:ln xmlns:a="http://schemas.openxmlformats.org/drawingml/2006/main" w="14288">
            <a:solidFill>
              <a:srgbClr val="C6D3CC"/>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950" b="1">
                <a:solidFill>
                  <a:srgbClr val="142C38"/>
                </a:solidFill>
                <a:latin typeface="Aptos"/>
                <a:ea typeface="Aptos"/>
                <a:cs typeface="Aptos"/>
              </a:defRPr>
            </a:pPr>
            <a:r>
              <a:rPr sz="1950" b="1">
                <a:solidFill>
                  <a:srgbClr val="142C38"/>
                </a:solidFill>
                <a:latin typeface="Aptos"/>
                <a:ea typeface="Aptos"/>
                <a:cs typeface="Aptos"/>
              </a:rPr>
              <a:t>Price ₹90</a:t>
            </a:r>
          </a:p>
        </p:txBody>
      </p:sp>
      <p:sp>
        <p:nvSpPr>
          <p:cNvPr id="4" name="flow-node">
            <a:extLst xmlns:a="http://schemas.openxmlformats.org/drawingml/2006/main">
              <a:ext uri="{FF2B5EF4-FFF2-40B4-BE49-F238E27FC236}">
                <a16:creationId xmlns:a16="http://schemas.microsoft.com/office/drawing/2014/main" id="{CEF422BD-4806-466C-B08B-1F252571DAB7}"/>
              </a:ext>
            </a:extLst>
          </p:cNvPr>
          <p:cNvSpPr>
            <a:spLocks xmlns:a="http://schemas.openxmlformats.org/drawingml/2006/main" noGrp="1"/>
          </p:cNvSpPr>
          <p:nvPr/>
        </p:nvSpPr>
        <p:spPr>
          <a:xfrm xmlns:a="http://schemas.openxmlformats.org/drawingml/2006/main">
            <a:off x="4362450" y="2228850"/>
            <a:ext cx="3467100" cy="981075"/>
          </a:xfrm>
          <a:prstGeom xmlns:a="http://schemas.openxmlformats.org/drawingml/2006/main" prst="roundRect">
            <a:avLst>
              <a:gd name="adj" fmla="val 7767"/>
            </a:avLst>
          </a:prstGeom>
          <a:solidFill xmlns:a="http://schemas.openxmlformats.org/drawingml/2006/main">
            <a:srgbClr val="E4EBE4"/>
          </a:solidFill>
          <a:ln xmlns:a="http://schemas.openxmlformats.org/drawingml/2006/main" w="14288">
            <a:solidFill>
              <a:srgbClr val="C6D3CC"/>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950" b="1">
                <a:solidFill>
                  <a:srgbClr val="142C38"/>
                </a:solidFill>
                <a:latin typeface="Aptos"/>
                <a:ea typeface="Aptos"/>
                <a:cs typeface="Aptos"/>
              </a:defRPr>
            </a:pPr>
            <a:r>
              <a:rPr sz="1950" b="1">
                <a:solidFill>
                  <a:srgbClr val="142C38"/>
                </a:solidFill>
                <a:latin typeface="Aptos"/>
                <a:ea typeface="Aptos"/>
                <a:cs typeface="Aptos"/>
              </a:rPr>
              <a:t>Cost ₹65</a:t>
            </a:r>
          </a:p>
        </p:txBody>
      </p:sp>
      <p:sp>
        <p:nvSpPr>
          <p:cNvPr id="5" name="flow-node">
            <a:extLst xmlns:a="http://schemas.openxmlformats.org/drawingml/2006/main">
              <a:ext uri="{FF2B5EF4-FFF2-40B4-BE49-F238E27FC236}">
                <a16:creationId xmlns:a16="http://schemas.microsoft.com/office/drawing/2014/main" id="{56342A29-321C-4A99-B0B0-597D9D42195F}"/>
              </a:ext>
            </a:extLst>
          </p:cNvPr>
          <p:cNvSpPr>
            <a:spLocks xmlns:a="http://schemas.openxmlformats.org/drawingml/2006/main" noGrp="1"/>
          </p:cNvSpPr>
          <p:nvPr/>
        </p:nvSpPr>
        <p:spPr>
          <a:xfrm xmlns:a="http://schemas.openxmlformats.org/drawingml/2006/main">
            <a:off x="8115300" y="2228850"/>
            <a:ext cx="3467100" cy="981075"/>
          </a:xfrm>
          <a:prstGeom xmlns:a="http://schemas.openxmlformats.org/drawingml/2006/main" prst="roundRect">
            <a:avLst>
              <a:gd name="adj" fmla="val 7767"/>
            </a:avLst>
          </a:prstGeom>
          <a:solidFill xmlns:a="http://schemas.openxmlformats.org/drawingml/2006/main">
            <a:srgbClr val="E4EBE4"/>
          </a:solidFill>
          <a:ln xmlns:a="http://schemas.openxmlformats.org/drawingml/2006/main" w="14288">
            <a:solidFill>
              <a:srgbClr val="C6D3CC"/>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950" b="1">
                <a:solidFill>
                  <a:srgbClr val="142C38"/>
                </a:solidFill>
                <a:latin typeface="Aptos"/>
                <a:ea typeface="Aptos"/>
                <a:cs typeface="Aptos"/>
              </a:defRPr>
            </a:pPr>
            <a:r>
              <a:rPr sz="1950" b="1">
                <a:solidFill>
                  <a:srgbClr val="142C38"/>
                </a:solidFill>
                <a:latin typeface="Aptos"/>
                <a:ea typeface="Aptos"/>
                <a:cs typeface="Aptos"/>
              </a:rPr>
              <a:t>Margin 27.8%</a:t>
            </a:r>
          </a:p>
        </p:txBody>
      </p:sp>
      <p:cxnSp>
        <p:nvCxnSpPr>
          <p:cNvPr id="23" name=""/>
          <p:cNvCxnSpPr>
            <a:stCxn xmlns:a="http://schemas.openxmlformats.org/drawingml/2006/main" id="3" idx="3"/>
            <a:endCxn xmlns:a="http://schemas.openxmlformats.org/drawingml/2006/main" id="4" idx="1"/>
          </p:cNvCxnSpPr>
          <p:nvPr/>
        </p:nvCxnSpPr>
        <p:spPr>
          <a:xfrm xmlns:a="http://schemas.openxmlformats.org/drawingml/2006/main">
            <a:off x="4076700" y="2719388"/>
            <a:ext cx="285750" cy="0"/>
          </a:xfrm>
          <a:prstGeom xmlns:a="http://schemas.openxmlformats.org/drawingml/2006/main" prst="straightConnector1">
            <a:avLst/>
          </a:prstGeom>
          <a:ln xmlns:a="http://schemas.openxmlformats.org/drawingml/2006/main" w="19050">
            <a:solidFill>
              <a:srgbClr val="537078"/>
            </a:solidFill>
            <a:tailEnd type="arrow" w="med" len="med"/>
          </a:ln>
        </p:spPr>
      </p:cxnSp>
      <p:cxnSp>
        <p:nvCxnSpPr>
          <p:cNvPr id="24" name=""/>
          <p:cNvCxnSpPr>
            <a:stCxn xmlns:a="http://schemas.openxmlformats.org/drawingml/2006/main" id="4" idx="3"/>
            <a:endCxn xmlns:a="http://schemas.openxmlformats.org/drawingml/2006/main" id="5" idx="1"/>
          </p:cNvCxnSpPr>
          <p:nvPr/>
        </p:nvCxnSpPr>
        <p:spPr>
          <a:xfrm xmlns:a="http://schemas.openxmlformats.org/drawingml/2006/main">
            <a:off x="7829550" y="2719388"/>
            <a:ext cx="285750" cy="0"/>
          </a:xfrm>
          <a:prstGeom xmlns:a="http://schemas.openxmlformats.org/drawingml/2006/main" prst="straightConnector1">
            <a:avLst/>
          </a:prstGeom>
          <a:ln xmlns:a="http://schemas.openxmlformats.org/drawingml/2006/main" w="19050">
            <a:solidFill>
              <a:srgbClr val="537078"/>
            </a:solidFill>
            <a:tailEnd type="arrow" w="med" len="med"/>
          </a:ln>
        </p:spPr>
      </p:cxnSp>
      <p:sp>
        <p:nvSpPr>
          <p:cNvPr id="8" name="text">
            <a:extLst xmlns:a="http://schemas.openxmlformats.org/drawingml/2006/main">
              <a:ext uri="{FF2B5EF4-FFF2-40B4-BE49-F238E27FC236}">
                <a16:creationId xmlns:a16="http://schemas.microsoft.com/office/drawing/2014/main" id="{0B06A3EB-C4A9-4F3D-A114-4478A5E0DD8B}"/>
              </a:ext>
            </a:extLst>
          </p:cNvPr>
          <p:cNvSpPr>
            <a:spLocks xmlns:a="http://schemas.openxmlformats.org/drawingml/2006/main" noGrp="1"/>
          </p:cNvSpPr>
          <p:nvPr/>
        </p:nvSpPr>
        <p:spPr>
          <a:xfrm xmlns:a="http://schemas.openxmlformats.org/drawingml/2006/main">
            <a:off x="609600" y="355282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01</a:t>
            </a:r>
          </a:p>
        </p:txBody>
      </p:sp>
      <p:sp>
        <p:nvSpPr>
          <p:cNvPr id="9" name="text">
            <a:extLst xmlns:a="http://schemas.openxmlformats.org/drawingml/2006/main">
              <a:ext uri="{FF2B5EF4-FFF2-40B4-BE49-F238E27FC236}">
                <a16:creationId xmlns:a16="http://schemas.microsoft.com/office/drawing/2014/main" id="{8AEC4BCC-F553-4107-A25E-D18AB3541296}"/>
              </a:ext>
            </a:extLst>
          </p:cNvPr>
          <p:cNvSpPr>
            <a:spLocks xmlns:a="http://schemas.openxmlformats.org/drawingml/2006/main" noGrp="1"/>
          </p:cNvSpPr>
          <p:nvPr/>
        </p:nvSpPr>
        <p:spPr>
          <a:xfrm xmlns:a="http://schemas.openxmlformats.org/drawingml/2006/main">
            <a:off x="1314450" y="3524250"/>
            <a:ext cx="102679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C38"/>
                </a:solidFill>
                <a:latin typeface="Aptos"/>
                <a:ea typeface="Aptos"/>
                <a:cs typeface="Aptos"/>
              </a:defRPr>
            </a:pPr>
            <a:r>
              <a:rPr sz="1875" b="0">
                <a:solidFill>
                  <a:srgbClr val="142C38"/>
                </a:solidFill>
                <a:latin typeface="Aptos"/>
                <a:ea typeface="Aptos"/>
                <a:cs typeface="Aptos"/>
              </a:rPr>
              <a:t>Restore defaults. Set price: 120 → 90.</a:t>
            </a:r>
          </a:p>
        </p:txBody>
      </p:sp>
      <p:sp>
        <p:nvSpPr>
          <p:cNvPr id="10" name="text">
            <a:extLst xmlns:a="http://schemas.openxmlformats.org/drawingml/2006/main">
              <a:ext uri="{FF2B5EF4-FFF2-40B4-BE49-F238E27FC236}">
                <a16:creationId xmlns:a16="http://schemas.microsoft.com/office/drawing/2014/main" id="{ECAC4571-68C2-444E-8827-0A666C2C369A}"/>
              </a:ext>
            </a:extLst>
          </p:cNvPr>
          <p:cNvSpPr>
            <a:spLocks xmlns:a="http://schemas.openxmlformats.org/drawingml/2006/main" noGrp="1"/>
          </p:cNvSpPr>
          <p:nvPr/>
        </p:nvSpPr>
        <p:spPr>
          <a:xfrm xmlns:a="http://schemas.openxmlformats.org/drawingml/2006/main">
            <a:off x="609600" y="42100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02</a:t>
            </a:r>
          </a:p>
        </p:txBody>
      </p:sp>
      <p:sp>
        <p:nvSpPr>
          <p:cNvPr id="11" name="text">
            <a:extLst xmlns:a="http://schemas.openxmlformats.org/drawingml/2006/main">
              <a:ext uri="{FF2B5EF4-FFF2-40B4-BE49-F238E27FC236}">
                <a16:creationId xmlns:a16="http://schemas.microsoft.com/office/drawing/2014/main" id="{59726248-5CD9-40EC-B1EB-2A7A6E19CDE2}"/>
              </a:ext>
            </a:extLst>
          </p:cNvPr>
          <p:cNvSpPr>
            <a:spLocks xmlns:a="http://schemas.openxmlformats.org/drawingml/2006/main" noGrp="1"/>
          </p:cNvSpPr>
          <p:nvPr/>
        </p:nvSpPr>
        <p:spPr>
          <a:xfrm xmlns:a="http://schemas.openxmlformats.org/drawingml/2006/main">
            <a:off x="1314450" y="4181475"/>
            <a:ext cx="102679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C38"/>
                </a:solidFill>
                <a:latin typeface="Aptos"/>
                <a:ea typeface="Aptos"/>
                <a:cs typeface="Aptos"/>
              </a:defRPr>
            </a:pPr>
            <a:r>
              <a:rPr sz="1875" b="0">
                <a:solidFill>
                  <a:srgbClr val="142C38"/>
                </a:solidFill>
                <a:latin typeface="Aptos"/>
                <a:ea typeface="Aptos"/>
                <a:cs typeface="Aptos"/>
              </a:rPr>
              <a:t>Run LEDGER and inspect the margin gate.</a:t>
            </a:r>
          </a:p>
        </p:txBody>
      </p:sp>
      <p:sp>
        <p:nvSpPr>
          <p:cNvPr id="12" name="text">
            <a:extLst xmlns:a="http://schemas.openxmlformats.org/drawingml/2006/main">
              <a:ext uri="{FF2B5EF4-FFF2-40B4-BE49-F238E27FC236}">
                <a16:creationId xmlns:a16="http://schemas.microsoft.com/office/drawing/2014/main" id="{611A069C-C079-419B-8584-C96AA9E36242}"/>
              </a:ext>
            </a:extLst>
          </p:cNvPr>
          <p:cNvSpPr>
            <a:spLocks xmlns:a="http://schemas.openxmlformats.org/drawingml/2006/main" noGrp="1"/>
          </p:cNvSpPr>
          <p:nvPr/>
        </p:nvSpPr>
        <p:spPr>
          <a:xfrm xmlns:a="http://schemas.openxmlformats.org/drawingml/2006/main">
            <a:off x="609600" y="486727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03</a:t>
            </a:r>
          </a:p>
        </p:txBody>
      </p:sp>
      <p:sp>
        <p:nvSpPr>
          <p:cNvPr id="13" name="text">
            <a:extLst xmlns:a="http://schemas.openxmlformats.org/drawingml/2006/main">
              <a:ext uri="{FF2B5EF4-FFF2-40B4-BE49-F238E27FC236}">
                <a16:creationId xmlns:a16="http://schemas.microsoft.com/office/drawing/2014/main" id="{4E4F00F1-3C73-40D3-AA00-E451CEE41127}"/>
              </a:ext>
            </a:extLst>
          </p:cNvPr>
          <p:cNvSpPr>
            <a:spLocks xmlns:a="http://schemas.openxmlformats.org/drawingml/2006/main" noGrp="1"/>
          </p:cNvSpPr>
          <p:nvPr/>
        </p:nvSpPr>
        <p:spPr>
          <a:xfrm xmlns:a="http://schemas.openxmlformats.org/drawingml/2006/main">
            <a:off x="1314450" y="4838700"/>
            <a:ext cx="102679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C38"/>
                </a:solidFill>
                <a:latin typeface="Aptos"/>
                <a:ea typeface="Aptos"/>
                <a:cs typeface="Aptos"/>
              </a:defRPr>
            </a:pPr>
            <a:r>
              <a:rPr sz="1875" b="0">
                <a:solidFill>
                  <a:srgbClr val="142C38"/>
                </a:solidFill>
                <a:latin typeface="Aptos"/>
                <a:ea typeface="Aptos"/>
                <a:cs typeface="Aptos"/>
              </a:rPr>
              <a:t>Cash still fits; margin falls below the 38% target.</a:t>
            </a:r>
          </a:p>
        </p:txBody>
      </p:sp>
      <p:sp>
        <p:nvSpPr>
          <p:cNvPr id="14" name="text">
            <a:extLst xmlns:a="http://schemas.openxmlformats.org/drawingml/2006/main">
              <a:ext uri="{FF2B5EF4-FFF2-40B4-BE49-F238E27FC236}">
                <a16:creationId xmlns:a16="http://schemas.microsoft.com/office/drawing/2014/main" id="{C4654676-C657-44DE-8A4D-1FBB51581A97}"/>
              </a:ext>
            </a:extLst>
          </p:cNvPr>
          <p:cNvSpPr>
            <a:spLocks xmlns:a="http://schemas.openxmlformats.org/drawingml/2006/main" noGrp="1"/>
          </p:cNvSpPr>
          <p:nvPr/>
        </p:nvSpPr>
        <p:spPr>
          <a:xfrm xmlns:a="http://schemas.openxmlformats.org/drawingml/2006/main">
            <a:off x="609600" y="58483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Zero funding gap can still produce a HOLD recommendation.</a:t>
            </a:r>
          </a:p>
        </p:txBody>
      </p:sp>
      <p:sp>
        <p:nvSpPr>
          <p:cNvPr id="15" name="shape">
            <a:extLst xmlns:a="http://schemas.openxmlformats.org/drawingml/2006/main">
              <a:ext uri="{FF2B5EF4-FFF2-40B4-BE49-F238E27FC236}">
                <a16:creationId xmlns:a16="http://schemas.microsoft.com/office/drawing/2014/main" id="{B1983A50-7176-43B5-A1C9-AE9581C0C6B0}"/>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A2368881-4B82-4A5A-BA8B-BD40C5D89BA0}"/>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17" name="text">
            <a:extLst xmlns:a="http://schemas.openxmlformats.org/drawingml/2006/main">
              <a:ext uri="{FF2B5EF4-FFF2-40B4-BE49-F238E27FC236}">
                <a16:creationId xmlns:a16="http://schemas.microsoft.com/office/drawing/2014/main" id="{335AB56F-E1F0-45A4-839D-B44F4E44B3A0}"/>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46</a:t>
            </a:r>
          </a:p>
        </p:txBody>
      </p:sp>
    </p:spTree>
    <p:extLst>
      <p:ext uri="{BB962C8B-B14F-4D97-AF65-F5344CB8AC3E}">
        <p14:creationId xmlns:p14="http://schemas.microsoft.com/office/powerpoint/2010/main" val="550324725"/>
      </p:ext>
    </p:extLst>
  </p:cSld>
</p:sld>
</file>

<file path=ppt/slides/slide47.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E809C702-8877-48F3-BD8C-0DDA4F916BCF}"/>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DAY 1 · SESSION 3 · 90 MINUTES</a:t>
            </a:r>
          </a:p>
        </p:txBody>
      </p:sp>
      <p:sp>
        <p:nvSpPr>
          <p:cNvPr id="2" name="text">
            <a:extLst xmlns:a="http://schemas.openxmlformats.org/drawingml/2006/main">
              <a:ext uri="{FF2B5EF4-FFF2-40B4-BE49-F238E27FC236}">
                <a16:creationId xmlns:a16="http://schemas.microsoft.com/office/drawing/2014/main" id="{2C2FF233-6C93-42A7-B9AD-0438AC3E03FD}"/>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JARVIS carries blockers into the final decision.</a:t>
            </a:r>
          </a:p>
        </p:txBody>
      </p:sp>
      <p:sp>
        <p:nvSpPr>
          <p:cNvPr id="3" name="flow-node">
            <a:extLst xmlns:a="http://schemas.openxmlformats.org/drawingml/2006/main">
              <a:ext uri="{FF2B5EF4-FFF2-40B4-BE49-F238E27FC236}">
                <a16:creationId xmlns:a16="http://schemas.microsoft.com/office/drawing/2014/main" id="{450342C8-70CE-480C-9A25-DDA590C7E650}"/>
              </a:ext>
            </a:extLst>
          </p:cNvPr>
          <p:cNvSpPr>
            <a:spLocks xmlns:a="http://schemas.openxmlformats.org/drawingml/2006/main" noGrp="1"/>
          </p:cNvSpPr>
          <p:nvPr/>
        </p:nvSpPr>
        <p:spPr>
          <a:xfrm xmlns:a="http://schemas.openxmlformats.org/drawingml/2006/main">
            <a:off x="609600"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Read five reports</a:t>
            </a:r>
          </a:p>
        </p:txBody>
      </p:sp>
      <p:sp>
        <p:nvSpPr>
          <p:cNvPr id="4" name="flow-node">
            <a:extLst xmlns:a="http://schemas.openxmlformats.org/drawingml/2006/main">
              <a:ext uri="{FF2B5EF4-FFF2-40B4-BE49-F238E27FC236}">
                <a16:creationId xmlns:a16="http://schemas.microsoft.com/office/drawing/2014/main" id="{077781D6-7878-41C7-BBE4-82F6FD6D94E9}"/>
              </a:ext>
            </a:extLst>
          </p:cNvPr>
          <p:cNvSpPr>
            <a:spLocks xmlns:a="http://schemas.openxmlformats.org/drawingml/2006/main" noGrp="1"/>
          </p:cNvSpPr>
          <p:nvPr/>
        </p:nvSpPr>
        <p:spPr>
          <a:xfrm xmlns:a="http://schemas.openxmlformats.org/drawingml/2006/main">
            <a:off x="3424238"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Find conflicting gates</a:t>
            </a:r>
          </a:p>
        </p:txBody>
      </p:sp>
      <p:sp>
        <p:nvSpPr>
          <p:cNvPr id="5" name="flow-node">
            <a:extLst xmlns:a="http://schemas.openxmlformats.org/drawingml/2006/main">
              <a:ext uri="{FF2B5EF4-FFF2-40B4-BE49-F238E27FC236}">
                <a16:creationId xmlns:a16="http://schemas.microsoft.com/office/drawing/2014/main" id="{933717CC-E707-47D5-BB23-FC2C670D71AA}"/>
              </a:ext>
            </a:extLst>
          </p:cNvPr>
          <p:cNvSpPr>
            <a:spLocks xmlns:a="http://schemas.openxmlformats.org/drawingml/2006/main" noGrp="1"/>
          </p:cNvSpPr>
          <p:nvPr/>
        </p:nvSpPr>
        <p:spPr>
          <a:xfrm xmlns:a="http://schemas.openxmlformats.org/drawingml/2006/main">
            <a:off x="6238875"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Assign owners</a:t>
            </a:r>
          </a:p>
        </p:txBody>
      </p:sp>
      <p:sp>
        <p:nvSpPr>
          <p:cNvPr id="6" name="flow-node">
            <a:extLst xmlns:a="http://schemas.openxmlformats.org/drawingml/2006/main">
              <a:ext uri="{FF2B5EF4-FFF2-40B4-BE49-F238E27FC236}">
                <a16:creationId xmlns:a16="http://schemas.microsoft.com/office/drawing/2014/main" id="{37962E3D-0EED-46CC-BE2C-9366FBE3B6A7}"/>
              </a:ext>
            </a:extLst>
          </p:cNvPr>
          <p:cNvSpPr>
            <a:spLocks xmlns:a="http://schemas.openxmlformats.org/drawingml/2006/main" noGrp="1"/>
          </p:cNvSpPr>
          <p:nvPr/>
        </p:nvSpPr>
        <p:spPr>
          <a:xfrm xmlns:a="http://schemas.openxmlformats.org/drawingml/2006/main">
            <a:off x="9053513"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Recommend next step</a:t>
            </a:r>
          </a:p>
        </p:txBody>
      </p:sp>
      <p:cxnSp>
        <p:nvCxnSpPr>
          <p:cNvPr id="20" name=""/>
          <p:cNvCxnSpPr>
            <a:stCxn xmlns:a="http://schemas.openxmlformats.org/drawingml/2006/main" id="3" idx="3"/>
            <a:endCxn xmlns:a="http://schemas.openxmlformats.org/drawingml/2006/main" id="4" idx="1"/>
          </p:cNvCxnSpPr>
          <p:nvPr/>
        </p:nvCxnSpPr>
        <p:spPr>
          <a:xfrm xmlns:a="http://schemas.openxmlformats.org/drawingml/2006/main">
            <a:off x="3138488"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1" name=""/>
          <p:cNvCxnSpPr>
            <a:stCxn xmlns:a="http://schemas.openxmlformats.org/drawingml/2006/main" id="4" idx="3"/>
            <a:endCxn xmlns:a="http://schemas.openxmlformats.org/drawingml/2006/main" id="5" idx="1"/>
          </p:cNvCxnSpPr>
          <p:nvPr/>
        </p:nvCxnSpPr>
        <p:spPr>
          <a:xfrm xmlns:a="http://schemas.openxmlformats.org/drawingml/2006/main">
            <a:off x="5953126" y="3390900"/>
            <a:ext cx="285749"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2" name=""/>
          <p:cNvCxnSpPr>
            <a:stCxn xmlns:a="http://schemas.openxmlformats.org/drawingml/2006/main" id="5" idx="3"/>
            <a:endCxn xmlns:a="http://schemas.openxmlformats.org/drawingml/2006/main" id="6" idx="1"/>
          </p:cNvCxnSpPr>
          <p:nvPr/>
        </p:nvCxnSpPr>
        <p:spPr>
          <a:xfrm xmlns:a="http://schemas.openxmlformats.org/drawingml/2006/main">
            <a:off x="8767763"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sp>
        <p:nvSpPr>
          <p:cNvPr id="10" name="text">
            <a:extLst xmlns:a="http://schemas.openxmlformats.org/drawingml/2006/main">
              <a:ext uri="{FF2B5EF4-FFF2-40B4-BE49-F238E27FC236}">
                <a16:creationId xmlns:a16="http://schemas.microsoft.com/office/drawing/2014/main" id="{C3F76897-9ADF-4063-B6BB-ACE3B5A079B2}"/>
              </a:ext>
            </a:extLst>
          </p:cNvPr>
          <p:cNvSpPr>
            <a:spLocks xmlns:a="http://schemas.openxmlformats.org/drawingml/2006/main" noGrp="1"/>
          </p:cNvSpPr>
          <p:nvPr/>
        </p:nvSpPr>
        <p:spPr>
          <a:xfrm xmlns:a="http://schemas.openxmlformats.org/drawingml/2006/main">
            <a:off x="609600" y="50673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DFBF"/>
                </a:solidFill>
                <a:latin typeface="Aptos"/>
                <a:ea typeface="Aptos"/>
                <a:cs typeface="Aptos"/>
              </a:defRPr>
            </a:pPr>
            <a:r>
              <a:rPr sz="1800" b="0">
                <a:solidFill>
                  <a:srgbClr val="61DFBF"/>
                </a:solidFill>
                <a:latin typeface="Aptos"/>
                <a:ea typeface="Aptos"/>
                <a:cs typeface="Aptos"/>
              </a:rPr>
              <a:t>Any unresolved specialist HOLD keeps the executive package on HOLD.</a:t>
            </a:r>
          </a:p>
        </p:txBody>
      </p:sp>
      <p:sp>
        <p:nvSpPr>
          <p:cNvPr id="11" name="shape">
            <a:extLst xmlns:a="http://schemas.openxmlformats.org/drawingml/2006/main">
              <a:ext uri="{FF2B5EF4-FFF2-40B4-BE49-F238E27FC236}">
                <a16:creationId xmlns:a16="http://schemas.microsoft.com/office/drawing/2014/main" id="{04CB626D-86CE-4321-89CC-7ADA2859CF23}"/>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93326087-E880-4EF9-9AB3-1A7AFC1E2A2B}"/>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13" name="text">
            <a:extLst xmlns:a="http://schemas.openxmlformats.org/drawingml/2006/main">
              <a:ext uri="{FF2B5EF4-FFF2-40B4-BE49-F238E27FC236}">
                <a16:creationId xmlns:a16="http://schemas.microsoft.com/office/drawing/2014/main" id="{FA704208-1FF7-4562-A5E2-03BEE91E8234}"/>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47</a:t>
            </a:r>
          </a:p>
        </p:txBody>
      </p:sp>
    </p:spTree>
    <p:extLst>
      <p:ext uri="{BB962C8B-B14F-4D97-AF65-F5344CB8AC3E}">
        <p14:creationId xmlns:p14="http://schemas.microsoft.com/office/powerpoint/2010/main" val="605597791"/>
      </p:ext>
    </p:extLst>
  </p:cSld>
</p:sld>
</file>

<file path=ppt/slides/slide48.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27" name="text">
            <a:extLst xmlns:a="http://schemas.openxmlformats.org/drawingml/2006/main">
              <a:ext uri="{FF2B5EF4-FFF2-40B4-BE49-F238E27FC236}">
                <a16:creationId xmlns:a16="http://schemas.microsoft.com/office/drawing/2014/main" id="{88F99C41-2AC0-4AA1-BC5F-912B13D1FE25}"/>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DAY 1 · SESSION 3 · 90 MINUTES</a:t>
            </a:r>
          </a:p>
        </p:txBody>
      </p:sp>
      <p:sp>
        <p:nvSpPr>
          <p:cNvPr id="2" name="text">
            <a:extLst xmlns:a="http://schemas.openxmlformats.org/drawingml/2006/main">
              <a:ext uri="{FF2B5EF4-FFF2-40B4-BE49-F238E27FC236}">
                <a16:creationId xmlns:a16="http://schemas.microsoft.com/office/drawing/2014/main" id="{14006003-B63D-4F25-AA70-DA33C1451FD0}"/>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Find the implementation behind each role.</a:t>
            </a:r>
          </a:p>
        </p:txBody>
      </p:sp>
      <p:sp>
        <p:nvSpPr>
          <p:cNvPr id="3" name="text">
            <a:extLst xmlns:a="http://schemas.openxmlformats.org/drawingml/2006/main">
              <a:ext uri="{FF2B5EF4-FFF2-40B4-BE49-F238E27FC236}">
                <a16:creationId xmlns:a16="http://schemas.microsoft.com/office/drawing/2014/main" id="{142314FA-89B1-4A20-95A9-0537339D5FB7}"/>
              </a:ext>
            </a:extLst>
          </p:cNvPr>
          <p:cNvSpPr>
            <a:spLocks xmlns:a="http://schemas.openxmlformats.org/drawingml/2006/main" noGrp="1"/>
          </p:cNvSpPr>
          <p:nvPr/>
        </p:nvSpPr>
        <p:spPr>
          <a:xfrm xmlns:a="http://schemas.openxmlformats.org/drawingml/2006/main">
            <a:off x="609600" y="2095500"/>
            <a:ext cx="2343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Part</a:t>
            </a:r>
          </a:p>
        </p:txBody>
      </p:sp>
      <p:sp>
        <p:nvSpPr>
          <p:cNvPr id="4" name="text">
            <a:extLst xmlns:a="http://schemas.openxmlformats.org/drawingml/2006/main">
              <a:ext uri="{FF2B5EF4-FFF2-40B4-BE49-F238E27FC236}">
                <a16:creationId xmlns:a16="http://schemas.microsoft.com/office/drawing/2014/main" id="{431C59C9-0D94-47A5-88DF-DE4BDDB40141}"/>
              </a:ext>
            </a:extLst>
          </p:cNvPr>
          <p:cNvSpPr>
            <a:spLocks xmlns:a="http://schemas.openxmlformats.org/drawingml/2006/main" noGrp="1"/>
          </p:cNvSpPr>
          <p:nvPr/>
        </p:nvSpPr>
        <p:spPr>
          <a:xfrm xmlns:a="http://schemas.openxmlformats.org/drawingml/2006/main">
            <a:off x="3162300" y="2095500"/>
            <a:ext cx="3952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File</a:t>
            </a:r>
          </a:p>
        </p:txBody>
      </p:sp>
      <p:sp>
        <p:nvSpPr>
          <p:cNvPr id="5" name="text">
            <a:extLst xmlns:a="http://schemas.openxmlformats.org/drawingml/2006/main">
              <a:ext uri="{FF2B5EF4-FFF2-40B4-BE49-F238E27FC236}">
                <a16:creationId xmlns:a16="http://schemas.microsoft.com/office/drawing/2014/main" id="{7EEC84A5-3D46-4D6F-8B00-C1307DB4EEE3}"/>
              </a:ext>
            </a:extLst>
          </p:cNvPr>
          <p:cNvSpPr>
            <a:spLocks xmlns:a="http://schemas.openxmlformats.org/drawingml/2006/main" noGrp="1"/>
          </p:cNvSpPr>
          <p:nvPr/>
        </p:nvSpPr>
        <p:spPr>
          <a:xfrm xmlns:a="http://schemas.openxmlformats.org/drawingml/2006/main">
            <a:off x="7324725" y="2095500"/>
            <a:ext cx="4048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What you can change</a:t>
            </a:r>
          </a:p>
        </p:txBody>
      </p:sp>
      <p:sp>
        <p:nvSpPr>
          <p:cNvPr id="6" name="shape">
            <a:extLst xmlns:a="http://schemas.openxmlformats.org/drawingml/2006/main">
              <a:ext uri="{FF2B5EF4-FFF2-40B4-BE49-F238E27FC236}">
                <a16:creationId xmlns:a16="http://schemas.microsoft.com/office/drawing/2014/main" id="{E0EF3D9F-0F43-4BB0-B99A-676232BA3DF8}"/>
              </a:ext>
            </a:extLst>
          </p:cNvPr>
          <p:cNvSpPr>
            <a:spLocks xmlns:a="http://schemas.openxmlformats.org/drawingml/2006/main" noGrp="1"/>
          </p:cNvSpPr>
          <p:nvPr/>
        </p:nvSpPr>
        <p:spPr>
          <a:xfrm xmlns:a="http://schemas.openxmlformats.org/drawingml/2006/main">
            <a:off x="609600" y="25050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C1CFAB1C-0C06-402B-AE82-EB7F60D980F2}"/>
              </a:ext>
            </a:extLst>
          </p:cNvPr>
          <p:cNvSpPr>
            <a:spLocks xmlns:a="http://schemas.openxmlformats.org/drawingml/2006/main" noGrp="1"/>
          </p:cNvSpPr>
          <p:nvPr/>
        </p:nvSpPr>
        <p:spPr>
          <a:xfrm xmlns:a="http://schemas.openxmlformats.org/drawingml/2006/main">
            <a:off x="609600" y="2676525"/>
            <a:ext cx="23431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Agent contract</a:t>
            </a:r>
          </a:p>
        </p:txBody>
      </p:sp>
      <p:sp>
        <p:nvSpPr>
          <p:cNvPr id="8" name="text">
            <a:extLst xmlns:a="http://schemas.openxmlformats.org/drawingml/2006/main">
              <a:ext uri="{FF2B5EF4-FFF2-40B4-BE49-F238E27FC236}">
                <a16:creationId xmlns:a16="http://schemas.microsoft.com/office/drawing/2014/main" id="{B79C54B1-34A3-4BEC-A084-4DC7CB60BC90}"/>
              </a:ext>
            </a:extLst>
          </p:cNvPr>
          <p:cNvSpPr>
            <a:spLocks xmlns:a="http://schemas.openxmlformats.org/drawingml/2006/main" noGrp="1"/>
          </p:cNvSpPr>
          <p:nvPr/>
        </p:nvSpPr>
        <p:spPr>
          <a:xfrm xmlns:a="http://schemas.openxmlformats.org/drawingml/2006/main">
            <a:off x="3162300" y="2676525"/>
            <a:ext cx="3952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catalog.py</a:t>
            </a:r>
          </a:p>
        </p:txBody>
      </p:sp>
      <p:sp>
        <p:nvSpPr>
          <p:cNvPr id="9" name="text">
            <a:extLst xmlns:a="http://schemas.openxmlformats.org/drawingml/2006/main">
              <a:ext uri="{FF2B5EF4-FFF2-40B4-BE49-F238E27FC236}">
                <a16:creationId xmlns:a16="http://schemas.microsoft.com/office/drawing/2014/main" id="{F8E7D8DB-6AD3-4297-B3F9-D304100F8EE5}"/>
              </a:ext>
            </a:extLst>
          </p:cNvPr>
          <p:cNvSpPr>
            <a:spLocks xmlns:a="http://schemas.openxmlformats.org/drawingml/2006/main" noGrp="1"/>
          </p:cNvSpPr>
          <p:nvPr/>
        </p:nvSpPr>
        <p:spPr>
          <a:xfrm xmlns:a="http://schemas.openxmlformats.org/drawingml/2006/main">
            <a:off x="7324725" y="2676525"/>
            <a:ext cx="4048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Goal, tool name and dependencies</a:t>
            </a:r>
          </a:p>
        </p:txBody>
      </p:sp>
      <p:sp>
        <p:nvSpPr>
          <p:cNvPr id="10" name="shape">
            <a:extLst xmlns:a="http://schemas.openxmlformats.org/drawingml/2006/main">
              <a:ext uri="{FF2B5EF4-FFF2-40B4-BE49-F238E27FC236}">
                <a16:creationId xmlns:a16="http://schemas.microsoft.com/office/drawing/2014/main" id="{5A0332D8-3D90-4C0E-9E90-35A3C08893E2}"/>
              </a:ext>
            </a:extLst>
          </p:cNvPr>
          <p:cNvSpPr>
            <a:spLocks xmlns:a="http://schemas.openxmlformats.org/drawingml/2006/main" noGrp="1"/>
          </p:cNvSpPr>
          <p:nvPr/>
        </p:nvSpPr>
        <p:spPr>
          <a:xfrm xmlns:a="http://schemas.openxmlformats.org/drawingml/2006/main">
            <a:off x="609600" y="33623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D722C776-2AF7-46E4-9D34-BCFAE1DE1F94}"/>
              </a:ext>
            </a:extLst>
          </p:cNvPr>
          <p:cNvSpPr>
            <a:spLocks xmlns:a="http://schemas.openxmlformats.org/drawingml/2006/main" noGrp="1"/>
          </p:cNvSpPr>
          <p:nvPr/>
        </p:nvSpPr>
        <p:spPr>
          <a:xfrm xmlns:a="http://schemas.openxmlformats.org/drawingml/2006/main">
            <a:off x="609600" y="3467100"/>
            <a:ext cx="23431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Business calculation</a:t>
            </a:r>
          </a:p>
        </p:txBody>
      </p:sp>
      <p:sp>
        <p:nvSpPr>
          <p:cNvPr id="12" name="text">
            <a:extLst xmlns:a="http://schemas.openxmlformats.org/drawingml/2006/main">
              <a:ext uri="{FF2B5EF4-FFF2-40B4-BE49-F238E27FC236}">
                <a16:creationId xmlns:a16="http://schemas.microsoft.com/office/drawing/2014/main" id="{1F7634E5-02A8-4A68-AE8B-DC7A8829C41C}"/>
              </a:ext>
            </a:extLst>
          </p:cNvPr>
          <p:cNvSpPr>
            <a:spLocks xmlns:a="http://schemas.openxmlformats.org/drawingml/2006/main" noGrp="1"/>
          </p:cNvSpPr>
          <p:nvPr/>
        </p:nvSpPr>
        <p:spPr>
          <a:xfrm xmlns:a="http://schemas.openxmlformats.org/drawingml/2006/main">
            <a:off x="3162300" y="3467100"/>
            <a:ext cx="3952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business.py</a:t>
            </a:r>
          </a:p>
        </p:txBody>
      </p:sp>
      <p:sp>
        <p:nvSpPr>
          <p:cNvPr id="13" name="text">
            <a:extLst xmlns:a="http://schemas.openxmlformats.org/drawingml/2006/main">
              <a:ext uri="{FF2B5EF4-FFF2-40B4-BE49-F238E27FC236}">
                <a16:creationId xmlns:a16="http://schemas.microsoft.com/office/drawing/2014/main" id="{35A2DCC0-FC80-46A7-A2D0-C4B34C08B81E}"/>
              </a:ext>
            </a:extLst>
          </p:cNvPr>
          <p:cNvSpPr>
            <a:spLocks xmlns:a="http://schemas.openxmlformats.org/drawingml/2006/main" noGrp="1"/>
          </p:cNvSpPr>
          <p:nvPr/>
        </p:nvSpPr>
        <p:spPr>
          <a:xfrm xmlns:a="http://schemas.openxmlformats.org/drawingml/2006/main">
            <a:off x="7324725" y="3467100"/>
            <a:ext cx="4048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Testable domain rules</a:t>
            </a:r>
          </a:p>
        </p:txBody>
      </p:sp>
      <p:sp>
        <p:nvSpPr>
          <p:cNvPr id="14" name="shape">
            <a:extLst xmlns:a="http://schemas.openxmlformats.org/drawingml/2006/main">
              <a:ext uri="{FF2B5EF4-FFF2-40B4-BE49-F238E27FC236}">
                <a16:creationId xmlns:a16="http://schemas.microsoft.com/office/drawing/2014/main" id="{3C202A9A-F630-4FAB-936A-C5745ADB45A6}"/>
              </a:ext>
            </a:extLst>
          </p:cNvPr>
          <p:cNvSpPr>
            <a:spLocks xmlns:a="http://schemas.openxmlformats.org/drawingml/2006/main" noGrp="1"/>
          </p:cNvSpPr>
          <p:nvPr/>
        </p:nvSpPr>
        <p:spPr>
          <a:xfrm xmlns:a="http://schemas.openxmlformats.org/drawingml/2006/main">
            <a:off x="609600" y="415290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6F9DA698-F49B-4928-8FBF-04D3E33F7838}"/>
              </a:ext>
            </a:extLst>
          </p:cNvPr>
          <p:cNvSpPr>
            <a:spLocks xmlns:a="http://schemas.openxmlformats.org/drawingml/2006/main" noGrp="1"/>
          </p:cNvSpPr>
          <p:nvPr/>
        </p:nvSpPr>
        <p:spPr>
          <a:xfrm xmlns:a="http://schemas.openxmlformats.org/drawingml/2006/main">
            <a:off x="609600" y="4257675"/>
            <a:ext cx="23431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Input shape</a:t>
            </a:r>
          </a:p>
        </p:txBody>
      </p:sp>
      <p:sp>
        <p:nvSpPr>
          <p:cNvPr id="16" name="text">
            <a:extLst xmlns:a="http://schemas.openxmlformats.org/drawingml/2006/main">
              <a:ext uri="{FF2B5EF4-FFF2-40B4-BE49-F238E27FC236}">
                <a16:creationId xmlns:a16="http://schemas.microsoft.com/office/drawing/2014/main" id="{015FEB7A-1BB6-406E-94CC-6B4A2D13B30B}"/>
              </a:ext>
            </a:extLst>
          </p:cNvPr>
          <p:cNvSpPr>
            <a:spLocks xmlns:a="http://schemas.openxmlformats.org/drawingml/2006/main" noGrp="1"/>
          </p:cNvSpPr>
          <p:nvPr/>
        </p:nvSpPr>
        <p:spPr>
          <a:xfrm xmlns:a="http://schemas.openxmlformats.org/drawingml/2006/main">
            <a:off x="3162300" y="4257675"/>
            <a:ext cx="3952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models.py</a:t>
            </a:r>
          </a:p>
        </p:txBody>
      </p:sp>
      <p:sp>
        <p:nvSpPr>
          <p:cNvPr id="17" name="text">
            <a:extLst xmlns:a="http://schemas.openxmlformats.org/drawingml/2006/main">
              <a:ext uri="{FF2B5EF4-FFF2-40B4-BE49-F238E27FC236}">
                <a16:creationId xmlns:a16="http://schemas.microsoft.com/office/drawing/2014/main" id="{C44485DE-133B-4AC2-8E31-6C56E9F7B5E3}"/>
              </a:ext>
            </a:extLst>
          </p:cNvPr>
          <p:cNvSpPr>
            <a:spLocks xmlns:a="http://schemas.openxmlformats.org/drawingml/2006/main" noGrp="1"/>
          </p:cNvSpPr>
          <p:nvPr/>
        </p:nvSpPr>
        <p:spPr>
          <a:xfrm xmlns:a="http://schemas.openxmlformats.org/drawingml/2006/main">
            <a:off x="7324725" y="4257675"/>
            <a:ext cx="4048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Allowed fields and ranges</a:t>
            </a:r>
          </a:p>
        </p:txBody>
      </p:sp>
      <p:sp>
        <p:nvSpPr>
          <p:cNvPr id="18" name="shape">
            <a:extLst xmlns:a="http://schemas.openxmlformats.org/drawingml/2006/main">
              <a:ext uri="{FF2B5EF4-FFF2-40B4-BE49-F238E27FC236}">
                <a16:creationId xmlns:a16="http://schemas.microsoft.com/office/drawing/2014/main" id="{3AD61335-9B3C-49FB-AFD3-5876205D71D6}"/>
              </a:ext>
            </a:extLst>
          </p:cNvPr>
          <p:cNvSpPr>
            <a:spLocks xmlns:a="http://schemas.openxmlformats.org/drawingml/2006/main" noGrp="1"/>
          </p:cNvSpPr>
          <p:nvPr/>
        </p:nvSpPr>
        <p:spPr>
          <a:xfrm xmlns:a="http://schemas.openxmlformats.org/drawingml/2006/main">
            <a:off x="609600" y="49434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F48B4CF5-E6E8-43F0-9AD2-DBCFA8834957}"/>
              </a:ext>
            </a:extLst>
          </p:cNvPr>
          <p:cNvSpPr>
            <a:spLocks xmlns:a="http://schemas.openxmlformats.org/drawingml/2006/main" noGrp="1"/>
          </p:cNvSpPr>
          <p:nvPr/>
        </p:nvSpPr>
        <p:spPr>
          <a:xfrm xmlns:a="http://schemas.openxmlformats.org/drawingml/2006/main">
            <a:off x="609600" y="5048250"/>
            <a:ext cx="23431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Agent assembly</a:t>
            </a:r>
          </a:p>
        </p:txBody>
      </p:sp>
      <p:sp>
        <p:nvSpPr>
          <p:cNvPr id="20" name="text">
            <a:extLst xmlns:a="http://schemas.openxmlformats.org/drawingml/2006/main">
              <a:ext uri="{FF2B5EF4-FFF2-40B4-BE49-F238E27FC236}">
                <a16:creationId xmlns:a16="http://schemas.microsoft.com/office/drawing/2014/main" id="{FF338637-1D6D-4B5E-BE55-54A33B4FC4CD}"/>
              </a:ext>
            </a:extLst>
          </p:cNvPr>
          <p:cNvSpPr>
            <a:spLocks xmlns:a="http://schemas.openxmlformats.org/drawingml/2006/main" noGrp="1"/>
          </p:cNvSpPr>
          <p:nvPr/>
        </p:nvSpPr>
        <p:spPr>
          <a:xfrm xmlns:a="http://schemas.openxmlformats.org/drawingml/2006/main">
            <a:off x="3162300" y="5048250"/>
            <a:ext cx="3952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engine.py</a:t>
            </a:r>
          </a:p>
        </p:txBody>
      </p:sp>
      <p:sp>
        <p:nvSpPr>
          <p:cNvPr id="21" name="text">
            <a:extLst xmlns:a="http://schemas.openxmlformats.org/drawingml/2006/main">
              <a:ext uri="{FF2B5EF4-FFF2-40B4-BE49-F238E27FC236}">
                <a16:creationId xmlns:a16="http://schemas.microsoft.com/office/drawing/2014/main" id="{6DCCCCEB-C3CB-411B-BB92-FEBA9767BFC4}"/>
              </a:ext>
            </a:extLst>
          </p:cNvPr>
          <p:cNvSpPr>
            <a:spLocks xmlns:a="http://schemas.openxmlformats.org/drawingml/2006/main" noGrp="1"/>
          </p:cNvSpPr>
          <p:nvPr/>
        </p:nvSpPr>
        <p:spPr>
          <a:xfrm xmlns:a="http://schemas.openxmlformats.org/drawingml/2006/main">
            <a:off x="7324725" y="5048250"/>
            <a:ext cx="4048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Prompt, tools and route</a:t>
            </a:r>
          </a:p>
        </p:txBody>
      </p:sp>
      <p:sp>
        <p:nvSpPr>
          <p:cNvPr id="22" name="shape">
            <a:extLst xmlns:a="http://schemas.openxmlformats.org/drawingml/2006/main">
              <a:ext uri="{FF2B5EF4-FFF2-40B4-BE49-F238E27FC236}">
                <a16:creationId xmlns:a16="http://schemas.microsoft.com/office/drawing/2014/main" id="{138AD726-658A-4E81-B463-0121BB52CA82}"/>
              </a:ext>
            </a:extLst>
          </p:cNvPr>
          <p:cNvSpPr>
            <a:spLocks xmlns:a="http://schemas.openxmlformats.org/drawingml/2006/main" noGrp="1"/>
          </p:cNvSpPr>
          <p:nvPr/>
        </p:nvSpPr>
        <p:spPr>
          <a:xfrm xmlns:a="http://schemas.openxmlformats.org/drawingml/2006/main">
            <a:off x="609600" y="57340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23" name="text">
            <a:extLst xmlns:a="http://schemas.openxmlformats.org/drawingml/2006/main">
              <a:ext uri="{FF2B5EF4-FFF2-40B4-BE49-F238E27FC236}">
                <a16:creationId xmlns:a16="http://schemas.microsoft.com/office/drawing/2014/main" id="{F0A4BE17-5C85-4E6B-A6EF-D73E3F96CEA2}"/>
              </a:ext>
            </a:extLst>
          </p:cNvPr>
          <p:cNvSpPr>
            <a:spLocks xmlns:a="http://schemas.openxmlformats.org/drawingml/2006/main" noGrp="1"/>
          </p:cNvSpPr>
          <p:nvPr/>
        </p:nvSpPr>
        <p:spPr>
          <a:xfrm xmlns:a="http://schemas.openxmlformats.org/drawingml/2006/main">
            <a:off x="609600" y="58007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All paths are inside src/agentforge_jarvis/.</a:t>
            </a:r>
          </a:p>
        </p:txBody>
      </p:sp>
      <p:sp>
        <p:nvSpPr>
          <p:cNvPr id="24" name="shape">
            <a:extLst xmlns:a="http://schemas.openxmlformats.org/drawingml/2006/main">
              <a:ext uri="{FF2B5EF4-FFF2-40B4-BE49-F238E27FC236}">
                <a16:creationId xmlns:a16="http://schemas.microsoft.com/office/drawing/2014/main" id="{521FB51C-4C83-43AB-B3FA-5E143F4B986A}"/>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25" name="text">
            <a:extLst xmlns:a="http://schemas.openxmlformats.org/drawingml/2006/main">
              <a:ext uri="{FF2B5EF4-FFF2-40B4-BE49-F238E27FC236}">
                <a16:creationId xmlns:a16="http://schemas.microsoft.com/office/drawing/2014/main" id="{018531E0-262A-429B-A391-1F4A5B1EF7CC}"/>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26" name="text">
            <a:extLst xmlns:a="http://schemas.openxmlformats.org/drawingml/2006/main">
              <a:ext uri="{FF2B5EF4-FFF2-40B4-BE49-F238E27FC236}">
                <a16:creationId xmlns:a16="http://schemas.microsoft.com/office/drawing/2014/main" id="{3935C48A-FDCF-4729-8DD6-4635C728826A}"/>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48</a:t>
            </a:r>
          </a:p>
        </p:txBody>
      </p:sp>
    </p:spTree>
    <p:extLst>
      <p:ext uri="{BB962C8B-B14F-4D97-AF65-F5344CB8AC3E}">
        <p14:creationId xmlns:p14="http://schemas.microsoft.com/office/powerpoint/2010/main" val="684076887"/>
      </p:ext>
    </p:extLst>
  </p:cSld>
</p:sld>
</file>

<file path=ppt/slides/slide49.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9ADB0025-DEE0-402E-93F6-3BD86CB47A75}"/>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DAY 1 · SESSION 3 · 90 MINUTES</a:t>
            </a:r>
          </a:p>
        </p:txBody>
      </p:sp>
      <p:sp>
        <p:nvSpPr>
          <p:cNvPr id="2" name="text">
            <a:extLst xmlns:a="http://schemas.openxmlformats.org/drawingml/2006/main">
              <a:ext uri="{FF2B5EF4-FFF2-40B4-BE49-F238E27FC236}">
                <a16:creationId xmlns:a16="http://schemas.microsoft.com/office/drawing/2014/main" id="{9951FBC4-A40E-4D91-80D4-C92585E7F556}"/>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Test three cases before you call it done.</a:t>
            </a:r>
          </a:p>
        </p:txBody>
      </p:sp>
      <p:sp>
        <p:nvSpPr>
          <p:cNvPr id="3" name="flow-node">
            <a:extLst xmlns:a="http://schemas.openxmlformats.org/drawingml/2006/main">
              <a:ext uri="{FF2B5EF4-FFF2-40B4-BE49-F238E27FC236}">
                <a16:creationId xmlns:a16="http://schemas.microsoft.com/office/drawing/2014/main" id="{3317E784-B917-41B4-84EC-1C4BB43EB80C}"/>
              </a:ext>
            </a:extLst>
          </p:cNvPr>
          <p:cNvSpPr>
            <a:spLocks xmlns:a="http://schemas.openxmlformats.org/drawingml/2006/main" noGrp="1"/>
          </p:cNvSpPr>
          <p:nvPr/>
        </p:nvSpPr>
        <p:spPr>
          <a:xfrm xmlns:a="http://schemas.openxmlformats.org/drawingml/2006/main">
            <a:off x="609600"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Normal input</a:t>
            </a:r>
          </a:p>
        </p:txBody>
      </p:sp>
      <p:sp>
        <p:nvSpPr>
          <p:cNvPr id="4" name="flow-node">
            <a:extLst xmlns:a="http://schemas.openxmlformats.org/drawingml/2006/main">
              <a:ext uri="{FF2B5EF4-FFF2-40B4-BE49-F238E27FC236}">
                <a16:creationId xmlns:a16="http://schemas.microsoft.com/office/drawing/2014/main" id="{BEA1BFB9-29AC-4C91-97D7-B42600380919}"/>
              </a:ext>
            </a:extLst>
          </p:cNvPr>
          <p:cNvSpPr>
            <a:spLocks xmlns:a="http://schemas.openxmlformats.org/drawingml/2006/main" noGrp="1"/>
          </p:cNvSpPr>
          <p:nvPr/>
        </p:nvSpPr>
        <p:spPr>
          <a:xfrm xmlns:a="http://schemas.openxmlformats.org/drawingml/2006/main">
            <a:off x="3424238"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Edge or bad input</a:t>
            </a:r>
          </a:p>
        </p:txBody>
      </p:sp>
      <p:sp>
        <p:nvSpPr>
          <p:cNvPr id="5" name="flow-node">
            <a:extLst xmlns:a="http://schemas.openxmlformats.org/drawingml/2006/main">
              <a:ext uri="{FF2B5EF4-FFF2-40B4-BE49-F238E27FC236}">
                <a16:creationId xmlns:a16="http://schemas.microsoft.com/office/drawing/2014/main" id="{0B5A4FC1-DBBF-4507-87F3-2CE02C84B5ED}"/>
              </a:ext>
            </a:extLst>
          </p:cNvPr>
          <p:cNvSpPr>
            <a:spLocks xmlns:a="http://schemas.openxmlformats.org/drawingml/2006/main" noGrp="1"/>
          </p:cNvSpPr>
          <p:nvPr/>
        </p:nvSpPr>
        <p:spPr>
          <a:xfrm xmlns:a="http://schemas.openxmlformats.org/drawingml/2006/main">
            <a:off x="6238875"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Changed scenario</a:t>
            </a:r>
          </a:p>
        </p:txBody>
      </p:sp>
      <p:sp>
        <p:nvSpPr>
          <p:cNvPr id="6" name="flow-node">
            <a:extLst xmlns:a="http://schemas.openxmlformats.org/drawingml/2006/main">
              <a:ext uri="{FF2B5EF4-FFF2-40B4-BE49-F238E27FC236}">
                <a16:creationId xmlns:a16="http://schemas.microsoft.com/office/drawing/2014/main" id="{E349780E-7C8B-4512-97C6-4B727314A1A1}"/>
              </a:ext>
            </a:extLst>
          </p:cNvPr>
          <p:cNvSpPr>
            <a:spLocks xmlns:a="http://schemas.openxmlformats.org/drawingml/2006/main" noGrp="1"/>
          </p:cNvSpPr>
          <p:nvPr/>
        </p:nvSpPr>
        <p:spPr>
          <a:xfrm xmlns:a="http://schemas.openxmlformats.org/drawingml/2006/main">
            <a:off x="9053513"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Compare evidence</a:t>
            </a:r>
          </a:p>
        </p:txBody>
      </p:sp>
      <p:cxnSp>
        <p:nvCxnSpPr>
          <p:cNvPr id="20" name=""/>
          <p:cNvCxnSpPr>
            <a:stCxn xmlns:a="http://schemas.openxmlformats.org/drawingml/2006/main" id="3" idx="3"/>
            <a:endCxn xmlns:a="http://schemas.openxmlformats.org/drawingml/2006/main" id="4" idx="1"/>
          </p:cNvCxnSpPr>
          <p:nvPr/>
        </p:nvCxnSpPr>
        <p:spPr>
          <a:xfrm xmlns:a="http://schemas.openxmlformats.org/drawingml/2006/main">
            <a:off x="3138488"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1" name=""/>
          <p:cNvCxnSpPr>
            <a:stCxn xmlns:a="http://schemas.openxmlformats.org/drawingml/2006/main" id="4" idx="3"/>
            <a:endCxn xmlns:a="http://schemas.openxmlformats.org/drawingml/2006/main" id="5" idx="1"/>
          </p:cNvCxnSpPr>
          <p:nvPr/>
        </p:nvCxnSpPr>
        <p:spPr>
          <a:xfrm xmlns:a="http://schemas.openxmlformats.org/drawingml/2006/main">
            <a:off x="5953126" y="3390900"/>
            <a:ext cx="285749"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2" name=""/>
          <p:cNvCxnSpPr>
            <a:stCxn xmlns:a="http://schemas.openxmlformats.org/drawingml/2006/main" id="5" idx="3"/>
            <a:endCxn xmlns:a="http://schemas.openxmlformats.org/drawingml/2006/main" id="6" idx="1"/>
          </p:cNvCxnSpPr>
          <p:nvPr/>
        </p:nvCxnSpPr>
        <p:spPr>
          <a:xfrm xmlns:a="http://schemas.openxmlformats.org/drawingml/2006/main">
            <a:off x="8767763"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sp>
        <p:nvSpPr>
          <p:cNvPr id="10" name="text">
            <a:extLst xmlns:a="http://schemas.openxmlformats.org/drawingml/2006/main">
              <a:ext uri="{FF2B5EF4-FFF2-40B4-BE49-F238E27FC236}">
                <a16:creationId xmlns:a16="http://schemas.microsoft.com/office/drawing/2014/main" id="{0C4272DE-2040-4DAB-B274-B6E9480A999E}"/>
              </a:ext>
            </a:extLst>
          </p:cNvPr>
          <p:cNvSpPr>
            <a:spLocks xmlns:a="http://schemas.openxmlformats.org/drawingml/2006/main" noGrp="1"/>
          </p:cNvSpPr>
          <p:nvPr/>
        </p:nvSpPr>
        <p:spPr>
          <a:xfrm xmlns:a="http://schemas.openxmlformats.org/drawingml/2006/main">
            <a:off x="609600" y="50673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DFBF"/>
                </a:solidFill>
                <a:latin typeface="Aptos"/>
                <a:ea typeface="Aptos"/>
                <a:cs typeface="Aptos"/>
              </a:defRPr>
            </a:pPr>
            <a:r>
              <a:rPr sz="1800" b="0">
                <a:solidFill>
                  <a:srgbClr val="61DFBF"/>
                </a:solidFill>
                <a:latin typeface="Aptos"/>
                <a:ea typeface="Aptos"/>
                <a:cs typeface="Aptos"/>
              </a:rPr>
              <a:t>Save the input, expected result, actual result and limitation.</a:t>
            </a:r>
          </a:p>
        </p:txBody>
      </p:sp>
      <p:sp>
        <p:nvSpPr>
          <p:cNvPr id="11" name="shape">
            <a:extLst xmlns:a="http://schemas.openxmlformats.org/drawingml/2006/main">
              <a:ext uri="{FF2B5EF4-FFF2-40B4-BE49-F238E27FC236}">
                <a16:creationId xmlns:a16="http://schemas.microsoft.com/office/drawing/2014/main" id="{883207C2-B8C5-437F-A1E8-D1131AA7C248}"/>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EE2FDF95-2F94-48E8-A7A5-0E9F21E806FF}"/>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13" name="text">
            <a:extLst xmlns:a="http://schemas.openxmlformats.org/drawingml/2006/main">
              <a:ext uri="{FF2B5EF4-FFF2-40B4-BE49-F238E27FC236}">
                <a16:creationId xmlns:a16="http://schemas.microsoft.com/office/drawing/2014/main" id="{21BB6047-CD46-4A04-B398-9F9A5F69085E}"/>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49</a:t>
            </a:r>
          </a:p>
        </p:txBody>
      </p:sp>
    </p:spTree>
    <p:extLst>
      <p:ext uri="{BB962C8B-B14F-4D97-AF65-F5344CB8AC3E}">
        <p14:creationId xmlns:p14="http://schemas.microsoft.com/office/powerpoint/2010/main" val="940034665"/>
      </p:ext>
    </p:extLst>
  </p:cSld>
</p:sld>
</file>

<file path=ppt/slides/slide50.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6" name="text">
            <a:extLst xmlns:a="http://schemas.openxmlformats.org/drawingml/2006/main">
              <a:ext uri="{FF2B5EF4-FFF2-40B4-BE49-F238E27FC236}">
                <a16:creationId xmlns:a16="http://schemas.microsoft.com/office/drawing/2014/main" id="{7532E57C-3D55-4F3E-97FB-8153C4CFE242}"/>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DAY 1 · SESSION 3 · 90 MINUTES</a:t>
            </a:r>
          </a:p>
        </p:txBody>
      </p:sp>
      <p:sp>
        <p:nvSpPr>
          <p:cNvPr id="2" name="text">
            <a:extLst xmlns:a="http://schemas.openxmlformats.org/drawingml/2006/main">
              <a:ext uri="{FF2B5EF4-FFF2-40B4-BE49-F238E27FC236}">
                <a16:creationId xmlns:a16="http://schemas.microsoft.com/office/drawing/2014/main" id="{6EBC98A3-B6A6-494D-BFDD-B7984800AD04}"/>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Checkpoint 3: explain your specialist’s change.</a:t>
            </a:r>
          </a:p>
        </p:txBody>
      </p:sp>
      <p:sp>
        <p:nvSpPr>
          <p:cNvPr id="3" name="text">
            <a:extLst xmlns:a="http://schemas.openxmlformats.org/drawingml/2006/main">
              <a:ext uri="{FF2B5EF4-FFF2-40B4-BE49-F238E27FC236}">
                <a16:creationId xmlns:a16="http://schemas.microsoft.com/office/drawing/2014/main" id="{8931C732-605D-41EC-B1A0-FD78F1BAEAF8}"/>
              </a:ext>
            </a:extLst>
          </p:cNvPr>
          <p:cNvSpPr>
            <a:spLocks xmlns:a="http://schemas.openxmlformats.org/drawingml/2006/main" noGrp="1"/>
          </p:cNvSpPr>
          <p:nvPr/>
        </p:nvSpPr>
        <p:spPr>
          <a:xfrm xmlns:a="http://schemas.openxmlformats.org/drawingml/2006/main">
            <a:off x="609600" y="221932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01</a:t>
            </a:r>
          </a:p>
        </p:txBody>
      </p:sp>
      <p:sp>
        <p:nvSpPr>
          <p:cNvPr id="4" name="text">
            <a:extLst xmlns:a="http://schemas.openxmlformats.org/drawingml/2006/main">
              <a:ext uri="{FF2B5EF4-FFF2-40B4-BE49-F238E27FC236}">
                <a16:creationId xmlns:a16="http://schemas.microsoft.com/office/drawing/2014/main" id="{5D398C5C-5137-4D74-929B-DFD2676FE3D5}"/>
              </a:ext>
            </a:extLst>
          </p:cNvPr>
          <p:cNvSpPr>
            <a:spLocks xmlns:a="http://schemas.openxmlformats.org/drawingml/2006/main" noGrp="1"/>
          </p:cNvSpPr>
          <p:nvPr/>
        </p:nvSpPr>
        <p:spPr>
          <a:xfrm xmlns:a="http://schemas.openxmlformats.org/drawingml/2006/main">
            <a:off x="1314450" y="2190750"/>
            <a:ext cx="1026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Show the single input you changed.</a:t>
            </a:r>
          </a:p>
        </p:txBody>
      </p:sp>
      <p:sp>
        <p:nvSpPr>
          <p:cNvPr id="5" name="text">
            <a:extLst xmlns:a="http://schemas.openxmlformats.org/drawingml/2006/main">
              <a:ext uri="{FF2B5EF4-FFF2-40B4-BE49-F238E27FC236}">
                <a16:creationId xmlns:a16="http://schemas.microsoft.com/office/drawing/2014/main" id="{9A8AEF3E-1A9F-4D68-8F7E-1B7EE116EE9C}"/>
              </a:ext>
            </a:extLst>
          </p:cNvPr>
          <p:cNvSpPr>
            <a:spLocks xmlns:a="http://schemas.openxmlformats.org/drawingml/2006/main" noGrp="1"/>
          </p:cNvSpPr>
          <p:nvPr/>
        </p:nvSpPr>
        <p:spPr>
          <a:xfrm xmlns:a="http://schemas.openxmlformats.org/drawingml/2006/main">
            <a:off x="609600" y="29146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02</a:t>
            </a:r>
          </a:p>
        </p:txBody>
      </p:sp>
      <p:sp>
        <p:nvSpPr>
          <p:cNvPr id="6" name="text">
            <a:extLst xmlns:a="http://schemas.openxmlformats.org/drawingml/2006/main">
              <a:ext uri="{FF2B5EF4-FFF2-40B4-BE49-F238E27FC236}">
                <a16:creationId xmlns:a16="http://schemas.microsoft.com/office/drawing/2014/main" id="{008B1FEF-1A5C-4527-B377-4F635C9D332C}"/>
              </a:ext>
            </a:extLst>
          </p:cNvPr>
          <p:cNvSpPr>
            <a:spLocks xmlns:a="http://schemas.openxmlformats.org/drawingml/2006/main" noGrp="1"/>
          </p:cNvSpPr>
          <p:nvPr/>
        </p:nvSpPr>
        <p:spPr>
          <a:xfrm xmlns:a="http://schemas.openxmlformats.org/drawingml/2006/main">
            <a:off x="1314450" y="2886075"/>
            <a:ext cx="1026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Name the tool that used it.</a:t>
            </a:r>
          </a:p>
        </p:txBody>
      </p:sp>
      <p:sp>
        <p:nvSpPr>
          <p:cNvPr id="7" name="text">
            <a:extLst xmlns:a="http://schemas.openxmlformats.org/drawingml/2006/main">
              <a:ext uri="{FF2B5EF4-FFF2-40B4-BE49-F238E27FC236}">
                <a16:creationId xmlns:a16="http://schemas.microsoft.com/office/drawing/2014/main" id="{BB24D7CD-4C4A-4658-8025-5E525D895150}"/>
              </a:ext>
            </a:extLst>
          </p:cNvPr>
          <p:cNvSpPr>
            <a:spLocks xmlns:a="http://schemas.openxmlformats.org/drawingml/2006/main" noGrp="1"/>
          </p:cNvSpPr>
          <p:nvPr/>
        </p:nvSpPr>
        <p:spPr>
          <a:xfrm xmlns:a="http://schemas.openxmlformats.org/drawingml/2006/main">
            <a:off x="609600" y="360997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03</a:t>
            </a:r>
          </a:p>
        </p:txBody>
      </p:sp>
      <p:sp>
        <p:nvSpPr>
          <p:cNvPr id="8" name="text">
            <a:extLst xmlns:a="http://schemas.openxmlformats.org/drawingml/2006/main">
              <a:ext uri="{FF2B5EF4-FFF2-40B4-BE49-F238E27FC236}">
                <a16:creationId xmlns:a16="http://schemas.microsoft.com/office/drawing/2014/main" id="{118F3C7A-FAE1-4C25-A700-F2B72557667C}"/>
              </a:ext>
            </a:extLst>
          </p:cNvPr>
          <p:cNvSpPr>
            <a:spLocks xmlns:a="http://schemas.openxmlformats.org/drawingml/2006/main" noGrp="1"/>
          </p:cNvSpPr>
          <p:nvPr/>
        </p:nvSpPr>
        <p:spPr>
          <a:xfrm xmlns:a="http://schemas.openxmlformats.org/drawingml/2006/main">
            <a:off x="1314450" y="3581400"/>
            <a:ext cx="1026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Compare one before-and-after metric.</a:t>
            </a:r>
          </a:p>
        </p:txBody>
      </p:sp>
      <p:sp>
        <p:nvSpPr>
          <p:cNvPr id="9" name="text">
            <a:extLst xmlns:a="http://schemas.openxmlformats.org/drawingml/2006/main">
              <a:ext uri="{FF2B5EF4-FFF2-40B4-BE49-F238E27FC236}">
                <a16:creationId xmlns:a16="http://schemas.microsoft.com/office/drawing/2014/main" id="{D6F52B32-BD04-4461-A6F9-0CDEEFAF0A29}"/>
              </a:ext>
            </a:extLst>
          </p:cNvPr>
          <p:cNvSpPr>
            <a:spLocks xmlns:a="http://schemas.openxmlformats.org/drawingml/2006/main" noGrp="1"/>
          </p:cNvSpPr>
          <p:nvPr/>
        </p:nvSpPr>
        <p:spPr>
          <a:xfrm xmlns:a="http://schemas.openxmlformats.org/drawingml/2006/main">
            <a:off x="609600" y="43053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04</a:t>
            </a:r>
          </a:p>
        </p:txBody>
      </p:sp>
      <p:sp>
        <p:nvSpPr>
          <p:cNvPr id="10" name="text">
            <a:extLst xmlns:a="http://schemas.openxmlformats.org/drawingml/2006/main">
              <a:ext uri="{FF2B5EF4-FFF2-40B4-BE49-F238E27FC236}">
                <a16:creationId xmlns:a16="http://schemas.microsoft.com/office/drawing/2014/main" id="{AAF4E775-946A-4018-AE85-201FD3CE5D67}"/>
              </a:ext>
            </a:extLst>
          </p:cNvPr>
          <p:cNvSpPr>
            <a:spLocks xmlns:a="http://schemas.openxmlformats.org/drawingml/2006/main" noGrp="1"/>
          </p:cNvSpPr>
          <p:nvPr/>
        </p:nvSpPr>
        <p:spPr>
          <a:xfrm xmlns:a="http://schemas.openxmlformats.org/drawingml/2006/main">
            <a:off x="1314450" y="4276725"/>
            <a:ext cx="1026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State one assumption or limitation.</a:t>
            </a:r>
          </a:p>
        </p:txBody>
      </p:sp>
      <p:sp>
        <p:nvSpPr>
          <p:cNvPr id="11" name="text">
            <a:extLst xmlns:a="http://schemas.openxmlformats.org/drawingml/2006/main">
              <a:ext uri="{FF2B5EF4-FFF2-40B4-BE49-F238E27FC236}">
                <a16:creationId xmlns:a16="http://schemas.microsoft.com/office/drawing/2014/main" id="{87A2B411-464B-4318-9699-DC9B0C7CF3A1}"/>
              </a:ext>
            </a:extLst>
          </p:cNvPr>
          <p:cNvSpPr>
            <a:spLocks xmlns:a="http://schemas.openxmlformats.org/drawingml/2006/main" noGrp="1"/>
          </p:cNvSpPr>
          <p:nvPr/>
        </p:nvSpPr>
        <p:spPr>
          <a:xfrm xmlns:a="http://schemas.openxmlformats.org/drawingml/2006/main">
            <a:off x="609600" y="500062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05</a:t>
            </a:r>
          </a:p>
        </p:txBody>
      </p:sp>
      <p:sp>
        <p:nvSpPr>
          <p:cNvPr id="12" name="text">
            <a:extLst xmlns:a="http://schemas.openxmlformats.org/drawingml/2006/main">
              <a:ext uri="{FF2B5EF4-FFF2-40B4-BE49-F238E27FC236}">
                <a16:creationId xmlns:a16="http://schemas.microsoft.com/office/drawing/2014/main" id="{9BC572C8-9AF3-4CDC-8339-61447C322819}"/>
              </a:ext>
            </a:extLst>
          </p:cNvPr>
          <p:cNvSpPr>
            <a:spLocks xmlns:a="http://schemas.openxmlformats.org/drawingml/2006/main" noGrp="1"/>
          </p:cNvSpPr>
          <p:nvPr/>
        </p:nvSpPr>
        <p:spPr>
          <a:xfrm xmlns:a="http://schemas.openxmlformats.org/drawingml/2006/main">
            <a:off x="1314450" y="4972050"/>
            <a:ext cx="1026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Restore the baseline when you finish.</a:t>
            </a:r>
          </a:p>
        </p:txBody>
      </p:sp>
      <p:sp>
        <p:nvSpPr>
          <p:cNvPr id="13" name="shape">
            <a:extLst xmlns:a="http://schemas.openxmlformats.org/drawingml/2006/main">
              <a:ext uri="{FF2B5EF4-FFF2-40B4-BE49-F238E27FC236}">
                <a16:creationId xmlns:a16="http://schemas.microsoft.com/office/drawing/2014/main" id="{6F6B07DA-8AB5-4CF1-ACBA-49F2AA2BC081}"/>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70068B38-05B5-4CE1-A426-17D219DE8C18}"/>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15" name="text">
            <a:extLst xmlns:a="http://schemas.openxmlformats.org/drawingml/2006/main">
              <a:ext uri="{FF2B5EF4-FFF2-40B4-BE49-F238E27FC236}">
                <a16:creationId xmlns:a16="http://schemas.microsoft.com/office/drawing/2014/main" id="{D423CDC3-783E-4EA5-82AD-A2A36978F7B0}"/>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50</a:t>
            </a:r>
          </a:p>
        </p:txBody>
      </p:sp>
    </p:spTree>
    <p:extLst>
      <p:ext uri="{BB962C8B-B14F-4D97-AF65-F5344CB8AC3E}">
        <p14:creationId xmlns:p14="http://schemas.microsoft.com/office/powerpoint/2010/main" val="948765776"/>
      </p:ext>
    </p:extLst>
  </p:cSld>
</p:sld>
</file>

<file path=ppt/slides/slide51.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FB3A2FA8-F88E-4354-9C29-F88F6AA25A80}"/>
              </a:ext>
            </a:extLst>
          </p:cNvPr>
          <p:cNvSpPr>
            <a:spLocks xmlns:a="http://schemas.openxmlformats.org/drawingml/2006/main" noGrp="1"/>
          </p:cNvSpPr>
          <p:nvPr/>
        </p:nvSpPr>
        <p:spPr>
          <a:xfrm xmlns:a="http://schemas.openxmlformats.org/drawingml/2006/main">
            <a:off x="609600" y="4000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DAY 1 · SESSION 4 · 90 MINUTES</a:t>
            </a:r>
          </a:p>
        </p:txBody>
      </p:sp>
      <p:sp>
        <p:nvSpPr>
          <p:cNvPr id="2" name="text">
            <a:extLst xmlns:a="http://schemas.openxmlformats.org/drawingml/2006/main">
              <a:ext uri="{FF2B5EF4-FFF2-40B4-BE49-F238E27FC236}">
                <a16:creationId xmlns:a16="http://schemas.microsoft.com/office/drawing/2014/main" id="{3B79F893-79FA-4025-80E7-836DFCB8ACC5}"/>
              </a:ext>
            </a:extLst>
          </p:cNvPr>
          <p:cNvSpPr>
            <a:spLocks xmlns:a="http://schemas.openxmlformats.org/drawingml/2006/main" noGrp="1"/>
          </p:cNvSpPr>
          <p:nvPr/>
        </p:nvSpPr>
        <p:spPr>
          <a:xfrm xmlns:a="http://schemas.openxmlformats.org/drawingml/2006/main">
            <a:off x="8096250" y="1143000"/>
            <a:ext cx="38100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250" b="1">
                <a:solidFill>
                  <a:srgbClr val="173946"/>
                </a:solidFill>
                <a:latin typeface="Aptos"/>
                <a:ea typeface="Aptos"/>
                <a:cs typeface="Aptos"/>
              </a:defRPr>
            </a:pPr>
            <a:r>
              <a:rPr sz="5250" b="1">
                <a:solidFill>
                  <a:srgbClr val="173946"/>
                </a:solidFill>
                <a:latin typeface="Aptos"/>
                <a:ea typeface="Aptos"/>
                <a:cs typeface="Aptos"/>
              </a:rPr>
              <a:t>SESSION</a:t>
            </a:r>
          </a:p>
          <a:p xmlns:a="http://schemas.openxmlformats.org/drawingml/2006/main">
            <a:pPr>
              <a:defRPr sz="5250" b="1">
                <a:solidFill>
                  <a:srgbClr val="173946"/>
                </a:solidFill>
                <a:latin typeface="Aptos"/>
                <a:ea typeface="Aptos"/>
                <a:cs typeface="Aptos"/>
              </a:defRPr>
            </a:pPr>
            <a:r>
              <a:rPr sz="5250" b="1">
                <a:solidFill>
                  <a:srgbClr val="173946"/>
                </a:solidFill>
                <a:latin typeface="Aptos"/>
                <a:ea typeface="Aptos"/>
                <a:cs typeface="Aptos"/>
              </a:rPr>
              <a:t>04</a:t>
            </a:r>
          </a:p>
        </p:txBody>
      </p:sp>
      <p:sp>
        <p:nvSpPr>
          <p:cNvPr id="3" name="text">
            <a:extLst xmlns:a="http://schemas.openxmlformats.org/drawingml/2006/main">
              <a:ext uri="{FF2B5EF4-FFF2-40B4-BE49-F238E27FC236}">
                <a16:creationId xmlns:a16="http://schemas.microsoft.com/office/drawing/2014/main" id="{2B7306B7-0329-4FC3-8FA7-342C680BBB39}"/>
              </a:ext>
            </a:extLst>
          </p:cNvPr>
          <p:cNvSpPr>
            <a:spLocks xmlns:a="http://schemas.openxmlformats.org/drawingml/2006/main" noGrp="1"/>
          </p:cNvSpPr>
          <p:nvPr/>
        </p:nvSpPr>
        <p:spPr>
          <a:xfrm xmlns:a="http://schemas.openxmlformats.org/drawingml/2006/main">
            <a:off x="609600" y="1438275"/>
            <a:ext cx="738187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650" b="1">
                <a:solidFill>
                  <a:srgbClr val="EDF5F1"/>
                </a:solidFill>
                <a:latin typeface="Aptos"/>
                <a:ea typeface="Aptos"/>
                <a:cs typeface="Aptos"/>
              </a:defRPr>
            </a:pPr>
            <a:r>
              <a:rPr sz="4650" b="1">
                <a:solidFill>
                  <a:srgbClr val="EDF5F1"/>
                </a:solidFill>
                <a:latin typeface="Aptos"/>
                <a:ea typeface="Aptos"/>
                <a:cs typeface="Aptos"/>
              </a:rPr>
              <a:t>Give your agents richer evidence.</a:t>
            </a:r>
          </a:p>
        </p:txBody>
      </p:sp>
      <p:sp>
        <p:nvSpPr>
          <p:cNvPr id="4" name="text">
            <a:extLst xmlns:a="http://schemas.openxmlformats.org/drawingml/2006/main">
              <a:ext uri="{FF2B5EF4-FFF2-40B4-BE49-F238E27FC236}">
                <a16:creationId xmlns:a16="http://schemas.microsoft.com/office/drawing/2014/main" id="{54C3C960-6F6A-4CE7-9280-EEA40DDADFB3}"/>
              </a:ext>
            </a:extLst>
          </p:cNvPr>
          <p:cNvSpPr>
            <a:spLocks xmlns:a="http://schemas.openxmlformats.org/drawingml/2006/main" noGrp="1"/>
          </p:cNvSpPr>
          <p:nvPr/>
        </p:nvSpPr>
        <p:spPr>
          <a:xfrm xmlns:a="http://schemas.openxmlformats.org/drawingml/2006/main">
            <a:off x="609600" y="4000500"/>
            <a:ext cx="723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0">
                <a:solidFill>
                  <a:srgbClr val="61DFBF"/>
                </a:solidFill>
                <a:latin typeface="Aptos"/>
                <a:ea typeface="Aptos"/>
                <a:cs typeface="Aptos"/>
              </a:defRPr>
            </a:pPr>
            <a:r>
              <a:rPr sz="2475" b="0">
                <a:solidFill>
                  <a:srgbClr val="61DFBF"/>
                </a:solidFill>
                <a:latin typeface="Aptos"/>
                <a:ea typeface="Aptos"/>
                <a:cs typeface="Aptos"/>
              </a:rPr>
              <a:t>90 minutes to learn, build,</a:t>
            </a:r>
          </a:p>
          <a:p xmlns:a="http://schemas.openxmlformats.org/drawingml/2006/main">
            <a:pPr>
              <a:defRPr sz="2475" b="0">
                <a:solidFill>
                  <a:srgbClr val="61DFBF"/>
                </a:solidFill>
                <a:latin typeface="Aptos"/>
                <a:ea typeface="Aptos"/>
                <a:cs typeface="Aptos"/>
              </a:defRPr>
            </a:pPr>
            <a:r>
              <a:rPr sz="2475" b="0">
                <a:solidFill>
                  <a:srgbClr val="61DFBF"/>
                </a:solidFill>
                <a:latin typeface="Aptos"/>
                <a:ea typeface="Aptos"/>
                <a:cs typeface="Aptos"/>
              </a:rPr>
              <a:t>test and explain.</a:t>
            </a:r>
          </a:p>
        </p:txBody>
      </p:sp>
      <p:sp>
        <p:nvSpPr>
          <p:cNvPr id="5" name="text">
            <a:extLst xmlns:a="http://schemas.openxmlformats.org/drawingml/2006/main">
              <a:ext uri="{FF2B5EF4-FFF2-40B4-BE49-F238E27FC236}">
                <a16:creationId xmlns:a16="http://schemas.microsoft.com/office/drawing/2014/main" id="{A251DC7E-6321-42EE-B621-1EA902593FD8}"/>
              </a:ext>
            </a:extLst>
          </p:cNvPr>
          <p:cNvSpPr>
            <a:spLocks xmlns:a="http://schemas.openxmlformats.org/drawingml/2006/main" noGrp="1"/>
          </p:cNvSpPr>
          <p:nvPr/>
        </p:nvSpPr>
        <p:spPr>
          <a:xfrm xmlns:a="http://schemas.openxmlformats.org/drawingml/2006/main">
            <a:off x="609600" y="58102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DFBF"/>
                </a:solidFill>
                <a:latin typeface="Aptos"/>
                <a:ea typeface="Aptos"/>
                <a:cs typeface="Aptos"/>
              </a:defRPr>
            </a:pPr>
            <a:r>
              <a:rPr sz="1800" b="0">
                <a:solidFill>
                  <a:srgbClr val="61DFBF"/>
                </a:solidFill>
                <a:latin typeface="Aptos"/>
                <a:ea typeface="Aptos"/>
                <a:cs typeface="Aptos"/>
              </a:rPr>
              <a:t>Deliverable: one documented multimodal test and saved evidence.</a:t>
            </a:r>
          </a:p>
        </p:txBody>
      </p:sp>
      <p:sp>
        <p:nvSpPr>
          <p:cNvPr id="6" name="shape">
            <a:extLst xmlns:a="http://schemas.openxmlformats.org/drawingml/2006/main">
              <a:ext uri="{FF2B5EF4-FFF2-40B4-BE49-F238E27FC236}">
                <a16:creationId xmlns:a16="http://schemas.microsoft.com/office/drawing/2014/main" id="{C8698D88-B183-46A8-B3ED-813D9FC43AD7}"/>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45EC1225-7724-464D-8AC1-DB1EB8509F23}"/>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8" name="text">
            <a:extLst xmlns:a="http://schemas.openxmlformats.org/drawingml/2006/main">
              <a:ext uri="{FF2B5EF4-FFF2-40B4-BE49-F238E27FC236}">
                <a16:creationId xmlns:a16="http://schemas.microsoft.com/office/drawing/2014/main" id="{38497336-5505-46C5-83A9-0A5DE808FDDF}"/>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51</a:t>
            </a:r>
          </a:p>
        </p:txBody>
      </p:sp>
    </p:spTree>
    <p:extLst>
      <p:ext uri="{BB962C8B-B14F-4D97-AF65-F5344CB8AC3E}">
        <p14:creationId xmlns:p14="http://schemas.microsoft.com/office/powerpoint/2010/main" val="855640166"/>
      </p:ext>
    </p:extLst>
  </p:cSld>
</p:sld>
</file>

<file path=ppt/slides/slide52.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152E84A8-6C84-4C7D-A9E6-3A25ADB7DF7A}"/>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DAY 1 · SESSION 4 · 90 MINUTES</a:t>
            </a:r>
          </a:p>
        </p:txBody>
      </p:sp>
      <p:sp>
        <p:nvSpPr>
          <p:cNvPr id="2" name="text">
            <a:extLst xmlns:a="http://schemas.openxmlformats.org/drawingml/2006/main">
              <a:ext uri="{FF2B5EF4-FFF2-40B4-BE49-F238E27FC236}">
                <a16:creationId xmlns:a16="http://schemas.microsoft.com/office/drawing/2014/main" id="{DC2BFF35-4B16-4978-8B66-3A205E366255}"/>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Multimodal means more than typed words.</a:t>
            </a:r>
          </a:p>
        </p:txBody>
      </p:sp>
      <p:sp>
        <p:nvSpPr>
          <p:cNvPr id="3" name="flow-node">
            <a:extLst xmlns:a="http://schemas.openxmlformats.org/drawingml/2006/main">
              <a:ext uri="{FF2B5EF4-FFF2-40B4-BE49-F238E27FC236}">
                <a16:creationId xmlns:a16="http://schemas.microsoft.com/office/drawing/2014/main" id="{6BB42ACE-230B-4874-9943-CA2232A0CC71}"/>
              </a:ext>
            </a:extLst>
          </p:cNvPr>
          <p:cNvSpPr>
            <a:spLocks xmlns:a="http://schemas.openxmlformats.org/drawingml/2006/main" noGrp="1"/>
          </p:cNvSpPr>
          <p:nvPr/>
        </p:nvSpPr>
        <p:spPr>
          <a:xfrm xmlns:a="http://schemas.openxmlformats.org/drawingml/2006/main">
            <a:off x="609600"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Image or audio</a:t>
            </a:r>
          </a:p>
        </p:txBody>
      </p:sp>
      <p:sp>
        <p:nvSpPr>
          <p:cNvPr id="4" name="flow-node">
            <a:extLst xmlns:a="http://schemas.openxmlformats.org/drawingml/2006/main">
              <a:ext uri="{FF2B5EF4-FFF2-40B4-BE49-F238E27FC236}">
                <a16:creationId xmlns:a16="http://schemas.microsoft.com/office/drawing/2014/main" id="{22A23EDC-CE4B-482B-ABD8-16917BCF775C}"/>
              </a:ext>
            </a:extLst>
          </p:cNvPr>
          <p:cNvSpPr>
            <a:spLocks xmlns:a="http://schemas.openxmlformats.org/drawingml/2006/main" noGrp="1"/>
          </p:cNvSpPr>
          <p:nvPr/>
        </p:nvSpPr>
        <p:spPr>
          <a:xfrm xmlns:a="http://schemas.openxmlformats.org/drawingml/2006/main">
            <a:off x="3424238"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Extract useful text</a:t>
            </a:r>
          </a:p>
        </p:txBody>
      </p:sp>
      <p:sp>
        <p:nvSpPr>
          <p:cNvPr id="5" name="flow-node">
            <a:extLst xmlns:a="http://schemas.openxmlformats.org/drawingml/2006/main">
              <a:ext uri="{FF2B5EF4-FFF2-40B4-BE49-F238E27FC236}">
                <a16:creationId xmlns:a16="http://schemas.microsoft.com/office/drawing/2014/main" id="{3D12C7DD-E63C-452C-A63C-CDF846B227A3}"/>
              </a:ext>
            </a:extLst>
          </p:cNvPr>
          <p:cNvSpPr>
            <a:spLocks xmlns:a="http://schemas.openxmlformats.org/drawingml/2006/main" noGrp="1"/>
          </p:cNvSpPr>
          <p:nvPr/>
        </p:nvSpPr>
        <p:spPr>
          <a:xfrm xmlns:a="http://schemas.openxmlformats.org/drawingml/2006/main">
            <a:off x="6238875"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Review the source</a:t>
            </a:r>
          </a:p>
        </p:txBody>
      </p:sp>
      <p:sp>
        <p:nvSpPr>
          <p:cNvPr id="6" name="flow-node">
            <a:extLst xmlns:a="http://schemas.openxmlformats.org/drawingml/2006/main">
              <a:ext uri="{FF2B5EF4-FFF2-40B4-BE49-F238E27FC236}">
                <a16:creationId xmlns:a16="http://schemas.microsoft.com/office/drawing/2014/main" id="{6282B952-6900-40D0-B67A-0AA69791F788}"/>
              </a:ext>
            </a:extLst>
          </p:cNvPr>
          <p:cNvSpPr>
            <a:spLocks xmlns:a="http://schemas.openxmlformats.org/drawingml/2006/main" noGrp="1"/>
          </p:cNvSpPr>
          <p:nvPr/>
        </p:nvSpPr>
        <p:spPr>
          <a:xfrm xmlns:a="http://schemas.openxmlformats.org/drawingml/2006/main">
            <a:off x="9053513"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Save cited evidence</a:t>
            </a:r>
          </a:p>
        </p:txBody>
      </p:sp>
      <p:cxnSp>
        <p:nvCxnSpPr>
          <p:cNvPr id="20" name=""/>
          <p:cNvCxnSpPr>
            <a:stCxn xmlns:a="http://schemas.openxmlformats.org/drawingml/2006/main" id="3" idx="3"/>
            <a:endCxn xmlns:a="http://schemas.openxmlformats.org/drawingml/2006/main" id="4" idx="1"/>
          </p:cNvCxnSpPr>
          <p:nvPr/>
        </p:nvCxnSpPr>
        <p:spPr>
          <a:xfrm xmlns:a="http://schemas.openxmlformats.org/drawingml/2006/main">
            <a:off x="3138488"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1" name=""/>
          <p:cNvCxnSpPr>
            <a:stCxn xmlns:a="http://schemas.openxmlformats.org/drawingml/2006/main" id="4" idx="3"/>
            <a:endCxn xmlns:a="http://schemas.openxmlformats.org/drawingml/2006/main" id="5" idx="1"/>
          </p:cNvCxnSpPr>
          <p:nvPr/>
        </p:nvCxnSpPr>
        <p:spPr>
          <a:xfrm xmlns:a="http://schemas.openxmlformats.org/drawingml/2006/main">
            <a:off x="5953126" y="3390900"/>
            <a:ext cx="285749"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2" name=""/>
          <p:cNvCxnSpPr>
            <a:stCxn xmlns:a="http://schemas.openxmlformats.org/drawingml/2006/main" id="5" idx="3"/>
            <a:endCxn xmlns:a="http://schemas.openxmlformats.org/drawingml/2006/main" id="6" idx="1"/>
          </p:cNvCxnSpPr>
          <p:nvPr/>
        </p:nvCxnSpPr>
        <p:spPr>
          <a:xfrm xmlns:a="http://schemas.openxmlformats.org/drawingml/2006/main">
            <a:off x="8767763"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sp>
        <p:nvSpPr>
          <p:cNvPr id="10" name="text">
            <a:extLst xmlns:a="http://schemas.openxmlformats.org/drawingml/2006/main">
              <a:ext uri="{FF2B5EF4-FFF2-40B4-BE49-F238E27FC236}">
                <a16:creationId xmlns:a16="http://schemas.microsoft.com/office/drawing/2014/main" id="{5EBC42F4-69F7-4ABC-97FA-A468587EA452}"/>
              </a:ext>
            </a:extLst>
          </p:cNvPr>
          <p:cNvSpPr>
            <a:spLocks xmlns:a="http://schemas.openxmlformats.org/drawingml/2006/main" noGrp="1"/>
          </p:cNvSpPr>
          <p:nvPr/>
        </p:nvSpPr>
        <p:spPr>
          <a:xfrm xmlns:a="http://schemas.openxmlformats.org/drawingml/2006/main">
            <a:off x="609600" y="50673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DFBF"/>
                </a:solidFill>
                <a:latin typeface="Aptos"/>
                <a:ea typeface="Aptos"/>
                <a:cs typeface="Aptos"/>
              </a:defRPr>
            </a:pPr>
            <a:r>
              <a:rPr sz="1800" b="0">
                <a:solidFill>
                  <a:srgbClr val="61DFBF"/>
                </a:solidFill>
                <a:latin typeface="Aptos"/>
                <a:ea typeface="Aptos"/>
                <a:cs typeface="Aptos"/>
              </a:rPr>
              <a:t>The same review habit applies to every input format.</a:t>
            </a:r>
          </a:p>
        </p:txBody>
      </p:sp>
      <p:sp>
        <p:nvSpPr>
          <p:cNvPr id="11" name="shape">
            <a:extLst xmlns:a="http://schemas.openxmlformats.org/drawingml/2006/main">
              <a:ext uri="{FF2B5EF4-FFF2-40B4-BE49-F238E27FC236}">
                <a16:creationId xmlns:a16="http://schemas.microsoft.com/office/drawing/2014/main" id="{861C674D-685E-418A-AFD0-08B69E74F7EF}"/>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82F0B921-9529-42B2-BB41-B49C848B4BF7}"/>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13" name="text">
            <a:extLst xmlns:a="http://schemas.openxmlformats.org/drawingml/2006/main">
              <a:ext uri="{FF2B5EF4-FFF2-40B4-BE49-F238E27FC236}">
                <a16:creationId xmlns:a16="http://schemas.microsoft.com/office/drawing/2014/main" id="{6E996258-4AF0-4230-86FB-DD52763711D2}"/>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52</a:t>
            </a:r>
          </a:p>
        </p:txBody>
      </p:sp>
    </p:spTree>
    <p:extLst>
      <p:ext uri="{BB962C8B-B14F-4D97-AF65-F5344CB8AC3E}">
        <p14:creationId xmlns:p14="http://schemas.microsoft.com/office/powerpoint/2010/main" val="1196218520"/>
      </p:ext>
    </p:extLst>
  </p:cSld>
</p:sld>
</file>

<file path=ppt/slides/slide53.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B4518D72-9627-4FCE-A1AD-CB759CE49AB8}"/>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DAY 1 · SESSION 4 · 90 MINUTES</a:t>
            </a:r>
          </a:p>
        </p:txBody>
      </p:sp>
      <p:sp>
        <p:nvSpPr>
          <p:cNvPr id="2" name="text">
            <a:extLst xmlns:a="http://schemas.openxmlformats.org/drawingml/2006/main">
              <a:ext uri="{FF2B5EF4-FFF2-40B4-BE49-F238E27FC236}">
                <a16:creationId xmlns:a16="http://schemas.microsoft.com/office/drawing/2014/main" id="{866B1DF2-6CFB-4093-BCAE-18C415B6268B}"/>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Let Gemini read an image, then inspect it.</a:t>
            </a:r>
          </a:p>
        </p:txBody>
      </p:sp>
      <p:sp>
        <p:nvSpPr>
          <p:cNvPr id="3" name="text">
            <a:extLst xmlns:a="http://schemas.openxmlformats.org/drawingml/2006/main">
              <a:ext uri="{FF2B5EF4-FFF2-40B4-BE49-F238E27FC236}">
                <a16:creationId xmlns:a16="http://schemas.microsoft.com/office/drawing/2014/main" id="{BA9875CC-49F6-4273-8375-DEB1076C5007}"/>
              </a:ext>
            </a:extLst>
          </p:cNvPr>
          <p:cNvSpPr>
            <a:spLocks xmlns:a="http://schemas.openxmlformats.org/drawingml/2006/main" noGrp="1"/>
          </p:cNvSpPr>
          <p:nvPr/>
        </p:nvSpPr>
        <p:spPr>
          <a:xfrm xmlns:a="http://schemas.openxmlformats.org/drawingml/2006/main">
            <a:off x="609600" y="221932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01</a:t>
            </a:r>
          </a:p>
        </p:txBody>
      </p:sp>
      <p:sp>
        <p:nvSpPr>
          <p:cNvPr id="4" name="text">
            <a:extLst xmlns:a="http://schemas.openxmlformats.org/drawingml/2006/main">
              <a:ext uri="{FF2B5EF4-FFF2-40B4-BE49-F238E27FC236}">
                <a16:creationId xmlns:a16="http://schemas.microsoft.com/office/drawing/2014/main" id="{101DA5CB-D3AF-41A2-9853-67FF1C11D3A8}"/>
              </a:ext>
            </a:extLst>
          </p:cNvPr>
          <p:cNvSpPr>
            <a:spLocks xmlns:a="http://schemas.openxmlformats.org/drawingml/2006/main" noGrp="1"/>
          </p:cNvSpPr>
          <p:nvPr/>
        </p:nvSpPr>
        <p:spPr>
          <a:xfrm xmlns:a="http://schemas.openxmlformats.org/drawingml/2006/main">
            <a:off x="1314450" y="2190750"/>
            <a:ext cx="10267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Open Memory Vault → Extract image.</a:t>
            </a:r>
          </a:p>
        </p:txBody>
      </p:sp>
      <p:sp>
        <p:nvSpPr>
          <p:cNvPr id="5" name="text">
            <a:extLst xmlns:a="http://schemas.openxmlformats.org/drawingml/2006/main">
              <a:ext uri="{FF2B5EF4-FFF2-40B4-BE49-F238E27FC236}">
                <a16:creationId xmlns:a16="http://schemas.microsoft.com/office/drawing/2014/main" id="{12B3A60D-4E17-489F-A0DE-CB8048E81721}"/>
              </a:ext>
            </a:extLst>
          </p:cNvPr>
          <p:cNvSpPr>
            <a:spLocks xmlns:a="http://schemas.openxmlformats.org/drawingml/2006/main" noGrp="1"/>
          </p:cNvSpPr>
          <p:nvPr/>
        </p:nvSpPr>
        <p:spPr>
          <a:xfrm xmlns:a="http://schemas.openxmlformats.org/drawingml/2006/main">
            <a:off x="609600" y="30480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02</a:t>
            </a:r>
          </a:p>
        </p:txBody>
      </p:sp>
      <p:sp>
        <p:nvSpPr>
          <p:cNvPr id="6" name="text">
            <a:extLst xmlns:a="http://schemas.openxmlformats.org/drawingml/2006/main">
              <a:ext uri="{FF2B5EF4-FFF2-40B4-BE49-F238E27FC236}">
                <a16:creationId xmlns:a16="http://schemas.microsoft.com/office/drawing/2014/main" id="{7830D02D-D700-453E-BE76-4EB1C440905C}"/>
              </a:ext>
            </a:extLst>
          </p:cNvPr>
          <p:cNvSpPr>
            <a:spLocks xmlns:a="http://schemas.openxmlformats.org/drawingml/2006/main" noGrp="1"/>
          </p:cNvSpPr>
          <p:nvPr/>
        </p:nvSpPr>
        <p:spPr>
          <a:xfrm xmlns:a="http://schemas.openxmlformats.org/drawingml/2006/main">
            <a:off x="1314450" y="3019425"/>
            <a:ext cx="10267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Choose a fictional PNG or JPEG under 2 MB.</a:t>
            </a:r>
          </a:p>
        </p:txBody>
      </p:sp>
      <p:sp>
        <p:nvSpPr>
          <p:cNvPr id="7" name="text">
            <a:extLst xmlns:a="http://schemas.openxmlformats.org/drawingml/2006/main">
              <a:ext uri="{FF2B5EF4-FFF2-40B4-BE49-F238E27FC236}">
                <a16:creationId xmlns:a16="http://schemas.microsoft.com/office/drawing/2014/main" id="{93635AAD-C674-4BEA-8658-1F36D41F32BE}"/>
              </a:ext>
            </a:extLst>
          </p:cNvPr>
          <p:cNvSpPr>
            <a:spLocks xmlns:a="http://schemas.openxmlformats.org/drawingml/2006/main" noGrp="1"/>
          </p:cNvSpPr>
          <p:nvPr/>
        </p:nvSpPr>
        <p:spPr>
          <a:xfrm xmlns:a="http://schemas.openxmlformats.org/drawingml/2006/main">
            <a:off x="609600" y="387667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03</a:t>
            </a:r>
          </a:p>
        </p:txBody>
      </p:sp>
      <p:sp>
        <p:nvSpPr>
          <p:cNvPr id="8" name="text">
            <a:extLst xmlns:a="http://schemas.openxmlformats.org/drawingml/2006/main">
              <a:ext uri="{FF2B5EF4-FFF2-40B4-BE49-F238E27FC236}">
                <a16:creationId xmlns:a16="http://schemas.microsoft.com/office/drawing/2014/main" id="{FF6B9344-8D23-4F2B-B8E5-FED6C238904D}"/>
              </a:ext>
            </a:extLst>
          </p:cNvPr>
          <p:cNvSpPr>
            <a:spLocks xmlns:a="http://schemas.openxmlformats.org/drawingml/2006/main" noGrp="1"/>
          </p:cNvSpPr>
          <p:nvPr/>
        </p:nvSpPr>
        <p:spPr>
          <a:xfrm xmlns:a="http://schemas.openxmlformats.org/drawingml/2006/main">
            <a:off x="1314450" y="3848100"/>
            <a:ext cx="10267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Compare every extracted fact with the image.</a:t>
            </a:r>
          </a:p>
        </p:txBody>
      </p:sp>
      <p:sp>
        <p:nvSpPr>
          <p:cNvPr id="9" name="text">
            <a:extLst xmlns:a="http://schemas.openxmlformats.org/drawingml/2006/main">
              <a:ext uri="{FF2B5EF4-FFF2-40B4-BE49-F238E27FC236}">
                <a16:creationId xmlns:a16="http://schemas.microsoft.com/office/drawing/2014/main" id="{8B73C6EB-A4A4-400C-89B4-273FE653BAD3}"/>
              </a:ext>
            </a:extLst>
          </p:cNvPr>
          <p:cNvSpPr>
            <a:spLocks xmlns:a="http://schemas.openxmlformats.org/drawingml/2006/main" noGrp="1"/>
          </p:cNvSpPr>
          <p:nvPr/>
        </p:nvSpPr>
        <p:spPr>
          <a:xfrm xmlns:a="http://schemas.openxmlformats.org/drawingml/2006/main">
            <a:off x="609600" y="47053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04</a:t>
            </a:r>
          </a:p>
        </p:txBody>
      </p:sp>
      <p:sp>
        <p:nvSpPr>
          <p:cNvPr id="10" name="text">
            <a:extLst xmlns:a="http://schemas.openxmlformats.org/drawingml/2006/main">
              <a:ext uri="{FF2B5EF4-FFF2-40B4-BE49-F238E27FC236}">
                <a16:creationId xmlns:a16="http://schemas.microsoft.com/office/drawing/2014/main" id="{37279381-D04D-40DA-AC99-F8D1A18C2191}"/>
              </a:ext>
            </a:extLst>
          </p:cNvPr>
          <p:cNvSpPr>
            <a:spLocks xmlns:a="http://schemas.openxmlformats.org/drawingml/2006/main" noGrp="1"/>
          </p:cNvSpPr>
          <p:nvPr/>
        </p:nvSpPr>
        <p:spPr>
          <a:xfrm xmlns:a="http://schemas.openxmlformats.org/drawingml/2006/main">
            <a:off x="1314450" y="4676775"/>
            <a:ext cx="10267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Correct the text, then Save to memory.</a:t>
            </a:r>
          </a:p>
        </p:txBody>
      </p:sp>
      <p:sp>
        <p:nvSpPr>
          <p:cNvPr id="11" name="shape">
            <a:extLst xmlns:a="http://schemas.openxmlformats.org/drawingml/2006/main">
              <a:ext uri="{FF2B5EF4-FFF2-40B4-BE49-F238E27FC236}">
                <a16:creationId xmlns:a16="http://schemas.microsoft.com/office/drawing/2014/main" id="{65BB781E-A98D-4AA1-845A-068F17B1B599}"/>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BF132C1F-B82B-462D-8632-231A9C5B4D89}"/>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13" name="text">
            <a:extLst xmlns:a="http://schemas.openxmlformats.org/drawingml/2006/main">
              <a:ext uri="{FF2B5EF4-FFF2-40B4-BE49-F238E27FC236}">
                <a16:creationId xmlns:a16="http://schemas.microsoft.com/office/drawing/2014/main" id="{3C15644D-B93D-40CA-8FD3-C340786DFF19}"/>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53</a:t>
            </a:r>
          </a:p>
        </p:txBody>
      </p:sp>
    </p:spTree>
    <p:extLst>
      <p:ext uri="{BB962C8B-B14F-4D97-AF65-F5344CB8AC3E}">
        <p14:creationId xmlns:p14="http://schemas.microsoft.com/office/powerpoint/2010/main" val="131839207"/>
      </p:ext>
    </p:extLst>
  </p:cSld>
</p:sld>
</file>

<file path=ppt/slides/slide54.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5339503C-C71B-43EF-8614-661F22BEB92D}"/>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DAY 1 · SESSION 4 · 90 MINUTES</a:t>
            </a:r>
          </a:p>
        </p:txBody>
      </p:sp>
      <p:sp>
        <p:nvSpPr>
          <p:cNvPr id="2" name="text">
            <a:extLst xmlns:a="http://schemas.openxmlformats.org/drawingml/2006/main">
              <a:ext uri="{FF2B5EF4-FFF2-40B4-BE49-F238E27FC236}">
                <a16:creationId xmlns:a16="http://schemas.microsoft.com/office/drawing/2014/main" id="{7A22BA3A-8076-4123-8AB7-EED5BDFD2D07}"/>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Voice is another input route, not another truth.</a:t>
            </a:r>
          </a:p>
        </p:txBody>
      </p:sp>
      <p:sp>
        <p:nvSpPr>
          <p:cNvPr id="3" name="flow-node">
            <a:extLst xmlns:a="http://schemas.openxmlformats.org/drawingml/2006/main">
              <a:ext uri="{FF2B5EF4-FFF2-40B4-BE49-F238E27FC236}">
                <a16:creationId xmlns:a16="http://schemas.microsoft.com/office/drawing/2014/main" id="{F51BA3F1-D98C-4423-98B5-7B0CB75A21DF}"/>
              </a:ext>
            </a:extLst>
          </p:cNvPr>
          <p:cNvSpPr>
            <a:spLocks xmlns:a="http://schemas.openxmlformats.org/drawingml/2006/main" noGrp="1"/>
          </p:cNvSpPr>
          <p:nvPr/>
        </p:nvSpPr>
        <p:spPr>
          <a:xfrm xmlns:a="http://schemas.openxmlformats.org/drawingml/2006/main">
            <a:off x="609600"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Press microphone</a:t>
            </a:r>
          </a:p>
        </p:txBody>
      </p:sp>
      <p:sp>
        <p:nvSpPr>
          <p:cNvPr id="4" name="flow-node">
            <a:extLst xmlns:a="http://schemas.openxmlformats.org/drawingml/2006/main">
              <a:ext uri="{FF2B5EF4-FFF2-40B4-BE49-F238E27FC236}">
                <a16:creationId xmlns:a16="http://schemas.microsoft.com/office/drawing/2014/main" id="{AA9B3F95-7BC7-4A7E-B485-EC85EA835782}"/>
              </a:ext>
            </a:extLst>
          </p:cNvPr>
          <p:cNvSpPr>
            <a:spLocks xmlns:a="http://schemas.openxmlformats.org/drawingml/2006/main" noGrp="1"/>
          </p:cNvSpPr>
          <p:nvPr/>
        </p:nvSpPr>
        <p:spPr>
          <a:xfrm xmlns:a="http://schemas.openxmlformats.org/drawingml/2006/main">
            <a:off x="3424238"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Speak one question</a:t>
            </a:r>
          </a:p>
        </p:txBody>
      </p:sp>
      <p:sp>
        <p:nvSpPr>
          <p:cNvPr id="5" name="flow-node">
            <a:extLst xmlns:a="http://schemas.openxmlformats.org/drawingml/2006/main">
              <a:ext uri="{FF2B5EF4-FFF2-40B4-BE49-F238E27FC236}">
                <a16:creationId xmlns:a16="http://schemas.microsoft.com/office/drawing/2014/main" id="{63955E72-D2F4-40A7-8297-4C85E1B173A3}"/>
              </a:ext>
            </a:extLst>
          </p:cNvPr>
          <p:cNvSpPr>
            <a:spLocks xmlns:a="http://schemas.openxmlformats.org/drawingml/2006/main" noGrp="1"/>
          </p:cNvSpPr>
          <p:nvPr/>
        </p:nvSpPr>
        <p:spPr>
          <a:xfrm xmlns:a="http://schemas.openxmlformats.org/drawingml/2006/main">
            <a:off x="6238875"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Check the transcript</a:t>
            </a:r>
          </a:p>
        </p:txBody>
      </p:sp>
      <p:sp>
        <p:nvSpPr>
          <p:cNvPr id="6" name="flow-node">
            <a:extLst xmlns:a="http://schemas.openxmlformats.org/drawingml/2006/main">
              <a:ext uri="{FF2B5EF4-FFF2-40B4-BE49-F238E27FC236}">
                <a16:creationId xmlns:a16="http://schemas.microsoft.com/office/drawing/2014/main" id="{40D94716-35BA-47D3-9514-BB1182070743}"/>
              </a:ext>
            </a:extLst>
          </p:cNvPr>
          <p:cNvSpPr>
            <a:spLocks xmlns:a="http://schemas.openxmlformats.org/drawingml/2006/main" noGrp="1"/>
          </p:cNvSpPr>
          <p:nvPr/>
        </p:nvSpPr>
        <p:spPr>
          <a:xfrm xmlns:a="http://schemas.openxmlformats.org/drawingml/2006/main">
            <a:off x="9053513"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Send deliberately</a:t>
            </a:r>
          </a:p>
        </p:txBody>
      </p:sp>
      <p:cxnSp>
        <p:nvCxnSpPr>
          <p:cNvPr id="20" name=""/>
          <p:cNvCxnSpPr>
            <a:stCxn xmlns:a="http://schemas.openxmlformats.org/drawingml/2006/main" id="3" idx="3"/>
            <a:endCxn xmlns:a="http://schemas.openxmlformats.org/drawingml/2006/main" id="4" idx="1"/>
          </p:cNvCxnSpPr>
          <p:nvPr/>
        </p:nvCxnSpPr>
        <p:spPr>
          <a:xfrm xmlns:a="http://schemas.openxmlformats.org/drawingml/2006/main">
            <a:off x="3138488"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1" name=""/>
          <p:cNvCxnSpPr>
            <a:stCxn xmlns:a="http://schemas.openxmlformats.org/drawingml/2006/main" id="4" idx="3"/>
            <a:endCxn xmlns:a="http://schemas.openxmlformats.org/drawingml/2006/main" id="5" idx="1"/>
          </p:cNvCxnSpPr>
          <p:nvPr/>
        </p:nvCxnSpPr>
        <p:spPr>
          <a:xfrm xmlns:a="http://schemas.openxmlformats.org/drawingml/2006/main">
            <a:off x="5953126" y="3390900"/>
            <a:ext cx="285749"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2" name=""/>
          <p:cNvCxnSpPr>
            <a:stCxn xmlns:a="http://schemas.openxmlformats.org/drawingml/2006/main" id="5" idx="3"/>
            <a:endCxn xmlns:a="http://schemas.openxmlformats.org/drawingml/2006/main" id="6" idx="1"/>
          </p:cNvCxnSpPr>
          <p:nvPr/>
        </p:nvCxnSpPr>
        <p:spPr>
          <a:xfrm xmlns:a="http://schemas.openxmlformats.org/drawingml/2006/main">
            <a:off x="8767763"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sp>
        <p:nvSpPr>
          <p:cNvPr id="10" name="text">
            <a:extLst xmlns:a="http://schemas.openxmlformats.org/drawingml/2006/main">
              <a:ext uri="{FF2B5EF4-FFF2-40B4-BE49-F238E27FC236}">
                <a16:creationId xmlns:a16="http://schemas.microsoft.com/office/drawing/2014/main" id="{63CDB903-B95B-4795-B8A5-2B62B4124951}"/>
              </a:ext>
            </a:extLst>
          </p:cNvPr>
          <p:cNvSpPr>
            <a:spLocks xmlns:a="http://schemas.openxmlformats.org/drawingml/2006/main" noGrp="1"/>
          </p:cNvSpPr>
          <p:nvPr/>
        </p:nvSpPr>
        <p:spPr>
          <a:xfrm xmlns:a="http://schemas.openxmlformats.org/drawingml/2006/main">
            <a:off x="609600" y="50673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DFBF"/>
                </a:solidFill>
                <a:latin typeface="Aptos"/>
                <a:ea typeface="Aptos"/>
                <a:cs typeface="Aptos"/>
              </a:defRPr>
            </a:pPr>
            <a:r>
              <a:rPr sz="1800" b="0">
                <a:solidFill>
                  <a:srgbClr val="61DFBF"/>
                </a:solidFill>
                <a:latin typeface="Aptos"/>
                <a:ea typeface="Aptos"/>
                <a:cs typeface="Aptos"/>
              </a:rPr>
              <a:t>Browser support varies; typed text remains available.</a:t>
            </a:r>
          </a:p>
        </p:txBody>
      </p:sp>
      <p:sp>
        <p:nvSpPr>
          <p:cNvPr id="11" name="shape">
            <a:extLst xmlns:a="http://schemas.openxmlformats.org/drawingml/2006/main">
              <a:ext uri="{FF2B5EF4-FFF2-40B4-BE49-F238E27FC236}">
                <a16:creationId xmlns:a16="http://schemas.microsoft.com/office/drawing/2014/main" id="{175B1447-BB70-4FA5-AD83-ADD9BCD4386E}"/>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63E47532-1F8F-4884-9DEF-D75807F022E1}"/>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13" name="text">
            <a:extLst xmlns:a="http://schemas.openxmlformats.org/drawingml/2006/main">
              <a:ext uri="{FF2B5EF4-FFF2-40B4-BE49-F238E27FC236}">
                <a16:creationId xmlns:a16="http://schemas.microsoft.com/office/drawing/2014/main" id="{A60F82E9-210A-4F36-A776-9CA23C493FEA}"/>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54</a:t>
            </a:r>
          </a:p>
        </p:txBody>
      </p:sp>
    </p:spTree>
    <p:extLst>
      <p:ext uri="{BB962C8B-B14F-4D97-AF65-F5344CB8AC3E}">
        <p14:creationId xmlns:p14="http://schemas.microsoft.com/office/powerpoint/2010/main" val="772577500"/>
      </p:ext>
    </p:extLst>
  </p:cSld>
</p:sld>
</file>

<file path=ppt/slides/slide55.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8" name="text">
            <a:extLst xmlns:a="http://schemas.openxmlformats.org/drawingml/2006/main">
              <a:ext uri="{FF2B5EF4-FFF2-40B4-BE49-F238E27FC236}">
                <a16:creationId xmlns:a16="http://schemas.microsoft.com/office/drawing/2014/main" id="{5CCF7D03-8429-449E-9169-3F4578EAF254}"/>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DAY 1 · SESSION 4 · 90 MINUTES</a:t>
            </a:r>
          </a:p>
        </p:txBody>
      </p:sp>
      <p:sp>
        <p:nvSpPr>
          <p:cNvPr id="2" name="text">
            <a:extLst xmlns:a="http://schemas.openxmlformats.org/drawingml/2006/main">
              <a:ext uri="{FF2B5EF4-FFF2-40B4-BE49-F238E27FC236}">
                <a16:creationId xmlns:a16="http://schemas.microsoft.com/office/drawing/2014/main" id="{0A8E1C11-AE58-4958-9751-F467CA16DEF4}"/>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An extraction is not a verified business fact.</a:t>
            </a:r>
          </a:p>
        </p:txBody>
      </p:sp>
      <p:sp>
        <p:nvSpPr>
          <p:cNvPr id="3" name="text">
            <a:extLst xmlns:a="http://schemas.openxmlformats.org/drawingml/2006/main">
              <a:ext uri="{FF2B5EF4-FFF2-40B4-BE49-F238E27FC236}">
                <a16:creationId xmlns:a16="http://schemas.microsoft.com/office/drawing/2014/main" id="{08EE4E9F-26FE-4D8A-830D-94398CD35FD3}"/>
              </a:ext>
            </a:extLst>
          </p:cNvPr>
          <p:cNvSpPr>
            <a:spLocks xmlns:a="http://schemas.openxmlformats.org/drawingml/2006/main" noGrp="1"/>
          </p:cNvSpPr>
          <p:nvPr/>
        </p:nvSpPr>
        <p:spPr>
          <a:xfrm xmlns:a="http://schemas.openxmlformats.org/drawingml/2006/main">
            <a:off x="609600" y="2238375"/>
            <a:ext cx="5276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WHAT YOU OBSERVE</a:t>
            </a:r>
          </a:p>
        </p:txBody>
      </p:sp>
      <p:sp>
        <p:nvSpPr>
          <p:cNvPr id="4" name="text">
            <a:extLst xmlns:a="http://schemas.openxmlformats.org/drawingml/2006/main">
              <a:ext uri="{FF2B5EF4-FFF2-40B4-BE49-F238E27FC236}">
                <a16:creationId xmlns:a16="http://schemas.microsoft.com/office/drawing/2014/main" id="{70B795BF-5E84-476A-B3A4-1C3DCC945D72}"/>
              </a:ext>
            </a:extLst>
          </p:cNvPr>
          <p:cNvSpPr>
            <a:spLocks xmlns:a="http://schemas.openxmlformats.org/drawingml/2006/main" noGrp="1"/>
          </p:cNvSpPr>
          <p:nvPr/>
        </p:nvSpPr>
        <p:spPr>
          <a:xfrm xmlns:a="http://schemas.openxmlformats.org/drawingml/2006/main">
            <a:off x="6096000" y="2238375"/>
            <a:ext cx="5276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WHAT YOU STILL VERIFY</a:t>
            </a:r>
          </a:p>
        </p:txBody>
      </p:sp>
      <p:sp>
        <p:nvSpPr>
          <p:cNvPr id="5" name="shape">
            <a:extLst xmlns:a="http://schemas.openxmlformats.org/drawingml/2006/main">
              <a:ext uri="{FF2B5EF4-FFF2-40B4-BE49-F238E27FC236}">
                <a16:creationId xmlns:a16="http://schemas.microsoft.com/office/drawing/2014/main" id="{6B8A92C2-5C92-4DBF-9C5F-C8F79E6A1A3F}"/>
              </a:ext>
            </a:extLst>
          </p:cNvPr>
          <p:cNvSpPr>
            <a:spLocks xmlns:a="http://schemas.openxmlformats.org/drawingml/2006/main" noGrp="1"/>
          </p:cNvSpPr>
          <p:nvPr/>
        </p:nvSpPr>
        <p:spPr>
          <a:xfrm xmlns:a="http://schemas.openxmlformats.org/drawingml/2006/main">
            <a:off x="609600" y="26479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20EABC44-33FE-4CD8-B457-A1A57450E6DE}"/>
              </a:ext>
            </a:extLst>
          </p:cNvPr>
          <p:cNvSpPr>
            <a:spLocks xmlns:a="http://schemas.openxmlformats.org/drawingml/2006/main" noGrp="1"/>
          </p:cNvSpPr>
          <p:nvPr/>
        </p:nvSpPr>
        <p:spPr>
          <a:xfrm xmlns:a="http://schemas.openxmlformats.org/drawingml/2006/main">
            <a:off x="609600" y="28194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The image contains a price label</a:t>
            </a:r>
          </a:p>
        </p:txBody>
      </p:sp>
      <p:sp>
        <p:nvSpPr>
          <p:cNvPr id="7" name="text">
            <a:extLst xmlns:a="http://schemas.openxmlformats.org/drawingml/2006/main">
              <a:ext uri="{FF2B5EF4-FFF2-40B4-BE49-F238E27FC236}">
                <a16:creationId xmlns:a16="http://schemas.microsoft.com/office/drawing/2014/main" id="{2680853A-8D32-45D1-8840-DCA149BD7E52}"/>
              </a:ext>
            </a:extLst>
          </p:cNvPr>
          <p:cNvSpPr>
            <a:spLocks xmlns:a="http://schemas.openxmlformats.org/drawingml/2006/main" noGrp="1"/>
          </p:cNvSpPr>
          <p:nvPr/>
        </p:nvSpPr>
        <p:spPr>
          <a:xfrm xmlns:a="http://schemas.openxmlformats.org/drawingml/2006/main">
            <a:off x="6096000" y="28194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Whether the price is current and approved</a:t>
            </a:r>
          </a:p>
        </p:txBody>
      </p:sp>
      <p:sp>
        <p:nvSpPr>
          <p:cNvPr id="8" name="shape">
            <a:extLst xmlns:a="http://schemas.openxmlformats.org/drawingml/2006/main">
              <a:ext uri="{FF2B5EF4-FFF2-40B4-BE49-F238E27FC236}">
                <a16:creationId xmlns:a16="http://schemas.microsoft.com/office/drawing/2014/main" id="{ECA40E9F-6BA2-4F7E-A608-2A1C1062EA1F}"/>
              </a:ext>
            </a:extLst>
          </p:cNvPr>
          <p:cNvSpPr>
            <a:spLocks xmlns:a="http://schemas.openxmlformats.org/drawingml/2006/main" noGrp="1"/>
          </p:cNvSpPr>
          <p:nvPr/>
        </p:nvSpPr>
        <p:spPr>
          <a:xfrm xmlns:a="http://schemas.openxmlformats.org/drawingml/2006/main">
            <a:off x="609600" y="34004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1A2D65E8-2E2D-4631-85C8-C3FD51B38C2D}"/>
              </a:ext>
            </a:extLst>
          </p:cNvPr>
          <p:cNvSpPr>
            <a:spLocks xmlns:a="http://schemas.openxmlformats.org/drawingml/2006/main" noGrp="1"/>
          </p:cNvSpPr>
          <p:nvPr/>
        </p:nvSpPr>
        <p:spPr>
          <a:xfrm xmlns:a="http://schemas.openxmlformats.org/drawingml/2006/main">
            <a:off x="609600" y="35052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The transcript names an owner</a:t>
            </a:r>
          </a:p>
        </p:txBody>
      </p:sp>
      <p:sp>
        <p:nvSpPr>
          <p:cNvPr id="10" name="text">
            <a:extLst xmlns:a="http://schemas.openxmlformats.org/drawingml/2006/main">
              <a:ext uri="{FF2B5EF4-FFF2-40B4-BE49-F238E27FC236}">
                <a16:creationId xmlns:a16="http://schemas.microsoft.com/office/drawing/2014/main" id="{AD4ECFBD-044D-458D-B037-10896AB4D033}"/>
              </a:ext>
            </a:extLst>
          </p:cNvPr>
          <p:cNvSpPr>
            <a:spLocks xmlns:a="http://schemas.openxmlformats.org/drawingml/2006/main" noGrp="1"/>
          </p:cNvSpPr>
          <p:nvPr/>
        </p:nvSpPr>
        <p:spPr>
          <a:xfrm xmlns:a="http://schemas.openxmlformats.org/drawingml/2006/main">
            <a:off x="6096000" y="35052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Whether the owner accepted the task</a:t>
            </a:r>
          </a:p>
        </p:txBody>
      </p:sp>
      <p:sp>
        <p:nvSpPr>
          <p:cNvPr id="11" name="shape">
            <a:extLst xmlns:a="http://schemas.openxmlformats.org/drawingml/2006/main">
              <a:ext uri="{FF2B5EF4-FFF2-40B4-BE49-F238E27FC236}">
                <a16:creationId xmlns:a16="http://schemas.microsoft.com/office/drawing/2014/main" id="{73893EF1-6F2D-498D-B788-6009BA66A393}"/>
              </a:ext>
            </a:extLst>
          </p:cNvPr>
          <p:cNvSpPr>
            <a:spLocks xmlns:a="http://schemas.openxmlformats.org/drawingml/2006/main" noGrp="1"/>
          </p:cNvSpPr>
          <p:nvPr/>
        </p:nvSpPr>
        <p:spPr>
          <a:xfrm xmlns:a="http://schemas.openxmlformats.org/drawingml/2006/main">
            <a:off x="609600" y="40862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45128214-7F6A-40C7-98FE-63A5AC0DC26B}"/>
              </a:ext>
            </a:extLst>
          </p:cNvPr>
          <p:cNvSpPr>
            <a:spLocks xmlns:a="http://schemas.openxmlformats.org/drawingml/2006/main" noGrp="1"/>
          </p:cNvSpPr>
          <p:nvPr/>
        </p:nvSpPr>
        <p:spPr>
          <a:xfrm xmlns:a="http://schemas.openxmlformats.org/drawingml/2006/main">
            <a:off x="609600" y="41910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Gemini identifies visible text</a:t>
            </a:r>
          </a:p>
        </p:txBody>
      </p:sp>
      <p:sp>
        <p:nvSpPr>
          <p:cNvPr id="13" name="text">
            <a:extLst xmlns:a="http://schemas.openxmlformats.org/drawingml/2006/main">
              <a:ext uri="{FF2B5EF4-FFF2-40B4-BE49-F238E27FC236}">
                <a16:creationId xmlns:a16="http://schemas.microsoft.com/office/drawing/2014/main" id="{C072859D-8097-4EA9-B031-C955BA69D3CE}"/>
              </a:ext>
            </a:extLst>
          </p:cNvPr>
          <p:cNvSpPr>
            <a:spLocks xmlns:a="http://schemas.openxmlformats.org/drawingml/2006/main" noGrp="1"/>
          </p:cNvSpPr>
          <p:nvPr/>
        </p:nvSpPr>
        <p:spPr>
          <a:xfrm xmlns:a="http://schemas.openxmlformats.org/drawingml/2006/main">
            <a:off x="6096000" y="41910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Whether the text was read correctly</a:t>
            </a:r>
          </a:p>
        </p:txBody>
      </p:sp>
      <p:sp>
        <p:nvSpPr>
          <p:cNvPr id="14" name="shape">
            <a:extLst xmlns:a="http://schemas.openxmlformats.org/drawingml/2006/main">
              <a:ext uri="{FF2B5EF4-FFF2-40B4-BE49-F238E27FC236}">
                <a16:creationId xmlns:a16="http://schemas.microsoft.com/office/drawing/2014/main" id="{37284321-022D-4C16-BBE3-0209644F5946}"/>
              </a:ext>
            </a:extLst>
          </p:cNvPr>
          <p:cNvSpPr>
            <a:spLocks xmlns:a="http://schemas.openxmlformats.org/drawingml/2006/main" noGrp="1"/>
          </p:cNvSpPr>
          <p:nvPr/>
        </p:nvSpPr>
        <p:spPr>
          <a:xfrm xmlns:a="http://schemas.openxmlformats.org/drawingml/2006/main">
            <a:off x="609600" y="47720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5" name="shape">
            <a:extLst xmlns:a="http://schemas.openxmlformats.org/drawingml/2006/main">
              <a:ext uri="{FF2B5EF4-FFF2-40B4-BE49-F238E27FC236}">
                <a16:creationId xmlns:a16="http://schemas.microsoft.com/office/drawing/2014/main" id="{282A9DFE-1400-4135-AA0B-59097CDC75EA}"/>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B3E61D18-C854-4EB1-A089-A2599B1DD05F}"/>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17" name="text">
            <a:extLst xmlns:a="http://schemas.openxmlformats.org/drawingml/2006/main">
              <a:ext uri="{FF2B5EF4-FFF2-40B4-BE49-F238E27FC236}">
                <a16:creationId xmlns:a16="http://schemas.microsoft.com/office/drawing/2014/main" id="{E26D1D5F-13AB-4B76-AF3F-FEF7C1AC9302}"/>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55</a:t>
            </a:r>
          </a:p>
        </p:txBody>
      </p:sp>
    </p:spTree>
    <p:extLst>
      <p:ext uri="{BB962C8B-B14F-4D97-AF65-F5344CB8AC3E}">
        <p14:creationId xmlns:p14="http://schemas.microsoft.com/office/powerpoint/2010/main" val="1780938631"/>
      </p:ext>
    </p:extLst>
  </p:cSld>
</p:sld>
</file>

<file path=ppt/slides/slide56.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8" name="text">
            <a:extLst xmlns:a="http://schemas.openxmlformats.org/drawingml/2006/main">
              <a:ext uri="{FF2B5EF4-FFF2-40B4-BE49-F238E27FC236}">
                <a16:creationId xmlns:a16="http://schemas.microsoft.com/office/drawing/2014/main" id="{C7A1E7AB-E681-41D3-9F78-7135331351FB}"/>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DAY 1 · SESSION 4 · 90 MINUTES</a:t>
            </a:r>
          </a:p>
        </p:txBody>
      </p:sp>
      <p:sp>
        <p:nvSpPr>
          <p:cNvPr id="2" name="text">
            <a:extLst xmlns:a="http://schemas.openxmlformats.org/drawingml/2006/main">
              <a:ext uri="{FF2B5EF4-FFF2-40B4-BE49-F238E27FC236}">
                <a16:creationId xmlns:a16="http://schemas.microsoft.com/office/drawing/2014/main" id="{FBCFA043-CD85-482A-A708-A2C980CB1900}"/>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Give Jarvis one note it can cite.</a:t>
            </a:r>
          </a:p>
        </p:txBody>
      </p:sp>
      <p:sp>
        <p:nvSpPr>
          <p:cNvPr id="3" name="shape">
            <a:extLst xmlns:a="http://schemas.openxmlformats.org/drawingml/2006/main">
              <a:ext uri="{FF2B5EF4-FFF2-40B4-BE49-F238E27FC236}">
                <a16:creationId xmlns:a16="http://schemas.microsoft.com/office/drawing/2014/main" id="{328CAD8B-D88C-4158-BC3C-68261602BEBD}"/>
              </a:ext>
            </a:extLst>
          </p:cNvPr>
          <p:cNvSpPr>
            <a:spLocks xmlns:a="http://schemas.openxmlformats.org/drawingml/2006/main" noGrp="1"/>
          </p:cNvSpPr>
          <p:nvPr/>
        </p:nvSpPr>
        <p:spPr>
          <a:xfrm xmlns:a="http://schemas.openxmlformats.org/drawingml/2006/main">
            <a:off x="609600" y="2143125"/>
            <a:ext cx="10972800" cy="2790825"/>
          </a:xfrm>
          <a:prstGeom xmlns:a="http://schemas.openxmlformats.org/drawingml/2006/main" prst="rect">
            <a:avLst/>
          </a:prstGeom>
          <a:solidFill xmlns:a="http://schemas.openxmlformats.org/drawingml/2006/main">
            <a:srgbClr val="102735"/>
          </a:solidFill>
          <a:ln xmlns:a="http://schemas.openxmlformats.org/drawingml/2006/main" w="0">
            <a:noFill/>
          </a:ln>
        </p:spPr>
      </p:sp>
      <p:sp>
        <p:nvSpPr>
          <p:cNvPr id="4" name="text">
            <a:extLst xmlns:a="http://schemas.openxmlformats.org/drawingml/2006/main">
              <a:ext uri="{FF2B5EF4-FFF2-40B4-BE49-F238E27FC236}">
                <a16:creationId xmlns:a16="http://schemas.microsoft.com/office/drawing/2014/main" id="{AF158293-BF3B-4E76-8442-15CC21B5A9EC}"/>
              </a:ext>
            </a:extLst>
          </p:cNvPr>
          <p:cNvSpPr>
            <a:spLocks xmlns:a="http://schemas.openxmlformats.org/drawingml/2006/main" noGrp="1"/>
          </p:cNvSpPr>
          <p:nvPr/>
        </p:nvSpPr>
        <p:spPr>
          <a:xfrm xmlns:a="http://schemas.openxmlformats.org/drawingml/2006/main">
            <a:off x="857250" y="2333625"/>
            <a:ext cx="10477500" cy="2466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Title: Packaging review</a:t>
            </a:r>
          </a:p>
          <a:p xmlns:a="http://schemas.openxmlformats.org/drawingml/2006/main">
            <a:r>
              <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Fictional workshop note:</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The packaging review is owned by Mira.</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Allergen copy needs review before launch.</a:t>
            </a:r>
          </a:p>
          <a:p xmlns:a="http://schemas.openxmlformats.org/drawingml/2006/main">
            <a:r>
              <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Ask: What do the memory notes say about</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the packaging review owner?</a:t>
            </a:r>
          </a:p>
        </p:txBody>
      </p:sp>
      <p:sp>
        <p:nvSpPr>
          <p:cNvPr id="5" name="shape">
            <a:extLst xmlns:a="http://schemas.openxmlformats.org/drawingml/2006/main">
              <a:ext uri="{FF2B5EF4-FFF2-40B4-BE49-F238E27FC236}">
                <a16:creationId xmlns:a16="http://schemas.microsoft.com/office/drawing/2014/main" id="{CFB4588E-5756-4C0C-BFEC-EBD50698D666}"/>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85C4A5CE-8390-4E65-B4CC-46F3FB606B49}"/>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7" name="text">
            <a:extLst xmlns:a="http://schemas.openxmlformats.org/drawingml/2006/main">
              <a:ext uri="{FF2B5EF4-FFF2-40B4-BE49-F238E27FC236}">
                <a16:creationId xmlns:a16="http://schemas.microsoft.com/office/drawing/2014/main" id="{9F62FC38-EE98-4925-88DD-38EACF805CFD}"/>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56</a:t>
            </a:r>
          </a:p>
        </p:txBody>
      </p:sp>
    </p:spTree>
    <p:extLst>
      <p:ext uri="{BB962C8B-B14F-4D97-AF65-F5344CB8AC3E}">
        <p14:creationId xmlns:p14="http://schemas.microsoft.com/office/powerpoint/2010/main" val="1671052622"/>
      </p:ext>
    </p:extLst>
  </p:cSld>
</p:sld>
</file>

<file path=ppt/slides/slide57.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6" name="text">
            <a:extLst xmlns:a="http://schemas.openxmlformats.org/drawingml/2006/main">
              <a:ext uri="{FF2B5EF4-FFF2-40B4-BE49-F238E27FC236}">
                <a16:creationId xmlns:a16="http://schemas.microsoft.com/office/drawing/2014/main" id="{86F139CA-C067-4A63-A246-46A005FE3A9A}"/>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DAY 1 · SESSION 4 · 90 MINUTES</a:t>
            </a:r>
          </a:p>
        </p:txBody>
      </p:sp>
      <p:sp>
        <p:nvSpPr>
          <p:cNvPr id="2" name="text">
            <a:extLst xmlns:a="http://schemas.openxmlformats.org/drawingml/2006/main">
              <a:ext uri="{FF2B5EF4-FFF2-40B4-BE49-F238E27FC236}">
                <a16:creationId xmlns:a16="http://schemas.microsoft.com/office/drawing/2014/main" id="{990EDE69-B8BB-4DF7-839A-C9B595DF768D}"/>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Day 1 handover: preserve your working state.</a:t>
            </a:r>
          </a:p>
        </p:txBody>
      </p:sp>
      <p:sp>
        <p:nvSpPr>
          <p:cNvPr id="3" name="text">
            <a:extLst xmlns:a="http://schemas.openxmlformats.org/drawingml/2006/main">
              <a:ext uri="{FF2B5EF4-FFF2-40B4-BE49-F238E27FC236}">
                <a16:creationId xmlns:a16="http://schemas.microsoft.com/office/drawing/2014/main" id="{C83EFC95-2F57-4EF8-9AC0-492D4617946F}"/>
              </a:ext>
            </a:extLst>
          </p:cNvPr>
          <p:cNvSpPr>
            <a:spLocks xmlns:a="http://schemas.openxmlformats.org/drawingml/2006/main" noGrp="1"/>
          </p:cNvSpPr>
          <p:nvPr/>
        </p:nvSpPr>
        <p:spPr>
          <a:xfrm xmlns:a="http://schemas.openxmlformats.org/drawingml/2006/main">
            <a:off x="609600" y="221932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01</a:t>
            </a:r>
          </a:p>
        </p:txBody>
      </p:sp>
      <p:sp>
        <p:nvSpPr>
          <p:cNvPr id="4" name="text">
            <a:extLst xmlns:a="http://schemas.openxmlformats.org/drawingml/2006/main">
              <a:ext uri="{FF2B5EF4-FFF2-40B4-BE49-F238E27FC236}">
                <a16:creationId xmlns:a16="http://schemas.microsoft.com/office/drawing/2014/main" id="{1BB0C5D0-1784-4D49-8384-ED0A20B42EC6}"/>
              </a:ext>
            </a:extLst>
          </p:cNvPr>
          <p:cNvSpPr>
            <a:spLocks xmlns:a="http://schemas.openxmlformats.org/drawingml/2006/main" noGrp="1"/>
          </p:cNvSpPr>
          <p:nvPr/>
        </p:nvSpPr>
        <p:spPr>
          <a:xfrm xmlns:a="http://schemas.openxmlformats.org/drawingml/2006/main">
            <a:off x="1314450" y="2190750"/>
            <a:ext cx="1026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Save your live starter and agent blueprint.</a:t>
            </a:r>
          </a:p>
        </p:txBody>
      </p:sp>
      <p:sp>
        <p:nvSpPr>
          <p:cNvPr id="5" name="text">
            <a:extLst xmlns:a="http://schemas.openxmlformats.org/drawingml/2006/main">
              <a:ext uri="{FF2B5EF4-FFF2-40B4-BE49-F238E27FC236}">
                <a16:creationId xmlns:a16="http://schemas.microsoft.com/office/drawing/2014/main" id="{0E237659-52BB-44CC-9B50-ECCC5716A844}"/>
              </a:ext>
            </a:extLst>
          </p:cNvPr>
          <p:cNvSpPr>
            <a:spLocks xmlns:a="http://schemas.openxmlformats.org/drawingml/2006/main" noGrp="1"/>
          </p:cNvSpPr>
          <p:nvPr/>
        </p:nvSpPr>
        <p:spPr>
          <a:xfrm xmlns:a="http://schemas.openxmlformats.org/drawingml/2006/main">
            <a:off x="609600" y="29146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02</a:t>
            </a:r>
          </a:p>
        </p:txBody>
      </p:sp>
      <p:sp>
        <p:nvSpPr>
          <p:cNvPr id="6" name="text">
            <a:extLst xmlns:a="http://schemas.openxmlformats.org/drawingml/2006/main">
              <a:ext uri="{FF2B5EF4-FFF2-40B4-BE49-F238E27FC236}">
                <a16:creationId xmlns:a16="http://schemas.microsoft.com/office/drawing/2014/main" id="{4464FE15-9C27-4C76-A9B3-E77CC0B16E89}"/>
              </a:ext>
            </a:extLst>
          </p:cNvPr>
          <p:cNvSpPr>
            <a:spLocks xmlns:a="http://schemas.openxmlformats.org/drawingml/2006/main" noGrp="1"/>
          </p:cNvSpPr>
          <p:nvPr/>
        </p:nvSpPr>
        <p:spPr>
          <a:xfrm xmlns:a="http://schemas.openxmlformats.org/drawingml/2006/main">
            <a:off x="1314450" y="2886075"/>
            <a:ext cx="1026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Export the domain report and test record.</a:t>
            </a:r>
          </a:p>
        </p:txBody>
      </p:sp>
      <p:sp>
        <p:nvSpPr>
          <p:cNvPr id="7" name="text">
            <a:extLst xmlns:a="http://schemas.openxmlformats.org/drawingml/2006/main">
              <a:ext uri="{FF2B5EF4-FFF2-40B4-BE49-F238E27FC236}">
                <a16:creationId xmlns:a16="http://schemas.microsoft.com/office/drawing/2014/main" id="{34BC7087-7282-44B5-9B23-F244E5B649B3}"/>
              </a:ext>
            </a:extLst>
          </p:cNvPr>
          <p:cNvSpPr>
            <a:spLocks xmlns:a="http://schemas.openxmlformats.org/drawingml/2006/main" noGrp="1"/>
          </p:cNvSpPr>
          <p:nvPr/>
        </p:nvSpPr>
        <p:spPr>
          <a:xfrm xmlns:a="http://schemas.openxmlformats.org/drawingml/2006/main">
            <a:off x="609600" y="360997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03</a:t>
            </a:r>
          </a:p>
        </p:txBody>
      </p:sp>
      <p:sp>
        <p:nvSpPr>
          <p:cNvPr id="8" name="text">
            <a:extLst xmlns:a="http://schemas.openxmlformats.org/drawingml/2006/main">
              <a:ext uri="{FF2B5EF4-FFF2-40B4-BE49-F238E27FC236}">
                <a16:creationId xmlns:a16="http://schemas.microsoft.com/office/drawing/2014/main" id="{BE854193-3A4A-4C64-882A-E1D8A236E031}"/>
              </a:ext>
            </a:extLst>
          </p:cNvPr>
          <p:cNvSpPr>
            <a:spLocks xmlns:a="http://schemas.openxmlformats.org/drawingml/2006/main" noGrp="1"/>
          </p:cNvSpPr>
          <p:nvPr/>
        </p:nvSpPr>
        <p:spPr>
          <a:xfrm xmlns:a="http://schemas.openxmlformats.org/drawingml/2006/main">
            <a:off x="1314450" y="3581400"/>
            <a:ext cx="1026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Keep reviewed notes and the same team ID.</a:t>
            </a:r>
          </a:p>
        </p:txBody>
      </p:sp>
      <p:sp>
        <p:nvSpPr>
          <p:cNvPr id="9" name="text">
            <a:extLst xmlns:a="http://schemas.openxmlformats.org/drawingml/2006/main">
              <a:ext uri="{FF2B5EF4-FFF2-40B4-BE49-F238E27FC236}">
                <a16:creationId xmlns:a16="http://schemas.microsoft.com/office/drawing/2014/main" id="{0CDD992E-198C-4E25-838B-CCEE82784E07}"/>
              </a:ext>
            </a:extLst>
          </p:cNvPr>
          <p:cNvSpPr>
            <a:spLocks xmlns:a="http://schemas.openxmlformats.org/drawingml/2006/main" noGrp="1"/>
          </p:cNvSpPr>
          <p:nvPr/>
        </p:nvSpPr>
        <p:spPr>
          <a:xfrm xmlns:a="http://schemas.openxmlformats.org/drawingml/2006/main">
            <a:off x="609600" y="43053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04</a:t>
            </a:r>
          </a:p>
        </p:txBody>
      </p:sp>
      <p:sp>
        <p:nvSpPr>
          <p:cNvPr id="10" name="text">
            <a:extLst xmlns:a="http://schemas.openxmlformats.org/drawingml/2006/main">
              <a:ext uri="{FF2B5EF4-FFF2-40B4-BE49-F238E27FC236}">
                <a16:creationId xmlns:a16="http://schemas.microsoft.com/office/drawing/2014/main" id="{CB8E2F49-BD5A-47F9-B630-FC49CCE28E78}"/>
              </a:ext>
            </a:extLst>
          </p:cNvPr>
          <p:cNvSpPr>
            <a:spLocks xmlns:a="http://schemas.openxmlformats.org/drawingml/2006/main" noGrp="1"/>
          </p:cNvSpPr>
          <p:nvPr/>
        </p:nvSpPr>
        <p:spPr>
          <a:xfrm xmlns:a="http://schemas.openxmlformats.org/drawingml/2006/main">
            <a:off x="1314450" y="4276725"/>
            <a:ext cx="1026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Back up the database before moving machines.</a:t>
            </a:r>
          </a:p>
        </p:txBody>
      </p:sp>
      <p:sp>
        <p:nvSpPr>
          <p:cNvPr id="11" name="text">
            <a:extLst xmlns:a="http://schemas.openxmlformats.org/drawingml/2006/main">
              <a:ext uri="{FF2B5EF4-FFF2-40B4-BE49-F238E27FC236}">
                <a16:creationId xmlns:a16="http://schemas.microsoft.com/office/drawing/2014/main" id="{A5CB7DC1-7024-423F-9059-AD3BF36FFB91}"/>
              </a:ext>
            </a:extLst>
          </p:cNvPr>
          <p:cNvSpPr>
            <a:spLocks xmlns:a="http://schemas.openxmlformats.org/drawingml/2006/main" noGrp="1"/>
          </p:cNvSpPr>
          <p:nvPr/>
        </p:nvSpPr>
        <p:spPr>
          <a:xfrm xmlns:a="http://schemas.openxmlformats.org/drawingml/2006/main">
            <a:off x="609600" y="500062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05</a:t>
            </a:r>
          </a:p>
        </p:txBody>
      </p:sp>
      <p:sp>
        <p:nvSpPr>
          <p:cNvPr id="12" name="text">
            <a:extLst xmlns:a="http://schemas.openxmlformats.org/drawingml/2006/main">
              <a:ext uri="{FF2B5EF4-FFF2-40B4-BE49-F238E27FC236}">
                <a16:creationId xmlns:a16="http://schemas.microsoft.com/office/drawing/2014/main" id="{A8A6C55E-010F-4B50-983C-0E3432A692B7}"/>
              </a:ext>
            </a:extLst>
          </p:cNvPr>
          <p:cNvSpPr>
            <a:spLocks xmlns:a="http://schemas.openxmlformats.org/drawingml/2006/main" noGrp="1"/>
          </p:cNvSpPr>
          <p:nvPr/>
        </p:nvSpPr>
        <p:spPr>
          <a:xfrm xmlns:a="http://schemas.openxmlformats.org/drawingml/2006/main">
            <a:off x="1314450" y="4972050"/>
            <a:ext cx="1026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Record one question to investigate on Day 2.</a:t>
            </a:r>
          </a:p>
        </p:txBody>
      </p:sp>
      <p:sp>
        <p:nvSpPr>
          <p:cNvPr id="13" name="shape">
            <a:extLst xmlns:a="http://schemas.openxmlformats.org/drawingml/2006/main">
              <a:ext uri="{FF2B5EF4-FFF2-40B4-BE49-F238E27FC236}">
                <a16:creationId xmlns:a16="http://schemas.microsoft.com/office/drawing/2014/main" id="{E5A6A196-B30A-4B78-8BF1-2DF7D403D29F}"/>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4FF38B25-7705-43A0-9728-D238664EFA1A}"/>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15" name="text">
            <a:extLst xmlns:a="http://schemas.openxmlformats.org/drawingml/2006/main">
              <a:ext uri="{FF2B5EF4-FFF2-40B4-BE49-F238E27FC236}">
                <a16:creationId xmlns:a16="http://schemas.microsoft.com/office/drawing/2014/main" id="{23C6F260-F750-4CA9-85D9-2C7681394656}"/>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57</a:t>
            </a:r>
          </a:p>
        </p:txBody>
      </p:sp>
    </p:spTree>
    <p:extLst>
      <p:ext uri="{BB962C8B-B14F-4D97-AF65-F5344CB8AC3E}">
        <p14:creationId xmlns:p14="http://schemas.microsoft.com/office/powerpoint/2010/main" val="971666784"/>
      </p:ext>
    </p:extLst>
  </p:cSld>
</p:sld>
</file>

<file path=ppt/slides/slide58.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7A3AB094-8141-4058-A3DD-B38B15703BFA}"/>
              </a:ext>
            </a:extLst>
          </p:cNvPr>
          <p:cNvSpPr>
            <a:spLocks xmlns:a="http://schemas.openxmlformats.org/drawingml/2006/main" noGrp="1"/>
          </p:cNvSpPr>
          <p:nvPr/>
        </p:nvSpPr>
        <p:spPr>
          <a:xfrm xmlns:a="http://schemas.openxmlformats.org/drawingml/2006/main">
            <a:off x="609600" y="4000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DAY 2 · SESSION 5 · 90 MINUTES</a:t>
            </a:r>
          </a:p>
        </p:txBody>
      </p:sp>
      <p:sp>
        <p:nvSpPr>
          <p:cNvPr id="2" name="text">
            <a:extLst xmlns:a="http://schemas.openxmlformats.org/drawingml/2006/main">
              <a:ext uri="{FF2B5EF4-FFF2-40B4-BE49-F238E27FC236}">
                <a16:creationId xmlns:a16="http://schemas.microsoft.com/office/drawing/2014/main" id="{5D7F8061-043F-4F9B-915C-C71F0F0E4546}"/>
              </a:ext>
            </a:extLst>
          </p:cNvPr>
          <p:cNvSpPr>
            <a:spLocks xmlns:a="http://schemas.openxmlformats.org/drawingml/2006/main" noGrp="1"/>
          </p:cNvSpPr>
          <p:nvPr/>
        </p:nvSpPr>
        <p:spPr>
          <a:xfrm xmlns:a="http://schemas.openxmlformats.org/drawingml/2006/main">
            <a:off x="8096250" y="1143000"/>
            <a:ext cx="38100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250" b="1">
                <a:solidFill>
                  <a:srgbClr val="173946"/>
                </a:solidFill>
                <a:latin typeface="Aptos"/>
                <a:ea typeface="Aptos"/>
                <a:cs typeface="Aptos"/>
              </a:defRPr>
            </a:pPr>
            <a:r>
              <a:rPr sz="5250" b="1">
                <a:solidFill>
                  <a:srgbClr val="173946"/>
                </a:solidFill>
                <a:latin typeface="Aptos"/>
                <a:ea typeface="Aptos"/>
                <a:cs typeface="Aptos"/>
              </a:rPr>
              <a:t>SESSION</a:t>
            </a:r>
          </a:p>
          <a:p xmlns:a="http://schemas.openxmlformats.org/drawingml/2006/main">
            <a:pPr>
              <a:defRPr sz="5250" b="1">
                <a:solidFill>
                  <a:srgbClr val="173946"/>
                </a:solidFill>
                <a:latin typeface="Aptos"/>
                <a:ea typeface="Aptos"/>
                <a:cs typeface="Aptos"/>
              </a:defRPr>
            </a:pPr>
            <a:r>
              <a:rPr sz="5250" b="1">
                <a:solidFill>
                  <a:srgbClr val="173946"/>
                </a:solidFill>
                <a:latin typeface="Aptos"/>
                <a:ea typeface="Aptos"/>
                <a:cs typeface="Aptos"/>
              </a:rPr>
              <a:t>05</a:t>
            </a:r>
          </a:p>
        </p:txBody>
      </p:sp>
      <p:sp>
        <p:nvSpPr>
          <p:cNvPr id="3" name="text">
            <a:extLst xmlns:a="http://schemas.openxmlformats.org/drawingml/2006/main">
              <a:ext uri="{FF2B5EF4-FFF2-40B4-BE49-F238E27FC236}">
                <a16:creationId xmlns:a16="http://schemas.microsoft.com/office/drawing/2014/main" id="{6BBBC9D6-8402-4D98-9FE0-725826CD16A7}"/>
              </a:ext>
            </a:extLst>
          </p:cNvPr>
          <p:cNvSpPr>
            <a:spLocks xmlns:a="http://schemas.openxmlformats.org/drawingml/2006/main" noGrp="1"/>
          </p:cNvSpPr>
          <p:nvPr/>
        </p:nvSpPr>
        <p:spPr>
          <a:xfrm xmlns:a="http://schemas.openxmlformats.org/drawingml/2006/main">
            <a:off x="609600" y="1438275"/>
            <a:ext cx="738187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650" b="1">
                <a:solidFill>
                  <a:srgbClr val="EDF5F1"/>
                </a:solidFill>
                <a:latin typeface="Aptos"/>
                <a:ea typeface="Aptos"/>
                <a:cs typeface="Aptos"/>
              </a:defRPr>
            </a:pPr>
            <a:r>
              <a:rPr sz="4650" b="1">
                <a:solidFill>
                  <a:srgbClr val="EDF5F1"/>
                </a:solidFill>
                <a:latin typeface="Aptos"/>
                <a:ea typeface="Aptos"/>
                <a:cs typeface="Aptos"/>
              </a:rPr>
              <a:t>Design the company launch swarm.</a:t>
            </a:r>
          </a:p>
        </p:txBody>
      </p:sp>
      <p:sp>
        <p:nvSpPr>
          <p:cNvPr id="4" name="text">
            <a:extLst xmlns:a="http://schemas.openxmlformats.org/drawingml/2006/main">
              <a:ext uri="{FF2B5EF4-FFF2-40B4-BE49-F238E27FC236}">
                <a16:creationId xmlns:a16="http://schemas.microsoft.com/office/drawing/2014/main" id="{B92D0E67-F740-4DD2-847D-80E4AFFBC1CE}"/>
              </a:ext>
            </a:extLst>
          </p:cNvPr>
          <p:cNvSpPr>
            <a:spLocks xmlns:a="http://schemas.openxmlformats.org/drawingml/2006/main" noGrp="1"/>
          </p:cNvSpPr>
          <p:nvPr/>
        </p:nvSpPr>
        <p:spPr>
          <a:xfrm xmlns:a="http://schemas.openxmlformats.org/drawingml/2006/main">
            <a:off x="609600" y="4000500"/>
            <a:ext cx="723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0">
                <a:solidFill>
                  <a:srgbClr val="61DFBF"/>
                </a:solidFill>
                <a:latin typeface="Aptos"/>
                <a:ea typeface="Aptos"/>
                <a:cs typeface="Aptos"/>
              </a:defRPr>
            </a:pPr>
            <a:r>
              <a:rPr sz="2475" b="0">
                <a:solidFill>
                  <a:srgbClr val="61DFBF"/>
                </a:solidFill>
                <a:latin typeface="Aptos"/>
                <a:ea typeface="Aptos"/>
                <a:cs typeface="Aptos"/>
              </a:rPr>
              <a:t>90 minutes to learn, build,</a:t>
            </a:r>
          </a:p>
          <a:p xmlns:a="http://schemas.openxmlformats.org/drawingml/2006/main">
            <a:pPr>
              <a:defRPr sz="2475" b="0">
                <a:solidFill>
                  <a:srgbClr val="61DFBF"/>
                </a:solidFill>
                <a:latin typeface="Aptos"/>
                <a:ea typeface="Aptos"/>
                <a:cs typeface="Aptos"/>
              </a:defRPr>
            </a:pPr>
            <a:r>
              <a:rPr sz="2475" b="0">
                <a:solidFill>
                  <a:srgbClr val="61DFBF"/>
                </a:solidFill>
                <a:latin typeface="Aptos"/>
                <a:ea typeface="Aptos"/>
                <a:cs typeface="Aptos"/>
              </a:rPr>
              <a:t>test and explain.</a:t>
            </a:r>
          </a:p>
        </p:txBody>
      </p:sp>
      <p:sp>
        <p:nvSpPr>
          <p:cNvPr id="5" name="text">
            <a:extLst xmlns:a="http://schemas.openxmlformats.org/drawingml/2006/main">
              <a:ext uri="{FF2B5EF4-FFF2-40B4-BE49-F238E27FC236}">
                <a16:creationId xmlns:a16="http://schemas.microsoft.com/office/drawing/2014/main" id="{CBCCAD17-0201-4B61-B946-9D7C9642D88D}"/>
              </a:ext>
            </a:extLst>
          </p:cNvPr>
          <p:cNvSpPr>
            <a:spLocks xmlns:a="http://schemas.openxmlformats.org/drawingml/2006/main" noGrp="1"/>
          </p:cNvSpPr>
          <p:nvPr/>
        </p:nvSpPr>
        <p:spPr>
          <a:xfrm xmlns:a="http://schemas.openxmlformats.org/drawingml/2006/main">
            <a:off x="609600" y="58102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DFBF"/>
                </a:solidFill>
                <a:latin typeface="Aptos"/>
                <a:ea typeface="Aptos"/>
                <a:cs typeface="Aptos"/>
              </a:defRPr>
            </a:pPr>
            <a:r>
              <a:rPr sz="1800" b="0">
                <a:solidFill>
                  <a:srgbClr val="61DFBF"/>
                </a:solidFill>
                <a:latin typeface="Aptos"/>
                <a:ea typeface="Aptos"/>
                <a:cs typeface="Aptos"/>
              </a:rPr>
              <a:t>Deliverable: a workflow map with owners and decision rights.</a:t>
            </a:r>
          </a:p>
        </p:txBody>
      </p:sp>
      <p:sp>
        <p:nvSpPr>
          <p:cNvPr id="6" name="shape">
            <a:extLst xmlns:a="http://schemas.openxmlformats.org/drawingml/2006/main">
              <a:ext uri="{FF2B5EF4-FFF2-40B4-BE49-F238E27FC236}">
                <a16:creationId xmlns:a16="http://schemas.microsoft.com/office/drawing/2014/main" id="{37A09EB0-166F-48F9-B96C-2D6AD52A3C56}"/>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BD3E0DF8-CABA-4AA7-8494-ECFA3F0875AF}"/>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8" name="text">
            <a:extLst xmlns:a="http://schemas.openxmlformats.org/drawingml/2006/main">
              <a:ext uri="{FF2B5EF4-FFF2-40B4-BE49-F238E27FC236}">
                <a16:creationId xmlns:a16="http://schemas.microsoft.com/office/drawing/2014/main" id="{55E5A19B-E85D-485C-89F0-AA0DF7C769AD}"/>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58</a:t>
            </a:r>
          </a:p>
        </p:txBody>
      </p:sp>
    </p:spTree>
    <p:extLst>
      <p:ext uri="{BB962C8B-B14F-4D97-AF65-F5344CB8AC3E}">
        <p14:creationId xmlns:p14="http://schemas.microsoft.com/office/powerpoint/2010/main" val="173188768"/>
      </p:ext>
    </p:extLst>
  </p:cSld>
</p:sld>
</file>

<file path=ppt/slides/slide59.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131609B4-67A5-43D1-9AC2-668D77693FBA}"/>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DAY 2 · SESSION 5 · 90 MINUTES</a:t>
            </a:r>
          </a:p>
        </p:txBody>
      </p:sp>
      <p:sp>
        <p:nvSpPr>
          <p:cNvPr id="2" name="text">
            <a:extLst xmlns:a="http://schemas.openxmlformats.org/drawingml/2006/main">
              <a:ext uri="{FF2B5EF4-FFF2-40B4-BE49-F238E27FC236}">
                <a16:creationId xmlns:a16="http://schemas.microsoft.com/office/drawing/2014/main" id="{AA2EA86A-1E73-44B6-8656-46DDFE656FED}"/>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Reconnect to yesterday’s work.</a:t>
            </a:r>
          </a:p>
        </p:txBody>
      </p:sp>
      <p:sp>
        <p:nvSpPr>
          <p:cNvPr id="3" name="text">
            <a:extLst xmlns:a="http://schemas.openxmlformats.org/drawingml/2006/main">
              <a:ext uri="{FF2B5EF4-FFF2-40B4-BE49-F238E27FC236}">
                <a16:creationId xmlns:a16="http://schemas.microsoft.com/office/drawing/2014/main" id="{C2053F90-4A8A-47B0-AA2F-72AB21C5F617}"/>
              </a:ext>
            </a:extLst>
          </p:cNvPr>
          <p:cNvSpPr>
            <a:spLocks xmlns:a="http://schemas.openxmlformats.org/drawingml/2006/main" noGrp="1"/>
          </p:cNvSpPr>
          <p:nvPr/>
        </p:nvSpPr>
        <p:spPr>
          <a:xfrm xmlns:a="http://schemas.openxmlformats.org/drawingml/2006/main">
            <a:off x="609600" y="221932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01</a:t>
            </a:r>
          </a:p>
        </p:txBody>
      </p:sp>
      <p:sp>
        <p:nvSpPr>
          <p:cNvPr id="4" name="text">
            <a:extLst xmlns:a="http://schemas.openxmlformats.org/drawingml/2006/main">
              <a:ext uri="{FF2B5EF4-FFF2-40B4-BE49-F238E27FC236}">
                <a16:creationId xmlns:a16="http://schemas.microsoft.com/office/drawing/2014/main" id="{11997026-30C8-44F1-82DA-6A533786CFCC}"/>
              </a:ext>
            </a:extLst>
          </p:cNvPr>
          <p:cNvSpPr>
            <a:spLocks xmlns:a="http://schemas.openxmlformats.org/drawingml/2006/main" noGrp="1"/>
          </p:cNvSpPr>
          <p:nvPr/>
        </p:nvSpPr>
        <p:spPr>
          <a:xfrm xmlns:a="http://schemas.openxmlformats.org/drawingml/2006/main">
            <a:off x="1314450" y="2190750"/>
            <a:ext cx="10267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Open the same project and team workspace.</a:t>
            </a:r>
          </a:p>
        </p:txBody>
      </p:sp>
      <p:sp>
        <p:nvSpPr>
          <p:cNvPr id="5" name="text">
            <a:extLst xmlns:a="http://schemas.openxmlformats.org/drawingml/2006/main">
              <a:ext uri="{FF2B5EF4-FFF2-40B4-BE49-F238E27FC236}">
                <a16:creationId xmlns:a16="http://schemas.microsoft.com/office/drawing/2014/main" id="{EA542447-B119-4189-A6F1-33CDFB14445E}"/>
              </a:ext>
            </a:extLst>
          </p:cNvPr>
          <p:cNvSpPr>
            <a:spLocks xmlns:a="http://schemas.openxmlformats.org/drawingml/2006/main" noGrp="1"/>
          </p:cNvSpPr>
          <p:nvPr/>
        </p:nvSpPr>
        <p:spPr>
          <a:xfrm xmlns:a="http://schemas.openxmlformats.org/drawingml/2006/main">
            <a:off x="609600" y="30480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02</a:t>
            </a:r>
          </a:p>
        </p:txBody>
      </p:sp>
      <p:sp>
        <p:nvSpPr>
          <p:cNvPr id="6" name="text">
            <a:extLst xmlns:a="http://schemas.openxmlformats.org/drawingml/2006/main">
              <a:ext uri="{FF2B5EF4-FFF2-40B4-BE49-F238E27FC236}">
                <a16:creationId xmlns:a16="http://schemas.microsoft.com/office/drawing/2014/main" id="{24C79565-278F-4119-8B17-EB6E088E83D7}"/>
              </a:ext>
            </a:extLst>
          </p:cNvPr>
          <p:cNvSpPr>
            <a:spLocks xmlns:a="http://schemas.openxmlformats.org/drawingml/2006/main" noGrp="1"/>
          </p:cNvSpPr>
          <p:nvPr/>
        </p:nvSpPr>
        <p:spPr>
          <a:xfrm xmlns:a="http://schemas.openxmlformats.org/drawingml/2006/main">
            <a:off x="1314450" y="3019425"/>
            <a:ext cx="10267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Check the live provider and saved notes.</a:t>
            </a:r>
          </a:p>
        </p:txBody>
      </p:sp>
      <p:sp>
        <p:nvSpPr>
          <p:cNvPr id="7" name="text">
            <a:extLst xmlns:a="http://schemas.openxmlformats.org/drawingml/2006/main">
              <a:ext uri="{FF2B5EF4-FFF2-40B4-BE49-F238E27FC236}">
                <a16:creationId xmlns:a16="http://schemas.microsoft.com/office/drawing/2014/main" id="{CA34C9E0-A762-4C96-BCA6-ECE4ECDFDA83}"/>
              </a:ext>
            </a:extLst>
          </p:cNvPr>
          <p:cNvSpPr>
            <a:spLocks xmlns:a="http://schemas.openxmlformats.org/drawingml/2006/main" noGrp="1"/>
          </p:cNvSpPr>
          <p:nvPr/>
        </p:nvSpPr>
        <p:spPr>
          <a:xfrm xmlns:a="http://schemas.openxmlformats.org/drawingml/2006/main">
            <a:off x="609600" y="387667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03</a:t>
            </a:r>
          </a:p>
        </p:txBody>
      </p:sp>
      <p:sp>
        <p:nvSpPr>
          <p:cNvPr id="8" name="text">
            <a:extLst xmlns:a="http://schemas.openxmlformats.org/drawingml/2006/main">
              <a:ext uri="{FF2B5EF4-FFF2-40B4-BE49-F238E27FC236}">
                <a16:creationId xmlns:a16="http://schemas.microsoft.com/office/drawing/2014/main" id="{19605E60-A299-4151-BFF4-B1469CD55420}"/>
              </a:ext>
            </a:extLst>
          </p:cNvPr>
          <p:cNvSpPr>
            <a:spLocks xmlns:a="http://schemas.openxmlformats.org/drawingml/2006/main" noGrp="1"/>
          </p:cNvSpPr>
          <p:nvPr/>
        </p:nvSpPr>
        <p:spPr>
          <a:xfrm xmlns:a="http://schemas.openxmlformats.org/drawingml/2006/main">
            <a:off x="1314450" y="3848100"/>
            <a:ext cx="10267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Reopen your specialist report.</a:t>
            </a:r>
          </a:p>
        </p:txBody>
      </p:sp>
      <p:sp>
        <p:nvSpPr>
          <p:cNvPr id="9" name="text">
            <a:extLst xmlns:a="http://schemas.openxmlformats.org/drawingml/2006/main">
              <a:ext uri="{FF2B5EF4-FFF2-40B4-BE49-F238E27FC236}">
                <a16:creationId xmlns:a16="http://schemas.microsoft.com/office/drawing/2014/main" id="{FFFCBC8B-0DFD-47A9-B152-1B1A39F57A9F}"/>
              </a:ext>
            </a:extLst>
          </p:cNvPr>
          <p:cNvSpPr>
            <a:spLocks xmlns:a="http://schemas.openxmlformats.org/drawingml/2006/main" noGrp="1"/>
          </p:cNvSpPr>
          <p:nvPr/>
        </p:nvSpPr>
        <p:spPr>
          <a:xfrm xmlns:a="http://schemas.openxmlformats.org/drawingml/2006/main">
            <a:off x="609600" y="47053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04</a:t>
            </a:r>
          </a:p>
        </p:txBody>
      </p:sp>
      <p:sp>
        <p:nvSpPr>
          <p:cNvPr id="10" name="text">
            <a:extLst xmlns:a="http://schemas.openxmlformats.org/drawingml/2006/main">
              <a:ext uri="{FF2B5EF4-FFF2-40B4-BE49-F238E27FC236}">
                <a16:creationId xmlns:a16="http://schemas.microsoft.com/office/drawing/2014/main" id="{545429C7-8EAF-4C6A-B2DF-1485F01EBA54}"/>
              </a:ext>
            </a:extLst>
          </p:cNvPr>
          <p:cNvSpPr>
            <a:spLocks xmlns:a="http://schemas.openxmlformats.org/drawingml/2006/main" noGrp="1"/>
          </p:cNvSpPr>
          <p:nvPr/>
        </p:nvSpPr>
        <p:spPr>
          <a:xfrm xmlns:a="http://schemas.openxmlformats.org/drawingml/2006/main">
            <a:off x="1314450" y="4676775"/>
            <a:ext cx="10267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Pair across specializations for the launch team.</a:t>
            </a:r>
          </a:p>
        </p:txBody>
      </p:sp>
      <p:sp>
        <p:nvSpPr>
          <p:cNvPr id="11" name="shape">
            <a:extLst xmlns:a="http://schemas.openxmlformats.org/drawingml/2006/main">
              <a:ext uri="{FF2B5EF4-FFF2-40B4-BE49-F238E27FC236}">
                <a16:creationId xmlns:a16="http://schemas.microsoft.com/office/drawing/2014/main" id="{555165D5-46D6-4C3B-9934-77DFAEFC1EA0}"/>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00CC4AA9-978A-441F-BF63-59307ECED7FA}"/>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13" name="text">
            <a:extLst xmlns:a="http://schemas.openxmlformats.org/drawingml/2006/main">
              <a:ext uri="{FF2B5EF4-FFF2-40B4-BE49-F238E27FC236}">
                <a16:creationId xmlns:a16="http://schemas.microsoft.com/office/drawing/2014/main" id="{072EAD7E-6BC6-475B-988E-2B0B1A4F96AC}"/>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59</a:t>
            </a:r>
          </a:p>
        </p:txBody>
      </p:sp>
    </p:spTree>
    <p:extLst>
      <p:ext uri="{BB962C8B-B14F-4D97-AF65-F5344CB8AC3E}">
        <p14:creationId xmlns:p14="http://schemas.microsoft.com/office/powerpoint/2010/main" val="2116878746"/>
      </p:ext>
    </p:extLst>
  </p:cSld>
</p:sld>
</file>

<file path=ppt/slides/slide60.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20" name="text">
            <a:extLst xmlns:a="http://schemas.openxmlformats.org/drawingml/2006/main">
              <a:ext uri="{FF2B5EF4-FFF2-40B4-BE49-F238E27FC236}">
                <a16:creationId xmlns:a16="http://schemas.microsoft.com/office/drawing/2014/main" id="{67F18A50-2784-4149-B5EF-81AFB5E0C761}"/>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DAY 2 · SESSION 5 · 90 MINUTES</a:t>
            </a:r>
          </a:p>
        </p:txBody>
      </p:sp>
      <p:sp>
        <p:nvSpPr>
          <p:cNvPr id="2" name="text">
            <a:extLst xmlns:a="http://schemas.openxmlformats.org/drawingml/2006/main">
              <a:ext uri="{FF2B5EF4-FFF2-40B4-BE49-F238E27FC236}">
                <a16:creationId xmlns:a16="http://schemas.microsoft.com/office/drawing/2014/main" id="{466ED9EF-A6AB-4FC1-835C-5ADE495E23AD}"/>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The swarm follows a dependency map.</a:t>
            </a:r>
          </a:p>
        </p:txBody>
      </p:sp>
      <p:sp>
        <p:nvSpPr>
          <p:cNvPr id="3" name="shape">
            <a:extLst xmlns:a="http://schemas.openxmlformats.org/drawingml/2006/main">
              <a:ext uri="{FF2B5EF4-FFF2-40B4-BE49-F238E27FC236}">
                <a16:creationId xmlns:a16="http://schemas.microsoft.com/office/drawing/2014/main" id="{5DDF0AEF-0B93-42C7-87E3-091FE2DB68AD}"/>
              </a:ext>
            </a:extLst>
          </p:cNvPr>
          <p:cNvSpPr>
            <a:spLocks xmlns:a="http://schemas.openxmlformats.org/drawingml/2006/main" noGrp="1"/>
          </p:cNvSpPr>
          <p:nvPr/>
        </p:nvSpPr>
        <p:spPr>
          <a:xfrm xmlns:a="http://schemas.openxmlformats.org/drawingml/2006/main">
            <a:off x="609600" y="3114675"/>
            <a:ext cx="2000250" cy="933450"/>
          </a:xfrm>
          <a:prstGeom xmlns:a="http://schemas.openxmlformats.org/drawingml/2006/main" prst="roundRect">
            <a:avLst>
              <a:gd name="adj" fmla="val 816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PRISM</a:t>
            </a:r>
          </a:p>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Analytics</a:t>
            </a:r>
          </a:p>
        </p:txBody>
      </p:sp>
      <p:sp>
        <p:nvSpPr>
          <p:cNvPr id="4" name="shape">
            <a:extLst xmlns:a="http://schemas.openxmlformats.org/drawingml/2006/main">
              <a:ext uri="{FF2B5EF4-FFF2-40B4-BE49-F238E27FC236}">
                <a16:creationId xmlns:a16="http://schemas.microsoft.com/office/drawing/2014/main" id="{20598059-8CEC-450B-9AED-04DD30E095A1}"/>
              </a:ext>
            </a:extLst>
          </p:cNvPr>
          <p:cNvSpPr>
            <a:spLocks xmlns:a="http://schemas.openxmlformats.org/drawingml/2006/main" noGrp="1"/>
          </p:cNvSpPr>
          <p:nvPr/>
        </p:nvSpPr>
        <p:spPr>
          <a:xfrm xmlns:a="http://schemas.openxmlformats.org/drawingml/2006/main">
            <a:off x="3448050" y="1981200"/>
            <a:ext cx="2228850" cy="762000"/>
          </a:xfrm>
          <a:prstGeom xmlns:a="http://schemas.openxmlformats.org/drawingml/2006/main" prst="roundRect">
            <a:avLst>
              <a:gd name="adj" fmla="val 10000"/>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PULSE · Marketing</a:t>
            </a:r>
          </a:p>
        </p:txBody>
      </p:sp>
      <p:sp>
        <p:nvSpPr>
          <p:cNvPr id="5" name="shape">
            <a:extLst xmlns:a="http://schemas.openxmlformats.org/drawingml/2006/main">
              <a:ext uri="{FF2B5EF4-FFF2-40B4-BE49-F238E27FC236}">
                <a16:creationId xmlns:a16="http://schemas.microsoft.com/office/drawing/2014/main" id="{E07C3581-6D1C-4261-9E9F-06E41E6B0D40}"/>
              </a:ext>
            </a:extLst>
          </p:cNvPr>
          <p:cNvSpPr>
            <a:spLocks xmlns:a="http://schemas.openxmlformats.org/drawingml/2006/main" noGrp="1"/>
          </p:cNvSpPr>
          <p:nvPr/>
        </p:nvSpPr>
        <p:spPr>
          <a:xfrm xmlns:a="http://schemas.openxmlformats.org/drawingml/2006/main">
            <a:off x="3448050" y="3105150"/>
            <a:ext cx="2228850" cy="762000"/>
          </a:xfrm>
          <a:prstGeom xmlns:a="http://schemas.openxmlformats.org/drawingml/2006/main" prst="roundRect">
            <a:avLst>
              <a:gd name="adj" fmla="val 10000"/>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NOVA · HR</a:t>
            </a:r>
          </a:p>
        </p:txBody>
      </p:sp>
      <p:sp>
        <p:nvSpPr>
          <p:cNvPr id="6" name="shape">
            <a:extLst xmlns:a="http://schemas.openxmlformats.org/drawingml/2006/main">
              <a:ext uri="{FF2B5EF4-FFF2-40B4-BE49-F238E27FC236}">
                <a16:creationId xmlns:a16="http://schemas.microsoft.com/office/drawing/2014/main" id="{C9656735-7B07-4B7A-96DD-8D9C9AD711C2}"/>
              </a:ext>
            </a:extLst>
          </p:cNvPr>
          <p:cNvSpPr>
            <a:spLocks xmlns:a="http://schemas.openxmlformats.org/drawingml/2006/main" noGrp="1"/>
          </p:cNvSpPr>
          <p:nvPr/>
        </p:nvSpPr>
        <p:spPr>
          <a:xfrm xmlns:a="http://schemas.openxmlformats.org/drawingml/2006/main">
            <a:off x="3448050" y="4229100"/>
            <a:ext cx="2228850" cy="762000"/>
          </a:xfrm>
          <a:prstGeom xmlns:a="http://schemas.openxmlformats.org/drawingml/2006/main" prst="roundRect">
            <a:avLst>
              <a:gd name="adj" fmla="val 10000"/>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ATLAS · Operations</a:t>
            </a:r>
          </a:p>
        </p:txBody>
      </p:sp>
      <p:sp>
        <p:nvSpPr>
          <p:cNvPr id="7" name="shape">
            <a:extLst xmlns:a="http://schemas.openxmlformats.org/drawingml/2006/main">
              <a:ext uri="{FF2B5EF4-FFF2-40B4-BE49-F238E27FC236}">
                <a16:creationId xmlns:a16="http://schemas.microsoft.com/office/drawing/2014/main" id="{537E2375-1B81-45F2-9470-5F46455B4394}"/>
              </a:ext>
            </a:extLst>
          </p:cNvPr>
          <p:cNvSpPr>
            <a:spLocks xmlns:a="http://schemas.openxmlformats.org/drawingml/2006/main" noGrp="1"/>
          </p:cNvSpPr>
          <p:nvPr/>
        </p:nvSpPr>
        <p:spPr>
          <a:xfrm xmlns:a="http://schemas.openxmlformats.org/drawingml/2006/main">
            <a:off x="6543675" y="3114675"/>
            <a:ext cx="2000250" cy="933450"/>
          </a:xfrm>
          <a:prstGeom xmlns:a="http://schemas.openxmlformats.org/drawingml/2006/main" prst="roundRect">
            <a:avLst>
              <a:gd name="adj" fmla="val 816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LEDGER</a:t>
            </a:r>
          </a:p>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Finance</a:t>
            </a:r>
          </a:p>
        </p:txBody>
      </p:sp>
      <p:sp>
        <p:nvSpPr>
          <p:cNvPr id="8" name="shape">
            <a:extLst xmlns:a="http://schemas.openxmlformats.org/drawingml/2006/main">
              <a:ext uri="{FF2B5EF4-FFF2-40B4-BE49-F238E27FC236}">
                <a16:creationId xmlns:a16="http://schemas.microsoft.com/office/drawing/2014/main" id="{84094390-F1BF-4A12-9B79-73C92066F426}"/>
              </a:ext>
            </a:extLst>
          </p:cNvPr>
          <p:cNvSpPr>
            <a:spLocks xmlns:a="http://schemas.openxmlformats.org/drawingml/2006/main" noGrp="1"/>
          </p:cNvSpPr>
          <p:nvPr/>
        </p:nvSpPr>
        <p:spPr>
          <a:xfrm xmlns:a="http://schemas.openxmlformats.org/drawingml/2006/main">
            <a:off x="9544050" y="3114675"/>
            <a:ext cx="2038350" cy="933450"/>
          </a:xfrm>
          <a:prstGeom xmlns:a="http://schemas.openxmlformats.org/drawingml/2006/main" prst="roundRect">
            <a:avLst>
              <a:gd name="adj" fmla="val 816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JARVIS</a:t>
            </a:r>
          </a:p>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Management</a:t>
            </a:r>
          </a:p>
        </p:txBody>
      </p:sp>
      <p:cxnSp>
        <p:nvCxnSpPr>
          <p:cNvPr id="28" name=""/>
          <p:cNvCxnSpPr>
            <a:stCxn xmlns:a="http://schemas.openxmlformats.org/drawingml/2006/main" id="3" idx="3"/>
            <a:endCxn xmlns:a="http://schemas.openxmlformats.org/drawingml/2006/main" id="4" idx="1"/>
          </p:cNvCxnSpPr>
          <p:nvPr/>
        </p:nvCxnSpPr>
        <p:spPr>
          <a:xfrm xmlns:a="http://schemas.openxmlformats.org/drawingml/2006/main" flipV="1">
            <a:off x="2609850" y="2362200"/>
            <a:ext cx="838200" cy="121920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9" name=""/>
          <p:cNvCxnSpPr>
            <a:stCxn xmlns:a="http://schemas.openxmlformats.org/drawingml/2006/main" id="3" idx="3"/>
            <a:endCxn xmlns:a="http://schemas.openxmlformats.org/drawingml/2006/main" id="5" idx="1"/>
          </p:cNvCxnSpPr>
          <p:nvPr/>
        </p:nvCxnSpPr>
        <p:spPr>
          <a:xfrm xmlns:a="http://schemas.openxmlformats.org/drawingml/2006/main" flipV="1">
            <a:off x="2609850" y="3486150"/>
            <a:ext cx="838200" cy="9525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30" name=""/>
          <p:cNvCxnSpPr>
            <a:stCxn xmlns:a="http://schemas.openxmlformats.org/drawingml/2006/main" id="3" idx="3"/>
            <a:endCxn xmlns:a="http://schemas.openxmlformats.org/drawingml/2006/main" id="6" idx="1"/>
          </p:cNvCxnSpPr>
          <p:nvPr/>
        </p:nvCxnSpPr>
        <p:spPr>
          <a:xfrm xmlns:a="http://schemas.openxmlformats.org/drawingml/2006/main">
            <a:off x="2609850" y="3581400"/>
            <a:ext cx="838200" cy="102870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31" name=""/>
          <p:cNvCxnSpPr>
            <a:stCxn xmlns:a="http://schemas.openxmlformats.org/drawingml/2006/main" id="4" idx="3"/>
            <a:endCxn xmlns:a="http://schemas.openxmlformats.org/drawingml/2006/main" id="7" idx="1"/>
          </p:cNvCxnSpPr>
          <p:nvPr/>
        </p:nvCxnSpPr>
        <p:spPr>
          <a:xfrm xmlns:a="http://schemas.openxmlformats.org/drawingml/2006/main">
            <a:off x="5676900" y="2362200"/>
            <a:ext cx="866775" cy="121920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32" name=""/>
          <p:cNvCxnSpPr>
            <a:stCxn xmlns:a="http://schemas.openxmlformats.org/drawingml/2006/main" id="5" idx="3"/>
            <a:endCxn xmlns:a="http://schemas.openxmlformats.org/drawingml/2006/main" id="7" idx="1"/>
          </p:cNvCxnSpPr>
          <p:nvPr/>
        </p:nvCxnSpPr>
        <p:spPr>
          <a:xfrm xmlns:a="http://schemas.openxmlformats.org/drawingml/2006/main">
            <a:off x="5676900" y="3486150"/>
            <a:ext cx="866775" cy="9525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33" name=""/>
          <p:cNvCxnSpPr>
            <a:stCxn xmlns:a="http://schemas.openxmlformats.org/drawingml/2006/main" id="6" idx="3"/>
            <a:endCxn xmlns:a="http://schemas.openxmlformats.org/drawingml/2006/main" id="7" idx="1"/>
          </p:cNvCxnSpPr>
          <p:nvPr/>
        </p:nvCxnSpPr>
        <p:spPr>
          <a:xfrm xmlns:a="http://schemas.openxmlformats.org/drawingml/2006/main" flipV="1">
            <a:off x="5676900" y="3581400"/>
            <a:ext cx="866775" cy="102870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34" name=""/>
          <p:cNvCxnSpPr>
            <a:stCxn xmlns:a="http://schemas.openxmlformats.org/drawingml/2006/main" id="7" idx="3"/>
            <a:endCxn xmlns:a="http://schemas.openxmlformats.org/drawingml/2006/main" id="8" idx="1"/>
          </p:cNvCxnSpPr>
          <p:nvPr/>
        </p:nvCxnSpPr>
        <p:spPr>
          <a:xfrm xmlns:a="http://schemas.openxmlformats.org/drawingml/2006/main">
            <a:off x="8543925" y="3581400"/>
            <a:ext cx="1000125" cy="0"/>
          </a:xfrm>
          <a:prstGeom xmlns:a="http://schemas.openxmlformats.org/drawingml/2006/main" prst="straightConnector1">
            <a:avLst/>
          </a:prstGeom>
          <a:ln xmlns:a="http://schemas.openxmlformats.org/drawingml/2006/main" w="19050">
            <a:solidFill>
              <a:srgbClr val="61DFBF"/>
            </a:solidFill>
            <a:tailEnd type="arrow" w="med" len="med"/>
          </a:ln>
        </p:spPr>
      </p:cxnSp>
      <p:sp>
        <p:nvSpPr>
          <p:cNvPr id="16" name="text">
            <a:extLst xmlns:a="http://schemas.openxmlformats.org/drawingml/2006/main">
              <a:ext uri="{FF2B5EF4-FFF2-40B4-BE49-F238E27FC236}">
                <a16:creationId xmlns:a16="http://schemas.microsoft.com/office/drawing/2014/main" id="{0323A608-357C-4104-A8A6-06FE04F796E6}"/>
              </a:ext>
            </a:extLst>
          </p:cNvPr>
          <p:cNvSpPr>
            <a:spLocks xmlns:a="http://schemas.openxmlformats.org/drawingml/2006/main" noGrp="1"/>
          </p:cNvSpPr>
          <p:nvPr/>
        </p:nvSpPr>
        <p:spPr>
          <a:xfrm xmlns:a="http://schemas.openxmlformats.org/drawingml/2006/main">
            <a:off x="609600" y="54673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61DFBF"/>
                </a:solidFill>
                <a:latin typeface="Aptos"/>
                <a:ea typeface="Aptos"/>
                <a:cs typeface="Aptos"/>
              </a:defRPr>
            </a:pPr>
            <a:r>
              <a:rPr sz="1875" b="0">
                <a:solidFill>
                  <a:srgbClr val="61DFBF"/>
                </a:solidFill>
                <a:latin typeface="Aptos"/>
                <a:ea typeface="Aptos"/>
                <a:cs typeface="Aptos"/>
              </a:rPr>
              <a:t>GM also receives all five complete specialist reports.</a:t>
            </a:r>
          </a:p>
        </p:txBody>
      </p:sp>
      <p:sp>
        <p:nvSpPr>
          <p:cNvPr id="17" name="shape">
            <a:extLst xmlns:a="http://schemas.openxmlformats.org/drawingml/2006/main">
              <a:ext uri="{FF2B5EF4-FFF2-40B4-BE49-F238E27FC236}">
                <a16:creationId xmlns:a16="http://schemas.microsoft.com/office/drawing/2014/main" id="{226DF89B-64D5-409A-8FD3-9E2E6CC1B192}"/>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34EAD300-FC1A-49E5-8561-98CFE7E2FCBE}"/>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19" name="text">
            <a:extLst xmlns:a="http://schemas.openxmlformats.org/drawingml/2006/main">
              <a:ext uri="{FF2B5EF4-FFF2-40B4-BE49-F238E27FC236}">
                <a16:creationId xmlns:a16="http://schemas.microsoft.com/office/drawing/2014/main" id="{AA91188F-6BD9-46D1-B96D-A10AF913217F}"/>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60</a:t>
            </a:r>
          </a:p>
        </p:txBody>
      </p:sp>
    </p:spTree>
    <p:extLst>
      <p:ext uri="{BB962C8B-B14F-4D97-AF65-F5344CB8AC3E}">
        <p14:creationId xmlns:p14="http://schemas.microsoft.com/office/powerpoint/2010/main" val="458888158"/>
      </p:ext>
    </p:extLst>
  </p:cSld>
</p:sld>
</file>

<file path=ppt/slides/slide61.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9" name="text">
            <a:extLst xmlns:a="http://schemas.openxmlformats.org/drawingml/2006/main">
              <a:ext uri="{FF2B5EF4-FFF2-40B4-BE49-F238E27FC236}">
                <a16:creationId xmlns:a16="http://schemas.microsoft.com/office/drawing/2014/main" id="{377AE7A4-1C22-4169-BEA3-454D6D7A3806}"/>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DAY 2 · SESSION 5 · 90 MINUTES</a:t>
            </a:r>
          </a:p>
        </p:txBody>
      </p:sp>
      <p:sp>
        <p:nvSpPr>
          <p:cNvPr id="2" name="text">
            <a:extLst xmlns:a="http://schemas.openxmlformats.org/drawingml/2006/main">
              <a:ext uri="{FF2B5EF4-FFF2-40B4-BE49-F238E27FC236}">
                <a16:creationId xmlns:a16="http://schemas.microsoft.com/office/drawing/2014/main" id="{D1EEE11D-3074-432A-B24D-8761EC8448E7}"/>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Three kinds of information stay separate.</a:t>
            </a:r>
          </a:p>
        </p:txBody>
      </p:sp>
      <p:sp>
        <p:nvSpPr>
          <p:cNvPr id="3" name="text">
            <a:extLst xmlns:a="http://schemas.openxmlformats.org/drawingml/2006/main">
              <a:ext uri="{FF2B5EF4-FFF2-40B4-BE49-F238E27FC236}">
                <a16:creationId xmlns:a16="http://schemas.microsoft.com/office/drawing/2014/main" id="{7A216A46-4369-4833-AEDC-B2CEAAC58772}"/>
              </a:ext>
            </a:extLst>
          </p:cNvPr>
          <p:cNvSpPr>
            <a:spLocks xmlns:a="http://schemas.openxmlformats.org/drawingml/2006/main" noGrp="1"/>
          </p:cNvSpPr>
          <p:nvPr/>
        </p:nvSpPr>
        <p:spPr>
          <a:xfrm xmlns:a="http://schemas.openxmlformats.org/drawingml/2006/main">
            <a:off x="609600" y="2381250"/>
            <a:ext cx="23145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Current run state</a:t>
            </a:r>
          </a:p>
        </p:txBody>
      </p:sp>
      <p:sp>
        <p:nvSpPr>
          <p:cNvPr id="4" name="text">
            <a:extLst xmlns:a="http://schemas.openxmlformats.org/drawingml/2006/main">
              <a:ext uri="{FF2B5EF4-FFF2-40B4-BE49-F238E27FC236}">
                <a16:creationId xmlns:a16="http://schemas.microsoft.com/office/drawing/2014/main" id="{F14ED5E8-DD87-447D-A0A9-967C0446C248}"/>
              </a:ext>
            </a:extLst>
          </p:cNvPr>
          <p:cNvSpPr>
            <a:spLocks xmlns:a="http://schemas.openxmlformats.org/drawingml/2006/main" noGrp="1"/>
          </p:cNvSpPr>
          <p:nvPr/>
        </p:nvSpPr>
        <p:spPr>
          <a:xfrm xmlns:a="http://schemas.openxmlformats.org/drawingml/2006/main">
            <a:off x="3133725" y="2381250"/>
            <a:ext cx="37433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Today’s shared clipboard</a:t>
            </a:r>
          </a:p>
        </p:txBody>
      </p:sp>
      <p:sp>
        <p:nvSpPr>
          <p:cNvPr id="5" name="text">
            <a:extLst xmlns:a="http://schemas.openxmlformats.org/drawingml/2006/main">
              <a:ext uri="{FF2B5EF4-FFF2-40B4-BE49-F238E27FC236}">
                <a16:creationId xmlns:a16="http://schemas.microsoft.com/office/drawing/2014/main" id="{3843545B-A262-480C-86F8-E98FCFDFCBC6}"/>
              </a:ext>
            </a:extLst>
          </p:cNvPr>
          <p:cNvSpPr>
            <a:spLocks xmlns:a="http://schemas.openxmlformats.org/drawingml/2006/main" noGrp="1"/>
          </p:cNvSpPr>
          <p:nvPr/>
        </p:nvSpPr>
        <p:spPr>
          <a:xfrm xmlns:a="http://schemas.openxmlformats.org/drawingml/2006/main">
            <a:off x="7086600" y="2381250"/>
            <a:ext cx="4286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Scenario + reports passed through the graph</a:t>
            </a:r>
          </a:p>
        </p:txBody>
      </p:sp>
      <p:sp>
        <p:nvSpPr>
          <p:cNvPr id="6" name="shape">
            <a:extLst xmlns:a="http://schemas.openxmlformats.org/drawingml/2006/main">
              <a:ext uri="{FF2B5EF4-FFF2-40B4-BE49-F238E27FC236}">
                <a16:creationId xmlns:a16="http://schemas.microsoft.com/office/drawing/2014/main" id="{735E8B83-0EE0-4D52-A187-5DF0772EF21C}"/>
              </a:ext>
            </a:extLst>
          </p:cNvPr>
          <p:cNvSpPr>
            <a:spLocks xmlns:a="http://schemas.openxmlformats.org/drawingml/2006/main" noGrp="1"/>
          </p:cNvSpPr>
          <p:nvPr/>
        </p:nvSpPr>
        <p:spPr>
          <a:xfrm xmlns:a="http://schemas.openxmlformats.org/drawingml/2006/main">
            <a:off x="609600" y="32289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19344769-79D0-4452-9F6D-1F6021F20160}"/>
              </a:ext>
            </a:extLst>
          </p:cNvPr>
          <p:cNvSpPr>
            <a:spLocks xmlns:a="http://schemas.openxmlformats.org/drawingml/2006/main" noGrp="1"/>
          </p:cNvSpPr>
          <p:nvPr/>
        </p:nvSpPr>
        <p:spPr>
          <a:xfrm xmlns:a="http://schemas.openxmlformats.org/drawingml/2006/main">
            <a:off x="609600" y="3333750"/>
            <a:ext cx="23145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Memory Vault</a:t>
            </a:r>
          </a:p>
        </p:txBody>
      </p:sp>
      <p:sp>
        <p:nvSpPr>
          <p:cNvPr id="8" name="text">
            <a:extLst xmlns:a="http://schemas.openxmlformats.org/drawingml/2006/main">
              <a:ext uri="{FF2B5EF4-FFF2-40B4-BE49-F238E27FC236}">
                <a16:creationId xmlns:a16="http://schemas.microsoft.com/office/drawing/2014/main" id="{A79BFA95-98A1-4560-8EDA-3B43E5F8E69E}"/>
              </a:ext>
            </a:extLst>
          </p:cNvPr>
          <p:cNvSpPr>
            <a:spLocks xmlns:a="http://schemas.openxmlformats.org/drawingml/2006/main" noGrp="1"/>
          </p:cNvSpPr>
          <p:nvPr/>
        </p:nvSpPr>
        <p:spPr>
          <a:xfrm xmlns:a="http://schemas.openxmlformats.org/drawingml/2006/main">
            <a:off x="3133725" y="3333750"/>
            <a:ext cx="37433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The saved filing cabinet</a:t>
            </a:r>
          </a:p>
        </p:txBody>
      </p:sp>
      <p:sp>
        <p:nvSpPr>
          <p:cNvPr id="9" name="text">
            <a:extLst xmlns:a="http://schemas.openxmlformats.org/drawingml/2006/main">
              <a:ext uri="{FF2B5EF4-FFF2-40B4-BE49-F238E27FC236}">
                <a16:creationId xmlns:a16="http://schemas.microsoft.com/office/drawing/2014/main" id="{7A9B4E05-1FB0-4D11-B0C5-4F39DEB4F570}"/>
              </a:ext>
            </a:extLst>
          </p:cNvPr>
          <p:cNvSpPr>
            <a:spLocks xmlns:a="http://schemas.openxmlformats.org/drawingml/2006/main" noGrp="1"/>
          </p:cNvSpPr>
          <p:nvPr/>
        </p:nvSpPr>
        <p:spPr>
          <a:xfrm xmlns:a="http://schemas.openxmlformats.org/drawingml/2006/main">
            <a:off x="7086600" y="3333750"/>
            <a:ext cx="4286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Source notes retrieved by matching words</a:t>
            </a:r>
          </a:p>
        </p:txBody>
      </p:sp>
      <p:sp>
        <p:nvSpPr>
          <p:cNvPr id="10" name="shape">
            <a:extLst xmlns:a="http://schemas.openxmlformats.org/drawingml/2006/main">
              <a:ext uri="{FF2B5EF4-FFF2-40B4-BE49-F238E27FC236}">
                <a16:creationId xmlns:a16="http://schemas.microsoft.com/office/drawing/2014/main" id="{BA06B1B4-B608-4EAA-A5FF-95C169E14F74}"/>
              </a:ext>
            </a:extLst>
          </p:cNvPr>
          <p:cNvSpPr>
            <a:spLocks xmlns:a="http://schemas.openxmlformats.org/drawingml/2006/main" noGrp="1"/>
          </p:cNvSpPr>
          <p:nvPr/>
        </p:nvSpPr>
        <p:spPr>
          <a:xfrm xmlns:a="http://schemas.openxmlformats.org/drawingml/2006/main">
            <a:off x="609600" y="41814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F1B52839-673D-4A94-8065-4563C9779AEC}"/>
              </a:ext>
            </a:extLst>
          </p:cNvPr>
          <p:cNvSpPr>
            <a:spLocks xmlns:a="http://schemas.openxmlformats.org/drawingml/2006/main" noGrp="1"/>
          </p:cNvSpPr>
          <p:nvPr/>
        </p:nvSpPr>
        <p:spPr>
          <a:xfrm xmlns:a="http://schemas.openxmlformats.org/drawingml/2006/main">
            <a:off x="609600" y="4286250"/>
            <a:ext cx="23145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Conversation history</a:t>
            </a:r>
          </a:p>
        </p:txBody>
      </p:sp>
      <p:sp>
        <p:nvSpPr>
          <p:cNvPr id="12" name="text">
            <a:extLst xmlns:a="http://schemas.openxmlformats.org/drawingml/2006/main">
              <a:ext uri="{FF2B5EF4-FFF2-40B4-BE49-F238E27FC236}">
                <a16:creationId xmlns:a16="http://schemas.microsoft.com/office/drawing/2014/main" id="{C3104D9E-6D1D-417D-B049-79CCD319CD5F}"/>
              </a:ext>
            </a:extLst>
          </p:cNvPr>
          <p:cNvSpPr>
            <a:spLocks xmlns:a="http://schemas.openxmlformats.org/drawingml/2006/main" noGrp="1"/>
          </p:cNvSpPr>
          <p:nvPr/>
        </p:nvSpPr>
        <p:spPr>
          <a:xfrm xmlns:a="http://schemas.openxmlformats.org/drawingml/2006/main">
            <a:off x="3133725" y="4286250"/>
            <a:ext cx="37433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The recent discussion</a:t>
            </a:r>
          </a:p>
        </p:txBody>
      </p:sp>
      <p:sp>
        <p:nvSpPr>
          <p:cNvPr id="13" name="text">
            <a:extLst xmlns:a="http://schemas.openxmlformats.org/drawingml/2006/main">
              <a:ext uri="{FF2B5EF4-FFF2-40B4-BE49-F238E27FC236}">
                <a16:creationId xmlns:a16="http://schemas.microsoft.com/office/drawing/2014/main" id="{CA7290A6-03C3-4484-A0FB-FF142596EDBE}"/>
              </a:ext>
            </a:extLst>
          </p:cNvPr>
          <p:cNvSpPr>
            <a:spLocks xmlns:a="http://schemas.openxmlformats.org/drawingml/2006/main" noGrp="1"/>
          </p:cNvSpPr>
          <p:nvPr/>
        </p:nvSpPr>
        <p:spPr>
          <a:xfrm xmlns:a="http://schemas.openxmlformats.org/drawingml/2006/main">
            <a:off x="7086600" y="4286250"/>
            <a:ext cx="4286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Saved separately for each team and agent</a:t>
            </a:r>
          </a:p>
        </p:txBody>
      </p:sp>
      <p:sp>
        <p:nvSpPr>
          <p:cNvPr id="14" name="shape">
            <a:extLst xmlns:a="http://schemas.openxmlformats.org/drawingml/2006/main">
              <a:ext uri="{FF2B5EF4-FFF2-40B4-BE49-F238E27FC236}">
                <a16:creationId xmlns:a16="http://schemas.microsoft.com/office/drawing/2014/main" id="{B0066627-C8E9-4941-B5EC-1A4B092B7FE4}"/>
              </a:ext>
            </a:extLst>
          </p:cNvPr>
          <p:cNvSpPr>
            <a:spLocks xmlns:a="http://schemas.openxmlformats.org/drawingml/2006/main" noGrp="1"/>
          </p:cNvSpPr>
          <p:nvPr/>
        </p:nvSpPr>
        <p:spPr>
          <a:xfrm xmlns:a="http://schemas.openxmlformats.org/drawingml/2006/main">
            <a:off x="609600" y="51339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61BF8902-F4BC-4689-9F7D-7AE814C6CB2F}"/>
              </a:ext>
            </a:extLst>
          </p:cNvPr>
          <p:cNvSpPr>
            <a:spLocks xmlns:a="http://schemas.openxmlformats.org/drawingml/2006/main" noGrp="1"/>
          </p:cNvSpPr>
          <p:nvPr/>
        </p:nvSpPr>
        <p:spPr>
          <a:xfrm xmlns:a="http://schemas.openxmlformats.org/drawingml/2006/main">
            <a:off x="609600" y="58007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All three are local. Team IDs are not passwords or cloud accounts.</a:t>
            </a:r>
          </a:p>
        </p:txBody>
      </p:sp>
      <p:sp>
        <p:nvSpPr>
          <p:cNvPr id="16" name="shape">
            <a:extLst xmlns:a="http://schemas.openxmlformats.org/drawingml/2006/main">
              <a:ext uri="{FF2B5EF4-FFF2-40B4-BE49-F238E27FC236}">
                <a16:creationId xmlns:a16="http://schemas.microsoft.com/office/drawing/2014/main" id="{AC364817-7D03-40FD-989D-38B297CBA15E}"/>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A00A55BF-711B-41C7-868A-F966861BE7C2}"/>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18" name="text">
            <a:extLst xmlns:a="http://schemas.openxmlformats.org/drawingml/2006/main">
              <a:ext uri="{FF2B5EF4-FFF2-40B4-BE49-F238E27FC236}">
                <a16:creationId xmlns:a16="http://schemas.microsoft.com/office/drawing/2014/main" id="{15ED81EC-AC90-46C0-AFBA-AD28743987F8}"/>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61</a:t>
            </a:r>
          </a:p>
        </p:txBody>
      </p:sp>
    </p:spTree>
    <p:extLst>
      <p:ext uri="{BB962C8B-B14F-4D97-AF65-F5344CB8AC3E}">
        <p14:creationId xmlns:p14="http://schemas.microsoft.com/office/powerpoint/2010/main" val="6814154"/>
      </p:ext>
    </p:extLst>
  </p:cSld>
</p:sld>
</file>

<file path=ppt/slides/slide62.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B2F438E0-DA36-4E1A-B218-6A88C263ECD7}"/>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DAY 2 · SESSION 5 · 90 MINUTES</a:t>
            </a:r>
          </a:p>
        </p:txBody>
      </p:sp>
      <p:sp>
        <p:nvSpPr>
          <p:cNvPr id="2" name="text">
            <a:extLst xmlns:a="http://schemas.openxmlformats.org/drawingml/2006/main">
              <a:ext uri="{FF2B5EF4-FFF2-40B4-BE49-F238E27FC236}">
                <a16:creationId xmlns:a16="http://schemas.microsoft.com/office/drawing/2014/main" id="{253C09DC-5114-4799-99E0-A6E99EF303A5}"/>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Memory is a filing cabinet, not a mind.</a:t>
            </a:r>
          </a:p>
        </p:txBody>
      </p:sp>
      <p:sp>
        <p:nvSpPr>
          <p:cNvPr id="3" name="flow-node">
            <a:extLst xmlns:a="http://schemas.openxmlformats.org/drawingml/2006/main">
              <a:ext uri="{FF2B5EF4-FFF2-40B4-BE49-F238E27FC236}">
                <a16:creationId xmlns:a16="http://schemas.microsoft.com/office/drawing/2014/main" id="{CDD68865-FFC4-4F90-A4E9-51121225496F}"/>
              </a:ext>
            </a:extLst>
          </p:cNvPr>
          <p:cNvSpPr>
            <a:spLocks xmlns:a="http://schemas.openxmlformats.org/drawingml/2006/main" noGrp="1"/>
          </p:cNvSpPr>
          <p:nvPr/>
        </p:nvSpPr>
        <p:spPr>
          <a:xfrm xmlns:a="http://schemas.openxmlformats.org/drawingml/2006/main">
            <a:off x="609600"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Save a source note</a:t>
            </a:r>
          </a:p>
        </p:txBody>
      </p:sp>
      <p:sp>
        <p:nvSpPr>
          <p:cNvPr id="4" name="flow-node">
            <a:extLst xmlns:a="http://schemas.openxmlformats.org/drawingml/2006/main">
              <a:ext uri="{FF2B5EF4-FFF2-40B4-BE49-F238E27FC236}">
                <a16:creationId xmlns:a16="http://schemas.microsoft.com/office/drawing/2014/main" id="{02626CE1-81CC-4D18-A67E-38D2CC4C9D69}"/>
              </a:ext>
            </a:extLst>
          </p:cNvPr>
          <p:cNvSpPr>
            <a:spLocks xmlns:a="http://schemas.openxmlformats.org/drawingml/2006/main" noGrp="1"/>
          </p:cNvSpPr>
          <p:nvPr/>
        </p:nvSpPr>
        <p:spPr>
          <a:xfrm xmlns:a="http://schemas.openxmlformats.org/drawingml/2006/main">
            <a:off x="3424238"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Search for matching words</a:t>
            </a:r>
          </a:p>
        </p:txBody>
      </p:sp>
      <p:sp>
        <p:nvSpPr>
          <p:cNvPr id="5" name="flow-node">
            <a:extLst xmlns:a="http://schemas.openxmlformats.org/drawingml/2006/main">
              <a:ext uri="{FF2B5EF4-FFF2-40B4-BE49-F238E27FC236}">
                <a16:creationId xmlns:a16="http://schemas.microsoft.com/office/drawing/2014/main" id="{0DE9837C-3FB1-4301-A5C6-400ED2383CCA}"/>
              </a:ext>
            </a:extLst>
          </p:cNvPr>
          <p:cNvSpPr>
            <a:spLocks xmlns:a="http://schemas.openxmlformats.org/drawingml/2006/main" noGrp="1"/>
          </p:cNvSpPr>
          <p:nvPr/>
        </p:nvSpPr>
        <p:spPr>
          <a:xfrm xmlns:a="http://schemas.openxmlformats.org/drawingml/2006/main">
            <a:off x="6238875"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Return an excerpt</a:t>
            </a:r>
          </a:p>
        </p:txBody>
      </p:sp>
      <p:sp>
        <p:nvSpPr>
          <p:cNvPr id="6" name="flow-node">
            <a:extLst xmlns:a="http://schemas.openxmlformats.org/drawingml/2006/main">
              <a:ext uri="{FF2B5EF4-FFF2-40B4-BE49-F238E27FC236}">
                <a16:creationId xmlns:a16="http://schemas.microsoft.com/office/drawing/2014/main" id="{8D1D9C8C-796D-43CD-9F0B-D9ED0CB82363}"/>
              </a:ext>
            </a:extLst>
          </p:cNvPr>
          <p:cNvSpPr>
            <a:spLocks xmlns:a="http://schemas.openxmlformats.org/drawingml/2006/main" noGrp="1"/>
          </p:cNvSpPr>
          <p:nvPr/>
        </p:nvSpPr>
        <p:spPr>
          <a:xfrm xmlns:a="http://schemas.openxmlformats.org/drawingml/2006/main">
            <a:off x="9053513"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Cite the source</a:t>
            </a:r>
          </a:p>
        </p:txBody>
      </p:sp>
      <p:cxnSp>
        <p:nvCxnSpPr>
          <p:cNvPr id="20" name=""/>
          <p:cNvCxnSpPr>
            <a:stCxn xmlns:a="http://schemas.openxmlformats.org/drawingml/2006/main" id="3" idx="3"/>
            <a:endCxn xmlns:a="http://schemas.openxmlformats.org/drawingml/2006/main" id="4" idx="1"/>
          </p:cNvCxnSpPr>
          <p:nvPr/>
        </p:nvCxnSpPr>
        <p:spPr>
          <a:xfrm xmlns:a="http://schemas.openxmlformats.org/drawingml/2006/main">
            <a:off x="3138488"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1" name=""/>
          <p:cNvCxnSpPr>
            <a:stCxn xmlns:a="http://schemas.openxmlformats.org/drawingml/2006/main" id="4" idx="3"/>
            <a:endCxn xmlns:a="http://schemas.openxmlformats.org/drawingml/2006/main" id="5" idx="1"/>
          </p:cNvCxnSpPr>
          <p:nvPr/>
        </p:nvCxnSpPr>
        <p:spPr>
          <a:xfrm xmlns:a="http://schemas.openxmlformats.org/drawingml/2006/main">
            <a:off x="5953126" y="3390900"/>
            <a:ext cx="285749"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2" name=""/>
          <p:cNvCxnSpPr>
            <a:stCxn xmlns:a="http://schemas.openxmlformats.org/drawingml/2006/main" id="5" idx="3"/>
            <a:endCxn xmlns:a="http://schemas.openxmlformats.org/drawingml/2006/main" id="6" idx="1"/>
          </p:cNvCxnSpPr>
          <p:nvPr/>
        </p:nvCxnSpPr>
        <p:spPr>
          <a:xfrm xmlns:a="http://schemas.openxmlformats.org/drawingml/2006/main">
            <a:off x="8767763"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sp>
        <p:nvSpPr>
          <p:cNvPr id="10" name="text">
            <a:extLst xmlns:a="http://schemas.openxmlformats.org/drawingml/2006/main">
              <a:ext uri="{FF2B5EF4-FFF2-40B4-BE49-F238E27FC236}">
                <a16:creationId xmlns:a16="http://schemas.microsoft.com/office/drawing/2014/main" id="{BB672FE6-7A3E-435F-93D0-EC01CDA39574}"/>
              </a:ext>
            </a:extLst>
          </p:cNvPr>
          <p:cNvSpPr>
            <a:spLocks xmlns:a="http://schemas.openxmlformats.org/drawingml/2006/main" noGrp="1"/>
          </p:cNvSpPr>
          <p:nvPr/>
        </p:nvSpPr>
        <p:spPr>
          <a:xfrm xmlns:a="http://schemas.openxmlformats.org/drawingml/2006/main">
            <a:off x="609600" y="50673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DFBF"/>
                </a:solidFill>
                <a:latin typeface="Aptos"/>
                <a:ea typeface="Aptos"/>
                <a:cs typeface="Aptos"/>
              </a:defRPr>
            </a:pPr>
            <a:r>
              <a:rPr sz="1800" b="0">
                <a:solidFill>
                  <a:srgbClr val="61DFBF"/>
                </a:solidFill>
                <a:latin typeface="Aptos"/>
                <a:ea typeface="Aptos"/>
                <a:cs typeface="Aptos"/>
              </a:rPr>
              <a:t>This app uses keyword retrieval. It does not use a vector database.</a:t>
            </a:r>
          </a:p>
        </p:txBody>
      </p:sp>
      <p:sp>
        <p:nvSpPr>
          <p:cNvPr id="11" name="shape">
            <a:extLst xmlns:a="http://schemas.openxmlformats.org/drawingml/2006/main">
              <a:ext uri="{FF2B5EF4-FFF2-40B4-BE49-F238E27FC236}">
                <a16:creationId xmlns:a16="http://schemas.microsoft.com/office/drawing/2014/main" id="{DB8F1B4C-E513-4C83-A459-C2E272CBC7D2}"/>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E2A5F97A-AFA0-4535-8031-22005D902819}"/>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13" name="text">
            <a:extLst xmlns:a="http://schemas.openxmlformats.org/drawingml/2006/main">
              <a:ext uri="{FF2B5EF4-FFF2-40B4-BE49-F238E27FC236}">
                <a16:creationId xmlns:a16="http://schemas.microsoft.com/office/drawing/2014/main" id="{FC303341-CFE4-4992-BDA4-DBE1BA5D58F1}"/>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62</a:t>
            </a:r>
          </a:p>
        </p:txBody>
      </p:sp>
    </p:spTree>
    <p:extLst>
      <p:ext uri="{BB962C8B-B14F-4D97-AF65-F5344CB8AC3E}">
        <p14:creationId xmlns:p14="http://schemas.microsoft.com/office/powerpoint/2010/main" val="1769909731"/>
      </p:ext>
    </p:extLst>
  </p:cSld>
</p:sld>
</file>

<file path=ppt/slides/slide63.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22" name="text">
            <a:extLst xmlns:a="http://schemas.openxmlformats.org/drawingml/2006/main">
              <a:ext uri="{FF2B5EF4-FFF2-40B4-BE49-F238E27FC236}">
                <a16:creationId xmlns:a16="http://schemas.microsoft.com/office/drawing/2014/main" id="{74DE081B-445E-4340-9256-AFB743657BD4}"/>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DAY 2 · SESSION 5 · 90 MINUTES</a:t>
            </a:r>
          </a:p>
        </p:txBody>
      </p:sp>
      <p:sp>
        <p:nvSpPr>
          <p:cNvPr id="2" name="text">
            <a:extLst xmlns:a="http://schemas.openxmlformats.org/drawingml/2006/main">
              <a:ext uri="{FF2B5EF4-FFF2-40B4-BE49-F238E27FC236}">
                <a16:creationId xmlns:a16="http://schemas.microsoft.com/office/drawing/2014/main" id="{67F264B8-2443-49EA-B56F-4396F6480843}"/>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Every hand-off needs an explicit contract.</a:t>
            </a:r>
          </a:p>
        </p:txBody>
      </p:sp>
      <p:sp>
        <p:nvSpPr>
          <p:cNvPr id="3" name="text">
            <a:extLst xmlns:a="http://schemas.openxmlformats.org/drawingml/2006/main">
              <a:ext uri="{FF2B5EF4-FFF2-40B4-BE49-F238E27FC236}">
                <a16:creationId xmlns:a16="http://schemas.microsoft.com/office/drawing/2014/main" id="{CC33E563-413C-4C37-8315-823D68C0169B}"/>
              </a:ext>
            </a:extLst>
          </p:cNvPr>
          <p:cNvSpPr>
            <a:spLocks xmlns:a="http://schemas.openxmlformats.org/drawingml/2006/main" noGrp="1"/>
          </p:cNvSpPr>
          <p:nvPr/>
        </p:nvSpPr>
        <p:spPr>
          <a:xfrm xmlns:a="http://schemas.openxmlformats.org/drawingml/2006/main">
            <a:off x="609600" y="2095500"/>
            <a:ext cx="2343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From</a:t>
            </a:r>
          </a:p>
        </p:txBody>
      </p:sp>
      <p:sp>
        <p:nvSpPr>
          <p:cNvPr id="4" name="text">
            <a:extLst xmlns:a="http://schemas.openxmlformats.org/drawingml/2006/main">
              <a:ext uri="{FF2B5EF4-FFF2-40B4-BE49-F238E27FC236}">
                <a16:creationId xmlns:a16="http://schemas.microsoft.com/office/drawing/2014/main" id="{56363C9C-6FA7-41B5-AA4A-0F5926AC234C}"/>
              </a:ext>
            </a:extLst>
          </p:cNvPr>
          <p:cNvSpPr>
            <a:spLocks xmlns:a="http://schemas.openxmlformats.org/drawingml/2006/main" noGrp="1"/>
          </p:cNvSpPr>
          <p:nvPr/>
        </p:nvSpPr>
        <p:spPr>
          <a:xfrm xmlns:a="http://schemas.openxmlformats.org/drawingml/2006/main">
            <a:off x="3162300" y="2095500"/>
            <a:ext cx="3952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To</a:t>
            </a:r>
          </a:p>
        </p:txBody>
      </p:sp>
      <p:sp>
        <p:nvSpPr>
          <p:cNvPr id="5" name="text">
            <a:extLst xmlns:a="http://schemas.openxmlformats.org/drawingml/2006/main">
              <a:ext uri="{FF2B5EF4-FFF2-40B4-BE49-F238E27FC236}">
                <a16:creationId xmlns:a16="http://schemas.microsoft.com/office/drawing/2014/main" id="{20F1740B-45AE-4044-8D10-6B088681B770}"/>
              </a:ext>
            </a:extLst>
          </p:cNvPr>
          <p:cNvSpPr>
            <a:spLocks xmlns:a="http://schemas.openxmlformats.org/drawingml/2006/main" noGrp="1"/>
          </p:cNvSpPr>
          <p:nvPr/>
        </p:nvSpPr>
        <p:spPr>
          <a:xfrm xmlns:a="http://schemas.openxmlformats.org/drawingml/2006/main">
            <a:off x="7324725" y="2095500"/>
            <a:ext cx="4048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Required information</a:t>
            </a:r>
          </a:p>
        </p:txBody>
      </p:sp>
      <p:sp>
        <p:nvSpPr>
          <p:cNvPr id="6" name="shape">
            <a:extLst xmlns:a="http://schemas.openxmlformats.org/drawingml/2006/main">
              <a:ext uri="{FF2B5EF4-FFF2-40B4-BE49-F238E27FC236}">
                <a16:creationId xmlns:a16="http://schemas.microsoft.com/office/drawing/2014/main" id="{2FF91832-EB95-4E18-A2C3-4844E1885322}"/>
              </a:ext>
            </a:extLst>
          </p:cNvPr>
          <p:cNvSpPr>
            <a:spLocks xmlns:a="http://schemas.openxmlformats.org/drawingml/2006/main" noGrp="1"/>
          </p:cNvSpPr>
          <p:nvPr/>
        </p:nvSpPr>
        <p:spPr>
          <a:xfrm xmlns:a="http://schemas.openxmlformats.org/drawingml/2006/main">
            <a:off x="609600" y="25050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E652CD46-60F6-45B9-99CA-F8C96A19DA91}"/>
              </a:ext>
            </a:extLst>
          </p:cNvPr>
          <p:cNvSpPr>
            <a:spLocks xmlns:a="http://schemas.openxmlformats.org/drawingml/2006/main" noGrp="1"/>
          </p:cNvSpPr>
          <p:nvPr/>
        </p:nvSpPr>
        <p:spPr>
          <a:xfrm xmlns:a="http://schemas.openxmlformats.org/drawingml/2006/main">
            <a:off x="609600" y="2676525"/>
            <a:ext cx="23431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Analytics</a:t>
            </a:r>
          </a:p>
        </p:txBody>
      </p:sp>
      <p:sp>
        <p:nvSpPr>
          <p:cNvPr id="8" name="text">
            <a:extLst xmlns:a="http://schemas.openxmlformats.org/drawingml/2006/main">
              <a:ext uri="{FF2B5EF4-FFF2-40B4-BE49-F238E27FC236}">
                <a16:creationId xmlns:a16="http://schemas.microsoft.com/office/drawing/2014/main" id="{B6A20352-4F91-4591-961C-A44B86832AB6}"/>
              </a:ext>
            </a:extLst>
          </p:cNvPr>
          <p:cNvSpPr>
            <a:spLocks xmlns:a="http://schemas.openxmlformats.org/drawingml/2006/main" noGrp="1"/>
          </p:cNvSpPr>
          <p:nvPr/>
        </p:nvSpPr>
        <p:spPr>
          <a:xfrm xmlns:a="http://schemas.openxmlformats.org/drawingml/2006/main">
            <a:off x="3162300" y="2676525"/>
            <a:ext cx="3952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Marketing / HR / Operations</a:t>
            </a:r>
          </a:p>
        </p:txBody>
      </p:sp>
      <p:sp>
        <p:nvSpPr>
          <p:cNvPr id="9" name="text">
            <a:extLst xmlns:a="http://schemas.openxmlformats.org/drawingml/2006/main">
              <a:ext uri="{FF2B5EF4-FFF2-40B4-BE49-F238E27FC236}">
                <a16:creationId xmlns:a16="http://schemas.microsoft.com/office/drawing/2014/main" id="{CAE160A3-89D6-45F7-AF21-43D2767CE5B6}"/>
              </a:ext>
            </a:extLst>
          </p:cNvPr>
          <p:cNvSpPr>
            <a:spLocks xmlns:a="http://schemas.openxmlformats.org/drawingml/2006/main" noGrp="1"/>
          </p:cNvSpPr>
          <p:nvPr/>
        </p:nvSpPr>
        <p:spPr>
          <a:xfrm xmlns:a="http://schemas.openxmlformats.org/drawingml/2006/main">
            <a:off x="7324725" y="2676525"/>
            <a:ext cx="4048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Signals and their limitations</a:t>
            </a:r>
          </a:p>
        </p:txBody>
      </p:sp>
      <p:sp>
        <p:nvSpPr>
          <p:cNvPr id="10" name="shape">
            <a:extLst xmlns:a="http://schemas.openxmlformats.org/drawingml/2006/main">
              <a:ext uri="{FF2B5EF4-FFF2-40B4-BE49-F238E27FC236}">
                <a16:creationId xmlns:a16="http://schemas.microsoft.com/office/drawing/2014/main" id="{429BCC8A-C61C-4F54-9537-677ECF33CCCC}"/>
              </a:ext>
            </a:extLst>
          </p:cNvPr>
          <p:cNvSpPr>
            <a:spLocks xmlns:a="http://schemas.openxmlformats.org/drawingml/2006/main" noGrp="1"/>
          </p:cNvSpPr>
          <p:nvPr/>
        </p:nvSpPr>
        <p:spPr>
          <a:xfrm xmlns:a="http://schemas.openxmlformats.org/drawingml/2006/main">
            <a:off x="609600" y="33623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0107A4EA-5564-4068-9ACD-30B2A11D73E1}"/>
              </a:ext>
            </a:extLst>
          </p:cNvPr>
          <p:cNvSpPr>
            <a:spLocks xmlns:a="http://schemas.openxmlformats.org/drawingml/2006/main" noGrp="1"/>
          </p:cNvSpPr>
          <p:nvPr/>
        </p:nvSpPr>
        <p:spPr>
          <a:xfrm xmlns:a="http://schemas.openxmlformats.org/drawingml/2006/main">
            <a:off x="609600" y="3467100"/>
            <a:ext cx="23431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Marketing + HR + Operations</a:t>
            </a:r>
          </a:p>
        </p:txBody>
      </p:sp>
      <p:sp>
        <p:nvSpPr>
          <p:cNvPr id="12" name="text">
            <a:extLst xmlns:a="http://schemas.openxmlformats.org/drawingml/2006/main">
              <a:ext uri="{FF2B5EF4-FFF2-40B4-BE49-F238E27FC236}">
                <a16:creationId xmlns:a16="http://schemas.microsoft.com/office/drawing/2014/main" id="{167A2B9F-7DE8-4499-A325-69E609BA5B49}"/>
              </a:ext>
            </a:extLst>
          </p:cNvPr>
          <p:cNvSpPr>
            <a:spLocks xmlns:a="http://schemas.openxmlformats.org/drawingml/2006/main" noGrp="1"/>
          </p:cNvSpPr>
          <p:nvPr/>
        </p:nvSpPr>
        <p:spPr>
          <a:xfrm xmlns:a="http://schemas.openxmlformats.org/drawingml/2006/main">
            <a:off x="3162300" y="3467100"/>
            <a:ext cx="3952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Finance</a:t>
            </a:r>
          </a:p>
        </p:txBody>
      </p:sp>
      <p:sp>
        <p:nvSpPr>
          <p:cNvPr id="13" name="text">
            <a:extLst xmlns:a="http://schemas.openxmlformats.org/drawingml/2006/main">
              <a:ext uri="{FF2B5EF4-FFF2-40B4-BE49-F238E27FC236}">
                <a16:creationId xmlns:a16="http://schemas.microsoft.com/office/drawing/2014/main" id="{4D4D5588-D999-4364-830D-D3BBF9162B07}"/>
              </a:ext>
            </a:extLst>
          </p:cNvPr>
          <p:cNvSpPr>
            <a:spLocks xmlns:a="http://schemas.openxmlformats.org/drawingml/2006/main" noGrp="1"/>
          </p:cNvSpPr>
          <p:nvPr/>
        </p:nvSpPr>
        <p:spPr>
          <a:xfrm xmlns:a="http://schemas.openxmlformats.org/drawingml/2006/main">
            <a:off x="7324725" y="3467100"/>
            <a:ext cx="4048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Spend, staffing and deliverable capacity</a:t>
            </a:r>
          </a:p>
        </p:txBody>
      </p:sp>
      <p:sp>
        <p:nvSpPr>
          <p:cNvPr id="14" name="shape">
            <a:extLst xmlns:a="http://schemas.openxmlformats.org/drawingml/2006/main">
              <a:ext uri="{FF2B5EF4-FFF2-40B4-BE49-F238E27FC236}">
                <a16:creationId xmlns:a16="http://schemas.microsoft.com/office/drawing/2014/main" id="{60465A89-13CC-4FEB-8591-69FFBAA93A24}"/>
              </a:ext>
            </a:extLst>
          </p:cNvPr>
          <p:cNvSpPr>
            <a:spLocks xmlns:a="http://schemas.openxmlformats.org/drawingml/2006/main" noGrp="1"/>
          </p:cNvSpPr>
          <p:nvPr/>
        </p:nvSpPr>
        <p:spPr>
          <a:xfrm xmlns:a="http://schemas.openxmlformats.org/drawingml/2006/main">
            <a:off x="609600" y="415290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77287210-05C4-4C44-9FC1-C11BA51CD328}"/>
              </a:ext>
            </a:extLst>
          </p:cNvPr>
          <p:cNvSpPr>
            <a:spLocks xmlns:a="http://schemas.openxmlformats.org/drawingml/2006/main" noGrp="1"/>
          </p:cNvSpPr>
          <p:nvPr/>
        </p:nvSpPr>
        <p:spPr>
          <a:xfrm xmlns:a="http://schemas.openxmlformats.org/drawingml/2006/main">
            <a:off x="609600" y="4257675"/>
            <a:ext cx="23431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All five specialists</a:t>
            </a:r>
          </a:p>
        </p:txBody>
      </p:sp>
      <p:sp>
        <p:nvSpPr>
          <p:cNvPr id="16" name="text">
            <a:extLst xmlns:a="http://schemas.openxmlformats.org/drawingml/2006/main">
              <a:ext uri="{FF2B5EF4-FFF2-40B4-BE49-F238E27FC236}">
                <a16:creationId xmlns:a16="http://schemas.microsoft.com/office/drawing/2014/main" id="{6E325366-DF9C-4B7E-A85F-AF156B90F625}"/>
              </a:ext>
            </a:extLst>
          </p:cNvPr>
          <p:cNvSpPr>
            <a:spLocks xmlns:a="http://schemas.openxmlformats.org/drawingml/2006/main" noGrp="1"/>
          </p:cNvSpPr>
          <p:nvPr/>
        </p:nvSpPr>
        <p:spPr>
          <a:xfrm xmlns:a="http://schemas.openxmlformats.org/drawingml/2006/main">
            <a:off x="3162300" y="4257675"/>
            <a:ext cx="3952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General Management</a:t>
            </a:r>
          </a:p>
        </p:txBody>
      </p:sp>
      <p:sp>
        <p:nvSpPr>
          <p:cNvPr id="17" name="text">
            <a:extLst xmlns:a="http://schemas.openxmlformats.org/drawingml/2006/main">
              <a:ext uri="{FF2B5EF4-FFF2-40B4-BE49-F238E27FC236}">
                <a16:creationId xmlns:a16="http://schemas.microsoft.com/office/drawing/2014/main" id="{F6FA31D1-ED1D-44CD-BBE5-AAA588D96F6C}"/>
              </a:ext>
            </a:extLst>
          </p:cNvPr>
          <p:cNvSpPr>
            <a:spLocks xmlns:a="http://schemas.openxmlformats.org/drawingml/2006/main" noGrp="1"/>
          </p:cNvSpPr>
          <p:nvPr/>
        </p:nvSpPr>
        <p:spPr>
          <a:xfrm xmlns:a="http://schemas.openxmlformats.org/drawingml/2006/main">
            <a:off x="7324725" y="4257675"/>
            <a:ext cx="4048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Metrics, risks, owners and HOLD gates</a:t>
            </a:r>
          </a:p>
        </p:txBody>
      </p:sp>
      <p:sp>
        <p:nvSpPr>
          <p:cNvPr id="18" name="shape">
            <a:extLst xmlns:a="http://schemas.openxmlformats.org/drawingml/2006/main">
              <a:ext uri="{FF2B5EF4-FFF2-40B4-BE49-F238E27FC236}">
                <a16:creationId xmlns:a16="http://schemas.microsoft.com/office/drawing/2014/main" id="{DD2DCF2C-3AB1-440A-82FA-6588533A60F2}"/>
              </a:ext>
            </a:extLst>
          </p:cNvPr>
          <p:cNvSpPr>
            <a:spLocks xmlns:a="http://schemas.openxmlformats.org/drawingml/2006/main" noGrp="1"/>
          </p:cNvSpPr>
          <p:nvPr/>
        </p:nvSpPr>
        <p:spPr>
          <a:xfrm xmlns:a="http://schemas.openxmlformats.org/drawingml/2006/main">
            <a:off x="609600" y="49434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9" name="shape">
            <a:extLst xmlns:a="http://schemas.openxmlformats.org/drawingml/2006/main">
              <a:ext uri="{FF2B5EF4-FFF2-40B4-BE49-F238E27FC236}">
                <a16:creationId xmlns:a16="http://schemas.microsoft.com/office/drawing/2014/main" id="{8038B2B0-70CF-46D8-B6E1-0D01CEEC5584}"/>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20" name="text">
            <a:extLst xmlns:a="http://schemas.openxmlformats.org/drawingml/2006/main">
              <a:ext uri="{FF2B5EF4-FFF2-40B4-BE49-F238E27FC236}">
                <a16:creationId xmlns:a16="http://schemas.microsoft.com/office/drawing/2014/main" id="{55E6AE58-37F4-4B95-987D-97D2941A9C4D}"/>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21" name="text">
            <a:extLst xmlns:a="http://schemas.openxmlformats.org/drawingml/2006/main">
              <a:ext uri="{FF2B5EF4-FFF2-40B4-BE49-F238E27FC236}">
                <a16:creationId xmlns:a16="http://schemas.microsoft.com/office/drawing/2014/main" id="{D023FEBA-FF93-4CDA-9F93-A038FA0C87A2}"/>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63</a:t>
            </a:r>
          </a:p>
        </p:txBody>
      </p:sp>
    </p:spTree>
    <p:extLst>
      <p:ext uri="{BB962C8B-B14F-4D97-AF65-F5344CB8AC3E}">
        <p14:creationId xmlns:p14="http://schemas.microsoft.com/office/powerpoint/2010/main" val="1282385994"/>
      </p:ext>
    </p:extLst>
  </p:cSld>
</p:sld>
</file>

<file path=ppt/slides/slide64.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E1FDAE82-FAA7-4805-BF4C-281F1BA7A2FB}"/>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DAY 2 · SESSION 5 · 90 MINUTES</a:t>
            </a:r>
          </a:p>
        </p:txBody>
      </p:sp>
      <p:sp>
        <p:nvSpPr>
          <p:cNvPr id="2" name="text">
            <a:extLst xmlns:a="http://schemas.openxmlformats.org/drawingml/2006/main">
              <a:ext uri="{FF2B5EF4-FFF2-40B4-BE49-F238E27FC236}">
                <a16:creationId xmlns:a16="http://schemas.microsoft.com/office/drawing/2014/main" id="{737212F1-3C1F-4944-A2C0-66F47A6EB1A1}"/>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Assign people to the decisions.</a:t>
            </a:r>
          </a:p>
        </p:txBody>
      </p:sp>
      <p:sp>
        <p:nvSpPr>
          <p:cNvPr id="3" name="text">
            <a:extLst xmlns:a="http://schemas.openxmlformats.org/drawingml/2006/main">
              <a:ext uri="{FF2B5EF4-FFF2-40B4-BE49-F238E27FC236}">
                <a16:creationId xmlns:a16="http://schemas.microsoft.com/office/drawing/2014/main" id="{3B1D6372-2428-4C6D-A62F-C284119EC043}"/>
              </a:ext>
            </a:extLst>
          </p:cNvPr>
          <p:cNvSpPr>
            <a:spLocks xmlns:a="http://schemas.openxmlformats.org/drawingml/2006/main" noGrp="1"/>
          </p:cNvSpPr>
          <p:nvPr/>
        </p:nvSpPr>
        <p:spPr>
          <a:xfrm xmlns:a="http://schemas.openxmlformats.org/drawingml/2006/main">
            <a:off x="609600" y="221932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01</a:t>
            </a:r>
          </a:p>
        </p:txBody>
      </p:sp>
      <p:sp>
        <p:nvSpPr>
          <p:cNvPr id="4" name="text">
            <a:extLst xmlns:a="http://schemas.openxmlformats.org/drawingml/2006/main">
              <a:ext uri="{FF2B5EF4-FFF2-40B4-BE49-F238E27FC236}">
                <a16:creationId xmlns:a16="http://schemas.microsoft.com/office/drawing/2014/main" id="{72D34CF9-20A4-4B7B-B3D8-B85BA58660B2}"/>
              </a:ext>
            </a:extLst>
          </p:cNvPr>
          <p:cNvSpPr>
            <a:spLocks xmlns:a="http://schemas.openxmlformats.org/drawingml/2006/main" noGrp="1"/>
          </p:cNvSpPr>
          <p:nvPr/>
        </p:nvSpPr>
        <p:spPr>
          <a:xfrm xmlns:a="http://schemas.openxmlformats.org/drawingml/2006/main">
            <a:off x="1314450" y="2190750"/>
            <a:ext cx="10267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Agent owner: checks the role and tool output.</a:t>
            </a:r>
          </a:p>
        </p:txBody>
      </p:sp>
      <p:sp>
        <p:nvSpPr>
          <p:cNvPr id="5" name="text">
            <a:extLst xmlns:a="http://schemas.openxmlformats.org/drawingml/2006/main">
              <a:ext uri="{FF2B5EF4-FFF2-40B4-BE49-F238E27FC236}">
                <a16:creationId xmlns:a16="http://schemas.microsoft.com/office/drawing/2014/main" id="{95E80E55-49ED-4112-B6E9-D7E658A65D72}"/>
              </a:ext>
            </a:extLst>
          </p:cNvPr>
          <p:cNvSpPr>
            <a:spLocks xmlns:a="http://schemas.openxmlformats.org/drawingml/2006/main" noGrp="1"/>
          </p:cNvSpPr>
          <p:nvPr/>
        </p:nvSpPr>
        <p:spPr>
          <a:xfrm xmlns:a="http://schemas.openxmlformats.org/drawingml/2006/main">
            <a:off x="609600" y="30480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02</a:t>
            </a:r>
          </a:p>
        </p:txBody>
      </p:sp>
      <p:sp>
        <p:nvSpPr>
          <p:cNvPr id="6" name="text">
            <a:extLst xmlns:a="http://schemas.openxmlformats.org/drawingml/2006/main">
              <a:ext uri="{FF2B5EF4-FFF2-40B4-BE49-F238E27FC236}">
                <a16:creationId xmlns:a16="http://schemas.microsoft.com/office/drawing/2014/main" id="{DA0766B3-47E4-4420-B4B7-DB8D0D03DC65}"/>
              </a:ext>
            </a:extLst>
          </p:cNvPr>
          <p:cNvSpPr>
            <a:spLocks xmlns:a="http://schemas.openxmlformats.org/drawingml/2006/main" noGrp="1"/>
          </p:cNvSpPr>
          <p:nvPr/>
        </p:nvSpPr>
        <p:spPr>
          <a:xfrm xmlns:a="http://schemas.openxmlformats.org/drawingml/2006/main">
            <a:off x="1314450" y="3019425"/>
            <a:ext cx="10267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Evidence reviewer: checks inputs and sources.</a:t>
            </a:r>
          </a:p>
        </p:txBody>
      </p:sp>
      <p:sp>
        <p:nvSpPr>
          <p:cNvPr id="7" name="text">
            <a:extLst xmlns:a="http://schemas.openxmlformats.org/drawingml/2006/main">
              <a:ext uri="{FF2B5EF4-FFF2-40B4-BE49-F238E27FC236}">
                <a16:creationId xmlns:a16="http://schemas.microsoft.com/office/drawing/2014/main" id="{B7941BCE-8A98-4EA0-AE0D-1239DE442FCF}"/>
              </a:ext>
            </a:extLst>
          </p:cNvPr>
          <p:cNvSpPr>
            <a:spLocks xmlns:a="http://schemas.openxmlformats.org/drawingml/2006/main" noGrp="1"/>
          </p:cNvSpPr>
          <p:nvPr/>
        </p:nvSpPr>
        <p:spPr>
          <a:xfrm xmlns:a="http://schemas.openxmlformats.org/drawingml/2006/main">
            <a:off x="609600" y="387667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03</a:t>
            </a:r>
          </a:p>
        </p:txBody>
      </p:sp>
      <p:sp>
        <p:nvSpPr>
          <p:cNvPr id="8" name="text">
            <a:extLst xmlns:a="http://schemas.openxmlformats.org/drawingml/2006/main">
              <a:ext uri="{FF2B5EF4-FFF2-40B4-BE49-F238E27FC236}">
                <a16:creationId xmlns:a16="http://schemas.microsoft.com/office/drawing/2014/main" id="{5776FD06-60BD-4E37-B15F-DC09AD6E1839}"/>
              </a:ext>
            </a:extLst>
          </p:cNvPr>
          <p:cNvSpPr>
            <a:spLocks xmlns:a="http://schemas.openxmlformats.org/drawingml/2006/main" noGrp="1"/>
          </p:cNvSpPr>
          <p:nvPr/>
        </p:nvSpPr>
        <p:spPr>
          <a:xfrm xmlns:a="http://schemas.openxmlformats.org/drawingml/2006/main">
            <a:off x="1314450" y="3848100"/>
            <a:ext cx="10267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Coordinator: resolves cross-functional conflicts.</a:t>
            </a:r>
          </a:p>
        </p:txBody>
      </p:sp>
      <p:sp>
        <p:nvSpPr>
          <p:cNvPr id="9" name="text">
            <a:extLst xmlns:a="http://schemas.openxmlformats.org/drawingml/2006/main">
              <a:ext uri="{FF2B5EF4-FFF2-40B4-BE49-F238E27FC236}">
                <a16:creationId xmlns:a16="http://schemas.microsoft.com/office/drawing/2014/main" id="{09857ABA-60BB-49D5-A5E4-C3EF0E78B036}"/>
              </a:ext>
            </a:extLst>
          </p:cNvPr>
          <p:cNvSpPr>
            <a:spLocks xmlns:a="http://schemas.openxmlformats.org/drawingml/2006/main" noGrp="1"/>
          </p:cNvSpPr>
          <p:nvPr/>
        </p:nvSpPr>
        <p:spPr>
          <a:xfrm xmlns:a="http://schemas.openxmlformats.org/drawingml/2006/main">
            <a:off x="609600" y="47053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04</a:t>
            </a:r>
          </a:p>
        </p:txBody>
      </p:sp>
      <p:sp>
        <p:nvSpPr>
          <p:cNvPr id="10" name="text">
            <a:extLst xmlns:a="http://schemas.openxmlformats.org/drawingml/2006/main">
              <a:ext uri="{FF2B5EF4-FFF2-40B4-BE49-F238E27FC236}">
                <a16:creationId xmlns:a16="http://schemas.microsoft.com/office/drawing/2014/main" id="{3F0F487F-45A8-45B4-A709-41393D2D6F4C}"/>
              </a:ext>
            </a:extLst>
          </p:cNvPr>
          <p:cNvSpPr>
            <a:spLocks xmlns:a="http://schemas.openxmlformats.org/drawingml/2006/main" noGrp="1"/>
          </p:cNvSpPr>
          <p:nvPr/>
        </p:nvSpPr>
        <p:spPr>
          <a:xfrm xmlns:a="http://schemas.openxmlformats.org/drawingml/2006/main">
            <a:off x="1314450" y="4676775"/>
            <a:ext cx="10267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Human sponsor: owns launch authorization.</a:t>
            </a:r>
          </a:p>
        </p:txBody>
      </p:sp>
      <p:sp>
        <p:nvSpPr>
          <p:cNvPr id="11" name="shape">
            <a:extLst xmlns:a="http://schemas.openxmlformats.org/drawingml/2006/main">
              <a:ext uri="{FF2B5EF4-FFF2-40B4-BE49-F238E27FC236}">
                <a16:creationId xmlns:a16="http://schemas.microsoft.com/office/drawing/2014/main" id="{68236B84-7B6F-4DAA-9F4D-25B98F3E35D4}"/>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2BF33FAF-677F-4E48-AA94-6FD1F058C7A1}"/>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13" name="text">
            <a:extLst xmlns:a="http://schemas.openxmlformats.org/drawingml/2006/main">
              <a:ext uri="{FF2B5EF4-FFF2-40B4-BE49-F238E27FC236}">
                <a16:creationId xmlns:a16="http://schemas.microsoft.com/office/drawing/2014/main" id="{5280ECAA-0E6A-4CD9-B4A5-133C8D579E5A}"/>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64</a:t>
            </a:r>
          </a:p>
        </p:txBody>
      </p:sp>
    </p:spTree>
    <p:extLst>
      <p:ext uri="{BB962C8B-B14F-4D97-AF65-F5344CB8AC3E}">
        <p14:creationId xmlns:p14="http://schemas.microsoft.com/office/powerpoint/2010/main" val="1249734110"/>
      </p:ext>
    </p:extLst>
  </p:cSld>
</p:sld>
</file>

<file path=ppt/slides/slide65.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5266A3AE-FC3A-4856-81B2-EFD4E4431609}"/>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DAY 2 · SESSION 5 · 90 MINUTES</a:t>
            </a:r>
          </a:p>
        </p:txBody>
      </p:sp>
      <p:sp>
        <p:nvSpPr>
          <p:cNvPr id="2" name="text">
            <a:extLst xmlns:a="http://schemas.openxmlformats.org/drawingml/2006/main">
              <a:ext uri="{FF2B5EF4-FFF2-40B4-BE49-F238E27FC236}">
                <a16:creationId xmlns:a16="http://schemas.microsoft.com/office/drawing/2014/main" id="{BC4C68FB-0FCE-40CD-A740-756235E5FF7E}"/>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Plan what happens when a step fails.</a:t>
            </a:r>
          </a:p>
        </p:txBody>
      </p:sp>
      <p:sp>
        <p:nvSpPr>
          <p:cNvPr id="3" name="flow-node">
            <a:extLst xmlns:a="http://schemas.openxmlformats.org/drawingml/2006/main">
              <a:ext uri="{FF2B5EF4-FFF2-40B4-BE49-F238E27FC236}">
                <a16:creationId xmlns:a16="http://schemas.microsoft.com/office/drawing/2014/main" id="{588826E7-6A18-4B28-9BB6-6EA40230F156}"/>
              </a:ext>
            </a:extLst>
          </p:cNvPr>
          <p:cNvSpPr>
            <a:spLocks xmlns:a="http://schemas.openxmlformats.org/drawingml/2006/main" noGrp="1"/>
          </p:cNvSpPr>
          <p:nvPr/>
        </p:nvSpPr>
        <p:spPr>
          <a:xfrm xmlns:a="http://schemas.openxmlformats.org/drawingml/2006/main">
            <a:off x="609600"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Notice the failure</a:t>
            </a:r>
          </a:p>
        </p:txBody>
      </p:sp>
      <p:sp>
        <p:nvSpPr>
          <p:cNvPr id="4" name="flow-node">
            <a:extLst xmlns:a="http://schemas.openxmlformats.org/drawingml/2006/main">
              <a:ext uri="{FF2B5EF4-FFF2-40B4-BE49-F238E27FC236}">
                <a16:creationId xmlns:a16="http://schemas.microsoft.com/office/drawing/2014/main" id="{55F66F46-9434-4FED-BBCB-490A89234F72}"/>
              </a:ext>
            </a:extLst>
          </p:cNvPr>
          <p:cNvSpPr>
            <a:spLocks xmlns:a="http://schemas.openxmlformats.org/drawingml/2006/main" noGrp="1"/>
          </p:cNvSpPr>
          <p:nvPr/>
        </p:nvSpPr>
        <p:spPr>
          <a:xfrm xmlns:a="http://schemas.openxmlformats.org/drawingml/2006/main">
            <a:off x="3424238"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Keep completed reports</a:t>
            </a:r>
          </a:p>
        </p:txBody>
      </p:sp>
      <p:sp>
        <p:nvSpPr>
          <p:cNvPr id="5" name="flow-node">
            <a:extLst xmlns:a="http://schemas.openxmlformats.org/drawingml/2006/main">
              <a:ext uri="{FF2B5EF4-FFF2-40B4-BE49-F238E27FC236}">
                <a16:creationId xmlns:a16="http://schemas.microsoft.com/office/drawing/2014/main" id="{98EA49B3-51B1-485D-AC69-01D63403C3A0}"/>
              </a:ext>
            </a:extLst>
          </p:cNvPr>
          <p:cNvSpPr>
            <a:spLocks xmlns:a="http://schemas.openxmlformats.org/drawingml/2006/main" noGrp="1"/>
          </p:cNvSpPr>
          <p:nvPr/>
        </p:nvSpPr>
        <p:spPr>
          <a:xfrm xmlns:a="http://schemas.openxmlformats.org/drawingml/2006/main">
            <a:off x="6238875"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Diagnose the layer</a:t>
            </a:r>
          </a:p>
        </p:txBody>
      </p:sp>
      <p:sp>
        <p:nvSpPr>
          <p:cNvPr id="6" name="flow-node">
            <a:extLst xmlns:a="http://schemas.openxmlformats.org/drawingml/2006/main">
              <a:ext uri="{FF2B5EF4-FFF2-40B4-BE49-F238E27FC236}">
                <a16:creationId xmlns:a16="http://schemas.microsoft.com/office/drawing/2014/main" id="{73B3DCE7-CB9F-49C0-93FA-5CA9AD301F55}"/>
              </a:ext>
            </a:extLst>
          </p:cNvPr>
          <p:cNvSpPr>
            <a:spLocks xmlns:a="http://schemas.openxmlformats.org/drawingml/2006/main" noGrp="1"/>
          </p:cNvSpPr>
          <p:nvPr/>
        </p:nvSpPr>
        <p:spPr>
          <a:xfrm xmlns:a="http://schemas.openxmlformats.org/drawingml/2006/main">
            <a:off x="9053513"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Retry deliberately</a:t>
            </a:r>
          </a:p>
        </p:txBody>
      </p:sp>
      <p:cxnSp>
        <p:nvCxnSpPr>
          <p:cNvPr id="20" name=""/>
          <p:cNvCxnSpPr>
            <a:stCxn xmlns:a="http://schemas.openxmlformats.org/drawingml/2006/main" id="3" idx="3"/>
            <a:endCxn xmlns:a="http://schemas.openxmlformats.org/drawingml/2006/main" id="4" idx="1"/>
          </p:cNvCxnSpPr>
          <p:nvPr/>
        </p:nvCxnSpPr>
        <p:spPr>
          <a:xfrm xmlns:a="http://schemas.openxmlformats.org/drawingml/2006/main">
            <a:off x="3138488"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1" name=""/>
          <p:cNvCxnSpPr>
            <a:stCxn xmlns:a="http://schemas.openxmlformats.org/drawingml/2006/main" id="4" idx="3"/>
            <a:endCxn xmlns:a="http://schemas.openxmlformats.org/drawingml/2006/main" id="5" idx="1"/>
          </p:cNvCxnSpPr>
          <p:nvPr/>
        </p:nvCxnSpPr>
        <p:spPr>
          <a:xfrm xmlns:a="http://schemas.openxmlformats.org/drawingml/2006/main">
            <a:off x="5953126" y="3390900"/>
            <a:ext cx="285749"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2" name=""/>
          <p:cNvCxnSpPr>
            <a:stCxn xmlns:a="http://schemas.openxmlformats.org/drawingml/2006/main" id="5" idx="3"/>
            <a:endCxn xmlns:a="http://schemas.openxmlformats.org/drawingml/2006/main" id="6" idx="1"/>
          </p:cNvCxnSpPr>
          <p:nvPr/>
        </p:nvCxnSpPr>
        <p:spPr>
          <a:xfrm xmlns:a="http://schemas.openxmlformats.org/drawingml/2006/main">
            <a:off x="8767763"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sp>
        <p:nvSpPr>
          <p:cNvPr id="10" name="text">
            <a:extLst xmlns:a="http://schemas.openxmlformats.org/drawingml/2006/main">
              <a:ext uri="{FF2B5EF4-FFF2-40B4-BE49-F238E27FC236}">
                <a16:creationId xmlns:a16="http://schemas.microsoft.com/office/drawing/2014/main" id="{CB19152C-6C3C-4203-AD36-BFF120F4F2EE}"/>
              </a:ext>
            </a:extLst>
          </p:cNvPr>
          <p:cNvSpPr>
            <a:spLocks xmlns:a="http://schemas.openxmlformats.org/drawingml/2006/main" noGrp="1"/>
          </p:cNvSpPr>
          <p:nvPr/>
        </p:nvSpPr>
        <p:spPr>
          <a:xfrm xmlns:a="http://schemas.openxmlformats.org/drawingml/2006/main">
            <a:off x="609600" y="50673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DFBF"/>
                </a:solidFill>
                <a:latin typeface="Aptos"/>
                <a:ea typeface="Aptos"/>
                <a:cs typeface="Aptos"/>
              </a:defRPr>
            </a:pPr>
            <a:r>
              <a:rPr sz="1800" b="0">
                <a:solidFill>
                  <a:srgbClr val="61DFBF"/>
                </a:solidFill>
                <a:latin typeface="Aptos"/>
                <a:ea typeface="Aptos"/>
                <a:cs typeface="Aptos"/>
              </a:rPr>
              <a:t>An interrupted run is not a completed executive package.</a:t>
            </a:r>
          </a:p>
        </p:txBody>
      </p:sp>
      <p:sp>
        <p:nvSpPr>
          <p:cNvPr id="11" name="shape">
            <a:extLst xmlns:a="http://schemas.openxmlformats.org/drawingml/2006/main">
              <a:ext uri="{FF2B5EF4-FFF2-40B4-BE49-F238E27FC236}">
                <a16:creationId xmlns:a16="http://schemas.microsoft.com/office/drawing/2014/main" id="{37C6F6EB-2AEF-48AF-A868-E3587D9E03AB}"/>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46D7252E-1E55-4222-BEAC-64CEF703C3C3}"/>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13" name="text">
            <a:extLst xmlns:a="http://schemas.openxmlformats.org/drawingml/2006/main">
              <a:ext uri="{FF2B5EF4-FFF2-40B4-BE49-F238E27FC236}">
                <a16:creationId xmlns:a16="http://schemas.microsoft.com/office/drawing/2014/main" id="{3EC9A75B-1510-4607-BBE6-AB236FD6F615}"/>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65</a:t>
            </a:r>
          </a:p>
        </p:txBody>
      </p:sp>
    </p:spTree>
    <p:extLst>
      <p:ext uri="{BB962C8B-B14F-4D97-AF65-F5344CB8AC3E}">
        <p14:creationId xmlns:p14="http://schemas.microsoft.com/office/powerpoint/2010/main" val="1777834718"/>
      </p:ext>
    </p:extLst>
  </p:cSld>
</p:sld>
</file>

<file path=ppt/slides/slide66.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EDDD55E2-AD18-438A-AA68-64C22B376B37}"/>
              </a:ext>
            </a:extLst>
          </p:cNvPr>
          <p:cNvSpPr>
            <a:spLocks xmlns:a="http://schemas.openxmlformats.org/drawingml/2006/main" noGrp="1"/>
          </p:cNvSpPr>
          <p:nvPr/>
        </p:nvSpPr>
        <p:spPr>
          <a:xfrm xmlns:a="http://schemas.openxmlformats.org/drawingml/2006/main">
            <a:off x="609600" y="4000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DAY 2 · SESSION 6 · 90 MINUTES</a:t>
            </a:r>
          </a:p>
        </p:txBody>
      </p:sp>
      <p:sp>
        <p:nvSpPr>
          <p:cNvPr id="2" name="text">
            <a:extLst xmlns:a="http://schemas.openxmlformats.org/drawingml/2006/main">
              <a:ext uri="{FF2B5EF4-FFF2-40B4-BE49-F238E27FC236}">
                <a16:creationId xmlns:a16="http://schemas.microsoft.com/office/drawing/2014/main" id="{B942AEDF-52E1-4BF9-8B93-8286CFF84BB8}"/>
              </a:ext>
            </a:extLst>
          </p:cNvPr>
          <p:cNvSpPr>
            <a:spLocks xmlns:a="http://schemas.openxmlformats.org/drawingml/2006/main" noGrp="1"/>
          </p:cNvSpPr>
          <p:nvPr/>
        </p:nvSpPr>
        <p:spPr>
          <a:xfrm xmlns:a="http://schemas.openxmlformats.org/drawingml/2006/main">
            <a:off x="8096250" y="1143000"/>
            <a:ext cx="38100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250" b="1">
                <a:solidFill>
                  <a:srgbClr val="173946"/>
                </a:solidFill>
                <a:latin typeface="Aptos"/>
                <a:ea typeface="Aptos"/>
                <a:cs typeface="Aptos"/>
              </a:defRPr>
            </a:pPr>
            <a:r>
              <a:rPr sz="5250" b="1">
                <a:solidFill>
                  <a:srgbClr val="173946"/>
                </a:solidFill>
                <a:latin typeface="Aptos"/>
                <a:ea typeface="Aptos"/>
                <a:cs typeface="Aptos"/>
              </a:rPr>
              <a:t>SESSION</a:t>
            </a:r>
          </a:p>
          <a:p xmlns:a="http://schemas.openxmlformats.org/drawingml/2006/main">
            <a:pPr>
              <a:defRPr sz="5250" b="1">
                <a:solidFill>
                  <a:srgbClr val="173946"/>
                </a:solidFill>
                <a:latin typeface="Aptos"/>
                <a:ea typeface="Aptos"/>
                <a:cs typeface="Aptos"/>
              </a:defRPr>
            </a:pPr>
            <a:r>
              <a:rPr sz="5250" b="1">
                <a:solidFill>
                  <a:srgbClr val="173946"/>
                </a:solidFill>
                <a:latin typeface="Aptos"/>
                <a:ea typeface="Aptos"/>
                <a:cs typeface="Aptos"/>
              </a:rPr>
              <a:t>06</a:t>
            </a:r>
          </a:p>
        </p:txBody>
      </p:sp>
      <p:sp>
        <p:nvSpPr>
          <p:cNvPr id="3" name="text">
            <a:extLst xmlns:a="http://schemas.openxmlformats.org/drawingml/2006/main">
              <a:ext uri="{FF2B5EF4-FFF2-40B4-BE49-F238E27FC236}">
                <a16:creationId xmlns:a16="http://schemas.microsoft.com/office/drawing/2014/main" id="{89B6E5D2-5D00-4A1A-891E-E3BD4D8ACA58}"/>
              </a:ext>
            </a:extLst>
          </p:cNvPr>
          <p:cNvSpPr>
            <a:spLocks xmlns:a="http://schemas.openxmlformats.org/drawingml/2006/main" noGrp="1"/>
          </p:cNvSpPr>
          <p:nvPr/>
        </p:nvSpPr>
        <p:spPr>
          <a:xfrm xmlns:a="http://schemas.openxmlformats.org/drawingml/2006/main">
            <a:off x="609600" y="1438275"/>
            <a:ext cx="738187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650" b="1">
                <a:solidFill>
                  <a:srgbClr val="EDF5F1"/>
                </a:solidFill>
                <a:latin typeface="Aptos"/>
                <a:ea typeface="Aptos"/>
                <a:cs typeface="Aptos"/>
              </a:defRPr>
            </a:pPr>
            <a:r>
              <a:rPr sz="4650" b="1">
                <a:solidFill>
                  <a:srgbClr val="EDF5F1"/>
                </a:solidFill>
                <a:latin typeface="Aptos"/>
                <a:ea typeface="Aptos"/>
                <a:cs typeface="Aptos"/>
              </a:rPr>
              <a:t>Run the live command center.</a:t>
            </a:r>
          </a:p>
        </p:txBody>
      </p:sp>
      <p:sp>
        <p:nvSpPr>
          <p:cNvPr id="4" name="text">
            <a:extLst xmlns:a="http://schemas.openxmlformats.org/drawingml/2006/main">
              <a:ext uri="{FF2B5EF4-FFF2-40B4-BE49-F238E27FC236}">
                <a16:creationId xmlns:a16="http://schemas.microsoft.com/office/drawing/2014/main" id="{7E1718A1-44E8-4AA8-AE0E-651BFB179F5F}"/>
              </a:ext>
            </a:extLst>
          </p:cNvPr>
          <p:cNvSpPr>
            <a:spLocks xmlns:a="http://schemas.openxmlformats.org/drawingml/2006/main" noGrp="1"/>
          </p:cNvSpPr>
          <p:nvPr/>
        </p:nvSpPr>
        <p:spPr>
          <a:xfrm xmlns:a="http://schemas.openxmlformats.org/drawingml/2006/main">
            <a:off x="609600" y="4000500"/>
            <a:ext cx="723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0">
                <a:solidFill>
                  <a:srgbClr val="61DFBF"/>
                </a:solidFill>
                <a:latin typeface="Aptos"/>
                <a:ea typeface="Aptos"/>
                <a:cs typeface="Aptos"/>
              </a:defRPr>
            </a:pPr>
            <a:r>
              <a:rPr sz="2475" b="0">
                <a:solidFill>
                  <a:srgbClr val="61DFBF"/>
                </a:solidFill>
                <a:latin typeface="Aptos"/>
                <a:ea typeface="Aptos"/>
                <a:cs typeface="Aptos"/>
              </a:rPr>
              <a:t>90 minutes to learn, build,</a:t>
            </a:r>
          </a:p>
          <a:p xmlns:a="http://schemas.openxmlformats.org/drawingml/2006/main">
            <a:pPr>
              <a:defRPr sz="2475" b="0">
                <a:solidFill>
                  <a:srgbClr val="61DFBF"/>
                </a:solidFill>
                <a:latin typeface="Aptos"/>
                <a:ea typeface="Aptos"/>
                <a:cs typeface="Aptos"/>
              </a:defRPr>
            </a:pPr>
            <a:r>
              <a:rPr sz="2475" b="0">
                <a:solidFill>
                  <a:srgbClr val="61DFBF"/>
                </a:solidFill>
                <a:latin typeface="Aptos"/>
                <a:ea typeface="Aptos"/>
                <a:cs typeface="Aptos"/>
              </a:rPr>
              <a:t>test and explain.</a:t>
            </a:r>
          </a:p>
        </p:txBody>
      </p:sp>
      <p:sp>
        <p:nvSpPr>
          <p:cNvPr id="5" name="text">
            <a:extLst xmlns:a="http://schemas.openxmlformats.org/drawingml/2006/main">
              <a:ext uri="{FF2B5EF4-FFF2-40B4-BE49-F238E27FC236}">
                <a16:creationId xmlns:a16="http://schemas.microsoft.com/office/drawing/2014/main" id="{A49DF823-8BDE-4A19-9A32-3492016C4FC9}"/>
              </a:ext>
            </a:extLst>
          </p:cNvPr>
          <p:cNvSpPr>
            <a:spLocks xmlns:a="http://schemas.openxmlformats.org/drawingml/2006/main" noGrp="1"/>
          </p:cNvSpPr>
          <p:nvPr/>
        </p:nvSpPr>
        <p:spPr>
          <a:xfrm xmlns:a="http://schemas.openxmlformats.org/drawingml/2006/main">
            <a:off x="609600" y="58102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DFBF"/>
                </a:solidFill>
                <a:latin typeface="Aptos"/>
                <a:ea typeface="Aptos"/>
                <a:cs typeface="Aptos"/>
              </a:defRPr>
            </a:pPr>
            <a:r>
              <a:rPr sz="1800" b="0">
                <a:solidFill>
                  <a:srgbClr val="61DFBF"/>
                </a:solidFill>
                <a:latin typeface="Aptos"/>
                <a:ea typeface="Aptos"/>
                <a:cs typeface="Aptos"/>
              </a:rPr>
              <a:t>Deliverable: a complete live swarm and inspectable decision package.</a:t>
            </a:r>
          </a:p>
        </p:txBody>
      </p:sp>
      <p:sp>
        <p:nvSpPr>
          <p:cNvPr id="6" name="shape">
            <a:extLst xmlns:a="http://schemas.openxmlformats.org/drawingml/2006/main">
              <a:ext uri="{FF2B5EF4-FFF2-40B4-BE49-F238E27FC236}">
                <a16:creationId xmlns:a16="http://schemas.microsoft.com/office/drawing/2014/main" id="{92C55145-FD0C-4D43-BBC5-0F9A8C3312CC}"/>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6DF45077-CFCE-4338-A9FA-82A7F4C74FBF}"/>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8" name="text">
            <a:extLst xmlns:a="http://schemas.openxmlformats.org/drawingml/2006/main">
              <a:ext uri="{FF2B5EF4-FFF2-40B4-BE49-F238E27FC236}">
                <a16:creationId xmlns:a16="http://schemas.microsoft.com/office/drawing/2014/main" id="{D4494555-E6A2-4DE1-9038-4E4571421F3A}"/>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66</a:t>
            </a:r>
          </a:p>
        </p:txBody>
      </p:sp>
    </p:spTree>
    <p:extLst>
      <p:ext uri="{BB962C8B-B14F-4D97-AF65-F5344CB8AC3E}">
        <p14:creationId xmlns:p14="http://schemas.microsoft.com/office/powerpoint/2010/main" val="2138080440"/>
      </p:ext>
    </p:extLst>
  </p:cSld>
</p:sld>
</file>

<file path=ppt/slides/slide67.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6" name="text">
            <a:extLst xmlns:a="http://schemas.openxmlformats.org/drawingml/2006/main">
              <a:ext uri="{FF2B5EF4-FFF2-40B4-BE49-F238E27FC236}">
                <a16:creationId xmlns:a16="http://schemas.microsoft.com/office/drawing/2014/main" id="{2E2E45DA-41C4-42A2-AFEF-C31BD8EC5B32}"/>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DAY 2 · SESSION 6 · 90 MINUTES</a:t>
            </a:r>
          </a:p>
        </p:txBody>
      </p:sp>
      <p:sp>
        <p:nvSpPr>
          <p:cNvPr id="2" name="text">
            <a:extLst xmlns:a="http://schemas.openxmlformats.org/drawingml/2006/main">
              <a:ext uri="{FF2B5EF4-FFF2-40B4-BE49-F238E27FC236}">
                <a16:creationId xmlns:a16="http://schemas.microsoft.com/office/drawing/2014/main" id="{528BC1CE-0549-4635-9BB8-16849A4E16BB}"/>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From your browser to a reviewed answer.</a:t>
            </a:r>
          </a:p>
        </p:txBody>
      </p:sp>
      <p:sp>
        <p:nvSpPr>
          <p:cNvPr id="3" name="flow-node">
            <a:extLst xmlns:a="http://schemas.openxmlformats.org/drawingml/2006/main">
              <a:ext uri="{FF2B5EF4-FFF2-40B4-BE49-F238E27FC236}">
                <a16:creationId xmlns:a16="http://schemas.microsoft.com/office/drawing/2014/main" id="{3F8BF978-984E-4EF3-A36F-A37549CD7584}"/>
              </a:ext>
            </a:extLst>
          </p:cNvPr>
          <p:cNvSpPr>
            <a:spLocks xmlns:a="http://schemas.openxmlformats.org/drawingml/2006/main" noGrp="1"/>
          </p:cNvSpPr>
          <p:nvPr/>
        </p:nvSpPr>
        <p:spPr>
          <a:xfrm xmlns:a="http://schemas.openxmlformats.org/drawingml/2006/main">
            <a:off x="609600" y="2857500"/>
            <a:ext cx="1965960"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Browser UI</a:t>
            </a:r>
          </a:p>
        </p:txBody>
      </p:sp>
      <p:sp>
        <p:nvSpPr>
          <p:cNvPr id="4" name="flow-node">
            <a:extLst xmlns:a="http://schemas.openxmlformats.org/drawingml/2006/main">
              <a:ext uri="{FF2B5EF4-FFF2-40B4-BE49-F238E27FC236}">
                <a16:creationId xmlns:a16="http://schemas.microsoft.com/office/drawing/2014/main" id="{34BADDF8-059D-464A-96C7-13D0E45A45FD}"/>
              </a:ext>
            </a:extLst>
          </p:cNvPr>
          <p:cNvSpPr>
            <a:spLocks xmlns:a="http://schemas.openxmlformats.org/drawingml/2006/main" noGrp="1"/>
          </p:cNvSpPr>
          <p:nvPr/>
        </p:nvSpPr>
        <p:spPr>
          <a:xfrm xmlns:a="http://schemas.openxmlformats.org/drawingml/2006/main">
            <a:off x="2861310" y="2857500"/>
            <a:ext cx="1965960"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Local API</a:t>
            </a:r>
          </a:p>
        </p:txBody>
      </p:sp>
      <p:sp>
        <p:nvSpPr>
          <p:cNvPr id="5" name="flow-node">
            <a:extLst xmlns:a="http://schemas.openxmlformats.org/drawingml/2006/main">
              <a:ext uri="{FF2B5EF4-FFF2-40B4-BE49-F238E27FC236}">
                <a16:creationId xmlns:a16="http://schemas.microsoft.com/office/drawing/2014/main" id="{A608DDBD-02D9-4CCC-9A70-51FAFC930798}"/>
              </a:ext>
            </a:extLst>
          </p:cNvPr>
          <p:cNvSpPr>
            <a:spLocks xmlns:a="http://schemas.openxmlformats.org/drawingml/2006/main" noGrp="1"/>
          </p:cNvSpPr>
          <p:nvPr/>
        </p:nvSpPr>
        <p:spPr>
          <a:xfrm xmlns:a="http://schemas.openxmlformats.org/drawingml/2006/main">
            <a:off x="5113020" y="2857500"/>
            <a:ext cx="1965960"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LangChain agents</a:t>
            </a:r>
          </a:p>
        </p:txBody>
      </p:sp>
      <p:sp>
        <p:nvSpPr>
          <p:cNvPr id="6" name="flow-node">
            <a:extLst xmlns:a="http://schemas.openxmlformats.org/drawingml/2006/main">
              <a:ext uri="{FF2B5EF4-FFF2-40B4-BE49-F238E27FC236}">
                <a16:creationId xmlns:a16="http://schemas.microsoft.com/office/drawing/2014/main" id="{394314BD-CE8F-48C6-96DA-0826A8F57133}"/>
              </a:ext>
            </a:extLst>
          </p:cNvPr>
          <p:cNvSpPr>
            <a:spLocks xmlns:a="http://schemas.openxmlformats.org/drawingml/2006/main" noGrp="1"/>
          </p:cNvSpPr>
          <p:nvPr/>
        </p:nvSpPr>
        <p:spPr>
          <a:xfrm xmlns:a="http://schemas.openxmlformats.org/drawingml/2006/main">
            <a:off x="7364730" y="2857500"/>
            <a:ext cx="1965960"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Gemini + tools</a:t>
            </a:r>
          </a:p>
        </p:txBody>
      </p:sp>
      <p:sp>
        <p:nvSpPr>
          <p:cNvPr id="7" name="flow-node">
            <a:extLst xmlns:a="http://schemas.openxmlformats.org/drawingml/2006/main">
              <a:ext uri="{FF2B5EF4-FFF2-40B4-BE49-F238E27FC236}">
                <a16:creationId xmlns:a16="http://schemas.microsoft.com/office/drawing/2014/main" id="{37F01495-6DCA-4A35-806A-FD8656C41120}"/>
              </a:ext>
            </a:extLst>
          </p:cNvPr>
          <p:cNvSpPr>
            <a:spLocks xmlns:a="http://schemas.openxmlformats.org/drawingml/2006/main" noGrp="1"/>
          </p:cNvSpPr>
          <p:nvPr/>
        </p:nvSpPr>
        <p:spPr>
          <a:xfrm xmlns:a="http://schemas.openxmlformats.org/drawingml/2006/main">
            <a:off x="9616440" y="2857500"/>
            <a:ext cx="1965960"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Saved reports</a:t>
            </a:r>
          </a:p>
        </p:txBody>
      </p:sp>
      <p:cxnSp>
        <p:nvCxnSpPr>
          <p:cNvPr id="23" name=""/>
          <p:cNvCxnSpPr>
            <a:stCxn xmlns:a="http://schemas.openxmlformats.org/drawingml/2006/main" id="3" idx="3"/>
            <a:endCxn xmlns:a="http://schemas.openxmlformats.org/drawingml/2006/main" id="4" idx="1"/>
          </p:cNvCxnSpPr>
          <p:nvPr/>
        </p:nvCxnSpPr>
        <p:spPr>
          <a:xfrm xmlns:a="http://schemas.openxmlformats.org/drawingml/2006/main">
            <a:off x="2575560"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4" name=""/>
          <p:cNvCxnSpPr>
            <a:stCxn xmlns:a="http://schemas.openxmlformats.org/drawingml/2006/main" id="4" idx="3"/>
            <a:endCxn xmlns:a="http://schemas.openxmlformats.org/drawingml/2006/main" id="5" idx="1"/>
          </p:cNvCxnSpPr>
          <p:nvPr/>
        </p:nvCxnSpPr>
        <p:spPr>
          <a:xfrm xmlns:a="http://schemas.openxmlformats.org/drawingml/2006/main">
            <a:off x="4827270"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5" name=""/>
          <p:cNvCxnSpPr>
            <a:stCxn xmlns:a="http://schemas.openxmlformats.org/drawingml/2006/main" id="5" idx="3"/>
            <a:endCxn xmlns:a="http://schemas.openxmlformats.org/drawingml/2006/main" id="6" idx="1"/>
          </p:cNvCxnSpPr>
          <p:nvPr/>
        </p:nvCxnSpPr>
        <p:spPr>
          <a:xfrm xmlns:a="http://schemas.openxmlformats.org/drawingml/2006/main">
            <a:off x="7078980"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6" name=""/>
          <p:cNvCxnSpPr>
            <a:stCxn xmlns:a="http://schemas.openxmlformats.org/drawingml/2006/main" id="6" idx="3"/>
            <a:endCxn xmlns:a="http://schemas.openxmlformats.org/drawingml/2006/main" id="7" idx="1"/>
          </p:cNvCxnSpPr>
          <p:nvPr/>
        </p:nvCxnSpPr>
        <p:spPr>
          <a:xfrm xmlns:a="http://schemas.openxmlformats.org/drawingml/2006/main">
            <a:off x="9330690"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sp>
        <p:nvSpPr>
          <p:cNvPr id="12" name="text">
            <a:extLst xmlns:a="http://schemas.openxmlformats.org/drawingml/2006/main">
              <a:ext uri="{FF2B5EF4-FFF2-40B4-BE49-F238E27FC236}">
                <a16:creationId xmlns:a16="http://schemas.microsoft.com/office/drawing/2014/main" id="{DA0BE513-0692-419C-A6DC-36CA8779D625}"/>
              </a:ext>
            </a:extLst>
          </p:cNvPr>
          <p:cNvSpPr>
            <a:spLocks xmlns:a="http://schemas.openxmlformats.org/drawingml/2006/main" noGrp="1"/>
          </p:cNvSpPr>
          <p:nvPr/>
        </p:nvSpPr>
        <p:spPr>
          <a:xfrm xmlns:a="http://schemas.openxmlformats.org/drawingml/2006/main">
            <a:off x="609600" y="50673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DFBF"/>
                </a:solidFill>
                <a:latin typeface="Aptos"/>
                <a:ea typeface="Aptos"/>
                <a:cs typeface="Aptos"/>
              </a:defRPr>
            </a:pPr>
            <a:r>
              <a:rPr sz="1800" b="0">
                <a:solidFill>
                  <a:srgbClr val="61DFBF"/>
                </a:solidFill>
                <a:latin typeface="Aptos"/>
                <a:ea typeface="Aptos"/>
                <a:cs typeface="Aptos"/>
              </a:rPr>
              <a:t>The server holds the key. The browser receives results.</a:t>
            </a:r>
          </a:p>
        </p:txBody>
      </p:sp>
      <p:sp>
        <p:nvSpPr>
          <p:cNvPr id="13" name="shape">
            <a:extLst xmlns:a="http://schemas.openxmlformats.org/drawingml/2006/main">
              <a:ext uri="{FF2B5EF4-FFF2-40B4-BE49-F238E27FC236}">
                <a16:creationId xmlns:a16="http://schemas.microsoft.com/office/drawing/2014/main" id="{E051A5FD-A80F-481A-92CA-A2B7F016CB36}"/>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28211201-A38C-4B1D-9032-3AC7FB118B94}"/>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15" name="text">
            <a:extLst xmlns:a="http://schemas.openxmlformats.org/drawingml/2006/main">
              <a:ext uri="{FF2B5EF4-FFF2-40B4-BE49-F238E27FC236}">
                <a16:creationId xmlns:a16="http://schemas.microsoft.com/office/drawing/2014/main" id="{1DB21E3E-2A9F-45EE-A8A9-B1DA54168415}"/>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67</a:t>
            </a:r>
          </a:p>
        </p:txBody>
      </p:sp>
    </p:spTree>
    <p:extLst>
      <p:ext uri="{BB962C8B-B14F-4D97-AF65-F5344CB8AC3E}">
        <p14:creationId xmlns:p14="http://schemas.microsoft.com/office/powerpoint/2010/main" val="381801728"/>
      </p:ext>
    </p:extLst>
  </p:cSld>
</p:sld>
</file>

<file path=ppt/slides/slide68.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CBD3E6E8-D9A1-48C8-B69E-C3F018A7A3E1}"/>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DAY 2 · SESSION 6 · 90 MINUTES</a:t>
            </a:r>
          </a:p>
        </p:txBody>
      </p:sp>
      <p:sp>
        <p:nvSpPr>
          <p:cNvPr id="2" name="text">
            <a:extLst xmlns:a="http://schemas.openxmlformats.org/drawingml/2006/main">
              <a:ext uri="{FF2B5EF4-FFF2-40B4-BE49-F238E27FC236}">
                <a16:creationId xmlns:a16="http://schemas.microsoft.com/office/drawing/2014/main" id="{BCFF3A96-6E45-4716-9646-23AF531070D5}"/>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Run the baseline before changing anything.</a:t>
            </a:r>
          </a:p>
        </p:txBody>
      </p:sp>
      <p:sp>
        <p:nvSpPr>
          <p:cNvPr id="3" name="flow-node">
            <a:extLst xmlns:a="http://schemas.openxmlformats.org/drawingml/2006/main">
              <a:ext uri="{FF2B5EF4-FFF2-40B4-BE49-F238E27FC236}">
                <a16:creationId xmlns:a16="http://schemas.microsoft.com/office/drawing/2014/main" id="{5A98E384-593F-401F-9BE8-45E5A0D4FF6F}"/>
              </a:ext>
            </a:extLst>
          </p:cNvPr>
          <p:cNvSpPr>
            <a:spLocks xmlns:a="http://schemas.openxmlformats.org/drawingml/2006/main" noGrp="1"/>
          </p:cNvSpPr>
          <p:nvPr/>
        </p:nvSpPr>
        <p:spPr>
          <a:xfrm xmlns:a="http://schemas.openxmlformats.org/drawingml/2006/main">
            <a:off x="609600"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Baseline launch</a:t>
            </a:r>
          </a:p>
        </p:txBody>
      </p:sp>
      <p:sp>
        <p:nvSpPr>
          <p:cNvPr id="4" name="flow-node">
            <a:extLst xmlns:a="http://schemas.openxmlformats.org/drawingml/2006/main">
              <a:ext uri="{FF2B5EF4-FFF2-40B4-BE49-F238E27FC236}">
                <a16:creationId xmlns:a16="http://schemas.microsoft.com/office/drawing/2014/main" id="{3678B0BA-659D-4E0C-9D3A-924A967350B9}"/>
              </a:ext>
            </a:extLst>
          </p:cNvPr>
          <p:cNvSpPr>
            <a:spLocks xmlns:a="http://schemas.openxmlformats.org/drawingml/2006/main" noGrp="1"/>
          </p:cNvSpPr>
          <p:nvPr/>
        </p:nvSpPr>
        <p:spPr>
          <a:xfrm xmlns:a="http://schemas.openxmlformats.org/drawingml/2006/main">
            <a:off x="3424238"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Run launch swarm</a:t>
            </a:r>
          </a:p>
        </p:txBody>
      </p:sp>
      <p:sp>
        <p:nvSpPr>
          <p:cNvPr id="5" name="flow-node">
            <a:extLst xmlns:a="http://schemas.openxmlformats.org/drawingml/2006/main">
              <a:ext uri="{FF2B5EF4-FFF2-40B4-BE49-F238E27FC236}">
                <a16:creationId xmlns:a16="http://schemas.microsoft.com/office/drawing/2014/main" id="{CF0EC6C7-71CE-41EE-A53D-69EDBE24C308}"/>
              </a:ext>
            </a:extLst>
          </p:cNvPr>
          <p:cNvSpPr>
            <a:spLocks xmlns:a="http://schemas.openxmlformats.org/drawingml/2006/main" noGrp="1"/>
          </p:cNvSpPr>
          <p:nvPr/>
        </p:nvSpPr>
        <p:spPr>
          <a:xfrm xmlns:a="http://schemas.openxmlformats.org/drawingml/2006/main">
            <a:off x="6238875"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Watch tool events</a:t>
            </a:r>
          </a:p>
        </p:txBody>
      </p:sp>
      <p:sp>
        <p:nvSpPr>
          <p:cNvPr id="6" name="flow-node">
            <a:extLst xmlns:a="http://schemas.openxmlformats.org/drawingml/2006/main">
              <a:ext uri="{FF2B5EF4-FFF2-40B4-BE49-F238E27FC236}">
                <a16:creationId xmlns:a16="http://schemas.microsoft.com/office/drawing/2014/main" id="{1C444B34-9072-41C1-A8DD-60DA66190179}"/>
              </a:ext>
            </a:extLst>
          </p:cNvPr>
          <p:cNvSpPr>
            <a:spLocks xmlns:a="http://schemas.openxmlformats.org/drawingml/2006/main" noGrp="1"/>
          </p:cNvSpPr>
          <p:nvPr/>
        </p:nvSpPr>
        <p:spPr>
          <a:xfrm xmlns:a="http://schemas.openxmlformats.org/drawingml/2006/main">
            <a:off x="9053513"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Inspect the decision</a:t>
            </a:r>
          </a:p>
        </p:txBody>
      </p:sp>
      <p:cxnSp>
        <p:nvCxnSpPr>
          <p:cNvPr id="20" name=""/>
          <p:cNvCxnSpPr>
            <a:stCxn xmlns:a="http://schemas.openxmlformats.org/drawingml/2006/main" id="3" idx="3"/>
            <a:endCxn xmlns:a="http://schemas.openxmlformats.org/drawingml/2006/main" id="4" idx="1"/>
          </p:cNvCxnSpPr>
          <p:nvPr/>
        </p:nvCxnSpPr>
        <p:spPr>
          <a:xfrm xmlns:a="http://schemas.openxmlformats.org/drawingml/2006/main">
            <a:off x="3138488"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1" name=""/>
          <p:cNvCxnSpPr>
            <a:stCxn xmlns:a="http://schemas.openxmlformats.org/drawingml/2006/main" id="4" idx="3"/>
            <a:endCxn xmlns:a="http://schemas.openxmlformats.org/drawingml/2006/main" id="5" idx="1"/>
          </p:cNvCxnSpPr>
          <p:nvPr/>
        </p:nvCxnSpPr>
        <p:spPr>
          <a:xfrm xmlns:a="http://schemas.openxmlformats.org/drawingml/2006/main">
            <a:off x="5953126" y="3390900"/>
            <a:ext cx="285749"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2" name=""/>
          <p:cNvCxnSpPr>
            <a:stCxn xmlns:a="http://schemas.openxmlformats.org/drawingml/2006/main" id="5" idx="3"/>
            <a:endCxn xmlns:a="http://schemas.openxmlformats.org/drawingml/2006/main" id="6" idx="1"/>
          </p:cNvCxnSpPr>
          <p:nvPr/>
        </p:nvCxnSpPr>
        <p:spPr>
          <a:xfrm xmlns:a="http://schemas.openxmlformats.org/drawingml/2006/main">
            <a:off x="8767763"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sp>
        <p:nvSpPr>
          <p:cNvPr id="10" name="text">
            <a:extLst xmlns:a="http://schemas.openxmlformats.org/drawingml/2006/main">
              <a:ext uri="{FF2B5EF4-FFF2-40B4-BE49-F238E27FC236}">
                <a16:creationId xmlns:a16="http://schemas.microsoft.com/office/drawing/2014/main" id="{7FFB835F-49B0-4833-A373-2DB84B580BFB}"/>
              </a:ext>
            </a:extLst>
          </p:cNvPr>
          <p:cNvSpPr>
            <a:spLocks xmlns:a="http://schemas.openxmlformats.org/drawingml/2006/main" noGrp="1"/>
          </p:cNvSpPr>
          <p:nvPr/>
        </p:nvSpPr>
        <p:spPr>
          <a:xfrm xmlns:a="http://schemas.openxmlformats.org/drawingml/2006/main">
            <a:off x="609600" y="50673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DFBF"/>
                </a:solidFill>
                <a:latin typeface="Aptos"/>
                <a:ea typeface="Aptos"/>
                <a:cs typeface="Aptos"/>
              </a:defRPr>
            </a:pPr>
            <a:r>
              <a:rPr sz="1800" b="0">
                <a:solidFill>
                  <a:srgbClr val="61DFBF"/>
                </a:solidFill>
                <a:latin typeface="Aptos"/>
                <a:ea typeface="Aptos"/>
                <a:cs typeface="Aptos"/>
              </a:rPr>
              <a:t>Expected baseline: CONDITIONAL GO, subject to human review.</a:t>
            </a:r>
          </a:p>
        </p:txBody>
      </p:sp>
      <p:sp>
        <p:nvSpPr>
          <p:cNvPr id="11" name="shape">
            <a:extLst xmlns:a="http://schemas.openxmlformats.org/drawingml/2006/main">
              <a:ext uri="{FF2B5EF4-FFF2-40B4-BE49-F238E27FC236}">
                <a16:creationId xmlns:a16="http://schemas.microsoft.com/office/drawing/2014/main" id="{8EB722A6-5D53-46A6-AE90-D77A16E2FECB}"/>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4C675CF9-5F41-4DCE-96F0-05C6439A5CD8}"/>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13" name="text">
            <a:extLst xmlns:a="http://schemas.openxmlformats.org/drawingml/2006/main">
              <a:ext uri="{FF2B5EF4-FFF2-40B4-BE49-F238E27FC236}">
                <a16:creationId xmlns:a16="http://schemas.microsoft.com/office/drawing/2014/main" id="{3A082038-B814-440C-95D2-32B5D7D11AE8}"/>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68</a:t>
            </a:r>
          </a:p>
        </p:txBody>
      </p:sp>
    </p:spTree>
    <p:extLst>
      <p:ext uri="{BB962C8B-B14F-4D97-AF65-F5344CB8AC3E}">
        <p14:creationId xmlns:p14="http://schemas.microsoft.com/office/powerpoint/2010/main" val="712156295"/>
      </p:ext>
    </p:extLst>
  </p:cSld>
</p:sld>
</file>

<file path=ppt/slides/slide69.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EA81FA17-2986-4A47-A5DE-9764C28B9AE1}"/>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DAY 2 · SESSION 6 · 90 MINUTES</a:t>
            </a:r>
          </a:p>
        </p:txBody>
      </p:sp>
      <p:sp>
        <p:nvSpPr>
          <p:cNvPr id="2" name="text">
            <a:extLst xmlns:a="http://schemas.openxmlformats.org/drawingml/2006/main">
              <a:ext uri="{FF2B5EF4-FFF2-40B4-BE49-F238E27FC236}">
                <a16:creationId xmlns:a16="http://schemas.microsoft.com/office/drawing/2014/main" id="{290B4865-93F7-410D-BE18-13BB8FF4BF5D}"/>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Read the activity log like a delivery receipt.</a:t>
            </a:r>
          </a:p>
        </p:txBody>
      </p:sp>
      <p:sp>
        <p:nvSpPr>
          <p:cNvPr id="3" name="flow-node">
            <a:extLst xmlns:a="http://schemas.openxmlformats.org/drawingml/2006/main">
              <a:ext uri="{FF2B5EF4-FFF2-40B4-BE49-F238E27FC236}">
                <a16:creationId xmlns:a16="http://schemas.microsoft.com/office/drawing/2014/main" id="{04EFF3C9-CA27-4DA7-8B64-34D68D9CF963}"/>
              </a:ext>
            </a:extLst>
          </p:cNvPr>
          <p:cNvSpPr>
            <a:spLocks xmlns:a="http://schemas.openxmlformats.org/drawingml/2006/main" noGrp="1"/>
          </p:cNvSpPr>
          <p:nvPr/>
        </p:nvSpPr>
        <p:spPr>
          <a:xfrm xmlns:a="http://schemas.openxmlformats.org/drawingml/2006/main">
            <a:off x="609600"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Agent started</a:t>
            </a:r>
          </a:p>
        </p:txBody>
      </p:sp>
      <p:sp>
        <p:nvSpPr>
          <p:cNvPr id="4" name="flow-node">
            <a:extLst xmlns:a="http://schemas.openxmlformats.org/drawingml/2006/main">
              <a:ext uri="{FF2B5EF4-FFF2-40B4-BE49-F238E27FC236}">
                <a16:creationId xmlns:a16="http://schemas.microsoft.com/office/drawing/2014/main" id="{55A4A8A3-D22D-47A4-93CB-946189335F5D}"/>
              </a:ext>
            </a:extLst>
          </p:cNvPr>
          <p:cNvSpPr>
            <a:spLocks xmlns:a="http://schemas.openxmlformats.org/drawingml/2006/main" noGrp="1"/>
          </p:cNvSpPr>
          <p:nvPr/>
        </p:nvSpPr>
        <p:spPr>
          <a:xfrm xmlns:a="http://schemas.openxmlformats.org/drawingml/2006/main">
            <a:off x="3424238"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Tool called</a:t>
            </a:r>
          </a:p>
        </p:txBody>
      </p:sp>
      <p:sp>
        <p:nvSpPr>
          <p:cNvPr id="5" name="flow-node">
            <a:extLst xmlns:a="http://schemas.openxmlformats.org/drawingml/2006/main">
              <a:ext uri="{FF2B5EF4-FFF2-40B4-BE49-F238E27FC236}">
                <a16:creationId xmlns:a16="http://schemas.microsoft.com/office/drawing/2014/main" id="{476542E1-84AC-4E5E-AAD4-F396DECDC4BB}"/>
              </a:ext>
            </a:extLst>
          </p:cNvPr>
          <p:cNvSpPr>
            <a:spLocks xmlns:a="http://schemas.openxmlformats.org/drawingml/2006/main" noGrp="1"/>
          </p:cNvSpPr>
          <p:nvPr/>
        </p:nvSpPr>
        <p:spPr>
          <a:xfrm xmlns:a="http://schemas.openxmlformats.org/drawingml/2006/main">
            <a:off x="6238875"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Tool result</a:t>
            </a:r>
          </a:p>
        </p:txBody>
      </p:sp>
      <p:sp>
        <p:nvSpPr>
          <p:cNvPr id="6" name="flow-node">
            <a:extLst xmlns:a="http://schemas.openxmlformats.org/drawingml/2006/main">
              <a:ext uri="{FF2B5EF4-FFF2-40B4-BE49-F238E27FC236}">
                <a16:creationId xmlns:a16="http://schemas.microsoft.com/office/drawing/2014/main" id="{A17D193F-23FD-4582-8BC6-ABD3C297A360}"/>
              </a:ext>
            </a:extLst>
          </p:cNvPr>
          <p:cNvSpPr>
            <a:spLocks xmlns:a="http://schemas.openxmlformats.org/drawingml/2006/main" noGrp="1"/>
          </p:cNvSpPr>
          <p:nvPr/>
        </p:nvSpPr>
        <p:spPr>
          <a:xfrm xmlns:a="http://schemas.openxmlformats.org/drawingml/2006/main">
            <a:off x="9053513"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Agent completed</a:t>
            </a:r>
          </a:p>
        </p:txBody>
      </p:sp>
      <p:cxnSp>
        <p:nvCxnSpPr>
          <p:cNvPr id="20" name=""/>
          <p:cNvCxnSpPr>
            <a:stCxn xmlns:a="http://schemas.openxmlformats.org/drawingml/2006/main" id="3" idx="3"/>
            <a:endCxn xmlns:a="http://schemas.openxmlformats.org/drawingml/2006/main" id="4" idx="1"/>
          </p:cNvCxnSpPr>
          <p:nvPr/>
        </p:nvCxnSpPr>
        <p:spPr>
          <a:xfrm xmlns:a="http://schemas.openxmlformats.org/drawingml/2006/main">
            <a:off x="3138488"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1" name=""/>
          <p:cNvCxnSpPr>
            <a:stCxn xmlns:a="http://schemas.openxmlformats.org/drawingml/2006/main" id="4" idx="3"/>
            <a:endCxn xmlns:a="http://schemas.openxmlformats.org/drawingml/2006/main" id="5" idx="1"/>
          </p:cNvCxnSpPr>
          <p:nvPr/>
        </p:nvCxnSpPr>
        <p:spPr>
          <a:xfrm xmlns:a="http://schemas.openxmlformats.org/drawingml/2006/main">
            <a:off x="5953126" y="3390900"/>
            <a:ext cx="285749"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2" name=""/>
          <p:cNvCxnSpPr>
            <a:stCxn xmlns:a="http://schemas.openxmlformats.org/drawingml/2006/main" id="5" idx="3"/>
            <a:endCxn xmlns:a="http://schemas.openxmlformats.org/drawingml/2006/main" id="6" idx="1"/>
          </p:cNvCxnSpPr>
          <p:nvPr/>
        </p:nvCxnSpPr>
        <p:spPr>
          <a:xfrm xmlns:a="http://schemas.openxmlformats.org/drawingml/2006/main">
            <a:off x="8767763"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sp>
        <p:nvSpPr>
          <p:cNvPr id="10" name="text">
            <a:extLst xmlns:a="http://schemas.openxmlformats.org/drawingml/2006/main">
              <a:ext uri="{FF2B5EF4-FFF2-40B4-BE49-F238E27FC236}">
                <a16:creationId xmlns:a16="http://schemas.microsoft.com/office/drawing/2014/main" id="{0BB2B5A8-0192-42B9-97CD-2CF63CFB41A9}"/>
              </a:ext>
            </a:extLst>
          </p:cNvPr>
          <p:cNvSpPr>
            <a:spLocks xmlns:a="http://schemas.openxmlformats.org/drawingml/2006/main" noGrp="1"/>
          </p:cNvSpPr>
          <p:nvPr/>
        </p:nvSpPr>
        <p:spPr>
          <a:xfrm xmlns:a="http://schemas.openxmlformats.org/drawingml/2006/main">
            <a:off x="609600" y="50673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DFBF"/>
                </a:solidFill>
                <a:latin typeface="Aptos"/>
                <a:ea typeface="Aptos"/>
                <a:cs typeface="Aptos"/>
              </a:defRPr>
            </a:pPr>
            <a:r>
              <a:rPr sz="1800" b="0">
                <a:solidFill>
                  <a:srgbClr val="61DFBF"/>
                </a:solidFill>
                <a:latin typeface="Aptos"/>
                <a:ea typeface="Aptos"/>
                <a:cs typeface="Aptos"/>
              </a:rPr>
              <a:t>Live tool counts vary. Check the required tools for every specialist.</a:t>
            </a:r>
          </a:p>
        </p:txBody>
      </p:sp>
      <p:sp>
        <p:nvSpPr>
          <p:cNvPr id="11" name="shape">
            <a:extLst xmlns:a="http://schemas.openxmlformats.org/drawingml/2006/main">
              <a:ext uri="{FF2B5EF4-FFF2-40B4-BE49-F238E27FC236}">
                <a16:creationId xmlns:a16="http://schemas.microsoft.com/office/drawing/2014/main" id="{FEAF248B-AECD-4599-9BFF-54BFE0399516}"/>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A8108230-48D7-46D1-986F-B03D9083D48B}"/>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13" name="text">
            <a:extLst xmlns:a="http://schemas.openxmlformats.org/drawingml/2006/main">
              <a:ext uri="{FF2B5EF4-FFF2-40B4-BE49-F238E27FC236}">
                <a16:creationId xmlns:a16="http://schemas.microsoft.com/office/drawing/2014/main" id="{530AA6EB-A925-4A1D-9478-8AE4F79C98B3}"/>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69</a:t>
            </a:r>
          </a:p>
        </p:txBody>
      </p:sp>
    </p:spTree>
    <p:extLst>
      <p:ext uri="{BB962C8B-B14F-4D97-AF65-F5344CB8AC3E}">
        <p14:creationId xmlns:p14="http://schemas.microsoft.com/office/powerpoint/2010/main" val="1988038548"/>
      </p:ext>
    </p:extLst>
  </p:cSld>
</p:sld>
</file>

<file path=ppt/slides/slide70.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6" name="text">
            <a:extLst xmlns:a="http://schemas.openxmlformats.org/drawingml/2006/main">
              <a:ext uri="{FF2B5EF4-FFF2-40B4-BE49-F238E27FC236}">
                <a16:creationId xmlns:a16="http://schemas.microsoft.com/office/drawing/2014/main" id="{43CF2B7C-2D0F-40A9-9504-4CB0D55F11E6}"/>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DAY 2 · SESSION 6 · 90 MINUTES</a:t>
            </a:r>
          </a:p>
        </p:txBody>
      </p:sp>
      <p:sp>
        <p:nvSpPr>
          <p:cNvPr id="2" name="text">
            <a:extLst xmlns:a="http://schemas.openxmlformats.org/drawingml/2006/main">
              <a:ext uri="{FF2B5EF4-FFF2-40B4-BE49-F238E27FC236}">
                <a16:creationId xmlns:a16="http://schemas.microsoft.com/office/drawing/2014/main" id="{7D930157-845D-4DDF-B3C9-8FB2822842A4}"/>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A useful report separates facts from judgment.</a:t>
            </a:r>
          </a:p>
        </p:txBody>
      </p:sp>
      <p:sp>
        <p:nvSpPr>
          <p:cNvPr id="3" name="text">
            <a:extLst xmlns:a="http://schemas.openxmlformats.org/drawingml/2006/main">
              <a:ext uri="{FF2B5EF4-FFF2-40B4-BE49-F238E27FC236}">
                <a16:creationId xmlns:a16="http://schemas.microsoft.com/office/drawing/2014/main" id="{6FFE4BCB-7A51-42FD-A4D9-ACE6925BA9E2}"/>
              </a:ext>
            </a:extLst>
          </p:cNvPr>
          <p:cNvSpPr>
            <a:spLocks xmlns:a="http://schemas.openxmlformats.org/drawingml/2006/main" noGrp="1"/>
          </p:cNvSpPr>
          <p:nvPr/>
        </p:nvSpPr>
        <p:spPr>
          <a:xfrm xmlns:a="http://schemas.openxmlformats.org/drawingml/2006/main">
            <a:off x="609600" y="221932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01</a:t>
            </a:r>
          </a:p>
        </p:txBody>
      </p:sp>
      <p:sp>
        <p:nvSpPr>
          <p:cNvPr id="4" name="text">
            <a:extLst xmlns:a="http://schemas.openxmlformats.org/drawingml/2006/main">
              <a:ext uri="{FF2B5EF4-FFF2-40B4-BE49-F238E27FC236}">
                <a16:creationId xmlns:a16="http://schemas.microsoft.com/office/drawing/2014/main" id="{1029D0EC-72A0-43CA-8B43-93F1D1ED7674}"/>
              </a:ext>
            </a:extLst>
          </p:cNvPr>
          <p:cNvSpPr>
            <a:spLocks xmlns:a="http://schemas.openxmlformats.org/drawingml/2006/main" noGrp="1"/>
          </p:cNvSpPr>
          <p:nvPr/>
        </p:nvSpPr>
        <p:spPr>
          <a:xfrm xmlns:a="http://schemas.openxmlformats.org/drawingml/2006/main">
            <a:off x="1314450" y="2190750"/>
            <a:ext cx="1026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Metrics: numbers calculated by tools.</a:t>
            </a:r>
          </a:p>
        </p:txBody>
      </p:sp>
      <p:sp>
        <p:nvSpPr>
          <p:cNvPr id="5" name="text">
            <a:extLst xmlns:a="http://schemas.openxmlformats.org/drawingml/2006/main">
              <a:ext uri="{FF2B5EF4-FFF2-40B4-BE49-F238E27FC236}">
                <a16:creationId xmlns:a16="http://schemas.microsoft.com/office/drawing/2014/main" id="{DF2805E1-6EA2-47A4-B1AE-E482EED76F02}"/>
              </a:ext>
            </a:extLst>
          </p:cNvPr>
          <p:cNvSpPr>
            <a:spLocks xmlns:a="http://schemas.openxmlformats.org/drawingml/2006/main" noGrp="1"/>
          </p:cNvSpPr>
          <p:nvPr/>
        </p:nvSpPr>
        <p:spPr>
          <a:xfrm xmlns:a="http://schemas.openxmlformats.org/drawingml/2006/main">
            <a:off x="609600" y="29146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02</a:t>
            </a:r>
          </a:p>
        </p:txBody>
      </p:sp>
      <p:sp>
        <p:nvSpPr>
          <p:cNvPr id="6" name="text">
            <a:extLst xmlns:a="http://schemas.openxmlformats.org/drawingml/2006/main">
              <a:ext uri="{FF2B5EF4-FFF2-40B4-BE49-F238E27FC236}">
                <a16:creationId xmlns:a16="http://schemas.microsoft.com/office/drawing/2014/main" id="{E5B7A6A0-543B-40A5-BCB8-ACAF120A9745}"/>
              </a:ext>
            </a:extLst>
          </p:cNvPr>
          <p:cNvSpPr>
            <a:spLocks xmlns:a="http://schemas.openxmlformats.org/drawingml/2006/main" noGrp="1"/>
          </p:cNvSpPr>
          <p:nvPr/>
        </p:nvSpPr>
        <p:spPr>
          <a:xfrm xmlns:a="http://schemas.openxmlformats.org/drawingml/2006/main">
            <a:off x="1314450" y="2886075"/>
            <a:ext cx="1026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Evidence: where inputs and hand-offs came from.</a:t>
            </a:r>
          </a:p>
        </p:txBody>
      </p:sp>
      <p:sp>
        <p:nvSpPr>
          <p:cNvPr id="7" name="text">
            <a:extLst xmlns:a="http://schemas.openxmlformats.org/drawingml/2006/main">
              <a:ext uri="{FF2B5EF4-FFF2-40B4-BE49-F238E27FC236}">
                <a16:creationId xmlns:a16="http://schemas.microsoft.com/office/drawing/2014/main" id="{8F41F55D-4A32-4BD3-84EE-B93CB0220866}"/>
              </a:ext>
            </a:extLst>
          </p:cNvPr>
          <p:cNvSpPr>
            <a:spLocks xmlns:a="http://schemas.openxmlformats.org/drawingml/2006/main" noGrp="1"/>
          </p:cNvSpPr>
          <p:nvPr/>
        </p:nvSpPr>
        <p:spPr>
          <a:xfrm xmlns:a="http://schemas.openxmlformats.org/drawingml/2006/main">
            <a:off x="609600" y="360997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03</a:t>
            </a:r>
          </a:p>
        </p:txBody>
      </p:sp>
      <p:sp>
        <p:nvSpPr>
          <p:cNvPr id="8" name="text">
            <a:extLst xmlns:a="http://schemas.openxmlformats.org/drawingml/2006/main">
              <a:ext uri="{FF2B5EF4-FFF2-40B4-BE49-F238E27FC236}">
                <a16:creationId xmlns:a16="http://schemas.microsoft.com/office/drawing/2014/main" id="{BAC618F5-02D4-4CD2-9A2A-18E6C23E5150}"/>
              </a:ext>
            </a:extLst>
          </p:cNvPr>
          <p:cNvSpPr>
            <a:spLocks xmlns:a="http://schemas.openxmlformats.org/drawingml/2006/main" noGrp="1"/>
          </p:cNvSpPr>
          <p:nvPr/>
        </p:nvSpPr>
        <p:spPr>
          <a:xfrm xmlns:a="http://schemas.openxmlformats.org/drawingml/2006/main">
            <a:off x="1314450" y="3581400"/>
            <a:ext cx="1026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Assumptions: what the model leaves out.</a:t>
            </a:r>
          </a:p>
        </p:txBody>
      </p:sp>
      <p:sp>
        <p:nvSpPr>
          <p:cNvPr id="9" name="text">
            <a:extLst xmlns:a="http://schemas.openxmlformats.org/drawingml/2006/main">
              <a:ext uri="{FF2B5EF4-FFF2-40B4-BE49-F238E27FC236}">
                <a16:creationId xmlns:a16="http://schemas.microsoft.com/office/drawing/2014/main" id="{D8A6C7AD-07E6-4BBC-8AA5-FB344385F8F0}"/>
              </a:ext>
            </a:extLst>
          </p:cNvPr>
          <p:cNvSpPr>
            <a:spLocks xmlns:a="http://schemas.openxmlformats.org/drawingml/2006/main" noGrp="1"/>
          </p:cNvSpPr>
          <p:nvPr/>
        </p:nvSpPr>
        <p:spPr>
          <a:xfrm xmlns:a="http://schemas.openxmlformats.org/drawingml/2006/main">
            <a:off x="609600" y="43053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04</a:t>
            </a:r>
          </a:p>
        </p:txBody>
      </p:sp>
      <p:sp>
        <p:nvSpPr>
          <p:cNvPr id="10" name="text">
            <a:extLst xmlns:a="http://schemas.openxmlformats.org/drawingml/2006/main">
              <a:ext uri="{FF2B5EF4-FFF2-40B4-BE49-F238E27FC236}">
                <a16:creationId xmlns:a16="http://schemas.microsoft.com/office/drawing/2014/main" id="{CDAA22C8-A05D-4DBF-9991-008A9BBAD1B6}"/>
              </a:ext>
            </a:extLst>
          </p:cNvPr>
          <p:cNvSpPr>
            <a:spLocks xmlns:a="http://schemas.openxmlformats.org/drawingml/2006/main" noGrp="1"/>
          </p:cNvSpPr>
          <p:nvPr/>
        </p:nvSpPr>
        <p:spPr>
          <a:xfrm xmlns:a="http://schemas.openxmlformats.org/drawingml/2006/main">
            <a:off x="1314450" y="4276725"/>
            <a:ext cx="1026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Risks: reasons to pause or ask questions.</a:t>
            </a:r>
          </a:p>
        </p:txBody>
      </p:sp>
      <p:sp>
        <p:nvSpPr>
          <p:cNvPr id="11" name="text">
            <a:extLst xmlns:a="http://schemas.openxmlformats.org/drawingml/2006/main">
              <a:ext uri="{FF2B5EF4-FFF2-40B4-BE49-F238E27FC236}">
                <a16:creationId xmlns:a16="http://schemas.microsoft.com/office/drawing/2014/main" id="{6747A639-DCC6-438F-9A1E-E9FB06510560}"/>
              </a:ext>
            </a:extLst>
          </p:cNvPr>
          <p:cNvSpPr>
            <a:spLocks xmlns:a="http://schemas.openxmlformats.org/drawingml/2006/main" noGrp="1"/>
          </p:cNvSpPr>
          <p:nvPr/>
        </p:nvSpPr>
        <p:spPr>
          <a:xfrm xmlns:a="http://schemas.openxmlformats.org/drawingml/2006/main">
            <a:off x="609600" y="500062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05</a:t>
            </a:r>
          </a:p>
        </p:txBody>
      </p:sp>
      <p:sp>
        <p:nvSpPr>
          <p:cNvPr id="12" name="text">
            <a:extLst xmlns:a="http://schemas.openxmlformats.org/drawingml/2006/main">
              <a:ext uri="{FF2B5EF4-FFF2-40B4-BE49-F238E27FC236}">
                <a16:creationId xmlns:a16="http://schemas.microsoft.com/office/drawing/2014/main" id="{13DF7B85-9636-4815-A2F2-EF13E75F2DE7}"/>
              </a:ext>
            </a:extLst>
          </p:cNvPr>
          <p:cNvSpPr>
            <a:spLocks xmlns:a="http://schemas.openxmlformats.org/drawingml/2006/main" noGrp="1"/>
          </p:cNvSpPr>
          <p:nvPr/>
        </p:nvSpPr>
        <p:spPr>
          <a:xfrm xmlns:a="http://schemas.openxmlformats.org/drawingml/2006/main">
            <a:off x="1314450" y="4972050"/>
            <a:ext cx="1026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Actions: an owner and a review gate.</a:t>
            </a:r>
          </a:p>
        </p:txBody>
      </p:sp>
      <p:sp>
        <p:nvSpPr>
          <p:cNvPr id="13" name="shape">
            <a:extLst xmlns:a="http://schemas.openxmlformats.org/drawingml/2006/main">
              <a:ext uri="{FF2B5EF4-FFF2-40B4-BE49-F238E27FC236}">
                <a16:creationId xmlns:a16="http://schemas.microsoft.com/office/drawing/2014/main" id="{B65BF431-8F75-42D0-B82B-BDCD5EECE3AA}"/>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32706590-ABE1-4217-936F-2D5E1A562094}"/>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15" name="text">
            <a:extLst xmlns:a="http://schemas.openxmlformats.org/drawingml/2006/main">
              <a:ext uri="{FF2B5EF4-FFF2-40B4-BE49-F238E27FC236}">
                <a16:creationId xmlns:a16="http://schemas.microsoft.com/office/drawing/2014/main" id="{CED44D38-061C-48C0-B0BB-AFAECA727086}"/>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70</a:t>
            </a:r>
          </a:p>
        </p:txBody>
      </p:sp>
    </p:spTree>
    <p:extLst>
      <p:ext uri="{BB962C8B-B14F-4D97-AF65-F5344CB8AC3E}">
        <p14:creationId xmlns:p14="http://schemas.microsoft.com/office/powerpoint/2010/main" val="1486309128"/>
      </p:ext>
    </p:extLst>
  </p:cSld>
</p:sld>
</file>

<file path=ppt/slides/slide71.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1611FBE1-6578-44D5-8161-BA3DBE2569F0}"/>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DAY 2 · SESSION 6 · 90 MINUTES</a:t>
            </a:r>
          </a:p>
        </p:txBody>
      </p:sp>
      <p:sp>
        <p:nvSpPr>
          <p:cNvPr id="2" name="text">
            <a:extLst xmlns:a="http://schemas.openxmlformats.org/drawingml/2006/main">
              <a:ext uri="{FF2B5EF4-FFF2-40B4-BE49-F238E27FC236}">
                <a16:creationId xmlns:a16="http://schemas.microsoft.com/office/drawing/2014/main" id="{A0E7691C-C6ED-42D9-8097-8ACF489F5A53}"/>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Finance must price the plan that can happen.</a:t>
            </a:r>
          </a:p>
        </p:txBody>
      </p:sp>
      <p:sp>
        <p:nvSpPr>
          <p:cNvPr id="3" name="flow-node">
            <a:extLst xmlns:a="http://schemas.openxmlformats.org/drawingml/2006/main">
              <a:ext uri="{FF2B5EF4-FFF2-40B4-BE49-F238E27FC236}">
                <a16:creationId xmlns:a16="http://schemas.microsoft.com/office/drawing/2014/main" id="{245EA8EA-7917-4E52-B0AB-06B8A8618EBE}"/>
              </a:ext>
            </a:extLst>
          </p:cNvPr>
          <p:cNvSpPr>
            <a:spLocks xmlns:a="http://schemas.openxmlformats.org/drawingml/2006/main" noGrp="1"/>
          </p:cNvSpPr>
          <p:nvPr/>
        </p:nvSpPr>
        <p:spPr>
          <a:xfrm xmlns:a="http://schemas.openxmlformats.org/drawingml/2006/main">
            <a:off x="609600"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Marketing spend</a:t>
            </a:r>
          </a:p>
        </p:txBody>
      </p:sp>
      <p:sp>
        <p:nvSpPr>
          <p:cNvPr id="4" name="flow-node">
            <a:extLst xmlns:a="http://schemas.openxmlformats.org/drawingml/2006/main">
              <a:ext uri="{FF2B5EF4-FFF2-40B4-BE49-F238E27FC236}">
                <a16:creationId xmlns:a16="http://schemas.microsoft.com/office/drawing/2014/main" id="{242F98C9-C658-4B42-A129-A6C5FC221642}"/>
              </a:ext>
            </a:extLst>
          </p:cNvPr>
          <p:cNvSpPr>
            <a:spLocks xmlns:a="http://schemas.openxmlformats.org/drawingml/2006/main" noGrp="1"/>
          </p:cNvSpPr>
          <p:nvPr/>
        </p:nvSpPr>
        <p:spPr>
          <a:xfrm xmlns:a="http://schemas.openxmlformats.org/drawingml/2006/main">
            <a:off x="3424238"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Staffing allowance</a:t>
            </a:r>
          </a:p>
        </p:txBody>
      </p:sp>
      <p:sp>
        <p:nvSpPr>
          <p:cNvPr id="5" name="flow-node">
            <a:extLst xmlns:a="http://schemas.openxmlformats.org/drawingml/2006/main">
              <a:ext uri="{FF2B5EF4-FFF2-40B4-BE49-F238E27FC236}">
                <a16:creationId xmlns:a16="http://schemas.microsoft.com/office/drawing/2014/main" id="{7F2EF28D-4CC5-4960-8B63-3535C43EBA72}"/>
              </a:ext>
            </a:extLst>
          </p:cNvPr>
          <p:cNvSpPr>
            <a:spLocks xmlns:a="http://schemas.openxmlformats.org/drawingml/2006/main" noGrp="1"/>
          </p:cNvSpPr>
          <p:nvPr/>
        </p:nvSpPr>
        <p:spPr>
          <a:xfrm xmlns:a="http://schemas.openxmlformats.org/drawingml/2006/main">
            <a:off x="6238875"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Deliverable units</a:t>
            </a:r>
          </a:p>
        </p:txBody>
      </p:sp>
      <p:sp>
        <p:nvSpPr>
          <p:cNvPr id="6" name="flow-node">
            <a:extLst xmlns:a="http://schemas.openxmlformats.org/drawingml/2006/main">
              <a:ext uri="{FF2B5EF4-FFF2-40B4-BE49-F238E27FC236}">
                <a16:creationId xmlns:a16="http://schemas.microsoft.com/office/drawing/2014/main" id="{0B9CD41B-2C22-49BE-9369-E1C7E1343FED}"/>
              </a:ext>
            </a:extLst>
          </p:cNvPr>
          <p:cNvSpPr>
            <a:spLocks xmlns:a="http://schemas.openxmlformats.org/drawingml/2006/main" noGrp="1"/>
          </p:cNvSpPr>
          <p:nvPr/>
        </p:nvSpPr>
        <p:spPr>
          <a:xfrm xmlns:a="http://schemas.openxmlformats.org/drawingml/2006/main">
            <a:off x="9053513"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Finance scenarios</a:t>
            </a:r>
          </a:p>
        </p:txBody>
      </p:sp>
      <p:cxnSp>
        <p:nvCxnSpPr>
          <p:cNvPr id="20" name=""/>
          <p:cNvCxnSpPr>
            <a:stCxn xmlns:a="http://schemas.openxmlformats.org/drawingml/2006/main" id="3" idx="3"/>
            <a:endCxn xmlns:a="http://schemas.openxmlformats.org/drawingml/2006/main" id="4" idx="1"/>
          </p:cNvCxnSpPr>
          <p:nvPr/>
        </p:nvCxnSpPr>
        <p:spPr>
          <a:xfrm xmlns:a="http://schemas.openxmlformats.org/drawingml/2006/main">
            <a:off x="3138488"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1" name=""/>
          <p:cNvCxnSpPr>
            <a:stCxn xmlns:a="http://schemas.openxmlformats.org/drawingml/2006/main" id="4" idx="3"/>
            <a:endCxn xmlns:a="http://schemas.openxmlformats.org/drawingml/2006/main" id="5" idx="1"/>
          </p:cNvCxnSpPr>
          <p:nvPr/>
        </p:nvCxnSpPr>
        <p:spPr>
          <a:xfrm xmlns:a="http://schemas.openxmlformats.org/drawingml/2006/main">
            <a:off x="5953126" y="3390900"/>
            <a:ext cx="285749"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2" name=""/>
          <p:cNvCxnSpPr>
            <a:stCxn xmlns:a="http://schemas.openxmlformats.org/drawingml/2006/main" id="5" idx="3"/>
            <a:endCxn xmlns:a="http://schemas.openxmlformats.org/drawingml/2006/main" id="6" idx="1"/>
          </p:cNvCxnSpPr>
          <p:nvPr/>
        </p:nvCxnSpPr>
        <p:spPr>
          <a:xfrm xmlns:a="http://schemas.openxmlformats.org/drawingml/2006/main">
            <a:off x="8767763"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sp>
        <p:nvSpPr>
          <p:cNvPr id="10" name="text">
            <a:extLst xmlns:a="http://schemas.openxmlformats.org/drawingml/2006/main">
              <a:ext uri="{FF2B5EF4-FFF2-40B4-BE49-F238E27FC236}">
                <a16:creationId xmlns:a16="http://schemas.microsoft.com/office/drawing/2014/main" id="{C90B4A62-82BA-4FEC-A0B4-8BED33119E85}"/>
              </a:ext>
            </a:extLst>
          </p:cNvPr>
          <p:cNvSpPr>
            <a:spLocks xmlns:a="http://schemas.openxmlformats.org/drawingml/2006/main" noGrp="1"/>
          </p:cNvSpPr>
          <p:nvPr/>
        </p:nvSpPr>
        <p:spPr>
          <a:xfrm xmlns:a="http://schemas.openxmlformats.org/drawingml/2006/main">
            <a:off x="609600" y="50673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DFBF"/>
                </a:solidFill>
                <a:latin typeface="Aptos"/>
                <a:ea typeface="Aptos"/>
                <a:cs typeface="Aptos"/>
              </a:defRPr>
            </a:pPr>
            <a:r>
              <a:rPr sz="1800" b="0">
                <a:solidFill>
                  <a:srgbClr val="61DFBF"/>
                </a:solidFill>
                <a:latin typeface="Aptos"/>
                <a:ea typeface="Aptos"/>
                <a:cs typeface="Aptos"/>
              </a:rPr>
              <a:t>A shared report prevents six unrelated answers.</a:t>
            </a:r>
          </a:p>
        </p:txBody>
      </p:sp>
      <p:sp>
        <p:nvSpPr>
          <p:cNvPr id="11" name="shape">
            <a:extLst xmlns:a="http://schemas.openxmlformats.org/drawingml/2006/main">
              <a:ext uri="{FF2B5EF4-FFF2-40B4-BE49-F238E27FC236}">
                <a16:creationId xmlns:a16="http://schemas.microsoft.com/office/drawing/2014/main" id="{3568FEDC-4517-4D20-B9B2-7E8BCAB41547}"/>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FBC87231-4980-4798-885C-7202AC11F4A7}"/>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13" name="text">
            <a:extLst xmlns:a="http://schemas.openxmlformats.org/drawingml/2006/main">
              <a:ext uri="{FF2B5EF4-FFF2-40B4-BE49-F238E27FC236}">
                <a16:creationId xmlns:a16="http://schemas.microsoft.com/office/drawing/2014/main" id="{0BE936B8-3ABB-440B-9B57-0F80E898331C}"/>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71</a:t>
            </a:r>
          </a:p>
        </p:txBody>
      </p:sp>
    </p:spTree>
    <p:extLst>
      <p:ext uri="{BB962C8B-B14F-4D97-AF65-F5344CB8AC3E}">
        <p14:creationId xmlns:p14="http://schemas.microsoft.com/office/powerpoint/2010/main" val="1428351734"/>
      </p:ext>
    </p:extLst>
  </p:cSld>
</p:sld>
</file>

<file path=ppt/slides/slide72.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22" name="text">
            <a:extLst xmlns:a="http://schemas.openxmlformats.org/drawingml/2006/main">
              <a:ext uri="{FF2B5EF4-FFF2-40B4-BE49-F238E27FC236}">
                <a16:creationId xmlns:a16="http://schemas.microsoft.com/office/drawing/2014/main" id="{FE70D739-98C9-4BB7-8A8B-23F1CDBBB265}"/>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DAY 2 · SESSION 6 · 90 MINUTES</a:t>
            </a:r>
          </a:p>
        </p:txBody>
      </p:sp>
      <p:sp>
        <p:nvSpPr>
          <p:cNvPr id="2" name="text">
            <a:extLst xmlns:a="http://schemas.openxmlformats.org/drawingml/2006/main">
              <a:ext uri="{FF2B5EF4-FFF2-40B4-BE49-F238E27FC236}">
                <a16:creationId xmlns:a16="http://schemas.microsoft.com/office/drawing/2014/main" id="{8109148D-B03B-43AE-B6B8-4B76E9D33422}"/>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Compare the decision, not just the screen.</a:t>
            </a:r>
          </a:p>
        </p:txBody>
      </p:sp>
      <p:sp>
        <p:nvSpPr>
          <p:cNvPr id="3" name="text">
            <a:extLst xmlns:a="http://schemas.openxmlformats.org/drawingml/2006/main">
              <a:ext uri="{FF2B5EF4-FFF2-40B4-BE49-F238E27FC236}">
                <a16:creationId xmlns:a16="http://schemas.microsoft.com/office/drawing/2014/main" id="{5C7F9B99-B8E8-4BAB-AFD3-A947CDE04E15}"/>
              </a:ext>
            </a:extLst>
          </p:cNvPr>
          <p:cNvSpPr>
            <a:spLocks xmlns:a="http://schemas.openxmlformats.org/drawingml/2006/main" noGrp="1"/>
          </p:cNvSpPr>
          <p:nvPr/>
        </p:nvSpPr>
        <p:spPr>
          <a:xfrm xmlns:a="http://schemas.openxmlformats.org/drawingml/2006/main">
            <a:off x="609600" y="2238375"/>
            <a:ext cx="5276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BASELINE</a:t>
            </a:r>
          </a:p>
        </p:txBody>
      </p:sp>
      <p:sp>
        <p:nvSpPr>
          <p:cNvPr id="4" name="text">
            <a:extLst xmlns:a="http://schemas.openxmlformats.org/drawingml/2006/main">
              <a:ext uri="{FF2B5EF4-FFF2-40B4-BE49-F238E27FC236}">
                <a16:creationId xmlns:a16="http://schemas.microsoft.com/office/drawing/2014/main" id="{BDB6FC31-F9F5-41E6-8AE3-6731219C6961}"/>
              </a:ext>
            </a:extLst>
          </p:cNvPr>
          <p:cNvSpPr>
            <a:spLocks xmlns:a="http://schemas.openxmlformats.org/drawingml/2006/main" noGrp="1"/>
          </p:cNvSpPr>
          <p:nvPr/>
        </p:nvSpPr>
        <p:spPr>
          <a:xfrm xmlns:a="http://schemas.openxmlformats.org/drawingml/2006/main">
            <a:off x="6096000" y="2238375"/>
            <a:ext cx="5276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BUDGET −25%</a:t>
            </a:r>
          </a:p>
        </p:txBody>
      </p:sp>
      <p:sp>
        <p:nvSpPr>
          <p:cNvPr id="5" name="shape">
            <a:extLst xmlns:a="http://schemas.openxmlformats.org/drawingml/2006/main">
              <a:ext uri="{FF2B5EF4-FFF2-40B4-BE49-F238E27FC236}">
                <a16:creationId xmlns:a16="http://schemas.microsoft.com/office/drawing/2014/main" id="{7DFD4F8D-585E-4802-A281-7B57F8C8FC08}"/>
              </a:ext>
            </a:extLst>
          </p:cNvPr>
          <p:cNvSpPr>
            <a:spLocks xmlns:a="http://schemas.openxmlformats.org/drawingml/2006/main" noGrp="1"/>
          </p:cNvSpPr>
          <p:nvPr/>
        </p:nvSpPr>
        <p:spPr>
          <a:xfrm xmlns:a="http://schemas.openxmlformats.org/drawingml/2006/main">
            <a:off x="609600" y="26479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B87A5E6D-5DD4-4EA3-A68D-18CA8FDF5445}"/>
              </a:ext>
            </a:extLst>
          </p:cNvPr>
          <p:cNvSpPr>
            <a:spLocks xmlns:a="http://schemas.openxmlformats.org/drawingml/2006/main" noGrp="1"/>
          </p:cNvSpPr>
          <p:nvPr/>
        </p:nvSpPr>
        <p:spPr>
          <a:xfrm xmlns:a="http://schemas.openxmlformats.org/drawingml/2006/main">
            <a:off x="609600" y="28194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Budget ₹24,00,000</a:t>
            </a:r>
          </a:p>
        </p:txBody>
      </p:sp>
      <p:sp>
        <p:nvSpPr>
          <p:cNvPr id="7" name="text">
            <a:extLst xmlns:a="http://schemas.openxmlformats.org/drawingml/2006/main">
              <a:ext uri="{FF2B5EF4-FFF2-40B4-BE49-F238E27FC236}">
                <a16:creationId xmlns:a16="http://schemas.microsoft.com/office/drawing/2014/main" id="{F73496EB-5AAB-4472-8235-BB4B1F1B1180}"/>
              </a:ext>
            </a:extLst>
          </p:cNvPr>
          <p:cNvSpPr>
            <a:spLocks xmlns:a="http://schemas.openxmlformats.org/drawingml/2006/main" noGrp="1"/>
          </p:cNvSpPr>
          <p:nvPr/>
        </p:nvSpPr>
        <p:spPr>
          <a:xfrm xmlns:a="http://schemas.openxmlformats.org/drawingml/2006/main">
            <a:off x="6096000" y="28194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Budget ₹18,00,000</a:t>
            </a:r>
          </a:p>
        </p:txBody>
      </p:sp>
      <p:sp>
        <p:nvSpPr>
          <p:cNvPr id="8" name="shape">
            <a:extLst xmlns:a="http://schemas.openxmlformats.org/drawingml/2006/main">
              <a:ext uri="{FF2B5EF4-FFF2-40B4-BE49-F238E27FC236}">
                <a16:creationId xmlns:a16="http://schemas.microsoft.com/office/drawing/2014/main" id="{2A2F02B6-04E7-48C6-B9EB-1CB1E2760B91}"/>
              </a:ext>
            </a:extLst>
          </p:cNvPr>
          <p:cNvSpPr>
            <a:spLocks xmlns:a="http://schemas.openxmlformats.org/drawingml/2006/main" noGrp="1"/>
          </p:cNvSpPr>
          <p:nvPr/>
        </p:nvSpPr>
        <p:spPr>
          <a:xfrm xmlns:a="http://schemas.openxmlformats.org/drawingml/2006/main">
            <a:off x="609600" y="34004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3C8179BB-CE4A-4EA5-B49F-18ABC034A17D}"/>
              </a:ext>
            </a:extLst>
          </p:cNvPr>
          <p:cNvSpPr>
            <a:spLocks xmlns:a="http://schemas.openxmlformats.org/drawingml/2006/main" noGrp="1"/>
          </p:cNvSpPr>
          <p:nvPr/>
        </p:nvSpPr>
        <p:spPr>
          <a:xfrm xmlns:a="http://schemas.openxmlformats.org/drawingml/2006/main">
            <a:off x="609600" y="35052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Cash needed ₹24,00,000</a:t>
            </a:r>
          </a:p>
        </p:txBody>
      </p:sp>
      <p:sp>
        <p:nvSpPr>
          <p:cNvPr id="10" name="text">
            <a:extLst xmlns:a="http://schemas.openxmlformats.org/drawingml/2006/main">
              <a:ext uri="{FF2B5EF4-FFF2-40B4-BE49-F238E27FC236}">
                <a16:creationId xmlns:a16="http://schemas.microsoft.com/office/drawing/2014/main" id="{CE61E8C3-1FE7-45C5-9B7C-15CF23C9257D}"/>
              </a:ext>
            </a:extLst>
          </p:cNvPr>
          <p:cNvSpPr>
            <a:spLocks xmlns:a="http://schemas.openxmlformats.org/drawingml/2006/main" noGrp="1"/>
          </p:cNvSpPr>
          <p:nvPr/>
        </p:nvSpPr>
        <p:spPr>
          <a:xfrm xmlns:a="http://schemas.openxmlformats.org/drawingml/2006/main">
            <a:off x="6096000" y="35052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Cash needed ₹24,00,000</a:t>
            </a:r>
          </a:p>
        </p:txBody>
      </p:sp>
      <p:sp>
        <p:nvSpPr>
          <p:cNvPr id="11" name="shape">
            <a:extLst xmlns:a="http://schemas.openxmlformats.org/drawingml/2006/main">
              <a:ext uri="{FF2B5EF4-FFF2-40B4-BE49-F238E27FC236}">
                <a16:creationId xmlns:a16="http://schemas.microsoft.com/office/drawing/2014/main" id="{02063422-80D1-49AF-9145-4FAC697E2C6A}"/>
              </a:ext>
            </a:extLst>
          </p:cNvPr>
          <p:cNvSpPr>
            <a:spLocks xmlns:a="http://schemas.openxmlformats.org/drawingml/2006/main" noGrp="1"/>
          </p:cNvSpPr>
          <p:nvPr/>
        </p:nvSpPr>
        <p:spPr>
          <a:xfrm xmlns:a="http://schemas.openxmlformats.org/drawingml/2006/main">
            <a:off x="609600" y="40862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42CFBB9B-4B1A-4910-BB00-5D3C8C5B836C}"/>
              </a:ext>
            </a:extLst>
          </p:cNvPr>
          <p:cNvSpPr>
            <a:spLocks xmlns:a="http://schemas.openxmlformats.org/drawingml/2006/main" noGrp="1"/>
          </p:cNvSpPr>
          <p:nvPr/>
        </p:nvSpPr>
        <p:spPr>
          <a:xfrm xmlns:a="http://schemas.openxmlformats.org/drawingml/2006/main">
            <a:off x="609600" y="41910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Funding gap ₹0</a:t>
            </a:r>
          </a:p>
        </p:txBody>
      </p:sp>
      <p:sp>
        <p:nvSpPr>
          <p:cNvPr id="13" name="text">
            <a:extLst xmlns:a="http://schemas.openxmlformats.org/drawingml/2006/main">
              <a:ext uri="{FF2B5EF4-FFF2-40B4-BE49-F238E27FC236}">
                <a16:creationId xmlns:a16="http://schemas.microsoft.com/office/drawing/2014/main" id="{9E307963-0175-49D7-B2EC-839424340536}"/>
              </a:ext>
            </a:extLst>
          </p:cNvPr>
          <p:cNvSpPr>
            <a:spLocks xmlns:a="http://schemas.openxmlformats.org/drawingml/2006/main" noGrp="1"/>
          </p:cNvSpPr>
          <p:nvPr/>
        </p:nvSpPr>
        <p:spPr>
          <a:xfrm xmlns:a="http://schemas.openxmlformats.org/drawingml/2006/main">
            <a:off x="6096000" y="41910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Funding gap ₹6,00,000</a:t>
            </a:r>
          </a:p>
        </p:txBody>
      </p:sp>
      <p:sp>
        <p:nvSpPr>
          <p:cNvPr id="14" name="shape">
            <a:extLst xmlns:a="http://schemas.openxmlformats.org/drawingml/2006/main">
              <a:ext uri="{FF2B5EF4-FFF2-40B4-BE49-F238E27FC236}">
                <a16:creationId xmlns:a16="http://schemas.microsoft.com/office/drawing/2014/main" id="{6AB1AFA1-0159-4009-AC3E-2F6D10FE1752}"/>
              </a:ext>
            </a:extLst>
          </p:cNvPr>
          <p:cNvSpPr>
            <a:spLocks xmlns:a="http://schemas.openxmlformats.org/drawingml/2006/main" noGrp="1"/>
          </p:cNvSpPr>
          <p:nvPr/>
        </p:nvSpPr>
        <p:spPr>
          <a:xfrm xmlns:a="http://schemas.openxmlformats.org/drawingml/2006/main">
            <a:off x="609600" y="47720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4EC9EE46-8130-48D0-9803-D1411A59E420}"/>
              </a:ext>
            </a:extLst>
          </p:cNvPr>
          <p:cNvSpPr>
            <a:spLocks xmlns:a="http://schemas.openxmlformats.org/drawingml/2006/main" noGrp="1"/>
          </p:cNvSpPr>
          <p:nvPr/>
        </p:nvSpPr>
        <p:spPr>
          <a:xfrm xmlns:a="http://schemas.openxmlformats.org/drawingml/2006/main">
            <a:off x="609600" y="48768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CONDITIONAL GO</a:t>
            </a:r>
          </a:p>
        </p:txBody>
      </p:sp>
      <p:sp>
        <p:nvSpPr>
          <p:cNvPr id="16" name="text">
            <a:extLst xmlns:a="http://schemas.openxmlformats.org/drawingml/2006/main">
              <a:ext uri="{FF2B5EF4-FFF2-40B4-BE49-F238E27FC236}">
                <a16:creationId xmlns:a16="http://schemas.microsoft.com/office/drawing/2014/main" id="{05211ABB-F77D-4504-9125-953FD6D5AF13}"/>
              </a:ext>
            </a:extLst>
          </p:cNvPr>
          <p:cNvSpPr>
            <a:spLocks xmlns:a="http://schemas.openxmlformats.org/drawingml/2006/main" noGrp="1"/>
          </p:cNvSpPr>
          <p:nvPr/>
        </p:nvSpPr>
        <p:spPr>
          <a:xfrm xmlns:a="http://schemas.openxmlformats.org/drawingml/2006/main">
            <a:off x="6096000" y="48768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HOLD</a:t>
            </a:r>
          </a:p>
        </p:txBody>
      </p:sp>
      <p:sp>
        <p:nvSpPr>
          <p:cNvPr id="17" name="shape">
            <a:extLst xmlns:a="http://schemas.openxmlformats.org/drawingml/2006/main">
              <a:ext uri="{FF2B5EF4-FFF2-40B4-BE49-F238E27FC236}">
                <a16:creationId xmlns:a16="http://schemas.microsoft.com/office/drawing/2014/main" id="{52E4E9B9-F56A-4AC9-84D2-B919EE46D832}"/>
              </a:ext>
            </a:extLst>
          </p:cNvPr>
          <p:cNvSpPr>
            <a:spLocks xmlns:a="http://schemas.openxmlformats.org/drawingml/2006/main" noGrp="1"/>
          </p:cNvSpPr>
          <p:nvPr/>
        </p:nvSpPr>
        <p:spPr>
          <a:xfrm xmlns:a="http://schemas.openxmlformats.org/drawingml/2006/main">
            <a:off x="609600" y="54578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CB8189C3-93CA-4EF0-8EB0-BD02AC825223}"/>
              </a:ext>
            </a:extLst>
          </p:cNvPr>
          <p:cNvSpPr>
            <a:spLocks xmlns:a="http://schemas.openxmlformats.org/drawingml/2006/main" noGrp="1"/>
          </p:cNvSpPr>
          <p:nvPr/>
        </p:nvSpPr>
        <p:spPr>
          <a:xfrm xmlns:a="http://schemas.openxmlformats.org/drawingml/2006/main">
            <a:off x="609600" y="57626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Run Archive → select exactly two completed runs.</a:t>
            </a:r>
          </a:p>
        </p:txBody>
      </p:sp>
      <p:sp>
        <p:nvSpPr>
          <p:cNvPr id="19" name="shape">
            <a:extLst xmlns:a="http://schemas.openxmlformats.org/drawingml/2006/main">
              <a:ext uri="{FF2B5EF4-FFF2-40B4-BE49-F238E27FC236}">
                <a16:creationId xmlns:a16="http://schemas.microsoft.com/office/drawing/2014/main" id="{DE5BC595-F229-482E-BF8D-9AB8C810A2ED}"/>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20" name="text">
            <a:extLst xmlns:a="http://schemas.openxmlformats.org/drawingml/2006/main">
              <a:ext uri="{FF2B5EF4-FFF2-40B4-BE49-F238E27FC236}">
                <a16:creationId xmlns:a16="http://schemas.microsoft.com/office/drawing/2014/main" id="{BA9EAD9D-2D0A-4A1E-B9BE-37B9E03A6AB2}"/>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21" name="text">
            <a:extLst xmlns:a="http://schemas.openxmlformats.org/drawingml/2006/main">
              <a:ext uri="{FF2B5EF4-FFF2-40B4-BE49-F238E27FC236}">
                <a16:creationId xmlns:a16="http://schemas.microsoft.com/office/drawing/2014/main" id="{2C723077-2F0F-4BF4-83D7-C3EE3D93C99C}"/>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72</a:t>
            </a:r>
          </a:p>
        </p:txBody>
      </p:sp>
    </p:spTree>
    <p:extLst>
      <p:ext uri="{BB962C8B-B14F-4D97-AF65-F5344CB8AC3E}">
        <p14:creationId xmlns:p14="http://schemas.microsoft.com/office/powerpoint/2010/main" val="424234281"/>
      </p:ext>
    </p:extLst>
  </p:cSld>
</p:sld>
</file>

<file path=ppt/slides/slide73.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01AA7E88-29A6-425F-A0E1-A1C3FFE7BE1C}"/>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DAY 2 · SESSION 6 · 90 MINUTES</a:t>
            </a:r>
          </a:p>
        </p:txBody>
      </p:sp>
      <p:sp>
        <p:nvSpPr>
          <p:cNvPr id="2" name="text">
            <a:extLst xmlns:a="http://schemas.openxmlformats.org/drawingml/2006/main">
              <a:ext uri="{FF2B5EF4-FFF2-40B4-BE49-F238E27FC236}">
                <a16:creationId xmlns:a16="http://schemas.microsoft.com/office/drawing/2014/main" id="{CEFA59BA-F41B-4D95-8027-7BA47B4F5D28}"/>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Export a package someone else can inspect.</a:t>
            </a:r>
          </a:p>
        </p:txBody>
      </p:sp>
      <p:sp>
        <p:nvSpPr>
          <p:cNvPr id="3" name="flow-node">
            <a:extLst xmlns:a="http://schemas.openxmlformats.org/drawingml/2006/main">
              <a:ext uri="{FF2B5EF4-FFF2-40B4-BE49-F238E27FC236}">
                <a16:creationId xmlns:a16="http://schemas.microsoft.com/office/drawing/2014/main" id="{89AD2CBD-9841-444B-9D8A-DF054342D709}"/>
              </a:ext>
            </a:extLst>
          </p:cNvPr>
          <p:cNvSpPr>
            <a:spLocks xmlns:a="http://schemas.openxmlformats.org/drawingml/2006/main" noGrp="1"/>
          </p:cNvSpPr>
          <p:nvPr/>
        </p:nvSpPr>
        <p:spPr>
          <a:xfrm xmlns:a="http://schemas.openxmlformats.org/drawingml/2006/main">
            <a:off x="609600"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Complete the run</a:t>
            </a:r>
          </a:p>
        </p:txBody>
      </p:sp>
      <p:sp>
        <p:nvSpPr>
          <p:cNvPr id="4" name="flow-node">
            <a:extLst xmlns:a="http://schemas.openxmlformats.org/drawingml/2006/main">
              <a:ext uri="{FF2B5EF4-FFF2-40B4-BE49-F238E27FC236}">
                <a16:creationId xmlns:a16="http://schemas.microsoft.com/office/drawing/2014/main" id="{BDA157D4-5166-49C3-8B4F-BFB50FEC30E0}"/>
              </a:ext>
            </a:extLst>
          </p:cNvPr>
          <p:cNvSpPr>
            <a:spLocks xmlns:a="http://schemas.openxmlformats.org/drawingml/2006/main" noGrp="1"/>
          </p:cNvSpPr>
          <p:nvPr/>
        </p:nvSpPr>
        <p:spPr>
          <a:xfrm xmlns:a="http://schemas.openxmlformats.org/drawingml/2006/main">
            <a:off x="3424238"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Export brief / JSON</a:t>
            </a:r>
          </a:p>
        </p:txBody>
      </p:sp>
      <p:sp>
        <p:nvSpPr>
          <p:cNvPr id="5" name="flow-node">
            <a:extLst xmlns:a="http://schemas.openxmlformats.org/drawingml/2006/main">
              <a:ext uri="{FF2B5EF4-FFF2-40B4-BE49-F238E27FC236}">
                <a16:creationId xmlns:a16="http://schemas.microsoft.com/office/drawing/2014/main" id="{B1FC700D-DDE8-42CF-8AED-4F14BFA55B67}"/>
              </a:ext>
            </a:extLst>
          </p:cNvPr>
          <p:cNvSpPr>
            <a:spLocks xmlns:a="http://schemas.openxmlformats.org/drawingml/2006/main" noGrp="1"/>
          </p:cNvSpPr>
          <p:nvPr/>
        </p:nvSpPr>
        <p:spPr>
          <a:xfrm xmlns:a="http://schemas.openxmlformats.org/drawingml/2006/main">
            <a:off x="6238875"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Read the snapshot</a:t>
            </a:r>
          </a:p>
        </p:txBody>
      </p:sp>
      <p:sp>
        <p:nvSpPr>
          <p:cNvPr id="6" name="flow-node">
            <a:extLst xmlns:a="http://schemas.openxmlformats.org/drawingml/2006/main">
              <a:ext uri="{FF2B5EF4-FFF2-40B4-BE49-F238E27FC236}">
                <a16:creationId xmlns:a16="http://schemas.microsoft.com/office/drawing/2014/main" id="{74EF9087-FF8A-4F99-AB35-A3F2401C0D00}"/>
              </a:ext>
            </a:extLst>
          </p:cNvPr>
          <p:cNvSpPr>
            <a:spLocks xmlns:a="http://schemas.openxmlformats.org/drawingml/2006/main" noGrp="1"/>
          </p:cNvSpPr>
          <p:nvPr/>
        </p:nvSpPr>
        <p:spPr>
          <a:xfrm xmlns:a="http://schemas.openxmlformats.org/drawingml/2006/main">
            <a:off x="9053513"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Save the package</a:t>
            </a:r>
          </a:p>
        </p:txBody>
      </p:sp>
      <p:cxnSp>
        <p:nvCxnSpPr>
          <p:cNvPr id="20" name=""/>
          <p:cNvCxnSpPr>
            <a:stCxn xmlns:a="http://schemas.openxmlformats.org/drawingml/2006/main" id="3" idx="3"/>
            <a:endCxn xmlns:a="http://schemas.openxmlformats.org/drawingml/2006/main" id="4" idx="1"/>
          </p:cNvCxnSpPr>
          <p:nvPr/>
        </p:nvCxnSpPr>
        <p:spPr>
          <a:xfrm xmlns:a="http://schemas.openxmlformats.org/drawingml/2006/main">
            <a:off x="3138488"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1" name=""/>
          <p:cNvCxnSpPr>
            <a:stCxn xmlns:a="http://schemas.openxmlformats.org/drawingml/2006/main" id="4" idx="3"/>
            <a:endCxn xmlns:a="http://schemas.openxmlformats.org/drawingml/2006/main" id="5" idx="1"/>
          </p:cNvCxnSpPr>
          <p:nvPr/>
        </p:nvCxnSpPr>
        <p:spPr>
          <a:xfrm xmlns:a="http://schemas.openxmlformats.org/drawingml/2006/main">
            <a:off x="5953126" y="3390900"/>
            <a:ext cx="285749"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2" name=""/>
          <p:cNvCxnSpPr>
            <a:stCxn xmlns:a="http://schemas.openxmlformats.org/drawingml/2006/main" id="5" idx="3"/>
            <a:endCxn xmlns:a="http://schemas.openxmlformats.org/drawingml/2006/main" id="6" idx="1"/>
          </p:cNvCxnSpPr>
          <p:nvPr/>
        </p:nvCxnSpPr>
        <p:spPr>
          <a:xfrm xmlns:a="http://schemas.openxmlformats.org/drawingml/2006/main">
            <a:off x="8767763"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sp>
        <p:nvSpPr>
          <p:cNvPr id="10" name="text">
            <a:extLst xmlns:a="http://schemas.openxmlformats.org/drawingml/2006/main">
              <a:ext uri="{FF2B5EF4-FFF2-40B4-BE49-F238E27FC236}">
                <a16:creationId xmlns:a16="http://schemas.microsoft.com/office/drawing/2014/main" id="{9B709652-F933-4F0D-A28A-31BFC74ABBEB}"/>
              </a:ext>
            </a:extLst>
          </p:cNvPr>
          <p:cNvSpPr>
            <a:spLocks xmlns:a="http://schemas.openxmlformats.org/drawingml/2006/main" noGrp="1"/>
          </p:cNvSpPr>
          <p:nvPr/>
        </p:nvSpPr>
        <p:spPr>
          <a:xfrm xmlns:a="http://schemas.openxmlformats.org/drawingml/2006/main">
            <a:off x="609600" y="50673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DFBF"/>
                </a:solidFill>
                <a:latin typeface="Aptos"/>
                <a:ea typeface="Aptos"/>
                <a:cs typeface="Aptos"/>
              </a:defRPr>
            </a:pPr>
            <a:r>
              <a:rPr sz="1800" b="0">
                <a:solidFill>
                  <a:srgbClr val="61DFBF"/>
                </a:solidFill>
                <a:latin typeface="Aptos"/>
                <a:ea typeface="Aptos"/>
                <a:cs typeface="Aptos"/>
              </a:rPr>
              <a:t>Include the scenario, metrics, sources, assumptions, risks and actions.</a:t>
            </a:r>
          </a:p>
        </p:txBody>
      </p:sp>
      <p:sp>
        <p:nvSpPr>
          <p:cNvPr id="11" name="shape">
            <a:extLst xmlns:a="http://schemas.openxmlformats.org/drawingml/2006/main">
              <a:ext uri="{FF2B5EF4-FFF2-40B4-BE49-F238E27FC236}">
                <a16:creationId xmlns:a16="http://schemas.microsoft.com/office/drawing/2014/main" id="{D8CAF36A-489F-4C4A-9A13-61DF6613C69A}"/>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56852454-1BF9-460F-BB12-1A0311D2940A}"/>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13" name="text">
            <a:extLst xmlns:a="http://schemas.openxmlformats.org/drawingml/2006/main">
              <a:ext uri="{FF2B5EF4-FFF2-40B4-BE49-F238E27FC236}">
                <a16:creationId xmlns:a16="http://schemas.microsoft.com/office/drawing/2014/main" id="{45A9B27E-22B5-45F6-983C-16FA74AEDAF9}"/>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73</a:t>
            </a:r>
          </a:p>
        </p:txBody>
      </p:sp>
    </p:spTree>
    <p:extLst>
      <p:ext uri="{BB962C8B-B14F-4D97-AF65-F5344CB8AC3E}">
        <p14:creationId xmlns:p14="http://schemas.microsoft.com/office/powerpoint/2010/main" val="1597005861"/>
      </p:ext>
    </p:extLst>
  </p:cSld>
</p:sld>
</file>

<file path=ppt/slides/slide74.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6" name="text">
            <a:extLst xmlns:a="http://schemas.openxmlformats.org/drawingml/2006/main">
              <a:ext uri="{FF2B5EF4-FFF2-40B4-BE49-F238E27FC236}">
                <a16:creationId xmlns:a16="http://schemas.microsoft.com/office/drawing/2014/main" id="{DA6ABE0D-BDAF-4641-BFFC-A1B86B1BE3AC}"/>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DAY 2 · SESSION 6 · 90 MINUTES</a:t>
            </a:r>
          </a:p>
        </p:txBody>
      </p:sp>
      <p:sp>
        <p:nvSpPr>
          <p:cNvPr id="2" name="text">
            <a:extLst xmlns:a="http://schemas.openxmlformats.org/drawingml/2006/main">
              <a:ext uri="{FF2B5EF4-FFF2-40B4-BE49-F238E27FC236}">
                <a16:creationId xmlns:a16="http://schemas.microsoft.com/office/drawing/2014/main" id="{BED81964-4EF6-4D69-85F3-4132115A0053}"/>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Checkpoint: make your evidence easy to follow.</a:t>
            </a:r>
          </a:p>
        </p:txBody>
      </p:sp>
      <p:sp>
        <p:nvSpPr>
          <p:cNvPr id="3" name="text">
            <a:extLst xmlns:a="http://schemas.openxmlformats.org/drawingml/2006/main">
              <a:ext uri="{FF2B5EF4-FFF2-40B4-BE49-F238E27FC236}">
                <a16:creationId xmlns:a16="http://schemas.microsoft.com/office/drawing/2014/main" id="{948CDFB2-4BD7-49E4-85E5-277D47F9C3DA}"/>
              </a:ext>
            </a:extLst>
          </p:cNvPr>
          <p:cNvSpPr>
            <a:spLocks xmlns:a="http://schemas.openxmlformats.org/drawingml/2006/main" noGrp="1"/>
          </p:cNvSpPr>
          <p:nvPr/>
        </p:nvSpPr>
        <p:spPr>
          <a:xfrm xmlns:a="http://schemas.openxmlformats.org/drawingml/2006/main">
            <a:off x="609600" y="221932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01</a:t>
            </a:r>
          </a:p>
        </p:txBody>
      </p:sp>
      <p:sp>
        <p:nvSpPr>
          <p:cNvPr id="4" name="text">
            <a:extLst xmlns:a="http://schemas.openxmlformats.org/drawingml/2006/main">
              <a:ext uri="{FF2B5EF4-FFF2-40B4-BE49-F238E27FC236}">
                <a16:creationId xmlns:a16="http://schemas.microsoft.com/office/drawing/2014/main" id="{1D115958-2DCF-4740-8A47-97E57BE28945}"/>
              </a:ext>
            </a:extLst>
          </p:cNvPr>
          <p:cNvSpPr>
            <a:spLocks xmlns:a="http://schemas.openxmlformats.org/drawingml/2006/main" noGrp="1"/>
          </p:cNvSpPr>
          <p:nvPr/>
        </p:nvSpPr>
        <p:spPr>
          <a:xfrm xmlns:a="http://schemas.openxmlformats.org/drawingml/2006/main">
            <a:off x="1314450" y="2190750"/>
            <a:ext cx="1026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Show the exact scenario snapshot.</a:t>
            </a:r>
          </a:p>
        </p:txBody>
      </p:sp>
      <p:sp>
        <p:nvSpPr>
          <p:cNvPr id="5" name="text">
            <a:extLst xmlns:a="http://schemas.openxmlformats.org/drawingml/2006/main">
              <a:ext uri="{FF2B5EF4-FFF2-40B4-BE49-F238E27FC236}">
                <a16:creationId xmlns:a16="http://schemas.microsoft.com/office/drawing/2014/main" id="{26D80FB8-8494-4644-BF99-FB807385DB89}"/>
              </a:ext>
            </a:extLst>
          </p:cNvPr>
          <p:cNvSpPr>
            <a:spLocks xmlns:a="http://schemas.openxmlformats.org/drawingml/2006/main" noGrp="1"/>
          </p:cNvSpPr>
          <p:nvPr/>
        </p:nvSpPr>
        <p:spPr>
          <a:xfrm xmlns:a="http://schemas.openxmlformats.org/drawingml/2006/main">
            <a:off x="609600" y="29146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02</a:t>
            </a:r>
          </a:p>
        </p:txBody>
      </p:sp>
      <p:sp>
        <p:nvSpPr>
          <p:cNvPr id="6" name="text">
            <a:extLst xmlns:a="http://schemas.openxmlformats.org/drawingml/2006/main">
              <a:ext uri="{FF2B5EF4-FFF2-40B4-BE49-F238E27FC236}">
                <a16:creationId xmlns:a16="http://schemas.microsoft.com/office/drawing/2014/main" id="{7456B139-53E6-4F14-B3A3-22A39CA84912}"/>
              </a:ext>
            </a:extLst>
          </p:cNvPr>
          <p:cNvSpPr>
            <a:spLocks xmlns:a="http://schemas.openxmlformats.org/drawingml/2006/main" noGrp="1"/>
          </p:cNvSpPr>
          <p:nvPr/>
        </p:nvSpPr>
        <p:spPr>
          <a:xfrm xmlns:a="http://schemas.openxmlformats.org/drawingml/2006/main">
            <a:off x="1314450" y="2886075"/>
            <a:ext cx="1026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Explain one specialist hand-off.</a:t>
            </a:r>
          </a:p>
        </p:txBody>
      </p:sp>
      <p:sp>
        <p:nvSpPr>
          <p:cNvPr id="7" name="text">
            <a:extLst xmlns:a="http://schemas.openxmlformats.org/drawingml/2006/main">
              <a:ext uri="{FF2B5EF4-FFF2-40B4-BE49-F238E27FC236}">
                <a16:creationId xmlns:a16="http://schemas.microsoft.com/office/drawing/2014/main" id="{00C80577-D5FB-4813-980B-1E33C50BA81B}"/>
              </a:ext>
            </a:extLst>
          </p:cNvPr>
          <p:cNvSpPr>
            <a:spLocks xmlns:a="http://schemas.openxmlformats.org/drawingml/2006/main" noGrp="1"/>
          </p:cNvSpPr>
          <p:nvPr/>
        </p:nvSpPr>
        <p:spPr>
          <a:xfrm xmlns:a="http://schemas.openxmlformats.org/drawingml/2006/main">
            <a:off x="609600" y="360997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03</a:t>
            </a:r>
          </a:p>
        </p:txBody>
      </p:sp>
      <p:sp>
        <p:nvSpPr>
          <p:cNvPr id="8" name="text">
            <a:extLst xmlns:a="http://schemas.openxmlformats.org/drawingml/2006/main">
              <a:ext uri="{FF2B5EF4-FFF2-40B4-BE49-F238E27FC236}">
                <a16:creationId xmlns:a16="http://schemas.microsoft.com/office/drawing/2014/main" id="{68BCBFB4-57B7-4B7C-8881-C223FE2C8337}"/>
              </a:ext>
            </a:extLst>
          </p:cNvPr>
          <p:cNvSpPr>
            <a:spLocks xmlns:a="http://schemas.openxmlformats.org/drawingml/2006/main" noGrp="1"/>
          </p:cNvSpPr>
          <p:nvPr/>
        </p:nvSpPr>
        <p:spPr>
          <a:xfrm xmlns:a="http://schemas.openxmlformats.org/drawingml/2006/main">
            <a:off x="1314450" y="3581400"/>
            <a:ext cx="1026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Point to the failed or passed gate.</a:t>
            </a:r>
          </a:p>
        </p:txBody>
      </p:sp>
      <p:sp>
        <p:nvSpPr>
          <p:cNvPr id="9" name="text">
            <a:extLst xmlns:a="http://schemas.openxmlformats.org/drawingml/2006/main">
              <a:ext uri="{FF2B5EF4-FFF2-40B4-BE49-F238E27FC236}">
                <a16:creationId xmlns:a16="http://schemas.microsoft.com/office/drawing/2014/main" id="{47A4DD54-50CE-4909-9837-95C7E9FE1DA2}"/>
              </a:ext>
            </a:extLst>
          </p:cNvPr>
          <p:cNvSpPr>
            <a:spLocks xmlns:a="http://schemas.openxmlformats.org/drawingml/2006/main" noGrp="1"/>
          </p:cNvSpPr>
          <p:nvPr/>
        </p:nvSpPr>
        <p:spPr>
          <a:xfrm xmlns:a="http://schemas.openxmlformats.org/drawingml/2006/main">
            <a:off x="609600" y="43053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04</a:t>
            </a:r>
          </a:p>
        </p:txBody>
      </p:sp>
      <p:sp>
        <p:nvSpPr>
          <p:cNvPr id="10" name="text">
            <a:extLst xmlns:a="http://schemas.openxmlformats.org/drawingml/2006/main">
              <a:ext uri="{FF2B5EF4-FFF2-40B4-BE49-F238E27FC236}">
                <a16:creationId xmlns:a16="http://schemas.microsoft.com/office/drawing/2014/main" id="{DC89F392-8A79-48C8-B54E-0F0D528D829D}"/>
              </a:ext>
            </a:extLst>
          </p:cNvPr>
          <p:cNvSpPr>
            <a:spLocks xmlns:a="http://schemas.openxmlformats.org/drawingml/2006/main" noGrp="1"/>
          </p:cNvSpPr>
          <p:nvPr/>
        </p:nvSpPr>
        <p:spPr>
          <a:xfrm xmlns:a="http://schemas.openxmlformats.org/drawingml/2006/main">
            <a:off x="1314450" y="4276725"/>
            <a:ext cx="1026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Show the live provider and tool trace.</a:t>
            </a:r>
          </a:p>
        </p:txBody>
      </p:sp>
      <p:sp>
        <p:nvSpPr>
          <p:cNvPr id="11" name="text">
            <a:extLst xmlns:a="http://schemas.openxmlformats.org/drawingml/2006/main">
              <a:ext uri="{FF2B5EF4-FFF2-40B4-BE49-F238E27FC236}">
                <a16:creationId xmlns:a16="http://schemas.microsoft.com/office/drawing/2014/main" id="{D9DD11B1-DC53-4C97-B7F7-D4504F93447E}"/>
              </a:ext>
            </a:extLst>
          </p:cNvPr>
          <p:cNvSpPr>
            <a:spLocks xmlns:a="http://schemas.openxmlformats.org/drawingml/2006/main" noGrp="1"/>
          </p:cNvSpPr>
          <p:nvPr/>
        </p:nvSpPr>
        <p:spPr>
          <a:xfrm xmlns:a="http://schemas.openxmlformats.org/drawingml/2006/main">
            <a:off x="609600" y="500062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05</a:t>
            </a:r>
          </a:p>
        </p:txBody>
      </p:sp>
      <p:sp>
        <p:nvSpPr>
          <p:cNvPr id="12" name="text">
            <a:extLst xmlns:a="http://schemas.openxmlformats.org/drawingml/2006/main">
              <a:ext uri="{FF2B5EF4-FFF2-40B4-BE49-F238E27FC236}">
                <a16:creationId xmlns:a16="http://schemas.microsoft.com/office/drawing/2014/main" id="{5477CDE0-F72F-43AA-864D-B1E657026C5D}"/>
              </a:ext>
            </a:extLst>
          </p:cNvPr>
          <p:cNvSpPr>
            <a:spLocks xmlns:a="http://schemas.openxmlformats.org/drawingml/2006/main" noGrp="1"/>
          </p:cNvSpPr>
          <p:nvPr/>
        </p:nvSpPr>
        <p:spPr>
          <a:xfrm xmlns:a="http://schemas.openxmlformats.org/drawingml/2006/main">
            <a:off x="1314450" y="4972050"/>
            <a:ext cx="1026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Name the next human action.</a:t>
            </a:r>
          </a:p>
        </p:txBody>
      </p:sp>
      <p:sp>
        <p:nvSpPr>
          <p:cNvPr id="13" name="shape">
            <a:extLst xmlns:a="http://schemas.openxmlformats.org/drawingml/2006/main">
              <a:ext uri="{FF2B5EF4-FFF2-40B4-BE49-F238E27FC236}">
                <a16:creationId xmlns:a16="http://schemas.microsoft.com/office/drawing/2014/main" id="{B28BCAF3-4BC9-4720-8707-5C64E4EED8AC}"/>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C534B3D9-B6F1-4906-9809-E88C152B12DC}"/>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15" name="text">
            <a:extLst xmlns:a="http://schemas.openxmlformats.org/drawingml/2006/main">
              <a:ext uri="{FF2B5EF4-FFF2-40B4-BE49-F238E27FC236}">
                <a16:creationId xmlns:a16="http://schemas.microsoft.com/office/drawing/2014/main" id="{B2588540-B950-4652-A48D-3093E47BCD03}"/>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74</a:t>
            </a:r>
          </a:p>
        </p:txBody>
      </p:sp>
    </p:spTree>
    <p:extLst>
      <p:ext uri="{BB962C8B-B14F-4D97-AF65-F5344CB8AC3E}">
        <p14:creationId xmlns:p14="http://schemas.microsoft.com/office/powerpoint/2010/main" val="1064742129"/>
      </p:ext>
    </p:extLst>
  </p:cSld>
</p:sld>
</file>

<file path=ppt/slides/slide75.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30383D22-8F83-4759-8789-8462E74A5C3F}"/>
              </a:ext>
            </a:extLst>
          </p:cNvPr>
          <p:cNvSpPr>
            <a:spLocks xmlns:a="http://schemas.openxmlformats.org/drawingml/2006/main" noGrp="1"/>
          </p:cNvSpPr>
          <p:nvPr/>
        </p:nvSpPr>
        <p:spPr>
          <a:xfrm xmlns:a="http://schemas.openxmlformats.org/drawingml/2006/main">
            <a:off x="609600" y="4000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DAY 2 · SESSION 7 · 90 MINUTES</a:t>
            </a:r>
          </a:p>
        </p:txBody>
      </p:sp>
      <p:sp>
        <p:nvSpPr>
          <p:cNvPr id="2" name="text">
            <a:extLst xmlns:a="http://schemas.openxmlformats.org/drawingml/2006/main">
              <a:ext uri="{FF2B5EF4-FFF2-40B4-BE49-F238E27FC236}">
                <a16:creationId xmlns:a16="http://schemas.microsoft.com/office/drawing/2014/main" id="{7030BFD7-7B1B-4F74-98AC-4A06425BA004}"/>
              </a:ext>
            </a:extLst>
          </p:cNvPr>
          <p:cNvSpPr>
            <a:spLocks xmlns:a="http://schemas.openxmlformats.org/drawingml/2006/main" noGrp="1"/>
          </p:cNvSpPr>
          <p:nvPr/>
        </p:nvSpPr>
        <p:spPr>
          <a:xfrm xmlns:a="http://schemas.openxmlformats.org/drawingml/2006/main">
            <a:off x="8096250" y="1143000"/>
            <a:ext cx="38100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250" b="1">
                <a:solidFill>
                  <a:srgbClr val="173946"/>
                </a:solidFill>
                <a:latin typeface="Aptos"/>
                <a:ea typeface="Aptos"/>
                <a:cs typeface="Aptos"/>
              </a:defRPr>
            </a:pPr>
            <a:r>
              <a:rPr sz="5250" b="1">
                <a:solidFill>
                  <a:srgbClr val="173946"/>
                </a:solidFill>
                <a:latin typeface="Aptos"/>
                <a:ea typeface="Aptos"/>
                <a:cs typeface="Aptos"/>
              </a:rPr>
              <a:t>SESSION</a:t>
            </a:r>
          </a:p>
          <a:p xmlns:a="http://schemas.openxmlformats.org/drawingml/2006/main">
            <a:pPr>
              <a:defRPr sz="5250" b="1">
                <a:solidFill>
                  <a:srgbClr val="173946"/>
                </a:solidFill>
                <a:latin typeface="Aptos"/>
                <a:ea typeface="Aptos"/>
                <a:cs typeface="Aptos"/>
              </a:defRPr>
            </a:pPr>
            <a:r>
              <a:rPr sz="5250" b="1">
                <a:solidFill>
                  <a:srgbClr val="173946"/>
                </a:solidFill>
                <a:latin typeface="Aptos"/>
                <a:ea typeface="Aptos"/>
                <a:cs typeface="Aptos"/>
              </a:rPr>
              <a:t>07</a:t>
            </a:r>
          </a:p>
        </p:txBody>
      </p:sp>
      <p:sp>
        <p:nvSpPr>
          <p:cNvPr id="3" name="text">
            <a:extLst xmlns:a="http://schemas.openxmlformats.org/drawingml/2006/main">
              <a:ext uri="{FF2B5EF4-FFF2-40B4-BE49-F238E27FC236}">
                <a16:creationId xmlns:a16="http://schemas.microsoft.com/office/drawing/2014/main" id="{7FEDC0A6-FA94-4BA2-B3CE-1A8CF3B07EE9}"/>
              </a:ext>
            </a:extLst>
          </p:cNvPr>
          <p:cNvSpPr>
            <a:spLocks xmlns:a="http://schemas.openxmlformats.org/drawingml/2006/main" noGrp="1"/>
          </p:cNvSpPr>
          <p:nvPr/>
        </p:nvSpPr>
        <p:spPr>
          <a:xfrm xmlns:a="http://schemas.openxmlformats.org/drawingml/2006/main">
            <a:off x="609600" y="1438275"/>
            <a:ext cx="738187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650" b="1">
                <a:solidFill>
                  <a:srgbClr val="EDF5F1"/>
                </a:solidFill>
                <a:latin typeface="Aptos"/>
                <a:ea typeface="Aptos"/>
                <a:cs typeface="Aptos"/>
              </a:defRPr>
            </a:pPr>
            <a:r>
              <a:rPr sz="4650" b="1">
                <a:solidFill>
                  <a:srgbClr val="EDF5F1"/>
                </a:solidFill>
                <a:latin typeface="Aptos"/>
                <a:ea typeface="Aptos"/>
                <a:cs typeface="Aptos"/>
              </a:rPr>
              <a:t>Test, improve and govern the system.</a:t>
            </a:r>
          </a:p>
        </p:txBody>
      </p:sp>
      <p:sp>
        <p:nvSpPr>
          <p:cNvPr id="4" name="text">
            <a:extLst xmlns:a="http://schemas.openxmlformats.org/drawingml/2006/main">
              <a:ext uri="{FF2B5EF4-FFF2-40B4-BE49-F238E27FC236}">
                <a16:creationId xmlns:a16="http://schemas.microsoft.com/office/drawing/2014/main" id="{EE4FEA8A-D53E-49BB-B3EC-062EA78202D7}"/>
              </a:ext>
            </a:extLst>
          </p:cNvPr>
          <p:cNvSpPr>
            <a:spLocks xmlns:a="http://schemas.openxmlformats.org/drawingml/2006/main" noGrp="1"/>
          </p:cNvSpPr>
          <p:nvPr/>
        </p:nvSpPr>
        <p:spPr>
          <a:xfrm xmlns:a="http://schemas.openxmlformats.org/drawingml/2006/main">
            <a:off x="609600" y="4000500"/>
            <a:ext cx="723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0">
                <a:solidFill>
                  <a:srgbClr val="61DFBF"/>
                </a:solidFill>
                <a:latin typeface="Aptos"/>
                <a:ea typeface="Aptos"/>
                <a:cs typeface="Aptos"/>
              </a:defRPr>
            </a:pPr>
            <a:r>
              <a:rPr sz="2475" b="0">
                <a:solidFill>
                  <a:srgbClr val="61DFBF"/>
                </a:solidFill>
                <a:latin typeface="Aptos"/>
                <a:ea typeface="Aptos"/>
                <a:cs typeface="Aptos"/>
              </a:rPr>
              <a:t>90 minutes to learn, build,</a:t>
            </a:r>
          </a:p>
          <a:p xmlns:a="http://schemas.openxmlformats.org/drawingml/2006/main">
            <a:pPr>
              <a:defRPr sz="2475" b="0">
                <a:solidFill>
                  <a:srgbClr val="61DFBF"/>
                </a:solidFill>
                <a:latin typeface="Aptos"/>
                <a:ea typeface="Aptos"/>
                <a:cs typeface="Aptos"/>
              </a:defRPr>
            </a:pPr>
            <a:r>
              <a:rPr sz="2475" b="0">
                <a:solidFill>
                  <a:srgbClr val="61DFBF"/>
                </a:solidFill>
                <a:latin typeface="Aptos"/>
                <a:ea typeface="Aptos"/>
                <a:cs typeface="Aptos"/>
              </a:rPr>
              <a:t>test and explain.</a:t>
            </a:r>
          </a:p>
        </p:txBody>
      </p:sp>
      <p:sp>
        <p:nvSpPr>
          <p:cNvPr id="5" name="text">
            <a:extLst xmlns:a="http://schemas.openxmlformats.org/drawingml/2006/main">
              <a:ext uri="{FF2B5EF4-FFF2-40B4-BE49-F238E27FC236}">
                <a16:creationId xmlns:a16="http://schemas.microsoft.com/office/drawing/2014/main" id="{0607A44F-5F0C-48F8-8801-C6D66E9947EC}"/>
              </a:ext>
            </a:extLst>
          </p:cNvPr>
          <p:cNvSpPr>
            <a:spLocks xmlns:a="http://schemas.openxmlformats.org/drawingml/2006/main" noGrp="1"/>
          </p:cNvSpPr>
          <p:nvPr/>
        </p:nvSpPr>
        <p:spPr>
          <a:xfrm xmlns:a="http://schemas.openxmlformats.org/drawingml/2006/main">
            <a:off x="609600" y="58102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DFBF"/>
                </a:solidFill>
                <a:latin typeface="Aptos"/>
                <a:ea typeface="Aptos"/>
                <a:cs typeface="Aptos"/>
              </a:defRPr>
            </a:pPr>
            <a:r>
              <a:rPr sz="1800" b="0">
                <a:solidFill>
                  <a:srgbClr val="61DFBF"/>
                </a:solidFill>
                <a:latin typeface="Aptos"/>
                <a:ea typeface="Aptos"/>
                <a:cs typeface="Aptos"/>
              </a:rPr>
              <a:t>Deliverable: a before-and-after improvement with a test.</a:t>
            </a:r>
          </a:p>
        </p:txBody>
      </p:sp>
      <p:sp>
        <p:nvSpPr>
          <p:cNvPr id="6" name="shape">
            <a:extLst xmlns:a="http://schemas.openxmlformats.org/drawingml/2006/main">
              <a:ext uri="{FF2B5EF4-FFF2-40B4-BE49-F238E27FC236}">
                <a16:creationId xmlns:a16="http://schemas.microsoft.com/office/drawing/2014/main" id="{F660E713-5F70-435E-9CC1-B682D5620DE3}"/>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561F97D2-1D4A-4C6A-B453-BF769FBF4A58}"/>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8" name="text">
            <a:extLst xmlns:a="http://schemas.openxmlformats.org/drawingml/2006/main">
              <a:ext uri="{FF2B5EF4-FFF2-40B4-BE49-F238E27FC236}">
                <a16:creationId xmlns:a16="http://schemas.microsoft.com/office/drawing/2014/main" id="{8CCC00D0-F86B-4DE4-83B3-A6B90B64D595}"/>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75</a:t>
            </a:r>
          </a:p>
        </p:txBody>
      </p:sp>
    </p:spTree>
    <p:extLst>
      <p:ext uri="{BB962C8B-B14F-4D97-AF65-F5344CB8AC3E}">
        <p14:creationId xmlns:p14="http://schemas.microsoft.com/office/powerpoint/2010/main" val="1554076793"/>
      </p:ext>
    </p:extLst>
  </p:cSld>
</p:sld>
</file>

<file path=ppt/slides/slide76.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50d99b521ade4ac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hape">
            <a:extLst xmlns:a="http://schemas.openxmlformats.org/drawingml/2006/main">
              <a:ext uri="{FF2B5EF4-FFF2-40B4-BE49-F238E27FC236}">
                <a16:creationId xmlns:a16="http://schemas.microsoft.com/office/drawing/2014/main" id="{32A0D596-507D-4350-9A61-0F99765A61B2}"/>
              </a:ext>
            </a:extLst>
          </p:cNvPr>
          <p:cNvSpPr>
            <a:spLocks xmlns:a="http://schemas.openxmlformats.org/drawingml/2006/main" noGrp="1"/>
          </p:cNvSpPr>
          <p:nvPr/>
        </p:nvSpPr>
        <p:spPr>
          <a:xfrm xmlns:a="http://schemas.openxmlformats.org/drawingml/2006/main">
            <a:off x="0" y="0"/>
            <a:ext cx="5000625" cy="6858000"/>
          </a:xfrm>
          <a:prstGeom xmlns:a="http://schemas.openxmlformats.org/drawingml/2006/main" prst="rect">
            <a:avLst/>
          </a:prstGeom>
          <a:solidFill xmlns:a="http://schemas.openxmlformats.org/drawingml/2006/main">
            <a:srgbClr val="071321"/>
          </a:solidFill>
          <a:ln xmlns:a="http://schemas.openxmlformats.org/drawingml/2006/main" w="0">
            <a:noFill/>
          </a:ln>
        </p:spPr>
      </p:sp>
      <p:sp>
        <p:nvSpPr>
          <p:cNvPr id="3" name="text">
            <a:extLst xmlns:a="http://schemas.openxmlformats.org/drawingml/2006/main">
              <a:ext uri="{FF2B5EF4-FFF2-40B4-BE49-F238E27FC236}">
                <a16:creationId xmlns:a16="http://schemas.microsoft.com/office/drawing/2014/main" id="{67254DCD-4637-47F3-8721-7CE52E1EEA06}"/>
              </a:ext>
            </a:extLst>
          </p:cNvPr>
          <p:cNvSpPr>
            <a:spLocks xmlns:a="http://schemas.openxmlformats.org/drawingml/2006/main" noGrp="1"/>
          </p:cNvSpPr>
          <p:nvPr/>
        </p:nvSpPr>
        <p:spPr>
          <a:xfrm xmlns:a="http://schemas.openxmlformats.org/drawingml/2006/main">
            <a:off x="609600" y="40005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DAY 2 · SESSION 7 · 90 MINUTES</a:t>
            </a:r>
          </a:p>
        </p:txBody>
      </p:sp>
      <p:sp>
        <p:nvSpPr>
          <p:cNvPr id="4" name="text">
            <a:extLst xmlns:a="http://schemas.openxmlformats.org/drawingml/2006/main">
              <a:ext uri="{FF2B5EF4-FFF2-40B4-BE49-F238E27FC236}">
                <a16:creationId xmlns:a16="http://schemas.microsoft.com/office/drawing/2014/main" id="{41335D4A-0832-42F3-9F9E-5EE1A5EBE6E8}"/>
              </a:ext>
            </a:extLst>
          </p:cNvPr>
          <p:cNvSpPr>
            <a:spLocks xmlns:a="http://schemas.openxmlformats.org/drawingml/2006/main" noGrp="1"/>
          </p:cNvSpPr>
          <p:nvPr/>
        </p:nvSpPr>
        <p:spPr>
          <a:xfrm xmlns:a="http://schemas.openxmlformats.org/drawingml/2006/main">
            <a:off x="609600" y="1123950"/>
            <a:ext cx="4238625"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A human review</a:t>
            </a:r>
          </a:p>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is part of</a:t>
            </a:r>
          </a:p>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the system.</a:t>
            </a:r>
          </a:p>
        </p:txBody>
      </p:sp>
      <p:sp>
        <p:nvSpPr>
          <p:cNvPr id="5" name="text">
            <a:extLst xmlns:a="http://schemas.openxmlformats.org/drawingml/2006/main">
              <a:ext uri="{FF2B5EF4-FFF2-40B4-BE49-F238E27FC236}">
                <a16:creationId xmlns:a16="http://schemas.microsoft.com/office/drawing/2014/main" id="{E9605802-F840-4184-A159-E4FDCDFFA103}"/>
              </a:ext>
            </a:extLst>
          </p:cNvPr>
          <p:cNvSpPr>
            <a:spLocks xmlns:a="http://schemas.openxmlformats.org/drawingml/2006/main" noGrp="1"/>
          </p:cNvSpPr>
          <p:nvPr/>
        </p:nvSpPr>
        <p:spPr>
          <a:xfrm xmlns:a="http://schemas.openxmlformats.org/drawingml/2006/main">
            <a:off x="609600" y="35242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01</a:t>
            </a:r>
          </a:p>
        </p:txBody>
      </p:sp>
      <p:sp>
        <p:nvSpPr>
          <p:cNvPr id="6" name="text">
            <a:extLst xmlns:a="http://schemas.openxmlformats.org/drawingml/2006/main">
              <a:ext uri="{FF2B5EF4-FFF2-40B4-BE49-F238E27FC236}">
                <a16:creationId xmlns:a16="http://schemas.microsoft.com/office/drawing/2014/main" id="{19B78869-DAF3-4E55-A490-4C24207650FA}"/>
              </a:ext>
            </a:extLst>
          </p:cNvPr>
          <p:cNvSpPr>
            <a:spLocks xmlns:a="http://schemas.openxmlformats.org/drawingml/2006/main" noGrp="1"/>
          </p:cNvSpPr>
          <p:nvPr/>
        </p:nvSpPr>
        <p:spPr>
          <a:xfrm xmlns:a="http://schemas.openxmlformats.org/drawingml/2006/main">
            <a:off x="1314450" y="3495675"/>
            <a:ext cx="339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EDF5F1"/>
                </a:solidFill>
                <a:latin typeface="Aptos"/>
                <a:ea typeface="Aptos"/>
                <a:cs typeface="Aptos"/>
              </a:defRPr>
            </a:pPr>
            <a:r>
              <a:rPr sz="1950" b="0">
                <a:solidFill>
                  <a:srgbClr val="EDF5F1"/>
                </a:solidFill>
                <a:latin typeface="Aptos"/>
                <a:ea typeface="Aptos"/>
                <a:cs typeface="Aptos"/>
              </a:rPr>
              <a:t>Check the evidence.</a:t>
            </a:r>
          </a:p>
        </p:txBody>
      </p:sp>
      <p:sp>
        <p:nvSpPr>
          <p:cNvPr id="7" name="text">
            <a:extLst xmlns:a="http://schemas.openxmlformats.org/drawingml/2006/main">
              <a:ext uri="{FF2B5EF4-FFF2-40B4-BE49-F238E27FC236}">
                <a16:creationId xmlns:a16="http://schemas.microsoft.com/office/drawing/2014/main" id="{4C26E557-0DFE-4E07-807B-FE3CF3AB6E96}"/>
              </a:ext>
            </a:extLst>
          </p:cNvPr>
          <p:cNvSpPr>
            <a:spLocks xmlns:a="http://schemas.openxmlformats.org/drawingml/2006/main" noGrp="1"/>
          </p:cNvSpPr>
          <p:nvPr/>
        </p:nvSpPr>
        <p:spPr>
          <a:xfrm xmlns:a="http://schemas.openxmlformats.org/drawingml/2006/main">
            <a:off x="609600" y="41148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02</a:t>
            </a:r>
          </a:p>
        </p:txBody>
      </p:sp>
      <p:sp>
        <p:nvSpPr>
          <p:cNvPr id="8" name="text">
            <a:extLst xmlns:a="http://schemas.openxmlformats.org/drawingml/2006/main">
              <a:ext uri="{FF2B5EF4-FFF2-40B4-BE49-F238E27FC236}">
                <a16:creationId xmlns:a16="http://schemas.microsoft.com/office/drawing/2014/main" id="{5B02F3C2-027C-43AB-BD6A-8E66D10F44FC}"/>
              </a:ext>
            </a:extLst>
          </p:cNvPr>
          <p:cNvSpPr>
            <a:spLocks xmlns:a="http://schemas.openxmlformats.org/drawingml/2006/main" noGrp="1"/>
          </p:cNvSpPr>
          <p:nvPr/>
        </p:nvSpPr>
        <p:spPr>
          <a:xfrm xmlns:a="http://schemas.openxmlformats.org/drawingml/2006/main">
            <a:off x="1314450" y="4086225"/>
            <a:ext cx="339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EDF5F1"/>
                </a:solidFill>
                <a:latin typeface="Aptos"/>
                <a:ea typeface="Aptos"/>
                <a:cs typeface="Aptos"/>
              </a:defRPr>
            </a:pPr>
            <a:r>
              <a:rPr sz="1950" b="0">
                <a:solidFill>
                  <a:srgbClr val="EDF5F1"/>
                </a:solidFill>
                <a:latin typeface="Aptos"/>
                <a:ea typeface="Aptos"/>
                <a:cs typeface="Aptos"/>
              </a:rPr>
              <a:t>Challenge assumptions.</a:t>
            </a:r>
          </a:p>
        </p:txBody>
      </p:sp>
      <p:sp>
        <p:nvSpPr>
          <p:cNvPr id="9" name="text">
            <a:extLst xmlns:a="http://schemas.openxmlformats.org/drawingml/2006/main">
              <a:ext uri="{FF2B5EF4-FFF2-40B4-BE49-F238E27FC236}">
                <a16:creationId xmlns:a16="http://schemas.microsoft.com/office/drawing/2014/main" id="{13A9308E-15D9-4543-81C1-8CD5301BA95D}"/>
              </a:ext>
            </a:extLst>
          </p:cNvPr>
          <p:cNvSpPr>
            <a:spLocks xmlns:a="http://schemas.openxmlformats.org/drawingml/2006/main" noGrp="1"/>
          </p:cNvSpPr>
          <p:nvPr/>
        </p:nvSpPr>
        <p:spPr>
          <a:xfrm xmlns:a="http://schemas.openxmlformats.org/drawingml/2006/main">
            <a:off x="609600" y="47053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03</a:t>
            </a:r>
          </a:p>
        </p:txBody>
      </p:sp>
      <p:sp>
        <p:nvSpPr>
          <p:cNvPr id="10" name="text">
            <a:extLst xmlns:a="http://schemas.openxmlformats.org/drawingml/2006/main">
              <a:ext uri="{FF2B5EF4-FFF2-40B4-BE49-F238E27FC236}">
                <a16:creationId xmlns:a16="http://schemas.microsoft.com/office/drawing/2014/main" id="{C5171E6D-AC3A-47FE-B684-30C76707BA71}"/>
              </a:ext>
            </a:extLst>
          </p:cNvPr>
          <p:cNvSpPr>
            <a:spLocks xmlns:a="http://schemas.openxmlformats.org/drawingml/2006/main" noGrp="1"/>
          </p:cNvSpPr>
          <p:nvPr/>
        </p:nvSpPr>
        <p:spPr>
          <a:xfrm xmlns:a="http://schemas.openxmlformats.org/drawingml/2006/main">
            <a:off x="1314450" y="4676775"/>
            <a:ext cx="339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EDF5F1"/>
                </a:solidFill>
                <a:latin typeface="Aptos"/>
                <a:ea typeface="Aptos"/>
                <a:cs typeface="Aptos"/>
              </a:defRPr>
            </a:pPr>
            <a:r>
              <a:rPr sz="1950" b="0">
                <a:solidFill>
                  <a:srgbClr val="EDF5F1"/>
                </a:solidFill>
                <a:latin typeface="Aptos"/>
                <a:ea typeface="Aptos"/>
                <a:cs typeface="Aptos"/>
              </a:rPr>
              <a:t>Keep the failed gates.</a:t>
            </a:r>
          </a:p>
        </p:txBody>
      </p:sp>
      <p:sp>
        <p:nvSpPr>
          <p:cNvPr id="11" name="text">
            <a:extLst xmlns:a="http://schemas.openxmlformats.org/drawingml/2006/main">
              <a:ext uri="{FF2B5EF4-FFF2-40B4-BE49-F238E27FC236}">
                <a16:creationId xmlns:a16="http://schemas.microsoft.com/office/drawing/2014/main" id="{031134BB-E89C-48AE-B7F6-C29A795278EC}"/>
              </a:ext>
            </a:extLst>
          </p:cNvPr>
          <p:cNvSpPr>
            <a:spLocks xmlns:a="http://schemas.openxmlformats.org/drawingml/2006/main" noGrp="1"/>
          </p:cNvSpPr>
          <p:nvPr/>
        </p:nvSpPr>
        <p:spPr>
          <a:xfrm xmlns:a="http://schemas.openxmlformats.org/drawingml/2006/main">
            <a:off x="609600" y="52959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04</a:t>
            </a:r>
          </a:p>
        </p:txBody>
      </p:sp>
      <p:sp>
        <p:nvSpPr>
          <p:cNvPr id="12" name="text">
            <a:extLst xmlns:a="http://schemas.openxmlformats.org/drawingml/2006/main">
              <a:ext uri="{FF2B5EF4-FFF2-40B4-BE49-F238E27FC236}">
                <a16:creationId xmlns:a16="http://schemas.microsoft.com/office/drawing/2014/main" id="{611E2D9A-FB11-4604-B140-606FEA033E65}"/>
              </a:ext>
            </a:extLst>
          </p:cNvPr>
          <p:cNvSpPr>
            <a:spLocks xmlns:a="http://schemas.openxmlformats.org/drawingml/2006/main" noGrp="1"/>
          </p:cNvSpPr>
          <p:nvPr/>
        </p:nvSpPr>
        <p:spPr>
          <a:xfrm xmlns:a="http://schemas.openxmlformats.org/drawingml/2006/main">
            <a:off x="1314450" y="5267325"/>
            <a:ext cx="339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EDF5F1"/>
                </a:solidFill>
                <a:latin typeface="Aptos"/>
                <a:ea typeface="Aptos"/>
                <a:cs typeface="Aptos"/>
              </a:defRPr>
            </a:pPr>
            <a:r>
              <a:rPr sz="1950" b="0">
                <a:solidFill>
                  <a:srgbClr val="EDF5F1"/>
                </a:solidFill>
                <a:latin typeface="Aptos"/>
                <a:ea typeface="Aptos"/>
                <a:cs typeface="Aptos"/>
              </a:rPr>
              <a:t>Name an accountable owner.</a:t>
            </a:r>
          </a:p>
        </p:txBody>
      </p:sp>
      <p:sp>
        <p:nvSpPr>
          <p:cNvPr id="13" name="shape">
            <a:extLst xmlns:a="http://schemas.openxmlformats.org/drawingml/2006/main">
              <a:ext uri="{FF2B5EF4-FFF2-40B4-BE49-F238E27FC236}">
                <a16:creationId xmlns:a16="http://schemas.microsoft.com/office/drawing/2014/main" id="{A4964E37-B4E4-4725-B9BE-9F2F13A53F8C}"/>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0D61048F-65DF-4D21-998C-40D1E1A7C605}"/>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15" name="text">
            <a:extLst xmlns:a="http://schemas.openxmlformats.org/drawingml/2006/main">
              <a:ext uri="{FF2B5EF4-FFF2-40B4-BE49-F238E27FC236}">
                <a16:creationId xmlns:a16="http://schemas.microsoft.com/office/drawing/2014/main" id="{AE2FC8A7-C04A-455F-B963-CCC8D5D3E4CE}"/>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76</a:t>
            </a:r>
          </a:p>
        </p:txBody>
      </p:sp>
    </p:spTree>
    <p:extLst>
      <p:ext uri="{BB962C8B-B14F-4D97-AF65-F5344CB8AC3E}">
        <p14:creationId xmlns:p14="http://schemas.microsoft.com/office/powerpoint/2010/main" val="1471493224"/>
      </p:ext>
    </p:extLst>
  </p:cSld>
</p:sld>
</file>

<file path=ppt/slides/slide77.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26" name="text">
            <a:extLst xmlns:a="http://schemas.openxmlformats.org/drawingml/2006/main">
              <a:ext uri="{FF2B5EF4-FFF2-40B4-BE49-F238E27FC236}">
                <a16:creationId xmlns:a16="http://schemas.microsoft.com/office/drawing/2014/main" id="{92EFE6BD-F8BB-416D-B254-A694F9EFE061}"/>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DAY 2 · SESSION 7 · 90 MINUTES</a:t>
            </a:r>
          </a:p>
        </p:txBody>
      </p:sp>
      <p:sp>
        <p:nvSpPr>
          <p:cNvPr id="2" name="text">
            <a:extLst xmlns:a="http://schemas.openxmlformats.org/drawingml/2006/main">
              <a:ext uri="{FF2B5EF4-FFF2-40B4-BE49-F238E27FC236}">
                <a16:creationId xmlns:a16="http://schemas.microsoft.com/office/drawing/2014/main" id="{7FBD4991-E8E1-40A1-9B18-A2022E218045}"/>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Try to break the workflow on purpose.</a:t>
            </a:r>
          </a:p>
        </p:txBody>
      </p:sp>
      <p:sp>
        <p:nvSpPr>
          <p:cNvPr id="3" name="text">
            <a:extLst xmlns:a="http://schemas.openxmlformats.org/drawingml/2006/main">
              <a:ext uri="{FF2B5EF4-FFF2-40B4-BE49-F238E27FC236}">
                <a16:creationId xmlns:a16="http://schemas.microsoft.com/office/drawing/2014/main" id="{5B2CA0CC-2288-4937-96A6-856C2FF35E21}"/>
              </a:ext>
            </a:extLst>
          </p:cNvPr>
          <p:cNvSpPr>
            <a:spLocks xmlns:a="http://schemas.openxmlformats.org/drawingml/2006/main" noGrp="1"/>
          </p:cNvSpPr>
          <p:nvPr/>
        </p:nvSpPr>
        <p:spPr>
          <a:xfrm xmlns:a="http://schemas.openxmlformats.org/drawingml/2006/main">
            <a:off x="609600" y="2095500"/>
            <a:ext cx="2343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Test</a:t>
            </a:r>
          </a:p>
        </p:txBody>
      </p:sp>
      <p:sp>
        <p:nvSpPr>
          <p:cNvPr id="4" name="text">
            <a:extLst xmlns:a="http://schemas.openxmlformats.org/drawingml/2006/main">
              <a:ext uri="{FF2B5EF4-FFF2-40B4-BE49-F238E27FC236}">
                <a16:creationId xmlns:a16="http://schemas.microsoft.com/office/drawing/2014/main" id="{A0C6796D-1F59-4092-877C-5E089A653DCE}"/>
              </a:ext>
            </a:extLst>
          </p:cNvPr>
          <p:cNvSpPr>
            <a:spLocks xmlns:a="http://schemas.openxmlformats.org/drawingml/2006/main" noGrp="1"/>
          </p:cNvSpPr>
          <p:nvPr/>
        </p:nvSpPr>
        <p:spPr>
          <a:xfrm xmlns:a="http://schemas.openxmlformats.org/drawingml/2006/main">
            <a:off x="3162300" y="2095500"/>
            <a:ext cx="3952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Try this</a:t>
            </a:r>
          </a:p>
        </p:txBody>
      </p:sp>
      <p:sp>
        <p:nvSpPr>
          <p:cNvPr id="5" name="text">
            <a:extLst xmlns:a="http://schemas.openxmlformats.org/drawingml/2006/main">
              <a:ext uri="{FF2B5EF4-FFF2-40B4-BE49-F238E27FC236}">
                <a16:creationId xmlns:a16="http://schemas.microsoft.com/office/drawing/2014/main" id="{BC68C68D-A648-487A-91E7-7EA6233EE03B}"/>
              </a:ext>
            </a:extLst>
          </p:cNvPr>
          <p:cNvSpPr>
            <a:spLocks xmlns:a="http://schemas.openxmlformats.org/drawingml/2006/main" noGrp="1"/>
          </p:cNvSpPr>
          <p:nvPr/>
        </p:nvSpPr>
        <p:spPr>
          <a:xfrm xmlns:a="http://schemas.openxmlformats.org/drawingml/2006/main">
            <a:off x="7324725" y="2095500"/>
            <a:ext cx="4048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Expected behavior</a:t>
            </a:r>
          </a:p>
        </p:txBody>
      </p:sp>
      <p:sp>
        <p:nvSpPr>
          <p:cNvPr id="6" name="shape">
            <a:extLst xmlns:a="http://schemas.openxmlformats.org/drawingml/2006/main">
              <a:ext uri="{FF2B5EF4-FFF2-40B4-BE49-F238E27FC236}">
                <a16:creationId xmlns:a16="http://schemas.microsoft.com/office/drawing/2014/main" id="{80C8725F-3143-4D6F-AE9A-D702CE9B9E47}"/>
              </a:ext>
            </a:extLst>
          </p:cNvPr>
          <p:cNvSpPr>
            <a:spLocks xmlns:a="http://schemas.openxmlformats.org/drawingml/2006/main" noGrp="1"/>
          </p:cNvSpPr>
          <p:nvPr/>
        </p:nvSpPr>
        <p:spPr>
          <a:xfrm xmlns:a="http://schemas.openxmlformats.org/drawingml/2006/main">
            <a:off x="609600" y="25050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F514B4D7-0781-4D7D-B589-5CB65AD267F4}"/>
              </a:ext>
            </a:extLst>
          </p:cNvPr>
          <p:cNvSpPr>
            <a:spLocks xmlns:a="http://schemas.openxmlformats.org/drawingml/2006/main" noGrp="1"/>
          </p:cNvSpPr>
          <p:nvPr/>
        </p:nvSpPr>
        <p:spPr>
          <a:xfrm xmlns:a="http://schemas.openxmlformats.org/drawingml/2006/main">
            <a:off x="609600" y="2676525"/>
            <a:ext cx="23431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Invalid data</a:t>
            </a:r>
          </a:p>
        </p:txBody>
      </p:sp>
      <p:sp>
        <p:nvSpPr>
          <p:cNvPr id="8" name="text">
            <a:extLst xmlns:a="http://schemas.openxmlformats.org/drawingml/2006/main">
              <a:ext uri="{FF2B5EF4-FFF2-40B4-BE49-F238E27FC236}">
                <a16:creationId xmlns:a16="http://schemas.microsoft.com/office/drawing/2014/main" id="{0F0E999F-7781-4762-9388-D402DB8C3541}"/>
              </a:ext>
            </a:extLst>
          </p:cNvPr>
          <p:cNvSpPr>
            <a:spLocks xmlns:a="http://schemas.openxmlformats.org/drawingml/2006/main" noGrp="1"/>
          </p:cNvSpPr>
          <p:nvPr/>
        </p:nvSpPr>
        <p:spPr>
          <a:xfrm xmlns:a="http://schemas.openxmlformats.org/drawingml/2006/main">
            <a:off x="3162300" y="2676525"/>
            <a:ext cx="3952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Positive responses exceed total</a:t>
            </a:r>
          </a:p>
        </p:txBody>
      </p:sp>
      <p:sp>
        <p:nvSpPr>
          <p:cNvPr id="9" name="text">
            <a:extLst xmlns:a="http://schemas.openxmlformats.org/drawingml/2006/main">
              <a:ext uri="{FF2B5EF4-FFF2-40B4-BE49-F238E27FC236}">
                <a16:creationId xmlns:a16="http://schemas.microsoft.com/office/drawing/2014/main" id="{EE9B018F-6247-4677-823D-94CA07EAB022}"/>
              </a:ext>
            </a:extLst>
          </p:cNvPr>
          <p:cNvSpPr>
            <a:spLocks xmlns:a="http://schemas.openxmlformats.org/drawingml/2006/main" noGrp="1"/>
          </p:cNvSpPr>
          <p:nvPr/>
        </p:nvSpPr>
        <p:spPr>
          <a:xfrm xmlns:a="http://schemas.openxmlformats.org/drawingml/2006/main">
            <a:off x="7324725" y="2676525"/>
            <a:ext cx="4048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Validation rejects it</a:t>
            </a:r>
          </a:p>
        </p:txBody>
      </p:sp>
      <p:sp>
        <p:nvSpPr>
          <p:cNvPr id="10" name="shape">
            <a:extLst xmlns:a="http://schemas.openxmlformats.org/drawingml/2006/main">
              <a:ext uri="{FF2B5EF4-FFF2-40B4-BE49-F238E27FC236}">
                <a16:creationId xmlns:a16="http://schemas.microsoft.com/office/drawing/2014/main" id="{1B332299-B473-4448-A4E6-A0E82A7E8D41}"/>
              </a:ext>
            </a:extLst>
          </p:cNvPr>
          <p:cNvSpPr>
            <a:spLocks xmlns:a="http://schemas.openxmlformats.org/drawingml/2006/main" noGrp="1"/>
          </p:cNvSpPr>
          <p:nvPr/>
        </p:nvSpPr>
        <p:spPr>
          <a:xfrm xmlns:a="http://schemas.openxmlformats.org/drawingml/2006/main">
            <a:off x="609600" y="33623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95D07FA8-5047-4AFA-B85B-35B4AEDE6B8A}"/>
              </a:ext>
            </a:extLst>
          </p:cNvPr>
          <p:cNvSpPr>
            <a:spLocks xmlns:a="http://schemas.openxmlformats.org/drawingml/2006/main" noGrp="1"/>
          </p:cNvSpPr>
          <p:nvPr/>
        </p:nvSpPr>
        <p:spPr>
          <a:xfrm xmlns:a="http://schemas.openxmlformats.org/drawingml/2006/main">
            <a:off x="609600" y="3467100"/>
            <a:ext cx="23431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People boundary</a:t>
            </a:r>
          </a:p>
        </p:txBody>
      </p:sp>
      <p:sp>
        <p:nvSpPr>
          <p:cNvPr id="12" name="text">
            <a:extLst xmlns:a="http://schemas.openxmlformats.org/drawingml/2006/main">
              <a:ext uri="{FF2B5EF4-FFF2-40B4-BE49-F238E27FC236}">
                <a16:creationId xmlns:a16="http://schemas.microsoft.com/office/drawing/2014/main" id="{6F74EBA2-DD21-40B0-9184-DB9185BC9FF7}"/>
              </a:ext>
            </a:extLst>
          </p:cNvPr>
          <p:cNvSpPr>
            <a:spLocks xmlns:a="http://schemas.openxmlformats.org/drawingml/2006/main" noGrp="1"/>
          </p:cNvSpPr>
          <p:nvPr/>
        </p:nvSpPr>
        <p:spPr>
          <a:xfrm xmlns:a="http://schemas.openxmlformats.org/drawingml/2006/main">
            <a:off x="3162300" y="3467100"/>
            <a:ext cx="3952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Add age to a candidate JSON</a:t>
            </a:r>
          </a:p>
        </p:txBody>
      </p:sp>
      <p:sp>
        <p:nvSpPr>
          <p:cNvPr id="13" name="text">
            <a:extLst xmlns:a="http://schemas.openxmlformats.org/drawingml/2006/main">
              <a:ext uri="{FF2B5EF4-FFF2-40B4-BE49-F238E27FC236}">
                <a16:creationId xmlns:a16="http://schemas.microsoft.com/office/drawing/2014/main" id="{FBB07BF1-CC1B-4923-A030-C6BDCADD6477}"/>
              </a:ext>
            </a:extLst>
          </p:cNvPr>
          <p:cNvSpPr>
            <a:spLocks xmlns:a="http://schemas.openxmlformats.org/drawingml/2006/main" noGrp="1"/>
          </p:cNvSpPr>
          <p:nvPr/>
        </p:nvSpPr>
        <p:spPr>
          <a:xfrm xmlns:a="http://schemas.openxmlformats.org/drawingml/2006/main">
            <a:off x="7324725" y="3467100"/>
            <a:ext cx="4048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Unknown field rejected</a:t>
            </a:r>
          </a:p>
        </p:txBody>
      </p:sp>
      <p:sp>
        <p:nvSpPr>
          <p:cNvPr id="14" name="shape">
            <a:extLst xmlns:a="http://schemas.openxmlformats.org/drawingml/2006/main">
              <a:ext uri="{FF2B5EF4-FFF2-40B4-BE49-F238E27FC236}">
                <a16:creationId xmlns:a16="http://schemas.microsoft.com/office/drawing/2014/main" id="{647BD6FF-806A-482B-9208-CF9050BD9C43}"/>
              </a:ext>
            </a:extLst>
          </p:cNvPr>
          <p:cNvSpPr>
            <a:spLocks xmlns:a="http://schemas.openxmlformats.org/drawingml/2006/main" noGrp="1"/>
          </p:cNvSpPr>
          <p:nvPr/>
        </p:nvSpPr>
        <p:spPr>
          <a:xfrm xmlns:a="http://schemas.openxmlformats.org/drawingml/2006/main">
            <a:off x="609600" y="415290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667CF08D-E160-4643-903F-9579DCCD4A42}"/>
              </a:ext>
            </a:extLst>
          </p:cNvPr>
          <p:cNvSpPr>
            <a:spLocks xmlns:a="http://schemas.openxmlformats.org/drawingml/2006/main" noGrp="1"/>
          </p:cNvSpPr>
          <p:nvPr/>
        </p:nvSpPr>
        <p:spPr>
          <a:xfrm xmlns:a="http://schemas.openxmlformats.org/drawingml/2006/main">
            <a:off x="609600" y="4257675"/>
            <a:ext cx="23431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Unsupported evidence</a:t>
            </a:r>
          </a:p>
        </p:txBody>
      </p:sp>
      <p:sp>
        <p:nvSpPr>
          <p:cNvPr id="16" name="text">
            <a:extLst xmlns:a="http://schemas.openxmlformats.org/drawingml/2006/main">
              <a:ext uri="{FF2B5EF4-FFF2-40B4-BE49-F238E27FC236}">
                <a16:creationId xmlns:a16="http://schemas.microsoft.com/office/drawing/2014/main" id="{42425D14-BF20-4B18-8D3D-F5E956EF2AB3}"/>
              </a:ext>
            </a:extLst>
          </p:cNvPr>
          <p:cNvSpPr>
            <a:spLocks xmlns:a="http://schemas.openxmlformats.org/drawingml/2006/main" noGrp="1"/>
          </p:cNvSpPr>
          <p:nvPr/>
        </p:nvSpPr>
        <p:spPr>
          <a:xfrm xmlns:a="http://schemas.openxmlformats.org/drawingml/2006/main">
            <a:off x="3162300" y="4257675"/>
            <a:ext cx="3952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Ask about an absent memory topic</a:t>
            </a:r>
          </a:p>
        </p:txBody>
      </p:sp>
      <p:sp>
        <p:nvSpPr>
          <p:cNvPr id="17" name="text">
            <a:extLst xmlns:a="http://schemas.openxmlformats.org/drawingml/2006/main">
              <a:ext uri="{FF2B5EF4-FFF2-40B4-BE49-F238E27FC236}">
                <a16:creationId xmlns:a16="http://schemas.microsoft.com/office/drawing/2014/main" id="{D02B4537-ED1A-4201-8AB1-1D6F896C62DB}"/>
              </a:ext>
            </a:extLst>
          </p:cNvPr>
          <p:cNvSpPr>
            <a:spLocks xmlns:a="http://schemas.openxmlformats.org/drawingml/2006/main" noGrp="1"/>
          </p:cNvSpPr>
          <p:nvPr/>
        </p:nvSpPr>
        <p:spPr>
          <a:xfrm xmlns:a="http://schemas.openxmlformats.org/drawingml/2006/main">
            <a:off x="7324725" y="4257675"/>
            <a:ext cx="4048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Admit missing evidence</a:t>
            </a:r>
          </a:p>
        </p:txBody>
      </p:sp>
      <p:sp>
        <p:nvSpPr>
          <p:cNvPr id="18" name="shape">
            <a:extLst xmlns:a="http://schemas.openxmlformats.org/drawingml/2006/main">
              <a:ext uri="{FF2B5EF4-FFF2-40B4-BE49-F238E27FC236}">
                <a16:creationId xmlns:a16="http://schemas.microsoft.com/office/drawing/2014/main" id="{A7FA0EC0-8C1B-44B0-9994-B3E0149BD3DB}"/>
              </a:ext>
            </a:extLst>
          </p:cNvPr>
          <p:cNvSpPr>
            <a:spLocks xmlns:a="http://schemas.openxmlformats.org/drawingml/2006/main" noGrp="1"/>
          </p:cNvSpPr>
          <p:nvPr/>
        </p:nvSpPr>
        <p:spPr>
          <a:xfrm xmlns:a="http://schemas.openxmlformats.org/drawingml/2006/main">
            <a:off x="609600" y="49434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58153961-4469-4F24-8DE9-772369B1B168}"/>
              </a:ext>
            </a:extLst>
          </p:cNvPr>
          <p:cNvSpPr>
            <a:spLocks xmlns:a="http://schemas.openxmlformats.org/drawingml/2006/main" noGrp="1"/>
          </p:cNvSpPr>
          <p:nvPr/>
        </p:nvSpPr>
        <p:spPr>
          <a:xfrm xmlns:a="http://schemas.openxmlformats.org/drawingml/2006/main">
            <a:off x="609600" y="5048250"/>
            <a:ext cx="23431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Prompt injection</a:t>
            </a:r>
          </a:p>
        </p:txBody>
      </p:sp>
      <p:sp>
        <p:nvSpPr>
          <p:cNvPr id="20" name="text">
            <a:extLst xmlns:a="http://schemas.openxmlformats.org/drawingml/2006/main">
              <a:ext uri="{FF2B5EF4-FFF2-40B4-BE49-F238E27FC236}">
                <a16:creationId xmlns:a16="http://schemas.microsoft.com/office/drawing/2014/main" id="{9C731647-EF0B-4718-9375-7716D3EC28D3}"/>
              </a:ext>
            </a:extLst>
          </p:cNvPr>
          <p:cNvSpPr>
            <a:spLocks xmlns:a="http://schemas.openxmlformats.org/drawingml/2006/main" noGrp="1"/>
          </p:cNvSpPr>
          <p:nvPr/>
        </p:nvSpPr>
        <p:spPr>
          <a:xfrm xmlns:a="http://schemas.openxmlformats.org/drawingml/2006/main">
            <a:off x="3162300" y="5048250"/>
            <a:ext cx="3952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Note says “ignore the budget”</a:t>
            </a:r>
          </a:p>
        </p:txBody>
      </p:sp>
      <p:sp>
        <p:nvSpPr>
          <p:cNvPr id="21" name="text">
            <a:extLst xmlns:a="http://schemas.openxmlformats.org/drawingml/2006/main">
              <a:ext uri="{FF2B5EF4-FFF2-40B4-BE49-F238E27FC236}">
                <a16:creationId xmlns:a16="http://schemas.microsoft.com/office/drawing/2014/main" id="{0F93A4A7-EAAD-48EE-93A8-817529C10A47}"/>
              </a:ext>
            </a:extLst>
          </p:cNvPr>
          <p:cNvSpPr>
            <a:spLocks xmlns:a="http://schemas.openxmlformats.org/drawingml/2006/main" noGrp="1"/>
          </p:cNvSpPr>
          <p:nvPr/>
        </p:nvSpPr>
        <p:spPr>
          <a:xfrm xmlns:a="http://schemas.openxmlformats.org/drawingml/2006/main">
            <a:off x="7324725" y="5048250"/>
            <a:ext cx="4048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Tool cash and hold gates remain fixed</a:t>
            </a:r>
          </a:p>
        </p:txBody>
      </p:sp>
      <p:sp>
        <p:nvSpPr>
          <p:cNvPr id="22" name="shape">
            <a:extLst xmlns:a="http://schemas.openxmlformats.org/drawingml/2006/main">
              <a:ext uri="{FF2B5EF4-FFF2-40B4-BE49-F238E27FC236}">
                <a16:creationId xmlns:a16="http://schemas.microsoft.com/office/drawing/2014/main" id="{C68739B1-BBCA-43B4-9D7D-23D29F3B601D}"/>
              </a:ext>
            </a:extLst>
          </p:cNvPr>
          <p:cNvSpPr>
            <a:spLocks xmlns:a="http://schemas.openxmlformats.org/drawingml/2006/main" noGrp="1"/>
          </p:cNvSpPr>
          <p:nvPr/>
        </p:nvSpPr>
        <p:spPr>
          <a:xfrm xmlns:a="http://schemas.openxmlformats.org/drawingml/2006/main">
            <a:off x="609600" y="57340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23" name="shape">
            <a:extLst xmlns:a="http://schemas.openxmlformats.org/drawingml/2006/main">
              <a:ext uri="{FF2B5EF4-FFF2-40B4-BE49-F238E27FC236}">
                <a16:creationId xmlns:a16="http://schemas.microsoft.com/office/drawing/2014/main" id="{B10C587F-B7C8-4122-B608-49F1AC99C773}"/>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6DB426C6-28F7-4175-A86F-1887EF3EDB5A}"/>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25" name="text">
            <a:extLst xmlns:a="http://schemas.openxmlformats.org/drawingml/2006/main">
              <a:ext uri="{FF2B5EF4-FFF2-40B4-BE49-F238E27FC236}">
                <a16:creationId xmlns:a16="http://schemas.microsoft.com/office/drawing/2014/main" id="{9FC69282-88F5-4E91-B961-3636CAB957C7}"/>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77</a:t>
            </a:r>
          </a:p>
        </p:txBody>
      </p:sp>
    </p:spTree>
    <p:extLst>
      <p:ext uri="{BB962C8B-B14F-4D97-AF65-F5344CB8AC3E}">
        <p14:creationId xmlns:p14="http://schemas.microsoft.com/office/powerpoint/2010/main" val="525866280"/>
      </p:ext>
    </p:extLst>
  </p:cSld>
</p:sld>
</file>

<file path=ppt/slides/slide78.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21" name="text">
            <a:extLst xmlns:a="http://schemas.openxmlformats.org/drawingml/2006/main">
              <a:ext uri="{FF2B5EF4-FFF2-40B4-BE49-F238E27FC236}">
                <a16:creationId xmlns:a16="http://schemas.microsoft.com/office/drawing/2014/main" id="{BCF507E3-99FA-40D6-9434-DA5A89AD4555}"/>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DAY 2 · SESSION 7 · 90 MINUTES</a:t>
            </a:r>
          </a:p>
        </p:txBody>
      </p:sp>
      <p:sp>
        <p:nvSpPr>
          <p:cNvPr id="2" name="text">
            <a:extLst xmlns:a="http://schemas.openxmlformats.org/drawingml/2006/main">
              <a:ext uri="{FF2B5EF4-FFF2-40B4-BE49-F238E27FC236}">
                <a16:creationId xmlns:a16="http://schemas.microsoft.com/office/drawing/2014/main" id="{C1D674F6-EB35-4EE4-B395-8AC6AA228EF4}"/>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A checkmark means one check passed.</a:t>
            </a:r>
          </a:p>
        </p:txBody>
      </p:sp>
      <p:sp>
        <p:nvSpPr>
          <p:cNvPr id="3" name="text">
            <a:extLst xmlns:a="http://schemas.openxmlformats.org/drawingml/2006/main">
              <a:ext uri="{FF2B5EF4-FFF2-40B4-BE49-F238E27FC236}">
                <a16:creationId xmlns:a16="http://schemas.microsoft.com/office/drawing/2014/main" id="{0D699B11-8AD3-4425-874C-A1BB55973008}"/>
              </a:ext>
            </a:extLst>
          </p:cNvPr>
          <p:cNvSpPr>
            <a:spLocks xmlns:a="http://schemas.openxmlformats.org/drawingml/2006/main" noGrp="1"/>
          </p:cNvSpPr>
          <p:nvPr/>
        </p:nvSpPr>
        <p:spPr>
          <a:xfrm xmlns:a="http://schemas.openxmlformats.org/drawingml/2006/main">
            <a:off x="609600" y="2238375"/>
            <a:ext cx="5276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THE CHECKS VERIFY</a:t>
            </a:r>
          </a:p>
        </p:txBody>
      </p:sp>
      <p:sp>
        <p:nvSpPr>
          <p:cNvPr id="4" name="text">
            <a:extLst xmlns:a="http://schemas.openxmlformats.org/drawingml/2006/main">
              <a:ext uri="{FF2B5EF4-FFF2-40B4-BE49-F238E27FC236}">
                <a16:creationId xmlns:a16="http://schemas.microsoft.com/office/drawing/2014/main" id="{BC2F3CB1-68EA-44E8-B013-5B6063C6AED4}"/>
              </a:ext>
            </a:extLst>
          </p:cNvPr>
          <p:cNvSpPr>
            <a:spLocks xmlns:a="http://schemas.openxmlformats.org/drawingml/2006/main" noGrp="1"/>
          </p:cNvSpPr>
          <p:nvPr/>
        </p:nvSpPr>
        <p:spPr>
          <a:xfrm xmlns:a="http://schemas.openxmlformats.org/drawingml/2006/main">
            <a:off x="6096000" y="2238375"/>
            <a:ext cx="5276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THE CHECKS DO NOT CERTIFY</a:t>
            </a:r>
          </a:p>
        </p:txBody>
      </p:sp>
      <p:sp>
        <p:nvSpPr>
          <p:cNvPr id="5" name="shape">
            <a:extLst xmlns:a="http://schemas.openxmlformats.org/drawingml/2006/main">
              <a:ext uri="{FF2B5EF4-FFF2-40B4-BE49-F238E27FC236}">
                <a16:creationId xmlns:a16="http://schemas.microsoft.com/office/drawing/2014/main" id="{9D06599C-6C94-4929-9E52-0AD247C2D3E4}"/>
              </a:ext>
            </a:extLst>
          </p:cNvPr>
          <p:cNvSpPr>
            <a:spLocks xmlns:a="http://schemas.openxmlformats.org/drawingml/2006/main" noGrp="1"/>
          </p:cNvSpPr>
          <p:nvPr/>
        </p:nvSpPr>
        <p:spPr>
          <a:xfrm xmlns:a="http://schemas.openxmlformats.org/drawingml/2006/main">
            <a:off x="609600" y="26479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8A529A22-B9FA-4BCF-B999-D8EFE6300A74}"/>
              </a:ext>
            </a:extLst>
          </p:cNvPr>
          <p:cNvSpPr>
            <a:spLocks xmlns:a="http://schemas.openxmlformats.org/drawingml/2006/main" noGrp="1"/>
          </p:cNvSpPr>
          <p:nvPr/>
        </p:nvSpPr>
        <p:spPr>
          <a:xfrm xmlns:a="http://schemas.openxmlformats.org/drawingml/2006/main">
            <a:off x="609600" y="28194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Source fields are present</a:t>
            </a:r>
          </a:p>
        </p:txBody>
      </p:sp>
      <p:sp>
        <p:nvSpPr>
          <p:cNvPr id="7" name="text">
            <a:extLst xmlns:a="http://schemas.openxmlformats.org/drawingml/2006/main">
              <a:ext uri="{FF2B5EF4-FFF2-40B4-BE49-F238E27FC236}">
                <a16:creationId xmlns:a16="http://schemas.microsoft.com/office/drawing/2014/main" id="{603B2843-FEE1-406A-B7FF-B19FB9AC74D0}"/>
              </a:ext>
            </a:extLst>
          </p:cNvPr>
          <p:cNvSpPr>
            <a:spLocks xmlns:a="http://schemas.openxmlformats.org/drawingml/2006/main" noGrp="1"/>
          </p:cNvSpPr>
          <p:nvPr/>
        </p:nvSpPr>
        <p:spPr>
          <a:xfrm xmlns:a="http://schemas.openxmlformats.org/drawingml/2006/main">
            <a:off x="6096000" y="28194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Every source is accurate</a:t>
            </a:r>
          </a:p>
        </p:txBody>
      </p:sp>
      <p:sp>
        <p:nvSpPr>
          <p:cNvPr id="8" name="shape">
            <a:extLst xmlns:a="http://schemas.openxmlformats.org/drawingml/2006/main">
              <a:ext uri="{FF2B5EF4-FFF2-40B4-BE49-F238E27FC236}">
                <a16:creationId xmlns:a16="http://schemas.microsoft.com/office/drawing/2014/main" id="{CC25C4C2-F1E7-49CE-886A-18B44FE319C5}"/>
              </a:ext>
            </a:extLst>
          </p:cNvPr>
          <p:cNvSpPr>
            <a:spLocks xmlns:a="http://schemas.openxmlformats.org/drawingml/2006/main" noGrp="1"/>
          </p:cNvSpPr>
          <p:nvPr/>
        </p:nvSpPr>
        <p:spPr>
          <a:xfrm xmlns:a="http://schemas.openxmlformats.org/drawingml/2006/main">
            <a:off x="609600" y="34004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F2A57043-E8F1-4298-B6AB-4A81A56961BF}"/>
              </a:ext>
            </a:extLst>
          </p:cNvPr>
          <p:cNvSpPr>
            <a:spLocks xmlns:a="http://schemas.openxmlformats.org/drawingml/2006/main" noGrp="1"/>
          </p:cNvSpPr>
          <p:nvPr/>
        </p:nvSpPr>
        <p:spPr>
          <a:xfrm xmlns:a="http://schemas.openxmlformats.org/drawingml/2006/main">
            <a:off x="609600" y="35052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Required tools were called</a:t>
            </a:r>
          </a:p>
        </p:txBody>
      </p:sp>
      <p:sp>
        <p:nvSpPr>
          <p:cNvPr id="10" name="text">
            <a:extLst xmlns:a="http://schemas.openxmlformats.org/drawingml/2006/main">
              <a:ext uri="{FF2B5EF4-FFF2-40B4-BE49-F238E27FC236}">
                <a16:creationId xmlns:a16="http://schemas.microsoft.com/office/drawing/2014/main" id="{DA97F833-91F0-49A6-881D-CE0251633A42}"/>
              </a:ext>
            </a:extLst>
          </p:cNvPr>
          <p:cNvSpPr>
            <a:spLocks xmlns:a="http://schemas.openxmlformats.org/drawingml/2006/main" noGrp="1"/>
          </p:cNvSpPr>
          <p:nvPr/>
        </p:nvSpPr>
        <p:spPr>
          <a:xfrm xmlns:a="http://schemas.openxmlformats.org/drawingml/2006/main">
            <a:off x="6096000" y="35052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Every model claim is grounded</a:t>
            </a:r>
          </a:p>
        </p:txBody>
      </p:sp>
      <p:sp>
        <p:nvSpPr>
          <p:cNvPr id="11" name="shape">
            <a:extLst xmlns:a="http://schemas.openxmlformats.org/drawingml/2006/main">
              <a:ext uri="{FF2B5EF4-FFF2-40B4-BE49-F238E27FC236}">
                <a16:creationId xmlns:a16="http://schemas.microsoft.com/office/drawing/2014/main" id="{8735C7AE-3DFF-4C4E-AE18-E30D59F6EEE8}"/>
              </a:ext>
            </a:extLst>
          </p:cNvPr>
          <p:cNvSpPr>
            <a:spLocks xmlns:a="http://schemas.openxmlformats.org/drawingml/2006/main" noGrp="1"/>
          </p:cNvSpPr>
          <p:nvPr/>
        </p:nvSpPr>
        <p:spPr>
          <a:xfrm xmlns:a="http://schemas.openxmlformats.org/drawingml/2006/main">
            <a:off x="609600" y="40862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95E6E191-3E45-4286-96BE-3133E7A3958D}"/>
              </a:ext>
            </a:extLst>
          </p:cNvPr>
          <p:cNvSpPr>
            <a:spLocks xmlns:a="http://schemas.openxmlformats.org/drawingml/2006/main" noGrp="1"/>
          </p:cNvSpPr>
          <p:nvPr/>
        </p:nvSpPr>
        <p:spPr>
          <a:xfrm xmlns:a="http://schemas.openxmlformats.org/drawingml/2006/main">
            <a:off x="609600" y="41910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Assumptions are declared</a:t>
            </a:r>
          </a:p>
        </p:txBody>
      </p:sp>
      <p:sp>
        <p:nvSpPr>
          <p:cNvPr id="13" name="text">
            <a:extLst xmlns:a="http://schemas.openxmlformats.org/drawingml/2006/main">
              <a:ext uri="{FF2B5EF4-FFF2-40B4-BE49-F238E27FC236}">
                <a16:creationId xmlns:a16="http://schemas.microsoft.com/office/drawing/2014/main" id="{8B7F6A61-6AAC-48EC-8C13-123A4147765B}"/>
              </a:ext>
            </a:extLst>
          </p:cNvPr>
          <p:cNvSpPr>
            <a:spLocks xmlns:a="http://schemas.openxmlformats.org/drawingml/2006/main" noGrp="1"/>
          </p:cNvSpPr>
          <p:nvPr/>
        </p:nvSpPr>
        <p:spPr>
          <a:xfrm xmlns:a="http://schemas.openxmlformats.org/drawingml/2006/main">
            <a:off x="6096000" y="41910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The business model is complete</a:t>
            </a:r>
          </a:p>
        </p:txBody>
      </p:sp>
      <p:sp>
        <p:nvSpPr>
          <p:cNvPr id="14" name="shape">
            <a:extLst xmlns:a="http://schemas.openxmlformats.org/drawingml/2006/main">
              <a:ext uri="{FF2B5EF4-FFF2-40B4-BE49-F238E27FC236}">
                <a16:creationId xmlns:a16="http://schemas.microsoft.com/office/drawing/2014/main" id="{723AA9BE-1E0D-4C16-826A-154C08E9090D}"/>
              </a:ext>
            </a:extLst>
          </p:cNvPr>
          <p:cNvSpPr>
            <a:spLocks xmlns:a="http://schemas.openxmlformats.org/drawingml/2006/main" noGrp="1"/>
          </p:cNvSpPr>
          <p:nvPr/>
        </p:nvSpPr>
        <p:spPr>
          <a:xfrm xmlns:a="http://schemas.openxmlformats.org/drawingml/2006/main">
            <a:off x="609600" y="47720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23A39356-057A-4918-95C0-DC95BD56E9BC}"/>
              </a:ext>
            </a:extLst>
          </p:cNvPr>
          <p:cNvSpPr>
            <a:spLocks xmlns:a="http://schemas.openxmlformats.org/drawingml/2006/main" noGrp="1"/>
          </p:cNvSpPr>
          <p:nvPr/>
        </p:nvSpPr>
        <p:spPr>
          <a:xfrm xmlns:a="http://schemas.openxmlformats.org/drawingml/2006/main">
            <a:off x="609600" y="48768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HOLD gates propagate</a:t>
            </a:r>
          </a:p>
        </p:txBody>
      </p:sp>
      <p:sp>
        <p:nvSpPr>
          <p:cNvPr id="16" name="text">
            <a:extLst xmlns:a="http://schemas.openxmlformats.org/drawingml/2006/main">
              <a:ext uri="{FF2B5EF4-FFF2-40B4-BE49-F238E27FC236}">
                <a16:creationId xmlns:a16="http://schemas.microsoft.com/office/drawing/2014/main" id="{6E26FB7B-1481-43BC-ABC8-DF47059E0E0F}"/>
              </a:ext>
            </a:extLst>
          </p:cNvPr>
          <p:cNvSpPr>
            <a:spLocks xmlns:a="http://schemas.openxmlformats.org/drawingml/2006/main" noGrp="1"/>
          </p:cNvSpPr>
          <p:nvPr/>
        </p:nvSpPr>
        <p:spPr>
          <a:xfrm xmlns:a="http://schemas.openxmlformats.org/drawingml/2006/main">
            <a:off x="6096000" y="48768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The system is safe for deployment</a:t>
            </a:r>
          </a:p>
        </p:txBody>
      </p:sp>
      <p:sp>
        <p:nvSpPr>
          <p:cNvPr id="17" name="shape">
            <a:extLst xmlns:a="http://schemas.openxmlformats.org/drawingml/2006/main">
              <a:ext uri="{FF2B5EF4-FFF2-40B4-BE49-F238E27FC236}">
                <a16:creationId xmlns:a16="http://schemas.microsoft.com/office/drawing/2014/main" id="{E14B2055-9556-41D4-AC18-A5D07A416C52}"/>
              </a:ext>
            </a:extLst>
          </p:cNvPr>
          <p:cNvSpPr>
            <a:spLocks xmlns:a="http://schemas.openxmlformats.org/drawingml/2006/main" noGrp="1"/>
          </p:cNvSpPr>
          <p:nvPr/>
        </p:nvSpPr>
        <p:spPr>
          <a:xfrm xmlns:a="http://schemas.openxmlformats.org/drawingml/2006/main">
            <a:off x="609600" y="54578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8" name="shape">
            <a:extLst xmlns:a="http://schemas.openxmlformats.org/drawingml/2006/main">
              <a:ext uri="{FF2B5EF4-FFF2-40B4-BE49-F238E27FC236}">
                <a16:creationId xmlns:a16="http://schemas.microsoft.com/office/drawing/2014/main" id="{DC52D049-C91C-4753-A7CD-717C328EF5A3}"/>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6D98517E-B122-4ACC-BA9F-A2F346BCEC01}"/>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20" name="text">
            <a:extLst xmlns:a="http://schemas.openxmlformats.org/drawingml/2006/main">
              <a:ext uri="{FF2B5EF4-FFF2-40B4-BE49-F238E27FC236}">
                <a16:creationId xmlns:a16="http://schemas.microsoft.com/office/drawing/2014/main" id="{B13EC39D-6533-46E9-8008-AB07200C0913}"/>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78</a:t>
            </a:r>
          </a:p>
        </p:txBody>
      </p:sp>
    </p:spTree>
    <p:extLst>
      <p:ext uri="{BB962C8B-B14F-4D97-AF65-F5344CB8AC3E}">
        <p14:creationId xmlns:p14="http://schemas.microsoft.com/office/powerpoint/2010/main" val="2132469358"/>
      </p:ext>
    </p:extLst>
  </p:cSld>
</p:sld>
</file>

<file path=ppt/slides/slide79.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EE5210EF-EF36-48A9-BC0B-BB83671CE65A}"/>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DAY 2 · SESSION 7 · 90 MINUTES</a:t>
            </a:r>
          </a:p>
        </p:txBody>
      </p:sp>
      <p:sp>
        <p:nvSpPr>
          <p:cNvPr id="2" name="text">
            <a:extLst xmlns:a="http://schemas.openxmlformats.org/drawingml/2006/main">
              <a:ext uri="{FF2B5EF4-FFF2-40B4-BE49-F238E27FC236}">
                <a16:creationId xmlns:a16="http://schemas.microsoft.com/office/drawing/2014/main" id="{53BB4FA7-2090-4B1E-AADB-05205D1AB192}"/>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Measure cost before you scale a classroom.</a:t>
            </a:r>
          </a:p>
        </p:txBody>
      </p:sp>
      <p:sp>
        <p:nvSpPr>
          <p:cNvPr id="3" name="flow-node">
            <a:extLst xmlns:a="http://schemas.openxmlformats.org/drawingml/2006/main">
              <a:ext uri="{FF2B5EF4-FFF2-40B4-BE49-F238E27FC236}">
                <a16:creationId xmlns:a16="http://schemas.microsoft.com/office/drawing/2014/main" id="{4EC26392-D197-4695-A949-0A8C0CB04451}"/>
              </a:ext>
            </a:extLst>
          </p:cNvPr>
          <p:cNvSpPr>
            <a:spLocks xmlns:a="http://schemas.openxmlformats.org/drawingml/2006/main" noGrp="1"/>
          </p:cNvSpPr>
          <p:nvPr/>
        </p:nvSpPr>
        <p:spPr>
          <a:xfrm xmlns:a="http://schemas.openxmlformats.org/drawingml/2006/main">
            <a:off x="609600"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Count model calls</a:t>
            </a:r>
          </a:p>
        </p:txBody>
      </p:sp>
      <p:sp>
        <p:nvSpPr>
          <p:cNvPr id="4" name="flow-node">
            <a:extLst xmlns:a="http://schemas.openxmlformats.org/drawingml/2006/main">
              <a:ext uri="{FF2B5EF4-FFF2-40B4-BE49-F238E27FC236}">
                <a16:creationId xmlns:a16="http://schemas.microsoft.com/office/drawing/2014/main" id="{51E8DAC1-4500-46F3-87F4-9B652327C6A6}"/>
              </a:ext>
            </a:extLst>
          </p:cNvPr>
          <p:cNvSpPr>
            <a:spLocks xmlns:a="http://schemas.openxmlformats.org/drawingml/2006/main" noGrp="1"/>
          </p:cNvSpPr>
          <p:nvPr/>
        </p:nvSpPr>
        <p:spPr>
          <a:xfrm xmlns:a="http://schemas.openxmlformats.org/drawingml/2006/main">
            <a:off x="3424238"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Read token usage</a:t>
            </a:r>
          </a:p>
        </p:txBody>
      </p:sp>
      <p:sp>
        <p:nvSpPr>
          <p:cNvPr id="5" name="flow-node">
            <a:extLst xmlns:a="http://schemas.openxmlformats.org/drawingml/2006/main">
              <a:ext uri="{FF2B5EF4-FFF2-40B4-BE49-F238E27FC236}">
                <a16:creationId xmlns:a16="http://schemas.microsoft.com/office/drawing/2014/main" id="{0F8183AF-FE4C-4358-9DF2-792D43349CC9}"/>
              </a:ext>
            </a:extLst>
          </p:cNvPr>
          <p:cNvSpPr>
            <a:spLocks xmlns:a="http://schemas.openxmlformats.org/drawingml/2006/main" noGrp="1"/>
          </p:cNvSpPr>
          <p:nvPr/>
        </p:nvSpPr>
        <p:spPr>
          <a:xfrm xmlns:a="http://schemas.openxmlformats.org/drawingml/2006/main">
            <a:off x="6238875"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Measure wait time</a:t>
            </a:r>
          </a:p>
        </p:txBody>
      </p:sp>
      <p:sp>
        <p:nvSpPr>
          <p:cNvPr id="6" name="flow-node">
            <a:extLst xmlns:a="http://schemas.openxmlformats.org/drawingml/2006/main">
              <a:ext uri="{FF2B5EF4-FFF2-40B4-BE49-F238E27FC236}">
                <a16:creationId xmlns:a16="http://schemas.microsoft.com/office/drawing/2014/main" id="{854DC107-2084-4622-8F20-DF87E0F526F7}"/>
              </a:ext>
            </a:extLst>
          </p:cNvPr>
          <p:cNvSpPr>
            <a:spLocks xmlns:a="http://schemas.openxmlformats.org/drawingml/2006/main" noGrp="1"/>
          </p:cNvSpPr>
          <p:nvPr/>
        </p:nvSpPr>
        <p:spPr>
          <a:xfrm xmlns:a="http://schemas.openxmlformats.org/drawingml/2006/main">
            <a:off x="9053513"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Check project quota</a:t>
            </a:r>
          </a:p>
        </p:txBody>
      </p:sp>
      <p:cxnSp>
        <p:nvCxnSpPr>
          <p:cNvPr id="20" name=""/>
          <p:cNvCxnSpPr>
            <a:stCxn xmlns:a="http://schemas.openxmlformats.org/drawingml/2006/main" id="3" idx="3"/>
            <a:endCxn xmlns:a="http://schemas.openxmlformats.org/drawingml/2006/main" id="4" idx="1"/>
          </p:cNvCxnSpPr>
          <p:nvPr/>
        </p:nvCxnSpPr>
        <p:spPr>
          <a:xfrm xmlns:a="http://schemas.openxmlformats.org/drawingml/2006/main">
            <a:off x="3138488"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1" name=""/>
          <p:cNvCxnSpPr>
            <a:stCxn xmlns:a="http://schemas.openxmlformats.org/drawingml/2006/main" id="4" idx="3"/>
            <a:endCxn xmlns:a="http://schemas.openxmlformats.org/drawingml/2006/main" id="5" idx="1"/>
          </p:cNvCxnSpPr>
          <p:nvPr/>
        </p:nvCxnSpPr>
        <p:spPr>
          <a:xfrm xmlns:a="http://schemas.openxmlformats.org/drawingml/2006/main">
            <a:off x="5953126" y="3390900"/>
            <a:ext cx="285749"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2" name=""/>
          <p:cNvCxnSpPr>
            <a:stCxn xmlns:a="http://schemas.openxmlformats.org/drawingml/2006/main" id="5" idx="3"/>
            <a:endCxn xmlns:a="http://schemas.openxmlformats.org/drawingml/2006/main" id="6" idx="1"/>
          </p:cNvCxnSpPr>
          <p:nvPr/>
        </p:nvCxnSpPr>
        <p:spPr>
          <a:xfrm xmlns:a="http://schemas.openxmlformats.org/drawingml/2006/main">
            <a:off x="8767763"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sp>
        <p:nvSpPr>
          <p:cNvPr id="10" name="text">
            <a:extLst xmlns:a="http://schemas.openxmlformats.org/drawingml/2006/main">
              <a:ext uri="{FF2B5EF4-FFF2-40B4-BE49-F238E27FC236}">
                <a16:creationId xmlns:a16="http://schemas.microsoft.com/office/drawing/2014/main" id="{1779720F-C669-4DDD-8970-F5F4605E4A0A}"/>
              </a:ext>
            </a:extLst>
          </p:cNvPr>
          <p:cNvSpPr>
            <a:spLocks xmlns:a="http://schemas.openxmlformats.org/drawingml/2006/main" noGrp="1"/>
          </p:cNvSpPr>
          <p:nvPr/>
        </p:nvSpPr>
        <p:spPr>
          <a:xfrm xmlns:a="http://schemas.openxmlformats.org/drawingml/2006/main">
            <a:off x="609600" y="50673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DFBF"/>
                </a:solidFill>
                <a:latin typeface="Aptos"/>
                <a:ea typeface="Aptos"/>
                <a:cs typeface="Aptos"/>
              </a:defRPr>
            </a:pPr>
            <a:r>
              <a:rPr sz="1800" b="0">
                <a:solidFill>
                  <a:srgbClr val="61DFBF"/>
                </a:solidFill>
                <a:latin typeface="Aptos"/>
                <a:ea typeface="Aptos"/>
                <a:cs typeface="Aptos"/>
              </a:rPr>
              <a:t>A team run can make many provider calls; token counts are not an invoice.</a:t>
            </a:r>
          </a:p>
        </p:txBody>
      </p:sp>
      <p:sp>
        <p:nvSpPr>
          <p:cNvPr id="11" name="shape">
            <a:extLst xmlns:a="http://schemas.openxmlformats.org/drawingml/2006/main">
              <a:ext uri="{FF2B5EF4-FFF2-40B4-BE49-F238E27FC236}">
                <a16:creationId xmlns:a16="http://schemas.microsoft.com/office/drawing/2014/main" id="{F6E78A63-595E-47E7-8DEF-A2E7F0833DA7}"/>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9E06707D-1180-4BDC-A50B-299001926DAF}"/>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13" name="text">
            <a:extLst xmlns:a="http://schemas.openxmlformats.org/drawingml/2006/main">
              <a:ext uri="{FF2B5EF4-FFF2-40B4-BE49-F238E27FC236}">
                <a16:creationId xmlns:a16="http://schemas.microsoft.com/office/drawing/2014/main" id="{86CCF27F-DB61-4243-9B09-1CAD023D2C8D}"/>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79</a:t>
            </a:r>
          </a:p>
        </p:txBody>
      </p:sp>
    </p:spTree>
    <p:extLst>
      <p:ext uri="{BB962C8B-B14F-4D97-AF65-F5344CB8AC3E}">
        <p14:creationId xmlns:p14="http://schemas.microsoft.com/office/powerpoint/2010/main" val="2080748087"/>
      </p:ext>
    </p:extLst>
  </p:cSld>
</p:sld>
</file>

<file path=ppt/slides/slide80.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814C8D70-C005-4FAA-A656-022FE4CC5FA2}"/>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DAY 2 · SESSION 7 · 90 MINUTES</a:t>
            </a:r>
          </a:p>
        </p:txBody>
      </p:sp>
      <p:sp>
        <p:nvSpPr>
          <p:cNvPr id="2" name="text">
            <a:extLst xmlns:a="http://schemas.openxmlformats.org/drawingml/2006/main">
              <a:ext uri="{FF2B5EF4-FFF2-40B4-BE49-F238E27FC236}">
                <a16:creationId xmlns:a16="http://schemas.microsoft.com/office/drawing/2014/main" id="{861BACFE-EDAD-43DC-8094-AFF1A0A3C302}"/>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Quota errors need a service check.</a:t>
            </a:r>
          </a:p>
        </p:txBody>
      </p:sp>
      <p:sp>
        <p:nvSpPr>
          <p:cNvPr id="3" name="flow-node">
            <a:extLst xmlns:a="http://schemas.openxmlformats.org/drawingml/2006/main">
              <a:ext uri="{FF2B5EF4-FFF2-40B4-BE49-F238E27FC236}">
                <a16:creationId xmlns:a16="http://schemas.microsoft.com/office/drawing/2014/main" id="{E69B14D2-D967-43DB-AAFE-E48460CAE2CB}"/>
              </a:ext>
            </a:extLst>
          </p:cNvPr>
          <p:cNvSpPr>
            <a:spLocks xmlns:a="http://schemas.openxmlformats.org/drawingml/2006/main" noGrp="1"/>
          </p:cNvSpPr>
          <p:nvPr/>
        </p:nvSpPr>
        <p:spPr>
          <a:xfrm xmlns:a="http://schemas.openxmlformats.org/drawingml/2006/main">
            <a:off x="609600"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Read the error</a:t>
            </a:r>
          </a:p>
        </p:txBody>
      </p:sp>
      <p:sp>
        <p:nvSpPr>
          <p:cNvPr id="4" name="flow-node">
            <a:extLst xmlns:a="http://schemas.openxmlformats.org/drawingml/2006/main">
              <a:ext uri="{FF2B5EF4-FFF2-40B4-BE49-F238E27FC236}">
                <a16:creationId xmlns:a16="http://schemas.microsoft.com/office/drawing/2014/main" id="{A8ED2E14-4774-4058-B00F-14BB5074FED9}"/>
              </a:ext>
            </a:extLst>
          </p:cNvPr>
          <p:cNvSpPr>
            <a:spLocks xmlns:a="http://schemas.openxmlformats.org/drawingml/2006/main" noGrp="1"/>
          </p:cNvSpPr>
          <p:nvPr/>
        </p:nvSpPr>
        <p:spPr>
          <a:xfrm xmlns:a="http://schemas.openxmlformats.org/drawingml/2006/main">
            <a:off x="3424238"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Pause new calls</a:t>
            </a:r>
          </a:p>
        </p:txBody>
      </p:sp>
      <p:sp>
        <p:nvSpPr>
          <p:cNvPr id="5" name="flow-node">
            <a:extLst xmlns:a="http://schemas.openxmlformats.org/drawingml/2006/main">
              <a:ext uri="{FF2B5EF4-FFF2-40B4-BE49-F238E27FC236}">
                <a16:creationId xmlns:a16="http://schemas.microsoft.com/office/drawing/2014/main" id="{A926FB98-A6D5-4107-8535-4A164F0B8A91}"/>
              </a:ext>
            </a:extLst>
          </p:cNvPr>
          <p:cNvSpPr>
            <a:spLocks xmlns:a="http://schemas.openxmlformats.org/drawingml/2006/main" noGrp="1"/>
          </p:cNvSpPr>
          <p:nvPr/>
        </p:nvSpPr>
        <p:spPr>
          <a:xfrm xmlns:a="http://schemas.openxmlformats.org/drawingml/2006/main">
            <a:off x="6238875"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Check API quota</a:t>
            </a:r>
          </a:p>
        </p:txBody>
      </p:sp>
      <p:sp>
        <p:nvSpPr>
          <p:cNvPr id="6" name="flow-node">
            <a:extLst xmlns:a="http://schemas.openxmlformats.org/drawingml/2006/main">
              <a:ext uri="{FF2B5EF4-FFF2-40B4-BE49-F238E27FC236}">
                <a16:creationId xmlns:a16="http://schemas.microsoft.com/office/drawing/2014/main" id="{E7080064-7D4E-435F-B0FA-D96EACE829B0}"/>
              </a:ext>
            </a:extLst>
          </p:cNvPr>
          <p:cNvSpPr>
            <a:spLocks xmlns:a="http://schemas.openxmlformats.org/drawingml/2006/main" noGrp="1"/>
          </p:cNvSpPr>
          <p:nvPr/>
        </p:nvSpPr>
        <p:spPr>
          <a:xfrm xmlns:a="http://schemas.openxmlformats.org/drawingml/2006/main">
            <a:off x="9053513"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Retry once ready</a:t>
            </a:r>
          </a:p>
        </p:txBody>
      </p:sp>
      <p:cxnSp>
        <p:nvCxnSpPr>
          <p:cNvPr id="20" name=""/>
          <p:cNvCxnSpPr>
            <a:stCxn xmlns:a="http://schemas.openxmlformats.org/drawingml/2006/main" id="3" idx="3"/>
            <a:endCxn xmlns:a="http://schemas.openxmlformats.org/drawingml/2006/main" id="4" idx="1"/>
          </p:cNvCxnSpPr>
          <p:nvPr/>
        </p:nvCxnSpPr>
        <p:spPr>
          <a:xfrm xmlns:a="http://schemas.openxmlformats.org/drawingml/2006/main">
            <a:off x="3138488"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1" name=""/>
          <p:cNvCxnSpPr>
            <a:stCxn xmlns:a="http://schemas.openxmlformats.org/drawingml/2006/main" id="4" idx="3"/>
            <a:endCxn xmlns:a="http://schemas.openxmlformats.org/drawingml/2006/main" id="5" idx="1"/>
          </p:cNvCxnSpPr>
          <p:nvPr/>
        </p:nvCxnSpPr>
        <p:spPr>
          <a:xfrm xmlns:a="http://schemas.openxmlformats.org/drawingml/2006/main">
            <a:off x="5953126" y="3390900"/>
            <a:ext cx="285749"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2" name=""/>
          <p:cNvCxnSpPr>
            <a:stCxn xmlns:a="http://schemas.openxmlformats.org/drawingml/2006/main" id="5" idx="3"/>
            <a:endCxn xmlns:a="http://schemas.openxmlformats.org/drawingml/2006/main" id="6" idx="1"/>
          </p:cNvCxnSpPr>
          <p:nvPr/>
        </p:nvCxnSpPr>
        <p:spPr>
          <a:xfrm xmlns:a="http://schemas.openxmlformats.org/drawingml/2006/main">
            <a:off x="8767763"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sp>
        <p:nvSpPr>
          <p:cNvPr id="10" name="text">
            <a:extLst xmlns:a="http://schemas.openxmlformats.org/drawingml/2006/main">
              <a:ext uri="{FF2B5EF4-FFF2-40B4-BE49-F238E27FC236}">
                <a16:creationId xmlns:a16="http://schemas.microsoft.com/office/drawing/2014/main" id="{9F664CE0-F342-4DB5-A92C-0BBF9B842F14}"/>
              </a:ext>
            </a:extLst>
          </p:cNvPr>
          <p:cNvSpPr>
            <a:spLocks xmlns:a="http://schemas.openxmlformats.org/drawingml/2006/main" noGrp="1"/>
          </p:cNvSpPr>
          <p:nvPr/>
        </p:nvSpPr>
        <p:spPr>
          <a:xfrm xmlns:a="http://schemas.openxmlformats.org/drawingml/2006/main">
            <a:off x="609600" y="50673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DFBF"/>
                </a:solidFill>
                <a:latin typeface="Aptos"/>
                <a:ea typeface="Aptos"/>
                <a:cs typeface="Aptos"/>
              </a:defRPr>
            </a:pPr>
            <a:r>
              <a:rPr sz="1800" b="0">
                <a:solidFill>
                  <a:srgbClr val="61DFBF"/>
                </a:solidFill>
                <a:latin typeface="Aptos"/>
                <a:ea typeface="Aptos"/>
                <a:cs typeface="Aptos"/>
              </a:rPr>
              <a:t>Keep the error visible. Do not label rehearsal output as live.</a:t>
            </a:r>
          </a:p>
        </p:txBody>
      </p:sp>
      <p:sp>
        <p:nvSpPr>
          <p:cNvPr id="11" name="shape">
            <a:extLst xmlns:a="http://schemas.openxmlformats.org/drawingml/2006/main">
              <a:ext uri="{FF2B5EF4-FFF2-40B4-BE49-F238E27FC236}">
                <a16:creationId xmlns:a16="http://schemas.microsoft.com/office/drawing/2014/main" id="{CDFC5F86-9F0F-4FC0-B7C9-9A3B4BB31E1D}"/>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21E85829-DF88-4823-BA29-C29A8785C311}"/>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13" name="text">
            <a:extLst xmlns:a="http://schemas.openxmlformats.org/drawingml/2006/main">
              <a:ext uri="{FF2B5EF4-FFF2-40B4-BE49-F238E27FC236}">
                <a16:creationId xmlns:a16="http://schemas.microsoft.com/office/drawing/2014/main" id="{902586A6-1395-46A0-AC08-9A1A6A03AE77}"/>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80</a:t>
            </a:r>
          </a:p>
        </p:txBody>
      </p:sp>
    </p:spTree>
    <p:extLst>
      <p:ext uri="{BB962C8B-B14F-4D97-AF65-F5344CB8AC3E}">
        <p14:creationId xmlns:p14="http://schemas.microsoft.com/office/powerpoint/2010/main" val="180243705"/>
      </p:ext>
    </p:extLst>
  </p:cSld>
</p:sld>
</file>

<file path=ppt/slides/slide81.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21" name="text">
            <a:extLst xmlns:a="http://schemas.openxmlformats.org/drawingml/2006/main">
              <a:ext uri="{FF2B5EF4-FFF2-40B4-BE49-F238E27FC236}">
                <a16:creationId xmlns:a16="http://schemas.microsoft.com/office/drawing/2014/main" id="{3A6139F6-5A4C-486E-B2E3-EDA0BC88E78B}"/>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DAY 2 · SESSION 7 · 90 MINUTES</a:t>
            </a:r>
          </a:p>
        </p:txBody>
      </p:sp>
      <p:sp>
        <p:nvSpPr>
          <p:cNvPr id="2" name="text">
            <a:extLst xmlns:a="http://schemas.openxmlformats.org/drawingml/2006/main">
              <a:ext uri="{FF2B5EF4-FFF2-40B4-BE49-F238E27FC236}">
                <a16:creationId xmlns:a16="http://schemas.microsoft.com/office/drawing/2014/main" id="{A47C71B4-D89E-4300-A784-98F16DC2C019}"/>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Optimize the workflow without hiding uncertainty.</a:t>
            </a:r>
          </a:p>
        </p:txBody>
      </p:sp>
      <p:sp>
        <p:nvSpPr>
          <p:cNvPr id="3" name="text">
            <a:extLst xmlns:a="http://schemas.openxmlformats.org/drawingml/2006/main">
              <a:ext uri="{FF2B5EF4-FFF2-40B4-BE49-F238E27FC236}">
                <a16:creationId xmlns:a16="http://schemas.microsoft.com/office/drawing/2014/main" id="{81AAF384-585C-4C0C-96D4-E2192811F101}"/>
              </a:ext>
            </a:extLst>
          </p:cNvPr>
          <p:cNvSpPr>
            <a:spLocks xmlns:a="http://schemas.openxmlformats.org/drawingml/2006/main" noGrp="1"/>
          </p:cNvSpPr>
          <p:nvPr/>
        </p:nvSpPr>
        <p:spPr>
          <a:xfrm xmlns:a="http://schemas.openxmlformats.org/drawingml/2006/main">
            <a:off x="609600" y="2238375"/>
            <a:ext cx="5276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USEFUL CHANGE</a:t>
            </a:r>
          </a:p>
        </p:txBody>
      </p:sp>
      <p:sp>
        <p:nvSpPr>
          <p:cNvPr id="4" name="text">
            <a:extLst xmlns:a="http://schemas.openxmlformats.org/drawingml/2006/main">
              <a:ext uri="{FF2B5EF4-FFF2-40B4-BE49-F238E27FC236}">
                <a16:creationId xmlns:a16="http://schemas.microsoft.com/office/drawing/2014/main" id="{89704007-135E-4396-8468-3C07EBB389DE}"/>
              </a:ext>
            </a:extLst>
          </p:cNvPr>
          <p:cNvSpPr>
            <a:spLocks xmlns:a="http://schemas.openxmlformats.org/drawingml/2006/main" noGrp="1"/>
          </p:cNvSpPr>
          <p:nvPr/>
        </p:nvSpPr>
        <p:spPr>
          <a:xfrm xmlns:a="http://schemas.openxmlformats.org/drawingml/2006/main">
            <a:off x="6096000" y="2238375"/>
            <a:ext cx="5276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VERIFY AFTERWARD</a:t>
            </a:r>
          </a:p>
        </p:txBody>
      </p:sp>
      <p:sp>
        <p:nvSpPr>
          <p:cNvPr id="5" name="shape">
            <a:extLst xmlns:a="http://schemas.openxmlformats.org/drawingml/2006/main">
              <a:ext uri="{FF2B5EF4-FFF2-40B4-BE49-F238E27FC236}">
                <a16:creationId xmlns:a16="http://schemas.microsoft.com/office/drawing/2014/main" id="{9B2DC6AA-F67A-4EA8-A56E-99FC14B61B1A}"/>
              </a:ext>
            </a:extLst>
          </p:cNvPr>
          <p:cNvSpPr>
            <a:spLocks xmlns:a="http://schemas.openxmlformats.org/drawingml/2006/main" noGrp="1"/>
          </p:cNvSpPr>
          <p:nvPr/>
        </p:nvSpPr>
        <p:spPr>
          <a:xfrm xmlns:a="http://schemas.openxmlformats.org/drawingml/2006/main">
            <a:off x="609600" y="26479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AADFA2CA-10FE-4AA0-976D-317972F0EFDE}"/>
              </a:ext>
            </a:extLst>
          </p:cNvPr>
          <p:cNvSpPr>
            <a:spLocks xmlns:a="http://schemas.openxmlformats.org/drawingml/2006/main" noGrp="1"/>
          </p:cNvSpPr>
          <p:nvPr/>
        </p:nvSpPr>
        <p:spPr>
          <a:xfrm xmlns:a="http://schemas.openxmlformats.org/drawingml/2006/main">
            <a:off x="609600" y="28194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Shorter role instructions</a:t>
            </a:r>
          </a:p>
        </p:txBody>
      </p:sp>
      <p:sp>
        <p:nvSpPr>
          <p:cNvPr id="7" name="text">
            <a:extLst xmlns:a="http://schemas.openxmlformats.org/drawingml/2006/main">
              <a:ext uri="{FF2B5EF4-FFF2-40B4-BE49-F238E27FC236}">
                <a16:creationId xmlns:a16="http://schemas.microsoft.com/office/drawing/2014/main" id="{6DA669CF-74D5-4141-AE67-832455913119}"/>
              </a:ext>
            </a:extLst>
          </p:cNvPr>
          <p:cNvSpPr>
            <a:spLocks xmlns:a="http://schemas.openxmlformats.org/drawingml/2006/main" noGrp="1"/>
          </p:cNvSpPr>
          <p:nvPr/>
        </p:nvSpPr>
        <p:spPr>
          <a:xfrm xmlns:a="http://schemas.openxmlformats.org/drawingml/2006/main">
            <a:off x="6096000" y="28194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Required tools still execute</a:t>
            </a:r>
          </a:p>
        </p:txBody>
      </p:sp>
      <p:sp>
        <p:nvSpPr>
          <p:cNvPr id="8" name="shape">
            <a:extLst xmlns:a="http://schemas.openxmlformats.org/drawingml/2006/main">
              <a:ext uri="{FF2B5EF4-FFF2-40B4-BE49-F238E27FC236}">
                <a16:creationId xmlns:a16="http://schemas.microsoft.com/office/drawing/2014/main" id="{02DD3A55-A070-4C61-A375-7DF9CD411108}"/>
              </a:ext>
            </a:extLst>
          </p:cNvPr>
          <p:cNvSpPr>
            <a:spLocks xmlns:a="http://schemas.openxmlformats.org/drawingml/2006/main" noGrp="1"/>
          </p:cNvSpPr>
          <p:nvPr/>
        </p:nvSpPr>
        <p:spPr>
          <a:xfrm xmlns:a="http://schemas.openxmlformats.org/drawingml/2006/main">
            <a:off x="609600" y="34004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1026A6AB-2CF2-4E66-9ADD-4FAB6858F867}"/>
              </a:ext>
            </a:extLst>
          </p:cNvPr>
          <p:cNvSpPr>
            <a:spLocks xmlns:a="http://schemas.openxmlformats.org/drawingml/2006/main" noGrp="1"/>
          </p:cNvSpPr>
          <p:nvPr/>
        </p:nvSpPr>
        <p:spPr>
          <a:xfrm xmlns:a="http://schemas.openxmlformats.org/drawingml/2006/main">
            <a:off x="609600" y="35052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Smaller relevant source excerpts</a:t>
            </a:r>
          </a:p>
        </p:txBody>
      </p:sp>
      <p:sp>
        <p:nvSpPr>
          <p:cNvPr id="10" name="text">
            <a:extLst xmlns:a="http://schemas.openxmlformats.org/drawingml/2006/main">
              <a:ext uri="{FF2B5EF4-FFF2-40B4-BE49-F238E27FC236}">
                <a16:creationId xmlns:a16="http://schemas.microsoft.com/office/drawing/2014/main" id="{E3AB08E2-DBB4-43DA-9567-D87784088EBD}"/>
              </a:ext>
            </a:extLst>
          </p:cNvPr>
          <p:cNvSpPr>
            <a:spLocks xmlns:a="http://schemas.openxmlformats.org/drawingml/2006/main" noGrp="1"/>
          </p:cNvSpPr>
          <p:nvPr/>
        </p:nvSpPr>
        <p:spPr>
          <a:xfrm xmlns:a="http://schemas.openxmlformats.org/drawingml/2006/main">
            <a:off x="6096000" y="35052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Citations still support the answer</a:t>
            </a:r>
          </a:p>
        </p:txBody>
      </p:sp>
      <p:sp>
        <p:nvSpPr>
          <p:cNvPr id="11" name="shape">
            <a:extLst xmlns:a="http://schemas.openxmlformats.org/drawingml/2006/main">
              <a:ext uri="{FF2B5EF4-FFF2-40B4-BE49-F238E27FC236}">
                <a16:creationId xmlns:a16="http://schemas.microsoft.com/office/drawing/2014/main" id="{99D268B7-85D0-495B-8A8B-9C334CF17F99}"/>
              </a:ext>
            </a:extLst>
          </p:cNvPr>
          <p:cNvSpPr>
            <a:spLocks xmlns:a="http://schemas.openxmlformats.org/drawingml/2006/main" noGrp="1"/>
          </p:cNvSpPr>
          <p:nvPr/>
        </p:nvSpPr>
        <p:spPr>
          <a:xfrm xmlns:a="http://schemas.openxmlformats.org/drawingml/2006/main">
            <a:off x="609600" y="40862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0EFC27EA-73F7-45FD-B347-FC8FD999AFBB}"/>
              </a:ext>
            </a:extLst>
          </p:cNvPr>
          <p:cNvSpPr>
            <a:spLocks xmlns:a="http://schemas.openxmlformats.org/drawingml/2006/main" noGrp="1"/>
          </p:cNvSpPr>
          <p:nvPr/>
        </p:nvSpPr>
        <p:spPr>
          <a:xfrm xmlns:a="http://schemas.openxmlformats.org/drawingml/2006/main">
            <a:off x="609600" y="41910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Lower-cost approved model</a:t>
            </a:r>
          </a:p>
        </p:txBody>
      </p:sp>
      <p:sp>
        <p:nvSpPr>
          <p:cNvPr id="13" name="text">
            <a:extLst xmlns:a="http://schemas.openxmlformats.org/drawingml/2006/main">
              <a:ext uri="{FF2B5EF4-FFF2-40B4-BE49-F238E27FC236}">
                <a16:creationId xmlns:a16="http://schemas.microsoft.com/office/drawing/2014/main" id="{A5B5C8BE-51EF-477B-B0BB-7EB85E33BB50}"/>
              </a:ext>
            </a:extLst>
          </p:cNvPr>
          <p:cNvSpPr>
            <a:spLocks xmlns:a="http://schemas.openxmlformats.org/drawingml/2006/main" noGrp="1"/>
          </p:cNvSpPr>
          <p:nvPr/>
        </p:nvSpPr>
        <p:spPr>
          <a:xfrm xmlns:a="http://schemas.openxmlformats.org/drawingml/2006/main">
            <a:off x="6096000" y="41910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Your test cases still pass</a:t>
            </a:r>
          </a:p>
        </p:txBody>
      </p:sp>
      <p:sp>
        <p:nvSpPr>
          <p:cNvPr id="14" name="shape">
            <a:extLst xmlns:a="http://schemas.openxmlformats.org/drawingml/2006/main">
              <a:ext uri="{FF2B5EF4-FFF2-40B4-BE49-F238E27FC236}">
                <a16:creationId xmlns:a16="http://schemas.microsoft.com/office/drawing/2014/main" id="{F8674482-D640-4371-91E6-69C642CEB3DD}"/>
              </a:ext>
            </a:extLst>
          </p:cNvPr>
          <p:cNvSpPr>
            <a:spLocks xmlns:a="http://schemas.openxmlformats.org/drawingml/2006/main" noGrp="1"/>
          </p:cNvSpPr>
          <p:nvPr/>
        </p:nvSpPr>
        <p:spPr>
          <a:xfrm xmlns:a="http://schemas.openxmlformats.org/drawingml/2006/main">
            <a:off x="609600" y="47720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A4CF68CA-06C5-4DBD-AAA4-05AEABF5816B}"/>
              </a:ext>
            </a:extLst>
          </p:cNvPr>
          <p:cNvSpPr>
            <a:spLocks xmlns:a="http://schemas.openxmlformats.org/drawingml/2006/main" noGrp="1"/>
          </p:cNvSpPr>
          <p:nvPr/>
        </p:nvSpPr>
        <p:spPr>
          <a:xfrm xmlns:a="http://schemas.openxmlformats.org/drawingml/2006/main">
            <a:off x="609600" y="48768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Fewer redundant agent calls</a:t>
            </a:r>
          </a:p>
        </p:txBody>
      </p:sp>
      <p:sp>
        <p:nvSpPr>
          <p:cNvPr id="16" name="text">
            <a:extLst xmlns:a="http://schemas.openxmlformats.org/drawingml/2006/main">
              <a:ext uri="{FF2B5EF4-FFF2-40B4-BE49-F238E27FC236}">
                <a16:creationId xmlns:a16="http://schemas.microsoft.com/office/drawing/2014/main" id="{708E5A8C-7F40-4975-93ED-61AE74A88572}"/>
              </a:ext>
            </a:extLst>
          </p:cNvPr>
          <p:cNvSpPr>
            <a:spLocks xmlns:a="http://schemas.openxmlformats.org/drawingml/2006/main" noGrp="1"/>
          </p:cNvSpPr>
          <p:nvPr/>
        </p:nvSpPr>
        <p:spPr>
          <a:xfrm xmlns:a="http://schemas.openxmlformats.org/drawingml/2006/main">
            <a:off x="6096000" y="48768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No required dependency disappears</a:t>
            </a:r>
          </a:p>
        </p:txBody>
      </p:sp>
      <p:sp>
        <p:nvSpPr>
          <p:cNvPr id="17" name="shape">
            <a:extLst xmlns:a="http://schemas.openxmlformats.org/drawingml/2006/main">
              <a:ext uri="{FF2B5EF4-FFF2-40B4-BE49-F238E27FC236}">
                <a16:creationId xmlns:a16="http://schemas.microsoft.com/office/drawing/2014/main" id="{9EB11ADB-D84E-4A9E-94CF-271EEBFE7FD7}"/>
              </a:ext>
            </a:extLst>
          </p:cNvPr>
          <p:cNvSpPr>
            <a:spLocks xmlns:a="http://schemas.openxmlformats.org/drawingml/2006/main" noGrp="1"/>
          </p:cNvSpPr>
          <p:nvPr/>
        </p:nvSpPr>
        <p:spPr>
          <a:xfrm xmlns:a="http://schemas.openxmlformats.org/drawingml/2006/main">
            <a:off x="609600" y="54578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8" name="shape">
            <a:extLst xmlns:a="http://schemas.openxmlformats.org/drawingml/2006/main">
              <a:ext uri="{FF2B5EF4-FFF2-40B4-BE49-F238E27FC236}">
                <a16:creationId xmlns:a16="http://schemas.microsoft.com/office/drawing/2014/main" id="{EFF98B8E-D39D-40AF-9FD7-F0DFF4F2B58C}"/>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547EF6FD-9D2C-4FFA-80C7-356A5CB1BA15}"/>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20" name="text">
            <a:extLst xmlns:a="http://schemas.openxmlformats.org/drawingml/2006/main">
              <a:ext uri="{FF2B5EF4-FFF2-40B4-BE49-F238E27FC236}">
                <a16:creationId xmlns:a16="http://schemas.microsoft.com/office/drawing/2014/main" id="{AEF1CFD3-7274-4912-87DC-F243B54EA2C7}"/>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81</a:t>
            </a:r>
          </a:p>
        </p:txBody>
      </p:sp>
    </p:spTree>
    <p:extLst>
      <p:ext uri="{BB962C8B-B14F-4D97-AF65-F5344CB8AC3E}">
        <p14:creationId xmlns:p14="http://schemas.microsoft.com/office/powerpoint/2010/main" val="737496996"/>
      </p:ext>
    </p:extLst>
  </p:cSld>
</p:sld>
</file>

<file path=ppt/slides/slide82.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92461588-E2CC-4935-A99F-C4F687F7FDA7}"/>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DAY 2 · SESSION 7 · 90 MINUTES</a:t>
            </a:r>
          </a:p>
        </p:txBody>
      </p:sp>
      <p:sp>
        <p:nvSpPr>
          <p:cNvPr id="2" name="text">
            <a:extLst xmlns:a="http://schemas.openxmlformats.org/drawingml/2006/main">
              <a:ext uri="{FF2B5EF4-FFF2-40B4-BE49-F238E27FC236}">
                <a16:creationId xmlns:a16="http://schemas.microsoft.com/office/drawing/2014/main" id="{4D2F611C-63E2-4938-A9B0-E85B98F2C82D}"/>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Record the evidence for your improvement.</a:t>
            </a:r>
          </a:p>
        </p:txBody>
      </p:sp>
      <p:sp>
        <p:nvSpPr>
          <p:cNvPr id="3" name="text">
            <a:extLst xmlns:a="http://schemas.openxmlformats.org/drawingml/2006/main">
              <a:ext uri="{FF2B5EF4-FFF2-40B4-BE49-F238E27FC236}">
                <a16:creationId xmlns:a16="http://schemas.microsoft.com/office/drawing/2014/main" id="{187777A4-B643-447E-8961-78670A464276}"/>
              </a:ext>
            </a:extLst>
          </p:cNvPr>
          <p:cNvSpPr>
            <a:spLocks xmlns:a="http://schemas.openxmlformats.org/drawingml/2006/main" noGrp="1"/>
          </p:cNvSpPr>
          <p:nvPr/>
        </p:nvSpPr>
        <p:spPr>
          <a:xfrm xmlns:a="http://schemas.openxmlformats.org/drawingml/2006/main">
            <a:off x="609600" y="221932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01</a:t>
            </a:r>
          </a:p>
        </p:txBody>
      </p:sp>
      <p:sp>
        <p:nvSpPr>
          <p:cNvPr id="4" name="text">
            <a:extLst xmlns:a="http://schemas.openxmlformats.org/drawingml/2006/main">
              <a:ext uri="{FF2B5EF4-FFF2-40B4-BE49-F238E27FC236}">
                <a16:creationId xmlns:a16="http://schemas.microsoft.com/office/drawing/2014/main" id="{B2FD0017-EA88-4C82-A4AB-DFAC5F17668A}"/>
              </a:ext>
            </a:extLst>
          </p:cNvPr>
          <p:cNvSpPr>
            <a:spLocks xmlns:a="http://schemas.openxmlformats.org/drawingml/2006/main" noGrp="1"/>
          </p:cNvSpPr>
          <p:nvPr/>
        </p:nvSpPr>
        <p:spPr>
          <a:xfrm xmlns:a="http://schemas.openxmlformats.org/drawingml/2006/main">
            <a:off x="1314450" y="2190750"/>
            <a:ext cx="10267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Before: input, failure and affected decision.</a:t>
            </a:r>
          </a:p>
        </p:txBody>
      </p:sp>
      <p:sp>
        <p:nvSpPr>
          <p:cNvPr id="5" name="text">
            <a:extLst xmlns:a="http://schemas.openxmlformats.org/drawingml/2006/main">
              <a:ext uri="{FF2B5EF4-FFF2-40B4-BE49-F238E27FC236}">
                <a16:creationId xmlns:a16="http://schemas.microsoft.com/office/drawing/2014/main" id="{918A400E-BBA2-4DE3-B279-71AB1D3B04F2}"/>
              </a:ext>
            </a:extLst>
          </p:cNvPr>
          <p:cNvSpPr>
            <a:spLocks xmlns:a="http://schemas.openxmlformats.org/drawingml/2006/main" noGrp="1"/>
          </p:cNvSpPr>
          <p:nvPr/>
        </p:nvSpPr>
        <p:spPr>
          <a:xfrm xmlns:a="http://schemas.openxmlformats.org/drawingml/2006/main">
            <a:off x="609600" y="30480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02</a:t>
            </a:r>
          </a:p>
        </p:txBody>
      </p:sp>
      <p:sp>
        <p:nvSpPr>
          <p:cNvPr id="6" name="text">
            <a:extLst xmlns:a="http://schemas.openxmlformats.org/drawingml/2006/main">
              <a:ext uri="{FF2B5EF4-FFF2-40B4-BE49-F238E27FC236}">
                <a16:creationId xmlns:a16="http://schemas.microsoft.com/office/drawing/2014/main" id="{E18C121F-7079-4BDB-9109-ACBFBAF1C1B3}"/>
              </a:ext>
            </a:extLst>
          </p:cNvPr>
          <p:cNvSpPr>
            <a:spLocks xmlns:a="http://schemas.openxmlformats.org/drawingml/2006/main" noGrp="1"/>
          </p:cNvSpPr>
          <p:nvPr/>
        </p:nvSpPr>
        <p:spPr>
          <a:xfrm xmlns:a="http://schemas.openxmlformats.org/drawingml/2006/main">
            <a:off x="1314450" y="3019425"/>
            <a:ext cx="10267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Change: one prompt, tool, source or workflow edit.</a:t>
            </a:r>
          </a:p>
        </p:txBody>
      </p:sp>
      <p:sp>
        <p:nvSpPr>
          <p:cNvPr id="7" name="text">
            <a:extLst xmlns:a="http://schemas.openxmlformats.org/drawingml/2006/main">
              <a:ext uri="{FF2B5EF4-FFF2-40B4-BE49-F238E27FC236}">
                <a16:creationId xmlns:a16="http://schemas.microsoft.com/office/drawing/2014/main" id="{3DC90A27-F1CE-407A-9707-9B26E0204FAE}"/>
              </a:ext>
            </a:extLst>
          </p:cNvPr>
          <p:cNvSpPr>
            <a:spLocks xmlns:a="http://schemas.openxmlformats.org/drawingml/2006/main" noGrp="1"/>
          </p:cNvSpPr>
          <p:nvPr/>
        </p:nvSpPr>
        <p:spPr>
          <a:xfrm xmlns:a="http://schemas.openxmlformats.org/drawingml/2006/main">
            <a:off x="609600" y="387667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03</a:t>
            </a:r>
          </a:p>
        </p:txBody>
      </p:sp>
      <p:sp>
        <p:nvSpPr>
          <p:cNvPr id="8" name="text">
            <a:extLst xmlns:a="http://schemas.openxmlformats.org/drawingml/2006/main">
              <a:ext uri="{FF2B5EF4-FFF2-40B4-BE49-F238E27FC236}">
                <a16:creationId xmlns:a16="http://schemas.microsoft.com/office/drawing/2014/main" id="{B4673B6B-B8CB-4468-8E1F-3D81901E4A05}"/>
              </a:ext>
            </a:extLst>
          </p:cNvPr>
          <p:cNvSpPr>
            <a:spLocks xmlns:a="http://schemas.openxmlformats.org/drawingml/2006/main" noGrp="1"/>
          </p:cNvSpPr>
          <p:nvPr/>
        </p:nvSpPr>
        <p:spPr>
          <a:xfrm xmlns:a="http://schemas.openxmlformats.org/drawingml/2006/main">
            <a:off x="1314450" y="3848100"/>
            <a:ext cx="10267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After: repeat the same test and record the result.</a:t>
            </a:r>
          </a:p>
        </p:txBody>
      </p:sp>
      <p:sp>
        <p:nvSpPr>
          <p:cNvPr id="9" name="text">
            <a:extLst xmlns:a="http://schemas.openxmlformats.org/drawingml/2006/main">
              <a:ext uri="{FF2B5EF4-FFF2-40B4-BE49-F238E27FC236}">
                <a16:creationId xmlns:a16="http://schemas.microsoft.com/office/drawing/2014/main" id="{DB0AF271-42A8-4342-BB40-A4005026F366}"/>
              </a:ext>
            </a:extLst>
          </p:cNvPr>
          <p:cNvSpPr>
            <a:spLocks xmlns:a="http://schemas.openxmlformats.org/drawingml/2006/main" noGrp="1"/>
          </p:cNvSpPr>
          <p:nvPr/>
        </p:nvSpPr>
        <p:spPr>
          <a:xfrm xmlns:a="http://schemas.openxmlformats.org/drawingml/2006/main">
            <a:off x="609600" y="47053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04</a:t>
            </a:r>
          </a:p>
        </p:txBody>
      </p:sp>
      <p:sp>
        <p:nvSpPr>
          <p:cNvPr id="10" name="text">
            <a:extLst xmlns:a="http://schemas.openxmlformats.org/drawingml/2006/main">
              <a:ext uri="{FF2B5EF4-FFF2-40B4-BE49-F238E27FC236}">
                <a16:creationId xmlns:a16="http://schemas.microsoft.com/office/drawing/2014/main" id="{40ED4789-BA72-4B26-B7E4-B6711DB8F891}"/>
              </a:ext>
            </a:extLst>
          </p:cNvPr>
          <p:cNvSpPr>
            <a:spLocks xmlns:a="http://schemas.openxmlformats.org/drawingml/2006/main" noGrp="1"/>
          </p:cNvSpPr>
          <p:nvPr/>
        </p:nvSpPr>
        <p:spPr>
          <a:xfrm xmlns:a="http://schemas.openxmlformats.org/drawingml/2006/main">
            <a:off x="1314450" y="4676775"/>
            <a:ext cx="10267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Limit: state what remains unverified.</a:t>
            </a:r>
          </a:p>
        </p:txBody>
      </p:sp>
      <p:sp>
        <p:nvSpPr>
          <p:cNvPr id="11" name="shape">
            <a:extLst xmlns:a="http://schemas.openxmlformats.org/drawingml/2006/main">
              <a:ext uri="{FF2B5EF4-FFF2-40B4-BE49-F238E27FC236}">
                <a16:creationId xmlns:a16="http://schemas.microsoft.com/office/drawing/2014/main" id="{B75A6811-4033-48C5-8234-FD4EBA72C894}"/>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1DE1FBAC-49F1-40F8-91FE-DBCFB3512DBE}"/>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13" name="text">
            <a:extLst xmlns:a="http://schemas.openxmlformats.org/drawingml/2006/main">
              <a:ext uri="{FF2B5EF4-FFF2-40B4-BE49-F238E27FC236}">
                <a16:creationId xmlns:a16="http://schemas.microsoft.com/office/drawing/2014/main" id="{9B186DF1-4CCC-4F38-BE0D-90C55235C7BC}"/>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82</a:t>
            </a:r>
          </a:p>
        </p:txBody>
      </p:sp>
    </p:spTree>
    <p:extLst>
      <p:ext uri="{BB962C8B-B14F-4D97-AF65-F5344CB8AC3E}">
        <p14:creationId xmlns:p14="http://schemas.microsoft.com/office/powerpoint/2010/main" val="1440210152"/>
      </p:ext>
    </p:extLst>
  </p:cSld>
</p:sld>
</file>

<file path=ppt/slides/slide83.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9DE9053B-2165-4797-BA1A-D024620F391C}"/>
              </a:ext>
            </a:extLst>
          </p:cNvPr>
          <p:cNvSpPr>
            <a:spLocks xmlns:a="http://schemas.openxmlformats.org/drawingml/2006/main" noGrp="1"/>
          </p:cNvSpPr>
          <p:nvPr/>
        </p:nvSpPr>
        <p:spPr>
          <a:xfrm xmlns:a="http://schemas.openxmlformats.org/drawingml/2006/main">
            <a:off x="609600" y="4000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DAY 2 · SESSION 8 · 90 MINUTES</a:t>
            </a:r>
          </a:p>
        </p:txBody>
      </p:sp>
      <p:sp>
        <p:nvSpPr>
          <p:cNvPr id="2" name="text">
            <a:extLst xmlns:a="http://schemas.openxmlformats.org/drawingml/2006/main">
              <a:ext uri="{FF2B5EF4-FFF2-40B4-BE49-F238E27FC236}">
                <a16:creationId xmlns:a16="http://schemas.microsoft.com/office/drawing/2014/main" id="{80E7D061-41D7-4F18-8255-EC9D52231DAE}"/>
              </a:ext>
            </a:extLst>
          </p:cNvPr>
          <p:cNvSpPr>
            <a:spLocks xmlns:a="http://schemas.openxmlformats.org/drawingml/2006/main" noGrp="1"/>
          </p:cNvSpPr>
          <p:nvPr/>
        </p:nvSpPr>
        <p:spPr>
          <a:xfrm xmlns:a="http://schemas.openxmlformats.org/drawingml/2006/main">
            <a:off x="8096250" y="1143000"/>
            <a:ext cx="38100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250" b="1">
                <a:solidFill>
                  <a:srgbClr val="173946"/>
                </a:solidFill>
                <a:latin typeface="Aptos"/>
                <a:ea typeface="Aptos"/>
                <a:cs typeface="Aptos"/>
              </a:defRPr>
            </a:pPr>
            <a:r>
              <a:rPr sz="5250" b="1">
                <a:solidFill>
                  <a:srgbClr val="173946"/>
                </a:solidFill>
                <a:latin typeface="Aptos"/>
                <a:ea typeface="Aptos"/>
                <a:cs typeface="Aptos"/>
              </a:rPr>
              <a:t>SESSION</a:t>
            </a:r>
          </a:p>
          <a:p xmlns:a="http://schemas.openxmlformats.org/drawingml/2006/main">
            <a:pPr>
              <a:defRPr sz="5250" b="1">
                <a:solidFill>
                  <a:srgbClr val="173946"/>
                </a:solidFill>
                <a:latin typeface="Aptos"/>
                <a:ea typeface="Aptos"/>
                <a:cs typeface="Aptos"/>
              </a:defRPr>
            </a:pPr>
            <a:r>
              <a:rPr sz="5250" b="1">
                <a:solidFill>
                  <a:srgbClr val="173946"/>
                </a:solidFill>
                <a:latin typeface="Aptos"/>
                <a:ea typeface="Aptos"/>
                <a:cs typeface="Aptos"/>
              </a:rPr>
              <a:t>08</a:t>
            </a:r>
          </a:p>
        </p:txBody>
      </p:sp>
      <p:sp>
        <p:nvSpPr>
          <p:cNvPr id="3" name="text">
            <a:extLst xmlns:a="http://schemas.openxmlformats.org/drawingml/2006/main">
              <a:ext uri="{FF2B5EF4-FFF2-40B4-BE49-F238E27FC236}">
                <a16:creationId xmlns:a16="http://schemas.microsoft.com/office/drawing/2014/main" id="{F6CBBF3D-2D09-4091-A307-A25B3F03D040}"/>
              </a:ext>
            </a:extLst>
          </p:cNvPr>
          <p:cNvSpPr>
            <a:spLocks xmlns:a="http://schemas.openxmlformats.org/drawingml/2006/main" noGrp="1"/>
          </p:cNvSpPr>
          <p:nvPr/>
        </p:nvSpPr>
        <p:spPr>
          <a:xfrm xmlns:a="http://schemas.openxmlformats.org/drawingml/2006/main">
            <a:off x="609600" y="1438275"/>
            <a:ext cx="738187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650" b="1">
                <a:solidFill>
                  <a:srgbClr val="EDF5F1"/>
                </a:solidFill>
                <a:latin typeface="Aptos"/>
                <a:ea typeface="Aptos"/>
                <a:cs typeface="Aptos"/>
              </a:defRPr>
            </a:pPr>
            <a:r>
              <a:rPr sz="4650" b="1">
                <a:solidFill>
                  <a:srgbClr val="EDF5F1"/>
                </a:solidFill>
                <a:latin typeface="Aptos"/>
                <a:ea typeface="Aptos"/>
                <a:cs typeface="Aptos"/>
              </a:rPr>
              <a:t>Defend your launch decision.</a:t>
            </a:r>
          </a:p>
        </p:txBody>
      </p:sp>
      <p:sp>
        <p:nvSpPr>
          <p:cNvPr id="4" name="text">
            <a:extLst xmlns:a="http://schemas.openxmlformats.org/drawingml/2006/main">
              <a:ext uri="{FF2B5EF4-FFF2-40B4-BE49-F238E27FC236}">
                <a16:creationId xmlns:a16="http://schemas.microsoft.com/office/drawing/2014/main" id="{CD606D85-3395-448D-8879-AD77E5852FB3}"/>
              </a:ext>
            </a:extLst>
          </p:cNvPr>
          <p:cNvSpPr>
            <a:spLocks xmlns:a="http://schemas.openxmlformats.org/drawingml/2006/main" noGrp="1"/>
          </p:cNvSpPr>
          <p:nvPr/>
        </p:nvSpPr>
        <p:spPr>
          <a:xfrm xmlns:a="http://schemas.openxmlformats.org/drawingml/2006/main">
            <a:off x="609600" y="4000500"/>
            <a:ext cx="723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0">
                <a:solidFill>
                  <a:srgbClr val="61DFBF"/>
                </a:solidFill>
                <a:latin typeface="Aptos"/>
                <a:ea typeface="Aptos"/>
                <a:cs typeface="Aptos"/>
              </a:defRPr>
            </a:pPr>
            <a:r>
              <a:rPr sz="2475" b="0">
                <a:solidFill>
                  <a:srgbClr val="61DFBF"/>
                </a:solidFill>
                <a:latin typeface="Aptos"/>
                <a:ea typeface="Aptos"/>
                <a:cs typeface="Aptos"/>
              </a:rPr>
              <a:t>90 minutes to learn, build,</a:t>
            </a:r>
          </a:p>
          <a:p xmlns:a="http://schemas.openxmlformats.org/drawingml/2006/main">
            <a:pPr>
              <a:defRPr sz="2475" b="0">
                <a:solidFill>
                  <a:srgbClr val="61DFBF"/>
                </a:solidFill>
                <a:latin typeface="Aptos"/>
                <a:ea typeface="Aptos"/>
                <a:cs typeface="Aptos"/>
              </a:defRPr>
            </a:pPr>
            <a:r>
              <a:rPr sz="2475" b="0">
                <a:solidFill>
                  <a:srgbClr val="61DFBF"/>
                </a:solidFill>
                <a:latin typeface="Aptos"/>
                <a:ea typeface="Aptos"/>
                <a:cs typeface="Aptos"/>
              </a:rPr>
              <a:t>test and explain.</a:t>
            </a:r>
          </a:p>
        </p:txBody>
      </p:sp>
      <p:sp>
        <p:nvSpPr>
          <p:cNvPr id="5" name="text">
            <a:extLst xmlns:a="http://schemas.openxmlformats.org/drawingml/2006/main">
              <a:ext uri="{FF2B5EF4-FFF2-40B4-BE49-F238E27FC236}">
                <a16:creationId xmlns:a16="http://schemas.microsoft.com/office/drawing/2014/main" id="{99B4076A-AE2E-4A0B-929C-C7C60565B862}"/>
              </a:ext>
            </a:extLst>
          </p:cNvPr>
          <p:cNvSpPr>
            <a:spLocks xmlns:a="http://schemas.openxmlformats.org/drawingml/2006/main" noGrp="1"/>
          </p:cNvSpPr>
          <p:nvPr/>
        </p:nvSpPr>
        <p:spPr>
          <a:xfrm xmlns:a="http://schemas.openxmlformats.org/drawingml/2006/main">
            <a:off x="609600" y="58102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DFBF"/>
                </a:solidFill>
                <a:latin typeface="Aptos"/>
                <a:ea typeface="Aptos"/>
                <a:cs typeface="Aptos"/>
              </a:defRPr>
            </a:pPr>
            <a:r>
              <a:rPr sz="1800" b="0">
                <a:solidFill>
                  <a:srgbClr val="61DFBF"/>
                </a:solidFill>
                <a:latin typeface="Aptos"/>
                <a:ea typeface="Aptos"/>
                <a:cs typeface="Aptos"/>
              </a:rPr>
              <a:t>Deliverable: an assessed capstone package and individual reflection.</a:t>
            </a:r>
          </a:p>
        </p:txBody>
      </p:sp>
      <p:sp>
        <p:nvSpPr>
          <p:cNvPr id="6" name="shape">
            <a:extLst xmlns:a="http://schemas.openxmlformats.org/drawingml/2006/main">
              <a:ext uri="{FF2B5EF4-FFF2-40B4-BE49-F238E27FC236}">
                <a16:creationId xmlns:a16="http://schemas.microsoft.com/office/drawing/2014/main" id="{4754ABEF-0DBF-4505-8912-B16804BD74DB}"/>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91EF8E78-8A5D-4A91-B620-646359C9666D}"/>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8" name="text">
            <a:extLst xmlns:a="http://schemas.openxmlformats.org/drawingml/2006/main">
              <a:ext uri="{FF2B5EF4-FFF2-40B4-BE49-F238E27FC236}">
                <a16:creationId xmlns:a16="http://schemas.microsoft.com/office/drawing/2014/main" id="{9384D1EF-389B-46A3-8A73-A47D15FC86E5}"/>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83</a:t>
            </a:r>
          </a:p>
        </p:txBody>
      </p:sp>
    </p:spTree>
    <p:extLst>
      <p:ext uri="{BB962C8B-B14F-4D97-AF65-F5344CB8AC3E}">
        <p14:creationId xmlns:p14="http://schemas.microsoft.com/office/powerpoint/2010/main" val="986719369"/>
      </p:ext>
    </p:extLst>
  </p:cSld>
</p:sld>
</file>

<file path=ppt/slides/slide84.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26" name="text">
            <a:extLst xmlns:a="http://schemas.openxmlformats.org/drawingml/2006/main">
              <a:ext uri="{FF2B5EF4-FFF2-40B4-BE49-F238E27FC236}">
                <a16:creationId xmlns:a16="http://schemas.microsoft.com/office/drawing/2014/main" id="{3C33A7F9-F55B-409E-B74F-045E5B15CB6F}"/>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DAY 2 · SESSION 8 · 90 MINUTES</a:t>
            </a:r>
          </a:p>
        </p:txBody>
      </p:sp>
      <p:sp>
        <p:nvSpPr>
          <p:cNvPr id="2" name="text">
            <a:extLst xmlns:a="http://schemas.openxmlformats.org/drawingml/2006/main">
              <a:ext uri="{FF2B5EF4-FFF2-40B4-BE49-F238E27FC236}">
                <a16:creationId xmlns:a16="http://schemas.microsoft.com/office/drawing/2014/main" id="{4DD37A07-DC5D-4BCE-9F6B-F572ECB30672}"/>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Your outcome challenge starts here.</a:t>
            </a:r>
          </a:p>
        </p:txBody>
      </p:sp>
      <p:sp>
        <p:nvSpPr>
          <p:cNvPr id="3" name="text">
            <a:extLst xmlns:a="http://schemas.openxmlformats.org/drawingml/2006/main">
              <a:ext uri="{FF2B5EF4-FFF2-40B4-BE49-F238E27FC236}">
                <a16:creationId xmlns:a16="http://schemas.microsoft.com/office/drawing/2014/main" id="{56CCA850-C45D-4B3A-B6CD-488007C9AA8E}"/>
              </a:ext>
            </a:extLst>
          </p:cNvPr>
          <p:cNvSpPr>
            <a:spLocks xmlns:a="http://schemas.openxmlformats.org/drawingml/2006/main" noGrp="1"/>
          </p:cNvSpPr>
          <p:nvPr/>
        </p:nvSpPr>
        <p:spPr>
          <a:xfrm xmlns:a="http://schemas.openxmlformats.org/drawingml/2006/main">
            <a:off x="609600" y="2143125"/>
            <a:ext cx="1371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142C38"/>
                </a:solidFill>
                <a:latin typeface="Aptos"/>
                <a:ea typeface="Aptos"/>
                <a:cs typeface="Aptos"/>
              </a:defRPr>
            </a:pPr>
            <a:r>
              <a:rPr sz="1725" b="1">
                <a:solidFill>
                  <a:srgbClr val="142C38"/>
                </a:solidFill>
                <a:latin typeface="Aptos"/>
                <a:ea typeface="Aptos"/>
                <a:cs typeface="Aptos"/>
              </a:rPr>
              <a:t>00–10</a:t>
            </a:r>
          </a:p>
        </p:txBody>
      </p:sp>
      <p:sp>
        <p:nvSpPr>
          <p:cNvPr id="4" name="text">
            <a:extLst xmlns:a="http://schemas.openxmlformats.org/drawingml/2006/main">
              <a:ext uri="{FF2B5EF4-FFF2-40B4-BE49-F238E27FC236}">
                <a16:creationId xmlns:a16="http://schemas.microsoft.com/office/drawing/2014/main" id="{86417AAD-D864-47F8-85CB-AF70E776CE34}"/>
              </a:ext>
            </a:extLst>
          </p:cNvPr>
          <p:cNvSpPr>
            <a:spLocks xmlns:a="http://schemas.openxmlformats.org/drawingml/2006/main" noGrp="1"/>
          </p:cNvSpPr>
          <p:nvPr/>
        </p:nvSpPr>
        <p:spPr>
          <a:xfrm xmlns:a="http://schemas.openxmlformats.org/drawingml/2006/main">
            <a:off x="2190750" y="2143125"/>
            <a:ext cx="2686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42C38"/>
                </a:solidFill>
                <a:latin typeface="Aptos"/>
                <a:ea typeface="Aptos"/>
                <a:cs typeface="Aptos"/>
              </a:defRPr>
            </a:pPr>
            <a:r>
              <a:rPr sz="1725" b="0">
                <a:solidFill>
                  <a:srgbClr val="142C38"/>
                </a:solidFill>
                <a:latin typeface="Aptos"/>
                <a:ea typeface="Aptos"/>
                <a:cs typeface="Aptos"/>
              </a:rPr>
              <a:t>Interpret the change</a:t>
            </a:r>
          </a:p>
        </p:txBody>
      </p:sp>
      <p:sp>
        <p:nvSpPr>
          <p:cNvPr id="5" name="text">
            <a:extLst xmlns:a="http://schemas.openxmlformats.org/drawingml/2006/main">
              <a:ext uri="{FF2B5EF4-FFF2-40B4-BE49-F238E27FC236}">
                <a16:creationId xmlns:a16="http://schemas.microsoft.com/office/drawing/2014/main" id="{CB7CF75E-170A-49F4-AFCB-D9008155EB96}"/>
              </a:ext>
            </a:extLst>
          </p:cNvPr>
          <p:cNvSpPr>
            <a:spLocks xmlns:a="http://schemas.openxmlformats.org/drawingml/2006/main" noGrp="1"/>
          </p:cNvSpPr>
          <p:nvPr/>
        </p:nvSpPr>
        <p:spPr>
          <a:xfrm xmlns:a="http://schemas.openxmlformats.org/drawingml/2006/main">
            <a:off x="5086350" y="2143125"/>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42C38"/>
                </a:solidFill>
                <a:latin typeface="Aptos"/>
                <a:ea typeface="Aptos"/>
                <a:cs typeface="Aptos"/>
              </a:defRPr>
            </a:pPr>
            <a:r>
              <a:rPr sz="1725" b="0">
                <a:solidFill>
                  <a:srgbClr val="142C38"/>
                </a:solidFill>
                <a:latin typeface="Aptos"/>
                <a:ea typeface="Aptos"/>
                <a:cs typeface="Aptos"/>
              </a:rPr>
              <a:t>Assign owners and state the prediction</a:t>
            </a:r>
          </a:p>
        </p:txBody>
      </p:sp>
      <p:sp>
        <p:nvSpPr>
          <p:cNvPr id="6" name="shape">
            <a:extLst xmlns:a="http://schemas.openxmlformats.org/drawingml/2006/main">
              <a:ext uri="{FF2B5EF4-FFF2-40B4-BE49-F238E27FC236}">
                <a16:creationId xmlns:a16="http://schemas.microsoft.com/office/drawing/2014/main" id="{E4A12E82-6A1D-4D87-A856-A342543EE1D1}"/>
              </a:ext>
            </a:extLst>
          </p:cNvPr>
          <p:cNvSpPr>
            <a:spLocks xmlns:a="http://schemas.openxmlformats.org/drawingml/2006/main" noGrp="1"/>
          </p:cNvSpPr>
          <p:nvPr/>
        </p:nvSpPr>
        <p:spPr>
          <a:xfrm xmlns:a="http://schemas.openxmlformats.org/drawingml/2006/main">
            <a:off x="609600" y="25336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3D44FDF8-3BDA-4C3E-8A2F-AAE1BAF6FC85}"/>
              </a:ext>
            </a:extLst>
          </p:cNvPr>
          <p:cNvSpPr>
            <a:spLocks xmlns:a="http://schemas.openxmlformats.org/drawingml/2006/main" noGrp="1"/>
          </p:cNvSpPr>
          <p:nvPr/>
        </p:nvSpPr>
        <p:spPr>
          <a:xfrm xmlns:a="http://schemas.openxmlformats.org/drawingml/2006/main">
            <a:off x="609600" y="2638425"/>
            <a:ext cx="1371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142C38"/>
                </a:solidFill>
                <a:latin typeface="Aptos"/>
                <a:ea typeface="Aptos"/>
                <a:cs typeface="Aptos"/>
              </a:defRPr>
            </a:pPr>
            <a:r>
              <a:rPr sz="1725" b="1">
                <a:solidFill>
                  <a:srgbClr val="142C38"/>
                </a:solidFill>
                <a:latin typeface="Aptos"/>
                <a:ea typeface="Aptos"/>
                <a:cs typeface="Aptos"/>
              </a:rPr>
              <a:t>10–40</a:t>
            </a:r>
          </a:p>
        </p:txBody>
      </p:sp>
      <p:sp>
        <p:nvSpPr>
          <p:cNvPr id="8" name="text">
            <a:extLst xmlns:a="http://schemas.openxmlformats.org/drawingml/2006/main">
              <a:ext uri="{FF2B5EF4-FFF2-40B4-BE49-F238E27FC236}">
                <a16:creationId xmlns:a16="http://schemas.microsoft.com/office/drawing/2014/main" id="{30868D16-CDE7-4DEC-AAB6-A8FD9415E860}"/>
              </a:ext>
            </a:extLst>
          </p:cNvPr>
          <p:cNvSpPr>
            <a:spLocks xmlns:a="http://schemas.openxmlformats.org/drawingml/2006/main" noGrp="1"/>
          </p:cNvSpPr>
          <p:nvPr/>
        </p:nvSpPr>
        <p:spPr>
          <a:xfrm xmlns:a="http://schemas.openxmlformats.org/drawingml/2006/main">
            <a:off x="2190750" y="2638425"/>
            <a:ext cx="2686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42C38"/>
                </a:solidFill>
                <a:latin typeface="Aptos"/>
                <a:ea typeface="Aptos"/>
                <a:cs typeface="Aptos"/>
              </a:defRPr>
            </a:pPr>
            <a:r>
              <a:rPr sz="1725" b="0">
                <a:solidFill>
                  <a:srgbClr val="142C38"/>
                </a:solidFill>
                <a:latin typeface="Aptos"/>
                <a:ea typeface="Aptos"/>
                <a:cs typeface="Aptos"/>
              </a:rPr>
              <a:t>Adapt and run</a:t>
            </a:r>
          </a:p>
        </p:txBody>
      </p:sp>
      <p:sp>
        <p:nvSpPr>
          <p:cNvPr id="9" name="text">
            <a:extLst xmlns:a="http://schemas.openxmlformats.org/drawingml/2006/main">
              <a:ext uri="{FF2B5EF4-FFF2-40B4-BE49-F238E27FC236}">
                <a16:creationId xmlns:a16="http://schemas.microsoft.com/office/drawing/2014/main" id="{796493DB-9BD5-48EC-BDA1-6D433CF9D3E3}"/>
              </a:ext>
            </a:extLst>
          </p:cNvPr>
          <p:cNvSpPr>
            <a:spLocks xmlns:a="http://schemas.openxmlformats.org/drawingml/2006/main" noGrp="1"/>
          </p:cNvSpPr>
          <p:nvPr/>
        </p:nvSpPr>
        <p:spPr>
          <a:xfrm xmlns:a="http://schemas.openxmlformats.org/drawingml/2006/main">
            <a:off x="5086350" y="2638425"/>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42C38"/>
                </a:solidFill>
                <a:latin typeface="Aptos"/>
                <a:ea typeface="Aptos"/>
                <a:cs typeface="Aptos"/>
              </a:defRPr>
            </a:pPr>
            <a:r>
              <a:rPr sz="1725" b="0">
                <a:solidFill>
                  <a:srgbClr val="142C38"/>
                </a:solidFill>
                <a:latin typeface="Aptos"/>
                <a:ea typeface="Aptos"/>
                <a:cs typeface="Aptos"/>
              </a:rPr>
              <a:t>Change inputs, instructions or tested rules</a:t>
            </a:r>
          </a:p>
        </p:txBody>
      </p:sp>
      <p:sp>
        <p:nvSpPr>
          <p:cNvPr id="10" name="shape">
            <a:extLst xmlns:a="http://schemas.openxmlformats.org/drawingml/2006/main">
              <a:ext uri="{FF2B5EF4-FFF2-40B4-BE49-F238E27FC236}">
                <a16:creationId xmlns:a16="http://schemas.microsoft.com/office/drawing/2014/main" id="{A49904DE-967B-49AC-A00C-908FE225CD0C}"/>
              </a:ext>
            </a:extLst>
          </p:cNvPr>
          <p:cNvSpPr>
            <a:spLocks xmlns:a="http://schemas.openxmlformats.org/drawingml/2006/main" noGrp="1"/>
          </p:cNvSpPr>
          <p:nvPr/>
        </p:nvSpPr>
        <p:spPr>
          <a:xfrm xmlns:a="http://schemas.openxmlformats.org/drawingml/2006/main">
            <a:off x="609600" y="30289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1EA00618-8F3C-4B02-BBF9-0F83E026F6C9}"/>
              </a:ext>
            </a:extLst>
          </p:cNvPr>
          <p:cNvSpPr>
            <a:spLocks xmlns:a="http://schemas.openxmlformats.org/drawingml/2006/main" noGrp="1"/>
          </p:cNvSpPr>
          <p:nvPr/>
        </p:nvSpPr>
        <p:spPr>
          <a:xfrm xmlns:a="http://schemas.openxmlformats.org/drawingml/2006/main">
            <a:off x="609600" y="3133725"/>
            <a:ext cx="1371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142C38"/>
                </a:solidFill>
                <a:latin typeface="Aptos"/>
                <a:ea typeface="Aptos"/>
                <a:cs typeface="Aptos"/>
              </a:defRPr>
            </a:pPr>
            <a:r>
              <a:rPr sz="1725" b="1">
                <a:solidFill>
                  <a:srgbClr val="142C38"/>
                </a:solidFill>
                <a:latin typeface="Aptos"/>
                <a:ea typeface="Aptos"/>
                <a:cs typeface="Aptos"/>
              </a:rPr>
              <a:t>40–50</a:t>
            </a:r>
          </a:p>
        </p:txBody>
      </p:sp>
      <p:sp>
        <p:nvSpPr>
          <p:cNvPr id="12" name="text">
            <a:extLst xmlns:a="http://schemas.openxmlformats.org/drawingml/2006/main">
              <a:ext uri="{FF2B5EF4-FFF2-40B4-BE49-F238E27FC236}">
                <a16:creationId xmlns:a16="http://schemas.microsoft.com/office/drawing/2014/main" id="{911EE443-DF7A-4A37-9ED0-503F43FE0A1C}"/>
              </a:ext>
            </a:extLst>
          </p:cNvPr>
          <p:cNvSpPr>
            <a:spLocks xmlns:a="http://schemas.openxmlformats.org/drawingml/2006/main" noGrp="1"/>
          </p:cNvSpPr>
          <p:nvPr/>
        </p:nvSpPr>
        <p:spPr>
          <a:xfrm xmlns:a="http://schemas.openxmlformats.org/drawingml/2006/main">
            <a:off x="2190750" y="3133725"/>
            <a:ext cx="2686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42C38"/>
                </a:solidFill>
                <a:latin typeface="Aptos"/>
                <a:ea typeface="Aptos"/>
                <a:cs typeface="Aptos"/>
              </a:defRPr>
            </a:pPr>
            <a:r>
              <a:rPr sz="1725" b="0">
                <a:solidFill>
                  <a:srgbClr val="142C38"/>
                </a:solidFill>
                <a:latin typeface="Aptos"/>
                <a:ea typeface="Aptos"/>
                <a:cs typeface="Aptos"/>
              </a:rPr>
              <a:t>Check evidence</a:t>
            </a:r>
          </a:p>
        </p:txBody>
      </p:sp>
      <p:sp>
        <p:nvSpPr>
          <p:cNvPr id="13" name="text">
            <a:extLst xmlns:a="http://schemas.openxmlformats.org/drawingml/2006/main">
              <a:ext uri="{FF2B5EF4-FFF2-40B4-BE49-F238E27FC236}">
                <a16:creationId xmlns:a16="http://schemas.microsoft.com/office/drawing/2014/main" id="{29D0C0DC-E930-4BB7-BDB4-39BC5011D294}"/>
              </a:ext>
            </a:extLst>
          </p:cNvPr>
          <p:cNvSpPr>
            <a:spLocks xmlns:a="http://schemas.openxmlformats.org/drawingml/2006/main" noGrp="1"/>
          </p:cNvSpPr>
          <p:nvPr/>
        </p:nvSpPr>
        <p:spPr>
          <a:xfrm xmlns:a="http://schemas.openxmlformats.org/drawingml/2006/main">
            <a:off x="5086350" y="3133725"/>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42C38"/>
                </a:solidFill>
                <a:latin typeface="Aptos"/>
                <a:ea typeface="Aptos"/>
                <a:cs typeface="Aptos"/>
              </a:defRPr>
            </a:pPr>
            <a:r>
              <a:rPr sz="1725" b="0">
                <a:solidFill>
                  <a:srgbClr val="142C38"/>
                </a:solidFill>
                <a:latin typeface="Aptos"/>
                <a:ea typeface="Aptos"/>
                <a:cs typeface="Aptos"/>
              </a:rPr>
              <a:t>Verify figures, sources, gates and uncertainty</a:t>
            </a:r>
          </a:p>
        </p:txBody>
      </p:sp>
      <p:sp>
        <p:nvSpPr>
          <p:cNvPr id="14" name="shape">
            <a:extLst xmlns:a="http://schemas.openxmlformats.org/drawingml/2006/main">
              <a:ext uri="{FF2B5EF4-FFF2-40B4-BE49-F238E27FC236}">
                <a16:creationId xmlns:a16="http://schemas.microsoft.com/office/drawing/2014/main" id="{50C323E1-0D18-4D22-BEA2-0E8BD787F7F3}"/>
              </a:ext>
            </a:extLst>
          </p:cNvPr>
          <p:cNvSpPr>
            <a:spLocks xmlns:a="http://schemas.openxmlformats.org/drawingml/2006/main" noGrp="1"/>
          </p:cNvSpPr>
          <p:nvPr/>
        </p:nvSpPr>
        <p:spPr>
          <a:xfrm xmlns:a="http://schemas.openxmlformats.org/drawingml/2006/main">
            <a:off x="609600" y="35242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EE385247-DB85-49A7-84C0-27CDE09A02A7}"/>
              </a:ext>
            </a:extLst>
          </p:cNvPr>
          <p:cNvSpPr>
            <a:spLocks xmlns:a="http://schemas.openxmlformats.org/drawingml/2006/main" noGrp="1"/>
          </p:cNvSpPr>
          <p:nvPr/>
        </p:nvSpPr>
        <p:spPr>
          <a:xfrm xmlns:a="http://schemas.openxmlformats.org/drawingml/2006/main">
            <a:off x="609600" y="3629025"/>
            <a:ext cx="1371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142C38"/>
                </a:solidFill>
                <a:latin typeface="Aptos"/>
                <a:ea typeface="Aptos"/>
                <a:cs typeface="Aptos"/>
              </a:defRPr>
            </a:pPr>
            <a:r>
              <a:rPr sz="1725" b="1">
                <a:solidFill>
                  <a:srgbClr val="142C38"/>
                </a:solidFill>
                <a:latin typeface="Aptos"/>
                <a:ea typeface="Aptos"/>
                <a:cs typeface="Aptos"/>
              </a:rPr>
              <a:t>50–80</a:t>
            </a:r>
          </a:p>
        </p:txBody>
      </p:sp>
      <p:sp>
        <p:nvSpPr>
          <p:cNvPr id="16" name="text">
            <a:extLst xmlns:a="http://schemas.openxmlformats.org/drawingml/2006/main">
              <a:ext uri="{FF2B5EF4-FFF2-40B4-BE49-F238E27FC236}">
                <a16:creationId xmlns:a16="http://schemas.microsoft.com/office/drawing/2014/main" id="{0DDAF232-C236-4030-8FB8-B266E942901D}"/>
              </a:ext>
            </a:extLst>
          </p:cNvPr>
          <p:cNvSpPr>
            <a:spLocks xmlns:a="http://schemas.openxmlformats.org/drawingml/2006/main" noGrp="1"/>
          </p:cNvSpPr>
          <p:nvPr/>
        </p:nvSpPr>
        <p:spPr>
          <a:xfrm xmlns:a="http://schemas.openxmlformats.org/drawingml/2006/main">
            <a:off x="2190750" y="3629025"/>
            <a:ext cx="2686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42C38"/>
                </a:solidFill>
                <a:latin typeface="Aptos"/>
                <a:ea typeface="Aptos"/>
                <a:cs typeface="Aptos"/>
              </a:defRPr>
            </a:pPr>
            <a:r>
              <a:rPr sz="1725" b="0">
                <a:solidFill>
                  <a:srgbClr val="142C38"/>
                </a:solidFill>
                <a:latin typeface="Aptos"/>
                <a:ea typeface="Aptos"/>
                <a:cs typeface="Aptos"/>
              </a:rPr>
              <a:t>Showcase</a:t>
            </a:r>
          </a:p>
        </p:txBody>
      </p:sp>
      <p:sp>
        <p:nvSpPr>
          <p:cNvPr id="17" name="text">
            <a:extLst xmlns:a="http://schemas.openxmlformats.org/drawingml/2006/main">
              <a:ext uri="{FF2B5EF4-FFF2-40B4-BE49-F238E27FC236}">
                <a16:creationId xmlns:a16="http://schemas.microsoft.com/office/drawing/2014/main" id="{4F7D2A4F-6396-4480-A478-4586EF735C9D}"/>
              </a:ext>
            </a:extLst>
          </p:cNvPr>
          <p:cNvSpPr>
            <a:spLocks xmlns:a="http://schemas.openxmlformats.org/drawingml/2006/main" noGrp="1"/>
          </p:cNvSpPr>
          <p:nvPr/>
        </p:nvSpPr>
        <p:spPr>
          <a:xfrm xmlns:a="http://schemas.openxmlformats.org/drawingml/2006/main">
            <a:off x="5086350" y="3629025"/>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42C38"/>
                </a:solidFill>
                <a:latin typeface="Aptos"/>
                <a:ea typeface="Aptos"/>
                <a:cs typeface="Aptos"/>
              </a:defRPr>
            </a:pPr>
            <a:r>
              <a:rPr sz="1725" b="0">
                <a:solidFill>
                  <a:srgbClr val="142C38"/>
                </a:solidFill>
                <a:latin typeface="Aptos"/>
                <a:ea typeface="Aptos"/>
                <a:cs typeface="Aptos"/>
              </a:rPr>
              <a:t>Selected teams: five minutes each</a:t>
            </a:r>
          </a:p>
        </p:txBody>
      </p:sp>
      <p:sp>
        <p:nvSpPr>
          <p:cNvPr id="18" name="shape">
            <a:extLst xmlns:a="http://schemas.openxmlformats.org/drawingml/2006/main">
              <a:ext uri="{FF2B5EF4-FFF2-40B4-BE49-F238E27FC236}">
                <a16:creationId xmlns:a16="http://schemas.microsoft.com/office/drawing/2014/main" id="{9A62AD27-18B9-43E5-A14A-08F33FC2F7CC}"/>
              </a:ext>
            </a:extLst>
          </p:cNvPr>
          <p:cNvSpPr>
            <a:spLocks xmlns:a="http://schemas.openxmlformats.org/drawingml/2006/main" noGrp="1"/>
          </p:cNvSpPr>
          <p:nvPr/>
        </p:nvSpPr>
        <p:spPr>
          <a:xfrm xmlns:a="http://schemas.openxmlformats.org/drawingml/2006/main">
            <a:off x="609600" y="40195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B4A825CC-3C96-4313-9FCC-8EBA39060670}"/>
              </a:ext>
            </a:extLst>
          </p:cNvPr>
          <p:cNvSpPr>
            <a:spLocks xmlns:a="http://schemas.openxmlformats.org/drawingml/2006/main" noGrp="1"/>
          </p:cNvSpPr>
          <p:nvPr/>
        </p:nvSpPr>
        <p:spPr>
          <a:xfrm xmlns:a="http://schemas.openxmlformats.org/drawingml/2006/main">
            <a:off x="609600" y="4124325"/>
            <a:ext cx="1371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142C38"/>
                </a:solidFill>
                <a:latin typeface="Aptos"/>
                <a:ea typeface="Aptos"/>
                <a:cs typeface="Aptos"/>
              </a:defRPr>
            </a:pPr>
            <a:r>
              <a:rPr sz="1725" b="1">
                <a:solidFill>
                  <a:srgbClr val="142C38"/>
                </a:solidFill>
                <a:latin typeface="Aptos"/>
                <a:ea typeface="Aptos"/>
                <a:cs typeface="Aptos"/>
              </a:rPr>
              <a:t>80–90</a:t>
            </a:r>
          </a:p>
        </p:txBody>
      </p:sp>
      <p:sp>
        <p:nvSpPr>
          <p:cNvPr id="20" name="text">
            <a:extLst xmlns:a="http://schemas.openxmlformats.org/drawingml/2006/main">
              <a:ext uri="{FF2B5EF4-FFF2-40B4-BE49-F238E27FC236}">
                <a16:creationId xmlns:a16="http://schemas.microsoft.com/office/drawing/2014/main" id="{3225A401-1ABB-45E9-8D1F-D6CCE4797962}"/>
              </a:ext>
            </a:extLst>
          </p:cNvPr>
          <p:cNvSpPr>
            <a:spLocks xmlns:a="http://schemas.openxmlformats.org/drawingml/2006/main" noGrp="1"/>
          </p:cNvSpPr>
          <p:nvPr/>
        </p:nvSpPr>
        <p:spPr>
          <a:xfrm xmlns:a="http://schemas.openxmlformats.org/drawingml/2006/main">
            <a:off x="2190750" y="4124325"/>
            <a:ext cx="2686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42C38"/>
                </a:solidFill>
                <a:latin typeface="Aptos"/>
                <a:ea typeface="Aptos"/>
                <a:cs typeface="Aptos"/>
              </a:defRPr>
            </a:pPr>
            <a:r>
              <a:rPr sz="1725" b="0">
                <a:solidFill>
                  <a:srgbClr val="142C38"/>
                </a:solidFill>
                <a:latin typeface="Aptos"/>
                <a:ea typeface="Aptos"/>
                <a:cs typeface="Aptos"/>
              </a:rPr>
              <a:t>Reflect</a:t>
            </a:r>
          </a:p>
        </p:txBody>
      </p:sp>
      <p:sp>
        <p:nvSpPr>
          <p:cNvPr id="21" name="text">
            <a:extLst xmlns:a="http://schemas.openxmlformats.org/drawingml/2006/main">
              <a:ext uri="{FF2B5EF4-FFF2-40B4-BE49-F238E27FC236}">
                <a16:creationId xmlns:a16="http://schemas.microsoft.com/office/drawing/2014/main" id="{78BE0A9F-ABBA-44BB-91EF-25DE98F1EB2B}"/>
              </a:ext>
            </a:extLst>
          </p:cNvPr>
          <p:cNvSpPr>
            <a:spLocks xmlns:a="http://schemas.openxmlformats.org/drawingml/2006/main" noGrp="1"/>
          </p:cNvSpPr>
          <p:nvPr/>
        </p:nvSpPr>
        <p:spPr>
          <a:xfrm xmlns:a="http://schemas.openxmlformats.org/drawingml/2006/main">
            <a:off x="5086350" y="4124325"/>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42C38"/>
                </a:solidFill>
                <a:latin typeface="Aptos"/>
                <a:ea typeface="Aptos"/>
                <a:cs typeface="Aptos"/>
              </a:defRPr>
            </a:pPr>
            <a:r>
              <a:rPr sz="1725" b="0">
                <a:solidFill>
                  <a:srgbClr val="142C38"/>
                </a:solidFill>
                <a:latin typeface="Aptos"/>
                <a:ea typeface="Aptos"/>
                <a:cs typeface="Aptos"/>
              </a:rPr>
              <a:t>Peer score and record one next improvement</a:t>
            </a:r>
          </a:p>
        </p:txBody>
      </p:sp>
      <p:sp>
        <p:nvSpPr>
          <p:cNvPr id="22" name="shape">
            <a:extLst xmlns:a="http://schemas.openxmlformats.org/drawingml/2006/main">
              <a:ext uri="{FF2B5EF4-FFF2-40B4-BE49-F238E27FC236}">
                <a16:creationId xmlns:a16="http://schemas.microsoft.com/office/drawing/2014/main" id="{9ED5733D-9032-4D82-ADA9-5215B14DA725}"/>
              </a:ext>
            </a:extLst>
          </p:cNvPr>
          <p:cNvSpPr>
            <a:spLocks xmlns:a="http://schemas.openxmlformats.org/drawingml/2006/main" noGrp="1"/>
          </p:cNvSpPr>
          <p:nvPr/>
        </p:nvSpPr>
        <p:spPr>
          <a:xfrm xmlns:a="http://schemas.openxmlformats.org/drawingml/2006/main">
            <a:off x="609600" y="45148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23" name="shape">
            <a:extLst xmlns:a="http://schemas.openxmlformats.org/drawingml/2006/main">
              <a:ext uri="{FF2B5EF4-FFF2-40B4-BE49-F238E27FC236}">
                <a16:creationId xmlns:a16="http://schemas.microsoft.com/office/drawing/2014/main" id="{7595F3A7-4E5A-4ECA-AD11-98475DE866BE}"/>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4372EA36-F289-41AB-9DCD-A1A96B9F8846}"/>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25" name="text">
            <a:extLst xmlns:a="http://schemas.openxmlformats.org/drawingml/2006/main">
              <a:ext uri="{FF2B5EF4-FFF2-40B4-BE49-F238E27FC236}">
                <a16:creationId xmlns:a16="http://schemas.microsoft.com/office/drawing/2014/main" id="{2B7D851A-625C-4788-A06C-B11987F0E29B}"/>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84</a:t>
            </a:r>
          </a:p>
        </p:txBody>
      </p:sp>
    </p:spTree>
    <p:extLst>
      <p:ext uri="{BB962C8B-B14F-4D97-AF65-F5344CB8AC3E}">
        <p14:creationId xmlns:p14="http://schemas.microsoft.com/office/powerpoint/2010/main" val="220608452"/>
      </p:ext>
    </p:extLst>
  </p:cSld>
</p:sld>
</file>

<file path=ppt/slides/slide85.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3" name="text">
            <a:extLst xmlns:a="http://schemas.openxmlformats.org/drawingml/2006/main">
              <a:ext uri="{FF2B5EF4-FFF2-40B4-BE49-F238E27FC236}">
                <a16:creationId xmlns:a16="http://schemas.microsoft.com/office/drawing/2014/main" id="{15F63638-D7B2-4578-8B5B-EB63A4ABAE4A}"/>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DAY 2 · SESSION 8 · 90 MINUTES</a:t>
            </a:r>
          </a:p>
        </p:txBody>
      </p:sp>
      <p:sp>
        <p:nvSpPr>
          <p:cNvPr id="2" name="text">
            <a:extLst xmlns:a="http://schemas.openxmlformats.org/drawingml/2006/main">
              <a:ext uri="{FF2B5EF4-FFF2-40B4-BE49-F238E27FC236}">
                <a16:creationId xmlns:a16="http://schemas.microsoft.com/office/drawing/2014/main" id="{980CB816-84B9-41F2-A928-9E0F28EF9866}"/>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Inject a shock. Keep the base facts visible.</a:t>
            </a:r>
          </a:p>
        </p:txBody>
      </p:sp>
      <p:sp>
        <p:nvSpPr>
          <p:cNvPr id="3" name="text">
            <a:extLst xmlns:a="http://schemas.openxmlformats.org/drawingml/2006/main">
              <a:ext uri="{FF2B5EF4-FFF2-40B4-BE49-F238E27FC236}">
                <a16:creationId xmlns:a16="http://schemas.microsoft.com/office/drawing/2014/main" id="{0D6617B3-BB97-4AEC-833E-4E2FA5FBD250}"/>
              </a:ext>
            </a:extLst>
          </p:cNvPr>
          <p:cNvSpPr>
            <a:spLocks xmlns:a="http://schemas.openxmlformats.org/drawingml/2006/main" noGrp="1"/>
          </p:cNvSpPr>
          <p:nvPr/>
        </p:nvSpPr>
        <p:spPr>
          <a:xfrm xmlns:a="http://schemas.openxmlformats.org/drawingml/2006/main">
            <a:off x="609600" y="2524125"/>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01 · START</a:t>
            </a:r>
          </a:p>
        </p:txBody>
      </p:sp>
      <p:sp>
        <p:nvSpPr>
          <p:cNvPr id="4" name="text">
            <a:extLst xmlns:a="http://schemas.openxmlformats.org/drawingml/2006/main">
              <a:ext uri="{FF2B5EF4-FFF2-40B4-BE49-F238E27FC236}">
                <a16:creationId xmlns:a16="http://schemas.microsoft.com/office/drawing/2014/main" id="{AC912B1E-F0F1-43C6-BEA8-6340A5EA23C4}"/>
              </a:ext>
            </a:extLst>
          </p:cNvPr>
          <p:cNvSpPr>
            <a:spLocks xmlns:a="http://schemas.openxmlformats.org/drawingml/2006/main" noGrp="1"/>
          </p:cNvSpPr>
          <p:nvPr/>
        </p:nvSpPr>
        <p:spPr>
          <a:xfrm xmlns:a="http://schemas.openxmlformats.org/drawingml/2006/main">
            <a:off x="609600" y="3114675"/>
            <a:ext cx="345757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142C38"/>
                </a:solidFill>
                <a:latin typeface="Aptos"/>
                <a:ea typeface="Aptos"/>
                <a:cs typeface="Aptos"/>
              </a:defRPr>
            </a:pPr>
            <a:r>
              <a:rPr sz="3150" b="1">
                <a:solidFill>
                  <a:srgbClr val="142C38"/>
                </a:solidFill>
                <a:latin typeface="Aptos"/>
                <a:ea typeface="Aptos"/>
                <a:cs typeface="Aptos"/>
              </a:rPr>
              <a:t>Budget ₹24 lakh</a:t>
            </a:r>
          </a:p>
        </p:txBody>
      </p:sp>
      <p:sp>
        <p:nvSpPr>
          <p:cNvPr id="5" name="text">
            <a:extLst xmlns:a="http://schemas.openxmlformats.org/drawingml/2006/main">
              <a:ext uri="{FF2B5EF4-FFF2-40B4-BE49-F238E27FC236}">
                <a16:creationId xmlns:a16="http://schemas.microsoft.com/office/drawing/2014/main" id="{05F4E169-3822-495C-9C48-C9734EE6D8AC}"/>
              </a:ext>
            </a:extLst>
          </p:cNvPr>
          <p:cNvSpPr>
            <a:spLocks xmlns:a="http://schemas.openxmlformats.org/drawingml/2006/main" noGrp="1"/>
          </p:cNvSpPr>
          <p:nvPr/>
        </p:nvSpPr>
        <p:spPr>
          <a:xfrm xmlns:a="http://schemas.openxmlformats.org/drawingml/2006/main">
            <a:off x="4314825" y="2524125"/>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02 · CHANGE</a:t>
            </a:r>
          </a:p>
        </p:txBody>
      </p:sp>
      <p:sp>
        <p:nvSpPr>
          <p:cNvPr id="6" name="text">
            <a:extLst xmlns:a="http://schemas.openxmlformats.org/drawingml/2006/main">
              <a:ext uri="{FF2B5EF4-FFF2-40B4-BE49-F238E27FC236}">
                <a16:creationId xmlns:a16="http://schemas.microsoft.com/office/drawing/2014/main" id="{985E95B6-3B7A-4658-ABC7-2E35F573DE2A}"/>
              </a:ext>
            </a:extLst>
          </p:cNvPr>
          <p:cNvSpPr>
            <a:spLocks xmlns:a="http://schemas.openxmlformats.org/drawingml/2006/main" noGrp="1"/>
          </p:cNvSpPr>
          <p:nvPr/>
        </p:nvSpPr>
        <p:spPr>
          <a:xfrm xmlns:a="http://schemas.openxmlformats.org/drawingml/2006/main">
            <a:off x="4314825" y="3114675"/>
            <a:ext cx="345757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142C38"/>
                </a:solidFill>
                <a:latin typeface="Aptos"/>
                <a:ea typeface="Aptos"/>
                <a:cs typeface="Aptos"/>
              </a:defRPr>
            </a:pPr>
            <a:r>
              <a:rPr sz="3150" b="1">
                <a:solidFill>
                  <a:srgbClr val="142C38"/>
                </a:solidFill>
                <a:latin typeface="Aptos"/>
                <a:ea typeface="Aptos"/>
                <a:cs typeface="Aptos"/>
              </a:rPr>
              <a:t>Cut by 25%</a:t>
            </a:r>
          </a:p>
        </p:txBody>
      </p:sp>
      <p:sp>
        <p:nvSpPr>
          <p:cNvPr id="7" name="text">
            <a:extLst xmlns:a="http://schemas.openxmlformats.org/drawingml/2006/main">
              <a:ext uri="{FF2B5EF4-FFF2-40B4-BE49-F238E27FC236}">
                <a16:creationId xmlns:a16="http://schemas.microsoft.com/office/drawing/2014/main" id="{12167D4D-6959-472B-9782-2356A30DD41E}"/>
              </a:ext>
            </a:extLst>
          </p:cNvPr>
          <p:cNvSpPr>
            <a:spLocks xmlns:a="http://schemas.openxmlformats.org/drawingml/2006/main" noGrp="1"/>
          </p:cNvSpPr>
          <p:nvPr/>
        </p:nvSpPr>
        <p:spPr>
          <a:xfrm xmlns:a="http://schemas.openxmlformats.org/drawingml/2006/main">
            <a:off x="8020050" y="2524125"/>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03 · CHECK</a:t>
            </a:r>
          </a:p>
        </p:txBody>
      </p:sp>
      <p:sp>
        <p:nvSpPr>
          <p:cNvPr id="8" name="text">
            <a:extLst xmlns:a="http://schemas.openxmlformats.org/drawingml/2006/main">
              <a:ext uri="{FF2B5EF4-FFF2-40B4-BE49-F238E27FC236}">
                <a16:creationId xmlns:a16="http://schemas.microsoft.com/office/drawing/2014/main" id="{ADAAB59D-1BDE-4EF3-97AE-016B75F380B3}"/>
              </a:ext>
            </a:extLst>
          </p:cNvPr>
          <p:cNvSpPr>
            <a:spLocks xmlns:a="http://schemas.openxmlformats.org/drawingml/2006/main" noGrp="1"/>
          </p:cNvSpPr>
          <p:nvPr/>
        </p:nvSpPr>
        <p:spPr>
          <a:xfrm xmlns:a="http://schemas.openxmlformats.org/drawingml/2006/main">
            <a:off x="8020050" y="3114675"/>
            <a:ext cx="345757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142C38"/>
                </a:solidFill>
                <a:latin typeface="Aptos"/>
                <a:ea typeface="Aptos"/>
                <a:cs typeface="Aptos"/>
              </a:defRPr>
            </a:pPr>
            <a:r>
              <a:rPr sz="3150" b="1">
                <a:solidFill>
                  <a:srgbClr val="142C38"/>
                </a:solidFill>
                <a:latin typeface="Aptos"/>
                <a:ea typeface="Aptos"/>
                <a:cs typeface="Aptos"/>
              </a:rPr>
              <a:t>Budget ₹18 lakh</a:t>
            </a:r>
          </a:p>
        </p:txBody>
      </p:sp>
      <p:sp>
        <p:nvSpPr>
          <p:cNvPr id="9" name="text">
            <a:extLst xmlns:a="http://schemas.openxmlformats.org/drawingml/2006/main">
              <a:ext uri="{FF2B5EF4-FFF2-40B4-BE49-F238E27FC236}">
                <a16:creationId xmlns:a16="http://schemas.microsoft.com/office/drawing/2014/main" id="{75A85A8F-B65F-42DC-98B9-13ACFC7CDC47}"/>
              </a:ext>
            </a:extLst>
          </p:cNvPr>
          <p:cNvSpPr>
            <a:spLocks xmlns:a="http://schemas.openxmlformats.org/drawingml/2006/main" noGrp="1"/>
          </p:cNvSpPr>
          <p:nvPr/>
        </p:nvSpPr>
        <p:spPr>
          <a:xfrm xmlns:a="http://schemas.openxmlformats.org/drawingml/2006/main">
            <a:off x="609600" y="53625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Choose Budget −25%, run the complete swarm, then inspect LEDGER.</a:t>
            </a:r>
          </a:p>
        </p:txBody>
      </p:sp>
      <p:sp>
        <p:nvSpPr>
          <p:cNvPr id="10" name="shape">
            <a:extLst xmlns:a="http://schemas.openxmlformats.org/drawingml/2006/main">
              <a:ext uri="{FF2B5EF4-FFF2-40B4-BE49-F238E27FC236}">
                <a16:creationId xmlns:a16="http://schemas.microsoft.com/office/drawing/2014/main" id="{9F0F34B4-10B6-4D89-A5DA-D5DC9E57532F}"/>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68298FD6-E707-4ED0-A80D-C8ABF21B6977}"/>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12" name="text">
            <a:extLst xmlns:a="http://schemas.openxmlformats.org/drawingml/2006/main">
              <a:ext uri="{FF2B5EF4-FFF2-40B4-BE49-F238E27FC236}">
                <a16:creationId xmlns:a16="http://schemas.microsoft.com/office/drawing/2014/main" id="{D61DD769-0A0C-4FD0-8F10-FD31D4BDA9C2}"/>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85</a:t>
            </a:r>
          </a:p>
        </p:txBody>
      </p:sp>
    </p:spTree>
    <p:extLst>
      <p:ext uri="{BB962C8B-B14F-4D97-AF65-F5344CB8AC3E}">
        <p14:creationId xmlns:p14="http://schemas.microsoft.com/office/powerpoint/2010/main" val="1478743006"/>
      </p:ext>
    </p:extLst>
  </p:cSld>
</p:sld>
</file>

<file path=ppt/slides/slide86.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23" name="text">
            <a:extLst xmlns:a="http://schemas.openxmlformats.org/drawingml/2006/main">
              <a:ext uri="{FF2B5EF4-FFF2-40B4-BE49-F238E27FC236}">
                <a16:creationId xmlns:a16="http://schemas.microsoft.com/office/drawing/2014/main" id="{7D4456AB-0415-46C6-A398-D5AF0F10905C}"/>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DAY 2 · SESSION 8 · 90 MINUTES</a:t>
            </a:r>
          </a:p>
        </p:txBody>
      </p:sp>
      <p:sp>
        <p:nvSpPr>
          <p:cNvPr id="2" name="text">
            <a:extLst xmlns:a="http://schemas.openxmlformats.org/drawingml/2006/main">
              <a:ext uri="{FF2B5EF4-FFF2-40B4-BE49-F238E27FC236}">
                <a16:creationId xmlns:a16="http://schemas.microsoft.com/office/drawing/2014/main" id="{15C8C5E3-8184-4BD2-9CAD-8AC7386DF8DF}"/>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Different shocks reveal different weak points.</a:t>
            </a:r>
          </a:p>
        </p:txBody>
      </p:sp>
      <p:sp>
        <p:nvSpPr>
          <p:cNvPr id="3" name="text">
            <a:extLst xmlns:a="http://schemas.openxmlformats.org/drawingml/2006/main">
              <a:ext uri="{FF2B5EF4-FFF2-40B4-BE49-F238E27FC236}">
                <a16:creationId xmlns:a16="http://schemas.microsoft.com/office/drawing/2014/main" id="{28BC464C-2DFD-40F7-A59A-EEE919D49565}"/>
              </a:ext>
            </a:extLst>
          </p:cNvPr>
          <p:cNvSpPr>
            <a:spLocks xmlns:a="http://schemas.openxmlformats.org/drawingml/2006/main" noGrp="1"/>
          </p:cNvSpPr>
          <p:nvPr/>
        </p:nvSpPr>
        <p:spPr>
          <a:xfrm xmlns:a="http://schemas.openxmlformats.org/drawingml/2006/main">
            <a:off x="609600" y="2095500"/>
            <a:ext cx="2343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Change</a:t>
            </a:r>
          </a:p>
        </p:txBody>
      </p:sp>
      <p:sp>
        <p:nvSpPr>
          <p:cNvPr id="4" name="text">
            <a:extLst xmlns:a="http://schemas.openxmlformats.org/drawingml/2006/main">
              <a:ext uri="{FF2B5EF4-FFF2-40B4-BE49-F238E27FC236}">
                <a16:creationId xmlns:a16="http://schemas.microsoft.com/office/drawing/2014/main" id="{B4149261-6C3C-47FF-81AE-713328A61349}"/>
              </a:ext>
            </a:extLst>
          </p:cNvPr>
          <p:cNvSpPr>
            <a:spLocks xmlns:a="http://schemas.openxmlformats.org/drawingml/2006/main" noGrp="1"/>
          </p:cNvSpPr>
          <p:nvPr/>
        </p:nvSpPr>
        <p:spPr>
          <a:xfrm xmlns:a="http://schemas.openxmlformats.org/drawingml/2006/main">
            <a:off x="3162300" y="2095500"/>
            <a:ext cx="4743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Expected default effect</a:t>
            </a:r>
          </a:p>
        </p:txBody>
      </p:sp>
      <p:sp>
        <p:nvSpPr>
          <p:cNvPr id="5" name="text">
            <a:extLst xmlns:a="http://schemas.openxmlformats.org/drawingml/2006/main">
              <a:ext uri="{FF2B5EF4-FFF2-40B4-BE49-F238E27FC236}">
                <a16:creationId xmlns:a16="http://schemas.microsoft.com/office/drawing/2014/main" id="{5DA537A3-B74D-4C01-B753-118122A0C9A9}"/>
              </a:ext>
            </a:extLst>
          </p:cNvPr>
          <p:cNvSpPr>
            <a:spLocks xmlns:a="http://schemas.openxmlformats.org/drawingml/2006/main" noGrp="1"/>
          </p:cNvSpPr>
          <p:nvPr/>
        </p:nvSpPr>
        <p:spPr>
          <a:xfrm xmlns:a="http://schemas.openxmlformats.org/drawingml/2006/main">
            <a:off x="8115300" y="2095500"/>
            <a:ext cx="32575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Executive gate</a:t>
            </a:r>
          </a:p>
        </p:txBody>
      </p:sp>
      <p:sp>
        <p:nvSpPr>
          <p:cNvPr id="6" name="shape">
            <a:extLst xmlns:a="http://schemas.openxmlformats.org/drawingml/2006/main">
              <a:ext uri="{FF2B5EF4-FFF2-40B4-BE49-F238E27FC236}">
                <a16:creationId xmlns:a16="http://schemas.microsoft.com/office/drawing/2014/main" id="{8BA9C650-58B1-43A3-85CD-E96D10A1BA0D}"/>
              </a:ext>
            </a:extLst>
          </p:cNvPr>
          <p:cNvSpPr>
            <a:spLocks xmlns:a="http://schemas.openxmlformats.org/drawingml/2006/main" noGrp="1"/>
          </p:cNvSpPr>
          <p:nvPr/>
        </p:nvSpPr>
        <p:spPr>
          <a:xfrm xmlns:a="http://schemas.openxmlformats.org/drawingml/2006/main">
            <a:off x="609600" y="25050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FD535B44-92BA-4EFD-BCCB-79B8D77097C5}"/>
              </a:ext>
            </a:extLst>
          </p:cNvPr>
          <p:cNvSpPr>
            <a:spLocks xmlns:a="http://schemas.openxmlformats.org/drawingml/2006/main" noGrp="1"/>
          </p:cNvSpPr>
          <p:nvPr/>
        </p:nvSpPr>
        <p:spPr>
          <a:xfrm xmlns:a="http://schemas.openxmlformats.org/drawingml/2006/main">
            <a:off x="609600" y="2676525"/>
            <a:ext cx="23431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Supplier +14 days</a:t>
            </a:r>
          </a:p>
        </p:txBody>
      </p:sp>
      <p:sp>
        <p:nvSpPr>
          <p:cNvPr id="8" name="text">
            <a:extLst xmlns:a="http://schemas.openxmlformats.org/drawingml/2006/main">
              <a:ext uri="{FF2B5EF4-FFF2-40B4-BE49-F238E27FC236}">
                <a16:creationId xmlns:a16="http://schemas.microsoft.com/office/drawing/2014/main" id="{F2C098E5-9B85-4517-AD44-D48B801172F2}"/>
              </a:ext>
            </a:extLst>
          </p:cNvPr>
          <p:cNvSpPr>
            <a:spLocks xmlns:a="http://schemas.openxmlformats.org/drawingml/2006/main" noGrp="1"/>
          </p:cNvSpPr>
          <p:nvPr/>
        </p:nvSpPr>
        <p:spPr>
          <a:xfrm xmlns:a="http://schemas.openxmlformats.org/drawingml/2006/main">
            <a:off x="3162300" y="2676525"/>
            <a:ext cx="47434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600 units miss the window</a:t>
            </a:r>
          </a:p>
        </p:txBody>
      </p:sp>
      <p:sp>
        <p:nvSpPr>
          <p:cNvPr id="9" name="text">
            <a:extLst xmlns:a="http://schemas.openxmlformats.org/drawingml/2006/main">
              <a:ext uri="{FF2B5EF4-FFF2-40B4-BE49-F238E27FC236}">
                <a16:creationId xmlns:a16="http://schemas.microsoft.com/office/drawing/2014/main" id="{1CB693CA-1470-4AAE-AD41-736751A7EE25}"/>
              </a:ext>
            </a:extLst>
          </p:cNvPr>
          <p:cNvSpPr>
            <a:spLocks xmlns:a="http://schemas.openxmlformats.org/drawingml/2006/main" noGrp="1"/>
          </p:cNvSpPr>
          <p:nvPr/>
        </p:nvSpPr>
        <p:spPr>
          <a:xfrm xmlns:a="http://schemas.openxmlformats.org/drawingml/2006/main">
            <a:off x="8115300" y="2676525"/>
            <a:ext cx="32575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HOLD</a:t>
            </a:r>
          </a:p>
        </p:txBody>
      </p:sp>
      <p:sp>
        <p:nvSpPr>
          <p:cNvPr id="10" name="shape">
            <a:extLst xmlns:a="http://schemas.openxmlformats.org/drawingml/2006/main">
              <a:ext uri="{FF2B5EF4-FFF2-40B4-BE49-F238E27FC236}">
                <a16:creationId xmlns:a16="http://schemas.microsoft.com/office/drawing/2014/main" id="{7049025E-E2D4-4DD3-9317-3B0AD7493060}"/>
              </a:ext>
            </a:extLst>
          </p:cNvPr>
          <p:cNvSpPr>
            <a:spLocks xmlns:a="http://schemas.openxmlformats.org/drawingml/2006/main" noGrp="1"/>
          </p:cNvSpPr>
          <p:nvPr/>
        </p:nvSpPr>
        <p:spPr>
          <a:xfrm xmlns:a="http://schemas.openxmlformats.org/drawingml/2006/main">
            <a:off x="609600" y="33623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1523D0EE-5240-4A79-B515-58FB70C6BD55}"/>
              </a:ext>
            </a:extLst>
          </p:cNvPr>
          <p:cNvSpPr>
            <a:spLocks xmlns:a="http://schemas.openxmlformats.org/drawingml/2006/main" noGrp="1"/>
          </p:cNvSpPr>
          <p:nvPr/>
        </p:nvSpPr>
        <p:spPr>
          <a:xfrm xmlns:a="http://schemas.openxmlformats.org/drawingml/2006/main">
            <a:off x="609600" y="3467100"/>
            <a:ext cx="23431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Customer trust alert</a:t>
            </a:r>
          </a:p>
        </p:txBody>
      </p:sp>
      <p:sp>
        <p:nvSpPr>
          <p:cNvPr id="12" name="text">
            <a:extLst xmlns:a="http://schemas.openxmlformats.org/drawingml/2006/main">
              <a:ext uri="{FF2B5EF4-FFF2-40B4-BE49-F238E27FC236}">
                <a16:creationId xmlns:a16="http://schemas.microsoft.com/office/drawing/2014/main" id="{26442739-40F9-4877-BAF3-B7B273FD2291}"/>
              </a:ext>
            </a:extLst>
          </p:cNvPr>
          <p:cNvSpPr>
            <a:spLocks xmlns:a="http://schemas.openxmlformats.org/drawingml/2006/main" noGrp="1"/>
          </p:cNvSpPr>
          <p:nvPr/>
        </p:nvSpPr>
        <p:spPr>
          <a:xfrm xmlns:a="http://schemas.openxmlformats.org/drawingml/2006/main">
            <a:off x="3162300" y="3467100"/>
            <a:ext cx="47434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Labelling concern blocks promotion</a:t>
            </a:r>
          </a:p>
        </p:txBody>
      </p:sp>
      <p:sp>
        <p:nvSpPr>
          <p:cNvPr id="13" name="text">
            <a:extLst xmlns:a="http://schemas.openxmlformats.org/drawingml/2006/main">
              <a:ext uri="{FF2B5EF4-FFF2-40B4-BE49-F238E27FC236}">
                <a16:creationId xmlns:a16="http://schemas.microsoft.com/office/drawing/2014/main" id="{189013D6-86F9-4763-9A1C-D2DBE6363C6B}"/>
              </a:ext>
            </a:extLst>
          </p:cNvPr>
          <p:cNvSpPr>
            <a:spLocks xmlns:a="http://schemas.openxmlformats.org/drawingml/2006/main" noGrp="1"/>
          </p:cNvSpPr>
          <p:nvPr/>
        </p:nvSpPr>
        <p:spPr>
          <a:xfrm xmlns:a="http://schemas.openxmlformats.org/drawingml/2006/main">
            <a:off x="8115300" y="3467100"/>
            <a:ext cx="32575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HOLD</a:t>
            </a:r>
          </a:p>
        </p:txBody>
      </p:sp>
      <p:sp>
        <p:nvSpPr>
          <p:cNvPr id="14" name="shape">
            <a:extLst xmlns:a="http://schemas.openxmlformats.org/drawingml/2006/main">
              <a:ext uri="{FF2B5EF4-FFF2-40B4-BE49-F238E27FC236}">
                <a16:creationId xmlns:a16="http://schemas.microsoft.com/office/drawing/2014/main" id="{A6812F92-AAF6-4D88-B4EA-B4B199AD05CD}"/>
              </a:ext>
            </a:extLst>
          </p:cNvPr>
          <p:cNvSpPr>
            <a:spLocks xmlns:a="http://schemas.openxmlformats.org/drawingml/2006/main" noGrp="1"/>
          </p:cNvSpPr>
          <p:nvPr/>
        </p:nvSpPr>
        <p:spPr>
          <a:xfrm xmlns:a="http://schemas.openxmlformats.org/drawingml/2006/main">
            <a:off x="609600" y="415290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30539716-1753-42CF-B04E-9E46FF8DF696}"/>
              </a:ext>
            </a:extLst>
          </p:cNvPr>
          <p:cNvSpPr>
            <a:spLocks xmlns:a="http://schemas.openxmlformats.org/drawingml/2006/main" noGrp="1"/>
          </p:cNvSpPr>
          <p:nvPr/>
        </p:nvSpPr>
        <p:spPr>
          <a:xfrm xmlns:a="http://schemas.openxmlformats.org/drawingml/2006/main">
            <a:off x="609600" y="4257675"/>
            <a:ext cx="23431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Demand +40%</a:t>
            </a:r>
          </a:p>
        </p:txBody>
      </p:sp>
      <p:sp>
        <p:nvSpPr>
          <p:cNvPr id="16" name="text">
            <a:extLst xmlns:a="http://schemas.openxmlformats.org/drawingml/2006/main">
              <a:ext uri="{FF2B5EF4-FFF2-40B4-BE49-F238E27FC236}">
                <a16:creationId xmlns:a16="http://schemas.microsoft.com/office/drawing/2014/main" id="{756B16E9-E8D9-4A60-B822-8A6E71D569A4}"/>
              </a:ext>
            </a:extLst>
          </p:cNvPr>
          <p:cNvSpPr>
            <a:spLocks xmlns:a="http://schemas.openxmlformats.org/drawingml/2006/main" noGrp="1"/>
          </p:cNvSpPr>
          <p:nvPr/>
        </p:nvSpPr>
        <p:spPr>
          <a:xfrm xmlns:a="http://schemas.openxmlformats.org/drawingml/2006/main">
            <a:off x="3162300" y="4257675"/>
            <a:ext cx="47434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₹7.8 lakh gap; 4,200 units short</a:t>
            </a:r>
          </a:p>
        </p:txBody>
      </p:sp>
      <p:sp>
        <p:nvSpPr>
          <p:cNvPr id="17" name="text">
            <a:extLst xmlns:a="http://schemas.openxmlformats.org/drawingml/2006/main">
              <a:ext uri="{FF2B5EF4-FFF2-40B4-BE49-F238E27FC236}">
                <a16:creationId xmlns:a16="http://schemas.microsoft.com/office/drawing/2014/main" id="{ADE7DDA8-F2C1-4325-AF04-369B597B7B61}"/>
              </a:ext>
            </a:extLst>
          </p:cNvPr>
          <p:cNvSpPr>
            <a:spLocks xmlns:a="http://schemas.openxmlformats.org/drawingml/2006/main" noGrp="1"/>
          </p:cNvSpPr>
          <p:nvPr/>
        </p:nvSpPr>
        <p:spPr>
          <a:xfrm xmlns:a="http://schemas.openxmlformats.org/drawingml/2006/main">
            <a:off x="8115300" y="4257675"/>
            <a:ext cx="32575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HOLD</a:t>
            </a:r>
          </a:p>
        </p:txBody>
      </p:sp>
      <p:sp>
        <p:nvSpPr>
          <p:cNvPr id="18" name="shape">
            <a:extLst xmlns:a="http://schemas.openxmlformats.org/drawingml/2006/main">
              <a:ext uri="{FF2B5EF4-FFF2-40B4-BE49-F238E27FC236}">
                <a16:creationId xmlns:a16="http://schemas.microsoft.com/office/drawing/2014/main" id="{F0DA623D-0790-4936-8135-458DD98F48E2}"/>
              </a:ext>
            </a:extLst>
          </p:cNvPr>
          <p:cNvSpPr>
            <a:spLocks xmlns:a="http://schemas.openxmlformats.org/drawingml/2006/main" noGrp="1"/>
          </p:cNvSpPr>
          <p:nvPr/>
        </p:nvSpPr>
        <p:spPr>
          <a:xfrm xmlns:a="http://schemas.openxmlformats.org/drawingml/2006/main">
            <a:off x="609600" y="49434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DEBA68C9-EE02-4918-8F03-02F5D393648C}"/>
              </a:ext>
            </a:extLst>
          </p:cNvPr>
          <p:cNvSpPr>
            <a:spLocks xmlns:a="http://schemas.openxmlformats.org/drawingml/2006/main" noGrp="1"/>
          </p:cNvSpPr>
          <p:nvPr/>
        </p:nvSpPr>
        <p:spPr>
          <a:xfrm xmlns:a="http://schemas.openxmlformats.org/drawingml/2006/main">
            <a:off x="609600" y="58007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All figures assume an unedited default scenario.</a:t>
            </a:r>
          </a:p>
        </p:txBody>
      </p:sp>
      <p:sp>
        <p:nvSpPr>
          <p:cNvPr id="20" name="shape">
            <a:extLst xmlns:a="http://schemas.openxmlformats.org/drawingml/2006/main">
              <a:ext uri="{FF2B5EF4-FFF2-40B4-BE49-F238E27FC236}">
                <a16:creationId xmlns:a16="http://schemas.microsoft.com/office/drawing/2014/main" id="{D05A0536-59C9-430E-9C6E-C3E70256BE4A}"/>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52632723-029C-4E3A-B66A-5A1C419A22F1}"/>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22" name="text">
            <a:extLst xmlns:a="http://schemas.openxmlformats.org/drawingml/2006/main">
              <a:ext uri="{FF2B5EF4-FFF2-40B4-BE49-F238E27FC236}">
                <a16:creationId xmlns:a16="http://schemas.microsoft.com/office/drawing/2014/main" id="{309DBE5F-3639-4984-8530-F0EBB97EDF7D}"/>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86</a:t>
            </a:r>
          </a:p>
        </p:txBody>
      </p:sp>
    </p:spTree>
    <p:extLst>
      <p:ext uri="{BB962C8B-B14F-4D97-AF65-F5344CB8AC3E}">
        <p14:creationId xmlns:p14="http://schemas.microsoft.com/office/powerpoint/2010/main" val="1849963637"/>
      </p:ext>
    </p:extLst>
  </p:cSld>
</p:sld>
</file>

<file path=ppt/slides/slide87.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22" name="text">
            <a:extLst xmlns:a="http://schemas.openxmlformats.org/drawingml/2006/main">
              <a:ext uri="{FF2B5EF4-FFF2-40B4-BE49-F238E27FC236}">
                <a16:creationId xmlns:a16="http://schemas.microsoft.com/office/drawing/2014/main" id="{77182B97-AA1B-47AA-B723-C415015F4D7B}"/>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DAY 2 · SESSION 8 · 90 MINUTES</a:t>
            </a:r>
          </a:p>
        </p:txBody>
      </p:sp>
      <p:sp>
        <p:nvSpPr>
          <p:cNvPr id="2" name="text">
            <a:extLst xmlns:a="http://schemas.openxmlformats.org/drawingml/2006/main">
              <a:ext uri="{FF2B5EF4-FFF2-40B4-BE49-F238E27FC236}">
                <a16:creationId xmlns:a16="http://schemas.microsoft.com/office/drawing/2014/main" id="{AEE5CEE1-EC4B-4EF6-B7FF-82385E374D0E}"/>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Use the proposal’s rubric to assess the work.</a:t>
            </a:r>
          </a:p>
        </p:txBody>
      </p:sp>
      <p:sp>
        <p:nvSpPr>
          <p:cNvPr id="3" name="text">
            <a:extLst xmlns:a="http://schemas.openxmlformats.org/drawingml/2006/main">
              <a:ext uri="{FF2B5EF4-FFF2-40B4-BE49-F238E27FC236}">
                <a16:creationId xmlns:a16="http://schemas.microsoft.com/office/drawing/2014/main" id="{DA63F983-E45D-4141-8C6B-7BC546B38C19}"/>
              </a:ext>
            </a:extLst>
          </p:cNvPr>
          <p:cNvSpPr>
            <a:spLocks xmlns:a="http://schemas.openxmlformats.org/drawingml/2006/main" noGrp="1"/>
          </p:cNvSpPr>
          <p:nvPr/>
        </p:nvSpPr>
        <p:spPr>
          <a:xfrm xmlns:a="http://schemas.openxmlformats.org/drawingml/2006/main">
            <a:off x="609600" y="2209800"/>
            <a:ext cx="8810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42C38"/>
                </a:solidFill>
                <a:latin typeface="Aptos"/>
                <a:ea typeface="Aptos"/>
                <a:cs typeface="Aptos"/>
              </a:defRPr>
            </a:pPr>
            <a:r>
              <a:rPr sz="2250" b="1">
                <a:solidFill>
                  <a:srgbClr val="142C38"/>
                </a:solidFill>
                <a:latin typeface="Aptos"/>
                <a:ea typeface="Aptos"/>
                <a:cs typeface="Aptos"/>
              </a:rPr>
              <a:t>Business relevance</a:t>
            </a:r>
          </a:p>
        </p:txBody>
      </p:sp>
      <p:sp>
        <p:nvSpPr>
          <p:cNvPr id="4" name="text">
            <a:extLst xmlns:a="http://schemas.openxmlformats.org/drawingml/2006/main">
              <a:ext uri="{FF2B5EF4-FFF2-40B4-BE49-F238E27FC236}">
                <a16:creationId xmlns:a16="http://schemas.microsoft.com/office/drawing/2014/main" id="{D7A561CD-3E22-47A5-9613-FF9A7E72AA7F}"/>
              </a:ext>
            </a:extLst>
          </p:cNvPr>
          <p:cNvSpPr>
            <a:spLocks xmlns:a="http://schemas.openxmlformats.org/drawingml/2006/main" noGrp="1"/>
          </p:cNvSpPr>
          <p:nvPr/>
        </p:nvSpPr>
        <p:spPr>
          <a:xfrm xmlns:a="http://schemas.openxmlformats.org/drawingml/2006/main">
            <a:off x="9810750" y="2209800"/>
            <a:ext cx="171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700" b="1">
                <a:solidFill>
                  <a:srgbClr val="142C38"/>
                </a:solidFill>
                <a:latin typeface="Aptos"/>
                <a:ea typeface="Aptos"/>
                <a:cs typeface="Aptos"/>
              </a:defRPr>
            </a:pPr>
            <a:r>
              <a:rPr sz="2700" b="1">
                <a:solidFill>
                  <a:srgbClr val="142C38"/>
                </a:solidFill>
                <a:latin typeface="Aptos"/>
                <a:ea typeface="Aptos"/>
                <a:cs typeface="Aptos"/>
              </a:rPr>
              <a:t>25%</a:t>
            </a:r>
          </a:p>
        </p:txBody>
      </p:sp>
      <p:sp>
        <p:nvSpPr>
          <p:cNvPr id="5" name="shape">
            <a:extLst xmlns:a="http://schemas.openxmlformats.org/drawingml/2006/main">
              <a:ext uri="{FF2B5EF4-FFF2-40B4-BE49-F238E27FC236}">
                <a16:creationId xmlns:a16="http://schemas.microsoft.com/office/drawing/2014/main" id="{5E95604F-C611-4937-9184-3B9027FCA414}"/>
              </a:ext>
            </a:extLst>
          </p:cNvPr>
          <p:cNvSpPr>
            <a:spLocks xmlns:a="http://schemas.openxmlformats.org/drawingml/2006/main" noGrp="1"/>
          </p:cNvSpPr>
          <p:nvPr/>
        </p:nvSpPr>
        <p:spPr>
          <a:xfrm xmlns:a="http://schemas.openxmlformats.org/drawingml/2006/main">
            <a:off x="609600" y="27241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5CC929A6-A4F9-4B4E-9935-D73906B99727}"/>
              </a:ext>
            </a:extLst>
          </p:cNvPr>
          <p:cNvSpPr>
            <a:spLocks xmlns:a="http://schemas.openxmlformats.org/drawingml/2006/main" noGrp="1"/>
          </p:cNvSpPr>
          <p:nvPr/>
        </p:nvSpPr>
        <p:spPr>
          <a:xfrm xmlns:a="http://schemas.openxmlformats.org/drawingml/2006/main">
            <a:off x="609600" y="2847975"/>
            <a:ext cx="8810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42C38"/>
                </a:solidFill>
                <a:latin typeface="Aptos"/>
                <a:ea typeface="Aptos"/>
                <a:cs typeface="Aptos"/>
              </a:defRPr>
            </a:pPr>
            <a:r>
              <a:rPr sz="2250" b="1">
                <a:solidFill>
                  <a:srgbClr val="142C38"/>
                </a:solidFill>
                <a:latin typeface="Aptos"/>
                <a:ea typeface="Aptos"/>
                <a:cs typeface="Aptos"/>
              </a:rPr>
              <a:t>Agent orchestration</a:t>
            </a:r>
          </a:p>
        </p:txBody>
      </p:sp>
      <p:sp>
        <p:nvSpPr>
          <p:cNvPr id="7" name="text">
            <a:extLst xmlns:a="http://schemas.openxmlformats.org/drawingml/2006/main">
              <a:ext uri="{FF2B5EF4-FFF2-40B4-BE49-F238E27FC236}">
                <a16:creationId xmlns:a16="http://schemas.microsoft.com/office/drawing/2014/main" id="{D4166543-F52C-4660-B5BF-DC91A5088AC2}"/>
              </a:ext>
            </a:extLst>
          </p:cNvPr>
          <p:cNvSpPr>
            <a:spLocks xmlns:a="http://schemas.openxmlformats.org/drawingml/2006/main" noGrp="1"/>
          </p:cNvSpPr>
          <p:nvPr/>
        </p:nvSpPr>
        <p:spPr>
          <a:xfrm xmlns:a="http://schemas.openxmlformats.org/drawingml/2006/main">
            <a:off x="9810750" y="2847975"/>
            <a:ext cx="171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700" b="1">
                <a:solidFill>
                  <a:srgbClr val="142C38"/>
                </a:solidFill>
                <a:latin typeface="Aptos"/>
                <a:ea typeface="Aptos"/>
                <a:cs typeface="Aptos"/>
              </a:defRPr>
            </a:pPr>
            <a:r>
              <a:rPr sz="2700" b="1">
                <a:solidFill>
                  <a:srgbClr val="142C38"/>
                </a:solidFill>
                <a:latin typeface="Aptos"/>
                <a:ea typeface="Aptos"/>
                <a:cs typeface="Aptos"/>
              </a:rPr>
              <a:t>25%</a:t>
            </a:r>
          </a:p>
        </p:txBody>
      </p:sp>
      <p:sp>
        <p:nvSpPr>
          <p:cNvPr id="8" name="shape">
            <a:extLst xmlns:a="http://schemas.openxmlformats.org/drawingml/2006/main">
              <a:ext uri="{FF2B5EF4-FFF2-40B4-BE49-F238E27FC236}">
                <a16:creationId xmlns:a16="http://schemas.microsoft.com/office/drawing/2014/main" id="{9E1289FA-7849-43A6-B5D3-C96CD0CB816F}"/>
              </a:ext>
            </a:extLst>
          </p:cNvPr>
          <p:cNvSpPr>
            <a:spLocks xmlns:a="http://schemas.openxmlformats.org/drawingml/2006/main" noGrp="1"/>
          </p:cNvSpPr>
          <p:nvPr/>
        </p:nvSpPr>
        <p:spPr>
          <a:xfrm xmlns:a="http://schemas.openxmlformats.org/drawingml/2006/main">
            <a:off x="609600" y="33623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0FC726E4-AB78-4FE1-8A76-86AD755FC65A}"/>
              </a:ext>
            </a:extLst>
          </p:cNvPr>
          <p:cNvSpPr>
            <a:spLocks xmlns:a="http://schemas.openxmlformats.org/drawingml/2006/main" noGrp="1"/>
          </p:cNvSpPr>
          <p:nvPr/>
        </p:nvSpPr>
        <p:spPr>
          <a:xfrm xmlns:a="http://schemas.openxmlformats.org/drawingml/2006/main">
            <a:off x="609600" y="3486150"/>
            <a:ext cx="8810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42C38"/>
                </a:solidFill>
                <a:latin typeface="Aptos"/>
                <a:ea typeface="Aptos"/>
                <a:cs typeface="Aptos"/>
              </a:defRPr>
            </a:pPr>
            <a:r>
              <a:rPr sz="2250" b="1">
                <a:solidFill>
                  <a:srgbClr val="142C38"/>
                </a:solidFill>
                <a:latin typeface="Aptos"/>
                <a:ea typeface="Aptos"/>
                <a:cs typeface="Aptos"/>
              </a:rPr>
              <a:t>Reliability and evidence</a:t>
            </a:r>
          </a:p>
        </p:txBody>
      </p:sp>
      <p:sp>
        <p:nvSpPr>
          <p:cNvPr id="10" name="text">
            <a:extLst xmlns:a="http://schemas.openxmlformats.org/drawingml/2006/main">
              <a:ext uri="{FF2B5EF4-FFF2-40B4-BE49-F238E27FC236}">
                <a16:creationId xmlns:a16="http://schemas.microsoft.com/office/drawing/2014/main" id="{96CBE5AC-F191-4CA4-B861-D3EEB9B987F0}"/>
              </a:ext>
            </a:extLst>
          </p:cNvPr>
          <p:cNvSpPr>
            <a:spLocks xmlns:a="http://schemas.openxmlformats.org/drawingml/2006/main" noGrp="1"/>
          </p:cNvSpPr>
          <p:nvPr/>
        </p:nvSpPr>
        <p:spPr>
          <a:xfrm xmlns:a="http://schemas.openxmlformats.org/drawingml/2006/main">
            <a:off x="9810750" y="3486150"/>
            <a:ext cx="171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700" b="1">
                <a:solidFill>
                  <a:srgbClr val="142C38"/>
                </a:solidFill>
                <a:latin typeface="Aptos"/>
                <a:ea typeface="Aptos"/>
                <a:cs typeface="Aptos"/>
              </a:defRPr>
            </a:pPr>
            <a:r>
              <a:rPr sz="2700" b="1">
                <a:solidFill>
                  <a:srgbClr val="142C38"/>
                </a:solidFill>
                <a:latin typeface="Aptos"/>
                <a:ea typeface="Aptos"/>
                <a:cs typeface="Aptos"/>
              </a:rPr>
              <a:t>20%</a:t>
            </a:r>
          </a:p>
        </p:txBody>
      </p:sp>
      <p:sp>
        <p:nvSpPr>
          <p:cNvPr id="11" name="shape">
            <a:extLst xmlns:a="http://schemas.openxmlformats.org/drawingml/2006/main">
              <a:ext uri="{FF2B5EF4-FFF2-40B4-BE49-F238E27FC236}">
                <a16:creationId xmlns:a16="http://schemas.microsoft.com/office/drawing/2014/main" id="{41CD6822-30BC-4EA2-A00A-70B35CACC9B2}"/>
              </a:ext>
            </a:extLst>
          </p:cNvPr>
          <p:cNvSpPr>
            <a:spLocks xmlns:a="http://schemas.openxmlformats.org/drawingml/2006/main" noGrp="1"/>
          </p:cNvSpPr>
          <p:nvPr/>
        </p:nvSpPr>
        <p:spPr>
          <a:xfrm xmlns:a="http://schemas.openxmlformats.org/drawingml/2006/main">
            <a:off x="609600" y="400050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6DF28DBD-7E3C-40A7-95ED-CA19B4C9ABA5}"/>
              </a:ext>
            </a:extLst>
          </p:cNvPr>
          <p:cNvSpPr>
            <a:spLocks xmlns:a="http://schemas.openxmlformats.org/drawingml/2006/main" noGrp="1"/>
          </p:cNvSpPr>
          <p:nvPr/>
        </p:nvSpPr>
        <p:spPr>
          <a:xfrm xmlns:a="http://schemas.openxmlformats.org/drawingml/2006/main">
            <a:off x="609600" y="4124325"/>
            <a:ext cx="8810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42C38"/>
                </a:solidFill>
                <a:latin typeface="Aptos"/>
                <a:ea typeface="Aptos"/>
                <a:cs typeface="Aptos"/>
              </a:defRPr>
            </a:pPr>
            <a:r>
              <a:rPr sz="2250" b="1">
                <a:solidFill>
                  <a:srgbClr val="142C38"/>
                </a:solidFill>
                <a:latin typeface="Aptos"/>
                <a:ea typeface="Aptos"/>
                <a:cs typeface="Aptos"/>
              </a:rPr>
              <a:t>Responsible AI</a:t>
            </a:r>
          </a:p>
        </p:txBody>
      </p:sp>
      <p:sp>
        <p:nvSpPr>
          <p:cNvPr id="13" name="text">
            <a:extLst xmlns:a="http://schemas.openxmlformats.org/drawingml/2006/main">
              <a:ext uri="{FF2B5EF4-FFF2-40B4-BE49-F238E27FC236}">
                <a16:creationId xmlns:a16="http://schemas.microsoft.com/office/drawing/2014/main" id="{EECFBD29-E0BB-48EC-ADC7-7FD718345522}"/>
              </a:ext>
            </a:extLst>
          </p:cNvPr>
          <p:cNvSpPr>
            <a:spLocks xmlns:a="http://schemas.openxmlformats.org/drawingml/2006/main" noGrp="1"/>
          </p:cNvSpPr>
          <p:nvPr/>
        </p:nvSpPr>
        <p:spPr>
          <a:xfrm xmlns:a="http://schemas.openxmlformats.org/drawingml/2006/main">
            <a:off x="9810750" y="4124325"/>
            <a:ext cx="171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700" b="1">
                <a:solidFill>
                  <a:srgbClr val="142C38"/>
                </a:solidFill>
                <a:latin typeface="Aptos"/>
                <a:ea typeface="Aptos"/>
                <a:cs typeface="Aptos"/>
              </a:defRPr>
            </a:pPr>
            <a:r>
              <a:rPr sz="2700" b="1">
                <a:solidFill>
                  <a:srgbClr val="142C38"/>
                </a:solidFill>
                <a:latin typeface="Aptos"/>
                <a:ea typeface="Aptos"/>
                <a:cs typeface="Aptos"/>
              </a:rPr>
              <a:t>15%</a:t>
            </a:r>
          </a:p>
        </p:txBody>
      </p:sp>
      <p:sp>
        <p:nvSpPr>
          <p:cNvPr id="14" name="shape">
            <a:extLst xmlns:a="http://schemas.openxmlformats.org/drawingml/2006/main">
              <a:ext uri="{FF2B5EF4-FFF2-40B4-BE49-F238E27FC236}">
                <a16:creationId xmlns:a16="http://schemas.microsoft.com/office/drawing/2014/main" id="{D7E64571-F747-4176-A822-608C54DB43C1}"/>
              </a:ext>
            </a:extLst>
          </p:cNvPr>
          <p:cNvSpPr>
            <a:spLocks xmlns:a="http://schemas.openxmlformats.org/drawingml/2006/main" noGrp="1"/>
          </p:cNvSpPr>
          <p:nvPr/>
        </p:nvSpPr>
        <p:spPr>
          <a:xfrm xmlns:a="http://schemas.openxmlformats.org/drawingml/2006/main">
            <a:off x="609600" y="46386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2F5D0919-85FF-443C-A9A2-6805F44C38E2}"/>
              </a:ext>
            </a:extLst>
          </p:cNvPr>
          <p:cNvSpPr>
            <a:spLocks xmlns:a="http://schemas.openxmlformats.org/drawingml/2006/main" noGrp="1"/>
          </p:cNvSpPr>
          <p:nvPr/>
        </p:nvSpPr>
        <p:spPr>
          <a:xfrm xmlns:a="http://schemas.openxmlformats.org/drawingml/2006/main">
            <a:off x="609600" y="4762500"/>
            <a:ext cx="8810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42C38"/>
                </a:solidFill>
                <a:latin typeface="Aptos"/>
                <a:ea typeface="Aptos"/>
                <a:cs typeface="Aptos"/>
              </a:defRPr>
            </a:pPr>
            <a:r>
              <a:rPr sz="2250" b="1">
                <a:solidFill>
                  <a:srgbClr val="142C38"/>
                </a:solidFill>
                <a:latin typeface="Aptos"/>
                <a:ea typeface="Aptos"/>
                <a:cs typeface="Aptos"/>
              </a:rPr>
              <a:t>Communication and reflection</a:t>
            </a:r>
          </a:p>
        </p:txBody>
      </p:sp>
      <p:sp>
        <p:nvSpPr>
          <p:cNvPr id="16" name="text">
            <a:extLst xmlns:a="http://schemas.openxmlformats.org/drawingml/2006/main">
              <a:ext uri="{FF2B5EF4-FFF2-40B4-BE49-F238E27FC236}">
                <a16:creationId xmlns:a16="http://schemas.microsoft.com/office/drawing/2014/main" id="{263F510D-C86F-45EC-951E-7D60B4C094F4}"/>
              </a:ext>
            </a:extLst>
          </p:cNvPr>
          <p:cNvSpPr>
            <a:spLocks xmlns:a="http://schemas.openxmlformats.org/drawingml/2006/main" noGrp="1"/>
          </p:cNvSpPr>
          <p:nvPr/>
        </p:nvSpPr>
        <p:spPr>
          <a:xfrm xmlns:a="http://schemas.openxmlformats.org/drawingml/2006/main">
            <a:off x="9810750" y="4762500"/>
            <a:ext cx="171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700" b="1">
                <a:solidFill>
                  <a:srgbClr val="142C38"/>
                </a:solidFill>
                <a:latin typeface="Aptos"/>
                <a:ea typeface="Aptos"/>
                <a:cs typeface="Aptos"/>
              </a:defRPr>
            </a:pPr>
            <a:r>
              <a:rPr sz="2700" b="1">
                <a:solidFill>
                  <a:srgbClr val="142C38"/>
                </a:solidFill>
                <a:latin typeface="Aptos"/>
                <a:ea typeface="Aptos"/>
                <a:cs typeface="Aptos"/>
              </a:rPr>
              <a:t>15%</a:t>
            </a:r>
          </a:p>
        </p:txBody>
      </p:sp>
      <p:sp>
        <p:nvSpPr>
          <p:cNvPr id="17" name="shape">
            <a:extLst xmlns:a="http://schemas.openxmlformats.org/drawingml/2006/main">
              <a:ext uri="{FF2B5EF4-FFF2-40B4-BE49-F238E27FC236}">
                <a16:creationId xmlns:a16="http://schemas.microsoft.com/office/drawing/2014/main" id="{4608555F-229D-4450-BA7E-09183F7A0FF0}"/>
              </a:ext>
            </a:extLst>
          </p:cNvPr>
          <p:cNvSpPr>
            <a:spLocks xmlns:a="http://schemas.openxmlformats.org/drawingml/2006/main" noGrp="1"/>
          </p:cNvSpPr>
          <p:nvPr/>
        </p:nvSpPr>
        <p:spPr>
          <a:xfrm xmlns:a="http://schemas.openxmlformats.org/drawingml/2006/main">
            <a:off x="609600" y="52768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FDCBFB8D-70FC-4EDF-A6F6-883E7A54149C}"/>
              </a:ext>
            </a:extLst>
          </p:cNvPr>
          <p:cNvSpPr>
            <a:spLocks xmlns:a="http://schemas.openxmlformats.org/drawingml/2006/main" noGrp="1"/>
          </p:cNvSpPr>
          <p:nvPr/>
        </p:nvSpPr>
        <p:spPr>
          <a:xfrm xmlns:a="http://schemas.openxmlformats.org/drawingml/2006/main">
            <a:off x="609600" y="58007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Humans enter 0–5 scores. The app calculates the weighted total.</a:t>
            </a:r>
          </a:p>
        </p:txBody>
      </p:sp>
      <p:sp>
        <p:nvSpPr>
          <p:cNvPr id="19" name="shape">
            <a:extLst xmlns:a="http://schemas.openxmlformats.org/drawingml/2006/main">
              <a:ext uri="{FF2B5EF4-FFF2-40B4-BE49-F238E27FC236}">
                <a16:creationId xmlns:a16="http://schemas.microsoft.com/office/drawing/2014/main" id="{CB61939E-C1A7-4FD5-9ED2-35C9218E2357}"/>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20" name="text">
            <a:extLst xmlns:a="http://schemas.openxmlformats.org/drawingml/2006/main">
              <a:ext uri="{FF2B5EF4-FFF2-40B4-BE49-F238E27FC236}">
                <a16:creationId xmlns:a16="http://schemas.microsoft.com/office/drawing/2014/main" id="{665157DA-CF97-4F8A-8EA9-97B3C580B4BE}"/>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21" name="text">
            <a:extLst xmlns:a="http://schemas.openxmlformats.org/drawingml/2006/main">
              <a:ext uri="{FF2B5EF4-FFF2-40B4-BE49-F238E27FC236}">
                <a16:creationId xmlns:a16="http://schemas.microsoft.com/office/drawing/2014/main" id="{628911C1-7386-40E6-ADC0-FD91E6CB9C76}"/>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87</a:t>
            </a:r>
          </a:p>
        </p:txBody>
      </p:sp>
    </p:spTree>
    <p:extLst>
      <p:ext uri="{BB962C8B-B14F-4D97-AF65-F5344CB8AC3E}">
        <p14:creationId xmlns:p14="http://schemas.microsoft.com/office/powerpoint/2010/main" val="1353702348"/>
      </p:ext>
    </p:extLst>
  </p:cSld>
</p:sld>
</file>

<file path=ppt/slides/slide88.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C6B88C3A-6FD0-45DA-9F07-7A2C0083F41F}"/>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DAY 2 · SESSION 8 · 90 MINUTES</a:t>
            </a:r>
          </a:p>
        </p:txBody>
      </p:sp>
      <p:sp>
        <p:nvSpPr>
          <p:cNvPr id="2" name="text">
            <a:extLst xmlns:a="http://schemas.openxmlformats.org/drawingml/2006/main">
              <a:ext uri="{FF2B5EF4-FFF2-40B4-BE49-F238E27FC236}">
                <a16:creationId xmlns:a16="http://schemas.microsoft.com/office/drawing/2014/main" id="{0A4F5834-06A3-4BF6-8283-4648522B3B88}"/>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Tell the business story in five minutes.</a:t>
            </a:r>
          </a:p>
        </p:txBody>
      </p:sp>
      <p:sp>
        <p:nvSpPr>
          <p:cNvPr id="3" name="flow-node">
            <a:extLst xmlns:a="http://schemas.openxmlformats.org/drawingml/2006/main">
              <a:ext uri="{FF2B5EF4-FFF2-40B4-BE49-F238E27FC236}">
                <a16:creationId xmlns:a16="http://schemas.microsoft.com/office/drawing/2014/main" id="{1AD7680A-ABD6-4AC9-9982-F32BBA32796B}"/>
              </a:ext>
            </a:extLst>
          </p:cNvPr>
          <p:cNvSpPr>
            <a:spLocks xmlns:a="http://schemas.openxmlformats.org/drawingml/2006/main" noGrp="1"/>
          </p:cNvSpPr>
          <p:nvPr/>
        </p:nvSpPr>
        <p:spPr>
          <a:xfrm xmlns:a="http://schemas.openxmlformats.org/drawingml/2006/main">
            <a:off x="609600"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Goal + change</a:t>
            </a:r>
          </a:p>
        </p:txBody>
      </p:sp>
      <p:sp>
        <p:nvSpPr>
          <p:cNvPr id="4" name="flow-node">
            <a:extLst xmlns:a="http://schemas.openxmlformats.org/drawingml/2006/main">
              <a:ext uri="{FF2B5EF4-FFF2-40B4-BE49-F238E27FC236}">
                <a16:creationId xmlns:a16="http://schemas.microsoft.com/office/drawing/2014/main" id="{C22ED491-D903-4BEF-AFAD-21335D7E44B5}"/>
              </a:ext>
            </a:extLst>
          </p:cNvPr>
          <p:cNvSpPr>
            <a:spLocks xmlns:a="http://schemas.openxmlformats.org/drawingml/2006/main" noGrp="1"/>
          </p:cNvSpPr>
          <p:nvPr/>
        </p:nvSpPr>
        <p:spPr>
          <a:xfrm xmlns:a="http://schemas.openxmlformats.org/drawingml/2006/main">
            <a:off x="3424238"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Workflow + tools</a:t>
            </a:r>
          </a:p>
        </p:txBody>
      </p:sp>
      <p:sp>
        <p:nvSpPr>
          <p:cNvPr id="5" name="flow-node">
            <a:extLst xmlns:a="http://schemas.openxmlformats.org/drawingml/2006/main">
              <a:ext uri="{FF2B5EF4-FFF2-40B4-BE49-F238E27FC236}">
                <a16:creationId xmlns:a16="http://schemas.microsoft.com/office/drawing/2014/main" id="{0C28C5ED-59E0-460A-A3EF-67D281A29BD7}"/>
              </a:ext>
            </a:extLst>
          </p:cNvPr>
          <p:cNvSpPr>
            <a:spLocks xmlns:a="http://schemas.openxmlformats.org/drawingml/2006/main" noGrp="1"/>
          </p:cNvSpPr>
          <p:nvPr/>
        </p:nvSpPr>
        <p:spPr>
          <a:xfrm xmlns:a="http://schemas.openxmlformats.org/drawingml/2006/main">
            <a:off x="6238875"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Evidence + result</a:t>
            </a:r>
          </a:p>
        </p:txBody>
      </p:sp>
      <p:sp>
        <p:nvSpPr>
          <p:cNvPr id="6" name="flow-node">
            <a:extLst xmlns:a="http://schemas.openxmlformats.org/drawingml/2006/main">
              <a:ext uri="{FF2B5EF4-FFF2-40B4-BE49-F238E27FC236}">
                <a16:creationId xmlns:a16="http://schemas.microsoft.com/office/drawing/2014/main" id="{4C024FB5-7DF5-4257-AB33-B4250263CB50}"/>
              </a:ext>
            </a:extLst>
          </p:cNvPr>
          <p:cNvSpPr>
            <a:spLocks xmlns:a="http://schemas.openxmlformats.org/drawingml/2006/main" noGrp="1"/>
          </p:cNvSpPr>
          <p:nvPr/>
        </p:nvSpPr>
        <p:spPr>
          <a:xfrm xmlns:a="http://schemas.openxmlformats.org/drawingml/2006/main">
            <a:off x="9053513"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Decision + limits</a:t>
            </a:r>
          </a:p>
        </p:txBody>
      </p:sp>
      <p:cxnSp>
        <p:nvCxnSpPr>
          <p:cNvPr id="20" name=""/>
          <p:cNvCxnSpPr>
            <a:stCxn xmlns:a="http://schemas.openxmlformats.org/drawingml/2006/main" id="3" idx="3"/>
            <a:endCxn xmlns:a="http://schemas.openxmlformats.org/drawingml/2006/main" id="4" idx="1"/>
          </p:cNvCxnSpPr>
          <p:nvPr/>
        </p:nvCxnSpPr>
        <p:spPr>
          <a:xfrm xmlns:a="http://schemas.openxmlformats.org/drawingml/2006/main">
            <a:off x="3138488"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1" name=""/>
          <p:cNvCxnSpPr>
            <a:stCxn xmlns:a="http://schemas.openxmlformats.org/drawingml/2006/main" id="4" idx="3"/>
            <a:endCxn xmlns:a="http://schemas.openxmlformats.org/drawingml/2006/main" id="5" idx="1"/>
          </p:cNvCxnSpPr>
          <p:nvPr/>
        </p:nvCxnSpPr>
        <p:spPr>
          <a:xfrm xmlns:a="http://schemas.openxmlformats.org/drawingml/2006/main">
            <a:off x="5953126" y="3390900"/>
            <a:ext cx="285749"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2" name=""/>
          <p:cNvCxnSpPr>
            <a:stCxn xmlns:a="http://schemas.openxmlformats.org/drawingml/2006/main" id="5" idx="3"/>
            <a:endCxn xmlns:a="http://schemas.openxmlformats.org/drawingml/2006/main" id="6" idx="1"/>
          </p:cNvCxnSpPr>
          <p:nvPr/>
        </p:nvCxnSpPr>
        <p:spPr>
          <a:xfrm xmlns:a="http://schemas.openxmlformats.org/drawingml/2006/main">
            <a:off x="8767763"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sp>
        <p:nvSpPr>
          <p:cNvPr id="10" name="text">
            <a:extLst xmlns:a="http://schemas.openxmlformats.org/drawingml/2006/main">
              <a:ext uri="{FF2B5EF4-FFF2-40B4-BE49-F238E27FC236}">
                <a16:creationId xmlns:a16="http://schemas.microsoft.com/office/drawing/2014/main" id="{3389B9BF-6198-4D81-A768-B972CFBCC60B}"/>
              </a:ext>
            </a:extLst>
          </p:cNvPr>
          <p:cNvSpPr>
            <a:spLocks xmlns:a="http://schemas.openxmlformats.org/drawingml/2006/main" noGrp="1"/>
          </p:cNvSpPr>
          <p:nvPr/>
        </p:nvSpPr>
        <p:spPr>
          <a:xfrm xmlns:a="http://schemas.openxmlformats.org/drawingml/2006/main">
            <a:off x="609600" y="50673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DFBF"/>
                </a:solidFill>
                <a:latin typeface="Aptos"/>
                <a:ea typeface="Aptos"/>
                <a:cs typeface="Aptos"/>
              </a:defRPr>
            </a:pPr>
            <a:r>
              <a:rPr sz="1800" b="0">
                <a:solidFill>
                  <a:srgbClr val="61DFBF"/>
                </a:solidFill>
                <a:latin typeface="Aptos"/>
                <a:ea typeface="Aptos"/>
                <a:cs typeface="Aptos"/>
              </a:rPr>
              <a:t>1 minute context · 1 minute workflow · 2 minutes evidence · 1 minute reflection</a:t>
            </a:r>
          </a:p>
        </p:txBody>
      </p:sp>
      <p:sp>
        <p:nvSpPr>
          <p:cNvPr id="11" name="shape">
            <a:extLst xmlns:a="http://schemas.openxmlformats.org/drawingml/2006/main">
              <a:ext uri="{FF2B5EF4-FFF2-40B4-BE49-F238E27FC236}">
                <a16:creationId xmlns:a16="http://schemas.microsoft.com/office/drawing/2014/main" id="{07AEDEDC-8BFC-4895-934E-0C9712BBC55C}"/>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BAA508CA-C5FB-4FA4-BBF8-BBAC2F97CADA}"/>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13" name="text">
            <a:extLst xmlns:a="http://schemas.openxmlformats.org/drawingml/2006/main">
              <a:ext uri="{FF2B5EF4-FFF2-40B4-BE49-F238E27FC236}">
                <a16:creationId xmlns:a16="http://schemas.microsoft.com/office/drawing/2014/main" id="{DEC86CAC-878A-4233-8C4D-B76FDCA24FD8}"/>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88</a:t>
            </a:r>
          </a:p>
        </p:txBody>
      </p:sp>
    </p:spTree>
    <p:extLst>
      <p:ext uri="{BB962C8B-B14F-4D97-AF65-F5344CB8AC3E}">
        <p14:creationId xmlns:p14="http://schemas.microsoft.com/office/powerpoint/2010/main" val="1845444773"/>
      </p:ext>
    </p:extLst>
  </p:cSld>
</p:sld>
</file>

<file path=ppt/slides/slide89.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5EC26914-D589-4302-ACC6-A1E7157D3447}"/>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DAY 2 · SESSION 8 · 90 MINUTES</a:t>
            </a:r>
          </a:p>
        </p:txBody>
      </p:sp>
      <p:sp>
        <p:nvSpPr>
          <p:cNvPr id="2" name="text">
            <a:extLst xmlns:a="http://schemas.openxmlformats.org/drawingml/2006/main">
              <a:ext uri="{FF2B5EF4-FFF2-40B4-BE49-F238E27FC236}">
                <a16:creationId xmlns:a16="http://schemas.microsoft.com/office/drawing/2014/main" id="{020143B1-79C0-4E9F-A937-369FB004E8E4}"/>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Turn the work into honest portfolio evidence.</a:t>
            </a:r>
          </a:p>
        </p:txBody>
      </p:sp>
      <p:sp>
        <p:nvSpPr>
          <p:cNvPr id="3" name="text">
            <a:extLst xmlns:a="http://schemas.openxmlformats.org/drawingml/2006/main">
              <a:ext uri="{FF2B5EF4-FFF2-40B4-BE49-F238E27FC236}">
                <a16:creationId xmlns:a16="http://schemas.microsoft.com/office/drawing/2014/main" id="{4A6B07FA-D62C-4E31-AD54-66CCE50484B3}"/>
              </a:ext>
            </a:extLst>
          </p:cNvPr>
          <p:cNvSpPr>
            <a:spLocks xmlns:a="http://schemas.openxmlformats.org/drawingml/2006/main" noGrp="1"/>
          </p:cNvSpPr>
          <p:nvPr/>
        </p:nvSpPr>
        <p:spPr>
          <a:xfrm xmlns:a="http://schemas.openxmlformats.org/drawingml/2006/main">
            <a:off x="609600" y="221932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01</a:t>
            </a:r>
          </a:p>
        </p:txBody>
      </p:sp>
      <p:sp>
        <p:nvSpPr>
          <p:cNvPr id="4" name="text">
            <a:extLst xmlns:a="http://schemas.openxmlformats.org/drawingml/2006/main">
              <a:ext uri="{FF2B5EF4-FFF2-40B4-BE49-F238E27FC236}">
                <a16:creationId xmlns:a16="http://schemas.microsoft.com/office/drawing/2014/main" id="{71CB6D28-0547-43E2-8DE2-CD38DDFED611}"/>
              </a:ext>
            </a:extLst>
          </p:cNvPr>
          <p:cNvSpPr>
            <a:spLocks xmlns:a="http://schemas.openxmlformats.org/drawingml/2006/main" noGrp="1"/>
          </p:cNvSpPr>
          <p:nvPr/>
        </p:nvSpPr>
        <p:spPr>
          <a:xfrm xmlns:a="http://schemas.openxmlformats.org/drawingml/2006/main">
            <a:off x="1314450" y="2190750"/>
            <a:ext cx="10267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Describe the business problem and your role.</a:t>
            </a:r>
          </a:p>
        </p:txBody>
      </p:sp>
      <p:sp>
        <p:nvSpPr>
          <p:cNvPr id="5" name="text">
            <a:extLst xmlns:a="http://schemas.openxmlformats.org/drawingml/2006/main">
              <a:ext uri="{FF2B5EF4-FFF2-40B4-BE49-F238E27FC236}">
                <a16:creationId xmlns:a16="http://schemas.microsoft.com/office/drawing/2014/main" id="{FCEE71B4-FB5D-46E7-80CB-8A815A20AC4C}"/>
              </a:ext>
            </a:extLst>
          </p:cNvPr>
          <p:cNvSpPr>
            <a:spLocks xmlns:a="http://schemas.openxmlformats.org/drawingml/2006/main" noGrp="1"/>
          </p:cNvSpPr>
          <p:nvPr/>
        </p:nvSpPr>
        <p:spPr>
          <a:xfrm xmlns:a="http://schemas.openxmlformats.org/drawingml/2006/main">
            <a:off x="609600" y="30480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02</a:t>
            </a:r>
          </a:p>
        </p:txBody>
      </p:sp>
      <p:sp>
        <p:nvSpPr>
          <p:cNvPr id="6" name="text">
            <a:extLst xmlns:a="http://schemas.openxmlformats.org/drawingml/2006/main">
              <a:ext uri="{FF2B5EF4-FFF2-40B4-BE49-F238E27FC236}">
                <a16:creationId xmlns:a16="http://schemas.microsoft.com/office/drawing/2014/main" id="{A0FBB21D-17B7-449C-B9F5-ED39C5998441}"/>
              </a:ext>
            </a:extLst>
          </p:cNvPr>
          <p:cNvSpPr>
            <a:spLocks xmlns:a="http://schemas.openxmlformats.org/drawingml/2006/main" noGrp="1"/>
          </p:cNvSpPr>
          <p:nvPr/>
        </p:nvSpPr>
        <p:spPr>
          <a:xfrm xmlns:a="http://schemas.openxmlformats.org/drawingml/2006/main">
            <a:off x="1314450" y="3019425"/>
            <a:ext cx="10267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Link the source and a fictional example package.</a:t>
            </a:r>
          </a:p>
        </p:txBody>
      </p:sp>
      <p:sp>
        <p:nvSpPr>
          <p:cNvPr id="7" name="text">
            <a:extLst xmlns:a="http://schemas.openxmlformats.org/drawingml/2006/main">
              <a:ext uri="{FF2B5EF4-FFF2-40B4-BE49-F238E27FC236}">
                <a16:creationId xmlns:a16="http://schemas.microsoft.com/office/drawing/2014/main" id="{FFF009F3-C0B2-440B-AFDE-F50EF3A6C930}"/>
              </a:ext>
            </a:extLst>
          </p:cNvPr>
          <p:cNvSpPr>
            <a:spLocks xmlns:a="http://schemas.openxmlformats.org/drawingml/2006/main" noGrp="1"/>
          </p:cNvSpPr>
          <p:nvPr/>
        </p:nvSpPr>
        <p:spPr>
          <a:xfrm xmlns:a="http://schemas.openxmlformats.org/drawingml/2006/main">
            <a:off x="609600" y="387667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03</a:t>
            </a:r>
          </a:p>
        </p:txBody>
      </p:sp>
      <p:sp>
        <p:nvSpPr>
          <p:cNvPr id="8" name="text">
            <a:extLst xmlns:a="http://schemas.openxmlformats.org/drawingml/2006/main">
              <a:ext uri="{FF2B5EF4-FFF2-40B4-BE49-F238E27FC236}">
                <a16:creationId xmlns:a16="http://schemas.microsoft.com/office/drawing/2014/main" id="{56489D65-20E9-49CB-ACC9-57ABAF034776}"/>
              </a:ext>
            </a:extLst>
          </p:cNvPr>
          <p:cNvSpPr>
            <a:spLocks xmlns:a="http://schemas.openxmlformats.org/drawingml/2006/main" noGrp="1"/>
          </p:cNvSpPr>
          <p:nvPr/>
        </p:nvSpPr>
        <p:spPr>
          <a:xfrm xmlns:a="http://schemas.openxmlformats.org/drawingml/2006/main">
            <a:off x="1314450" y="3848100"/>
            <a:ext cx="10267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Show one real test and one improvement.</a:t>
            </a:r>
          </a:p>
        </p:txBody>
      </p:sp>
      <p:sp>
        <p:nvSpPr>
          <p:cNvPr id="9" name="text">
            <a:extLst xmlns:a="http://schemas.openxmlformats.org/drawingml/2006/main">
              <a:ext uri="{FF2B5EF4-FFF2-40B4-BE49-F238E27FC236}">
                <a16:creationId xmlns:a16="http://schemas.microsoft.com/office/drawing/2014/main" id="{003C0C13-8F89-4223-91AD-AE7F007EDA25}"/>
              </a:ext>
            </a:extLst>
          </p:cNvPr>
          <p:cNvSpPr>
            <a:spLocks xmlns:a="http://schemas.openxmlformats.org/drawingml/2006/main" noGrp="1"/>
          </p:cNvSpPr>
          <p:nvPr/>
        </p:nvSpPr>
        <p:spPr>
          <a:xfrm xmlns:a="http://schemas.openxmlformats.org/drawingml/2006/main">
            <a:off x="609600" y="47053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04</a:t>
            </a:r>
          </a:p>
        </p:txBody>
      </p:sp>
      <p:sp>
        <p:nvSpPr>
          <p:cNvPr id="10" name="text">
            <a:extLst xmlns:a="http://schemas.openxmlformats.org/drawingml/2006/main">
              <a:ext uri="{FF2B5EF4-FFF2-40B4-BE49-F238E27FC236}">
                <a16:creationId xmlns:a16="http://schemas.microsoft.com/office/drawing/2014/main" id="{93604412-0DD3-458B-B585-9AB9674DCB8A}"/>
              </a:ext>
            </a:extLst>
          </p:cNvPr>
          <p:cNvSpPr>
            <a:spLocks xmlns:a="http://schemas.openxmlformats.org/drawingml/2006/main" noGrp="1"/>
          </p:cNvSpPr>
          <p:nvPr/>
        </p:nvSpPr>
        <p:spPr>
          <a:xfrm xmlns:a="http://schemas.openxmlformats.org/drawingml/2006/main">
            <a:off x="1314450" y="4676775"/>
            <a:ext cx="10267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Explain the model, tools and human boundaries.</a:t>
            </a:r>
          </a:p>
        </p:txBody>
      </p:sp>
      <p:sp>
        <p:nvSpPr>
          <p:cNvPr id="11" name="shape">
            <a:extLst xmlns:a="http://schemas.openxmlformats.org/drawingml/2006/main">
              <a:ext uri="{FF2B5EF4-FFF2-40B4-BE49-F238E27FC236}">
                <a16:creationId xmlns:a16="http://schemas.microsoft.com/office/drawing/2014/main" id="{2F8EA872-A2FA-496A-B586-4293A75F3003}"/>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38F50BDF-D7E0-431E-8F9E-D88B2B517D20}"/>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13" name="text">
            <a:extLst xmlns:a="http://schemas.openxmlformats.org/drawingml/2006/main">
              <a:ext uri="{FF2B5EF4-FFF2-40B4-BE49-F238E27FC236}">
                <a16:creationId xmlns:a16="http://schemas.microsoft.com/office/drawing/2014/main" id="{010A7107-267D-427C-9703-7041979B15AE}"/>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89</a:t>
            </a:r>
          </a:p>
        </p:txBody>
      </p:sp>
    </p:spTree>
    <p:extLst>
      <p:ext uri="{BB962C8B-B14F-4D97-AF65-F5344CB8AC3E}">
        <p14:creationId xmlns:p14="http://schemas.microsoft.com/office/powerpoint/2010/main" val="1408060636"/>
      </p:ext>
    </p:extLst>
  </p:cSld>
</p:sld>
</file>

<file path=ppt/slides/slide90.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371593A0-5320-46EF-900F-2A0369E10CC5}"/>
              </a:ext>
            </a:extLst>
          </p:cNvPr>
          <p:cNvSpPr>
            <a:spLocks xmlns:a="http://schemas.openxmlformats.org/drawingml/2006/main" noGrp="1"/>
          </p:cNvSpPr>
          <p:nvPr/>
        </p:nvSpPr>
        <p:spPr>
          <a:xfrm xmlns:a="http://schemas.openxmlformats.org/drawingml/2006/main">
            <a:off x="609600" y="4000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DAY 2 · SESSION 8 · 90 MINUTES</a:t>
            </a:r>
          </a:p>
        </p:txBody>
      </p:sp>
      <p:sp>
        <p:nvSpPr>
          <p:cNvPr id="2" name="text">
            <a:extLst xmlns:a="http://schemas.openxmlformats.org/drawingml/2006/main">
              <a:ext uri="{FF2B5EF4-FFF2-40B4-BE49-F238E27FC236}">
                <a16:creationId xmlns:a16="http://schemas.microsoft.com/office/drawing/2014/main" id="{3394C53B-10AC-4068-816B-B858B7DC31AB}"/>
              </a:ext>
            </a:extLst>
          </p:cNvPr>
          <p:cNvSpPr>
            <a:spLocks xmlns:a="http://schemas.openxmlformats.org/drawingml/2006/main" noGrp="1"/>
          </p:cNvSpPr>
          <p:nvPr/>
        </p:nvSpPr>
        <p:spPr>
          <a:xfrm xmlns:a="http://schemas.openxmlformats.org/drawingml/2006/main">
            <a:off x="8096250" y="1143000"/>
            <a:ext cx="38100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250" b="1">
                <a:solidFill>
                  <a:srgbClr val="173946"/>
                </a:solidFill>
                <a:latin typeface="Aptos"/>
                <a:ea typeface="Aptos"/>
                <a:cs typeface="Aptos"/>
              </a:defRPr>
            </a:pPr>
            <a:r>
              <a:rPr sz="5250" b="1">
                <a:solidFill>
                  <a:srgbClr val="173946"/>
                </a:solidFill>
                <a:latin typeface="Aptos"/>
                <a:ea typeface="Aptos"/>
                <a:cs typeface="Aptos"/>
              </a:rPr>
              <a:t>BUILD. TEST.</a:t>
            </a:r>
          </a:p>
          <a:p xmlns:a="http://schemas.openxmlformats.org/drawingml/2006/main">
            <a:pPr>
              <a:defRPr sz="5250" b="1">
                <a:solidFill>
                  <a:srgbClr val="173946"/>
                </a:solidFill>
                <a:latin typeface="Aptos"/>
                <a:ea typeface="Aptos"/>
                <a:cs typeface="Aptos"/>
              </a:defRPr>
            </a:pPr>
            <a:r>
              <a:rPr sz="5250" b="1">
                <a:solidFill>
                  <a:srgbClr val="173946"/>
                </a:solidFill>
                <a:latin typeface="Aptos"/>
                <a:ea typeface="Aptos"/>
                <a:cs typeface="Aptos"/>
              </a:rPr>
              <a:t>EXPLAIN.</a:t>
            </a:r>
          </a:p>
        </p:txBody>
      </p:sp>
      <p:sp>
        <p:nvSpPr>
          <p:cNvPr id="3" name="text">
            <a:extLst xmlns:a="http://schemas.openxmlformats.org/drawingml/2006/main">
              <a:ext uri="{FF2B5EF4-FFF2-40B4-BE49-F238E27FC236}">
                <a16:creationId xmlns:a16="http://schemas.microsoft.com/office/drawing/2014/main" id="{4428C7B7-C1C9-4736-B4ED-3E3035FA924D}"/>
              </a:ext>
            </a:extLst>
          </p:cNvPr>
          <p:cNvSpPr>
            <a:spLocks xmlns:a="http://schemas.openxmlformats.org/drawingml/2006/main" noGrp="1"/>
          </p:cNvSpPr>
          <p:nvPr/>
        </p:nvSpPr>
        <p:spPr>
          <a:xfrm xmlns:a="http://schemas.openxmlformats.org/drawingml/2006/main">
            <a:off x="609600" y="1438275"/>
            <a:ext cx="738187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650" b="1">
                <a:solidFill>
                  <a:srgbClr val="EDF5F1"/>
                </a:solidFill>
                <a:latin typeface="Aptos"/>
                <a:ea typeface="Aptos"/>
                <a:cs typeface="Aptos"/>
              </a:defRPr>
            </a:pPr>
            <a:r>
              <a:rPr sz="4650" b="1">
                <a:solidFill>
                  <a:srgbClr val="EDF5F1"/>
                </a:solidFill>
                <a:latin typeface="Aptos"/>
                <a:ea typeface="Aptos"/>
                <a:cs typeface="Aptos"/>
              </a:rPr>
              <a:t>Build. Test. Explain.</a:t>
            </a:r>
          </a:p>
        </p:txBody>
      </p:sp>
      <p:sp>
        <p:nvSpPr>
          <p:cNvPr id="4" name="text">
            <a:extLst xmlns:a="http://schemas.openxmlformats.org/drawingml/2006/main">
              <a:ext uri="{FF2B5EF4-FFF2-40B4-BE49-F238E27FC236}">
                <a16:creationId xmlns:a16="http://schemas.microsoft.com/office/drawing/2014/main" id="{F2D121D0-0F27-453C-849B-6F48CB4F1EF7}"/>
              </a:ext>
            </a:extLst>
          </p:cNvPr>
          <p:cNvSpPr>
            <a:spLocks xmlns:a="http://schemas.openxmlformats.org/drawingml/2006/main" noGrp="1"/>
          </p:cNvSpPr>
          <p:nvPr/>
        </p:nvSpPr>
        <p:spPr>
          <a:xfrm xmlns:a="http://schemas.openxmlformats.org/drawingml/2006/main">
            <a:off x="609600" y="376237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01</a:t>
            </a:r>
          </a:p>
        </p:txBody>
      </p:sp>
      <p:sp>
        <p:nvSpPr>
          <p:cNvPr id="5" name="text">
            <a:extLst xmlns:a="http://schemas.openxmlformats.org/drawingml/2006/main">
              <a:ext uri="{FF2B5EF4-FFF2-40B4-BE49-F238E27FC236}">
                <a16:creationId xmlns:a16="http://schemas.microsoft.com/office/drawing/2014/main" id="{FF821E55-545F-4F92-9DAD-2B4E0358E6FD}"/>
              </a:ext>
            </a:extLst>
          </p:cNvPr>
          <p:cNvSpPr>
            <a:spLocks xmlns:a="http://schemas.openxmlformats.org/drawingml/2006/main" noGrp="1"/>
          </p:cNvSpPr>
          <p:nvPr/>
        </p:nvSpPr>
        <p:spPr>
          <a:xfrm xmlns:a="http://schemas.openxmlformats.org/drawingml/2006/main">
            <a:off x="1314450" y="3733800"/>
            <a:ext cx="97726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EDF5F1"/>
                </a:solidFill>
                <a:latin typeface="Aptos"/>
                <a:ea typeface="Aptos"/>
                <a:cs typeface="Aptos"/>
              </a:defRPr>
            </a:pPr>
            <a:r>
              <a:rPr sz="2175" b="0">
                <a:solidFill>
                  <a:srgbClr val="EDF5F1"/>
                </a:solidFill>
                <a:latin typeface="Aptos"/>
                <a:ea typeface="Aptos"/>
                <a:cs typeface="Aptos"/>
              </a:rPr>
              <a:t>A working agent you can inspect.</a:t>
            </a:r>
          </a:p>
        </p:txBody>
      </p:sp>
      <p:sp>
        <p:nvSpPr>
          <p:cNvPr id="6" name="text">
            <a:extLst xmlns:a="http://schemas.openxmlformats.org/drawingml/2006/main">
              <a:ext uri="{FF2B5EF4-FFF2-40B4-BE49-F238E27FC236}">
                <a16:creationId xmlns:a16="http://schemas.microsoft.com/office/drawing/2014/main" id="{FF0E39B3-A681-47A0-BEC4-33337E04266F}"/>
              </a:ext>
            </a:extLst>
          </p:cNvPr>
          <p:cNvSpPr>
            <a:spLocks xmlns:a="http://schemas.openxmlformats.org/drawingml/2006/main" noGrp="1"/>
          </p:cNvSpPr>
          <p:nvPr/>
        </p:nvSpPr>
        <p:spPr>
          <a:xfrm xmlns:a="http://schemas.openxmlformats.org/drawingml/2006/main">
            <a:off x="609600" y="43815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02</a:t>
            </a:r>
          </a:p>
        </p:txBody>
      </p:sp>
      <p:sp>
        <p:nvSpPr>
          <p:cNvPr id="7" name="text">
            <a:extLst xmlns:a="http://schemas.openxmlformats.org/drawingml/2006/main">
              <a:ext uri="{FF2B5EF4-FFF2-40B4-BE49-F238E27FC236}">
                <a16:creationId xmlns:a16="http://schemas.microsoft.com/office/drawing/2014/main" id="{4E88FD46-0588-4F09-97C0-C573A3822F68}"/>
              </a:ext>
            </a:extLst>
          </p:cNvPr>
          <p:cNvSpPr>
            <a:spLocks xmlns:a="http://schemas.openxmlformats.org/drawingml/2006/main" noGrp="1"/>
          </p:cNvSpPr>
          <p:nvPr/>
        </p:nvSpPr>
        <p:spPr>
          <a:xfrm xmlns:a="http://schemas.openxmlformats.org/drawingml/2006/main">
            <a:off x="1314450" y="4352925"/>
            <a:ext cx="97726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EDF5F1"/>
                </a:solidFill>
                <a:latin typeface="Aptos"/>
                <a:ea typeface="Aptos"/>
                <a:cs typeface="Aptos"/>
              </a:defRPr>
            </a:pPr>
            <a:r>
              <a:rPr sz="2175" b="0">
                <a:solidFill>
                  <a:srgbClr val="EDF5F1"/>
                </a:solidFill>
                <a:latin typeface="Aptos"/>
                <a:ea typeface="Aptos"/>
                <a:cs typeface="Aptos"/>
              </a:rPr>
              <a:t>A team workflow you can defend.</a:t>
            </a:r>
          </a:p>
        </p:txBody>
      </p:sp>
      <p:sp>
        <p:nvSpPr>
          <p:cNvPr id="8" name="text">
            <a:extLst xmlns:a="http://schemas.openxmlformats.org/drawingml/2006/main">
              <a:ext uri="{FF2B5EF4-FFF2-40B4-BE49-F238E27FC236}">
                <a16:creationId xmlns:a16="http://schemas.microsoft.com/office/drawing/2014/main" id="{1937303C-72B3-4C51-88C2-2ACB9A1ECF0C}"/>
              </a:ext>
            </a:extLst>
          </p:cNvPr>
          <p:cNvSpPr>
            <a:spLocks xmlns:a="http://schemas.openxmlformats.org/drawingml/2006/main" noGrp="1"/>
          </p:cNvSpPr>
          <p:nvPr/>
        </p:nvSpPr>
        <p:spPr>
          <a:xfrm xmlns:a="http://schemas.openxmlformats.org/drawingml/2006/main">
            <a:off x="609600" y="500062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03</a:t>
            </a:r>
          </a:p>
        </p:txBody>
      </p:sp>
      <p:sp>
        <p:nvSpPr>
          <p:cNvPr id="9" name="text">
            <a:extLst xmlns:a="http://schemas.openxmlformats.org/drawingml/2006/main">
              <a:ext uri="{FF2B5EF4-FFF2-40B4-BE49-F238E27FC236}">
                <a16:creationId xmlns:a16="http://schemas.microsoft.com/office/drawing/2014/main" id="{8CF0A42E-0978-431C-98B9-CDB525CD7FB1}"/>
              </a:ext>
            </a:extLst>
          </p:cNvPr>
          <p:cNvSpPr>
            <a:spLocks xmlns:a="http://schemas.openxmlformats.org/drawingml/2006/main" noGrp="1"/>
          </p:cNvSpPr>
          <p:nvPr/>
        </p:nvSpPr>
        <p:spPr>
          <a:xfrm xmlns:a="http://schemas.openxmlformats.org/drawingml/2006/main">
            <a:off x="1314450" y="4972050"/>
            <a:ext cx="97726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EDF5F1"/>
                </a:solidFill>
                <a:latin typeface="Aptos"/>
                <a:ea typeface="Aptos"/>
                <a:cs typeface="Aptos"/>
              </a:defRPr>
            </a:pPr>
            <a:r>
              <a:rPr sz="2175" b="0">
                <a:solidFill>
                  <a:srgbClr val="EDF5F1"/>
                </a:solidFill>
                <a:latin typeface="Aptos"/>
                <a:ea typeface="Aptos"/>
                <a:cs typeface="Aptos"/>
              </a:rPr>
              <a:t>A habit of checking evidence.</a:t>
            </a:r>
          </a:p>
        </p:txBody>
      </p:sp>
      <p:sp>
        <p:nvSpPr>
          <p:cNvPr id="10" name="text">
            <a:extLst xmlns:a="http://schemas.openxmlformats.org/drawingml/2006/main">
              <a:ext uri="{FF2B5EF4-FFF2-40B4-BE49-F238E27FC236}">
                <a16:creationId xmlns:a16="http://schemas.microsoft.com/office/drawing/2014/main" id="{76100EB6-C7B8-4DEE-B0E8-CFBA3EB07D1F}"/>
              </a:ext>
            </a:extLst>
          </p:cNvPr>
          <p:cNvSpPr>
            <a:spLocks xmlns:a="http://schemas.openxmlformats.org/drawingml/2006/main" noGrp="1"/>
          </p:cNvSpPr>
          <p:nvPr/>
        </p:nvSpPr>
        <p:spPr>
          <a:xfrm xmlns:a="http://schemas.openxmlformats.org/drawingml/2006/main">
            <a:off x="609600" y="58102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DFBF"/>
                </a:solidFill>
                <a:latin typeface="Aptos"/>
                <a:ea typeface="Aptos"/>
                <a:cs typeface="Aptos"/>
              </a:defRPr>
            </a:pPr>
            <a:r>
              <a:rPr sz="1800" b="0">
                <a:solidFill>
                  <a:srgbClr val="61DFBF"/>
                </a:solidFill>
                <a:latin typeface="Aptos"/>
                <a:ea typeface="Aptos"/>
                <a:cs typeface="Aptos"/>
              </a:rPr>
              <a:t>Keep learning. Keep people accountable.</a:t>
            </a:r>
          </a:p>
        </p:txBody>
      </p:sp>
      <p:sp>
        <p:nvSpPr>
          <p:cNvPr id="11" name="shape">
            <a:extLst xmlns:a="http://schemas.openxmlformats.org/drawingml/2006/main">
              <a:ext uri="{FF2B5EF4-FFF2-40B4-BE49-F238E27FC236}">
                <a16:creationId xmlns:a16="http://schemas.microsoft.com/office/drawing/2014/main" id="{5EE548FF-9BCF-4C4C-9123-34F60CD48536}"/>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C30307C4-D72D-4987-86DF-12E7EF23B8EA}"/>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13" name="text">
            <a:extLst xmlns:a="http://schemas.openxmlformats.org/drawingml/2006/main">
              <a:ext uri="{FF2B5EF4-FFF2-40B4-BE49-F238E27FC236}">
                <a16:creationId xmlns:a16="http://schemas.microsoft.com/office/drawing/2014/main" id="{2CDBDA9B-80E2-4D01-A736-8CB1413EAFDE}"/>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90</a:t>
            </a:r>
          </a:p>
        </p:txBody>
      </p:sp>
    </p:spTree>
    <p:extLst>
      <p:ext uri="{BB962C8B-B14F-4D97-AF65-F5344CB8AC3E}">
        <p14:creationId xmlns:p14="http://schemas.microsoft.com/office/powerpoint/2010/main" val="672963115"/>
      </p:ext>
    </p:extLst>
  </p:cSld>
</p:sld>
</file>

<file path=ppt/slides/slide91.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30" name="text">
            <a:extLst xmlns:a="http://schemas.openxmlformats.org/drawingml/2006/main">
              <a:ext uri="{FF2B5EF4-FFF2-40B4-BE49-F238E27FC236}">
                <a16:creationId xmlns:a16="http://schemas.microsoft.com/office/drawing/2014/main" id="{6A35B67F-508D-4215-97F1-24DA9D1DDB94}"/>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FACILITATOR REFERENCE</a:t>
            </a:r>
          </a:p>
        </p:txBody>
      </p:sp>
      <p:sp>
        <p:nvSpPr>
          <p:cNvPr id="2" name="text">
            <a:extLst xmlns:a="http://schemas.openxmlformats.org/drawingml/2006/main">
              <a:ext uri="{FF2B5EF4-FFF2-40B4-BE49-F238E27FC236}">
                <a16:creationId xmlns:a16="http://schemas.microsoft.com/office/drawing/2014/main" id="{7AAB8AB1-7CF1-4122-9A4C-9A3C599F9123}"/>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When setup breaks, diagnose the layer.</a:t>
            </a:r>
          </a:p>
        </p:txBody>
      </p:sp>
      <p:sp>
        <p:nvSpPr>
          <p:cNvPr id="3" name="text">
            <a:extLst xmlns:a="http://schemas.openxmlformats.org/drawingml/2006/main">
              <a:ext uri="{FF2B5EF4-FFF2-40B4-BE49-F238E27FC236}">
                <a16:creationId xmlns:a16="http://schemas.microsoft.com/office/drawing/2014/main" id="{667B8F38-16FC-4D5C-90AF-CBAE8B714BAD}"/>
              </a:ext>
            </a:extLst>
          </p:cNvPr>
          <p:cNvSpPr>
            <a:spLocks xmlns:a="http://schemas.openxmlformats.org/drawingml/2006/main" noGrp="1"/>
          </p:cNvSpPr>
          <p:nvPr/>
        </p:nvSpPr>
        <p:spPr>
          <a:xfrm xmlns:a="http://schemas.openxmlformats.org/drawingml/2006/main">
            <a:off x="609600" y="2095500"/>
            <a:ext cx="2343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Symptom</a:t>
            </a:r>
          </a:p>
        </p:txBody>
      </p:sp>
      <p:sp>
        <p:nvSpPr>
          <p:cNvPr id="4" name="text">
            <a:extLst xmlns:a="http://schemas.openxmlformats.org/drawingml/2006/main">
              <a:ext uri="{FF2B5EF4-FFF2-40B4-BE49-F238E27FC236}">
                <a16:creationId xmlns:a16="http://schemas.microsoft.com/office/drawing/2014/main" id="{858B5EFA-7BBF-4FE6-BC47-1819754B0642}"/>
              </a:ext>
            </a:extLst>
          </p:cNvPr>
          <p:cNvSpPr>
            <a:spLocks xmlns:a="http://schemas.openxmlformats.org/drawingml/2006/main" noGrp="1"/>
          </p:cNvSpPr>
          <p:nvPr/>
        </p:nvSpPr>
        <p:spPr>
          <a:xfrm xmlns:a="http://schemas.openxmlformats.org/drawingml/2006/main">
            <a:off x="3162300" y="2095500"/>
            <a:ext cx="3952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Likely layer</a:t>
            </a:r>
          </a:p>
        </p:txBody>
      </p:sp>
      <p:sp>
        <p:nvSpPr>
          <p:cNvPr id="5" name="text">
            <a:extLst xmlns:a="http://schemas.openxmlformats.org/drawingml/2006/main">
              <a:ext uri="{FF2B5EF4-FFF2-40B4-BE49-F238E27FC236}">
                <a16:creationId xmlns:a16="http://schemas.microsoft.com/office/drawing/2014/main" id="{A4F2661D-A9C3-425A-B9C2-A84D007CE5C1}"/>
              </a:ext>
            </a:extLst>
          </p:cNvPr>
          <p:cNvSpPr>
            <a:spLocks xmlns:a="http://schemas.openxmlformats.org/drawingml/2006/main" noGrp="1"/>
          </p:cNvSpPr>
          <p:nvPr/>
        </p:nvSpPr>
        <p:spPr>
          <a:xfrm xmlns:a="http://schemas.openxmlformats.org/drawingml/2006/main">
            <a:off x="7324725" y="2095500"/>
            <a:ext cx="4048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Next step</a:t>
            </a:r>
          </a:p>
        </p:txBody>
      </p:sp>
      <p:sp>
        <p:nvSpPr>
          <p:cNvPr id="6" name="shape">
            <a:extLst xmlns:a="http://schemas.openxmlformats.org/drawingml/2006/main">
              <a:ext uri="{FF2B5EF4-FFF2-40B4-BE49-F238E27FC236}">
                <a16:creationId xmlns:a16="http://schemas.microsoft.com/office/drawing/2014/main" id="{64045EC4-7E1A-4416-8C68-2C89CE9F8BB4}"/>
              </a:ext>
            </a:extLst>
          </p:cNvPr>
          <p:cNvSpPr>
            <a:spLocks xmlns:a="http://schemas.openxmlformats.org/drawingml/2006/main" noGrp="1"/>
          </p:cNvSpPr>
          <p:nvPr/>
        </p:nvSpPr>
        <p:spPr>
          <a:xfrm xmlns:a="http://schemas.openxmlformats.org/drawingml/2006/main">
            <a:off x="609600" y="25050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5CD22420-2587-440E-8C2E-91AEE79F7040}"/>
              </a:ext>
            </a:extLst>
          </p:cNvPr>
          <p:cNvSpPr>
            <a:spLocks xmlns:a="http://schemas.openxmlformats.org/drawingml/2006/main" noGrp="1"/>
          </p:cNvSpPr>
          <p:nvPr/>
        </p:nvSpPr>
        <p:spPr>
          <a:xfrm xmlns:a="http://schemas.openxmlformats.org/drawingml/2006/main">
            <a:off x="609600" y="2676525"/>
            <a:ext cx="23431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uv: command not found</a:t>
            </a:r>
          </a:p>
        </p:txBody>
      </p:sp>
      <p:sp>
        <p:nvSpPr>
          <p:cNvPr id="8" name="text">
            <a:extLst xmlns:a="http://schemas.openxmlformats.org/drawingml/2006/main">
              <a:ext uri="{FF2B5EF4-FFF2-40B4-BE49-F238E27FC236}">
                <a16:creationId xmlns:a16="http://schemas.microsoft.com/office/drawing/2014/main" id="{0A9980BE-19BB-4875-9808-1BB6E6321D1E}"/>
              </a:ext>
            </a:extLst>
          </p:cNvPr>
          <p:cNvSpPr>
            <a:spLocks xmlns:a="http://schemas.openxmlformats.org/drawingml/2006/main" noGrp="1"/>
          </p:cNvSpPr>
          <p:nvPr/>
        </p:nvSpPr>
        <p:spPr>
          <a:xfrm xmlns:a="http://schemas.openxmlformats.org/drawingml/2006/main">
            <a:off x="3162300" y="2676525"/>
            <a:ext cx="3952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Installation / command path</a:t>
            </a:r>
          </a:p>
        </p:txBody>
      </p:sp>
      <p:sp>
        <p:nvSpPr>
          <p:cNvPr id="9" name="text">
            <a:extLst xmlns:a="http://schemas.openxmlformats.org/drawingml/2006/main">
              <a:ext uri="{FF2B5EF4-FFF2-40B4-BE49-F238E27FC236}">
                <a16:creationId xmlns:a16="http://schemas.microsoft.com/office/drawing/2014/main" id="{C8887849-E9DC-460F-BD78-DD626D7950FD}"/>
              </a:ext>
            </a:extLst>
          </p:cNvPr>
          <p:cNvSpPr>
            <a:spLocks xmlns:a="http://schemas.openxmlformats.org/drawingml/2006/main" noGrp="1"/>
          </p:cNvSpPr>
          <p:nvPr/>
        </p:nvSpPr>
        <p:spPr>
          <a:xfrm xmlns:a="http://schemas.openxmlformats.org/drawingml/2006/main">
            <a:off x="7324725" y="2676525"/>
            <a:ext cx="40481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Reopen terminal; verify approved install</a:t>
            </a:r>
          </a:p>
        </p:txBody>
      </p:sp>
      <p:sp>
        <p:nvSpPr>
          <p:cNvPr id="10" name="shape">
            <a:extLst xmlns:a="http://schemas.openxmlformats.org/drawingml/2006/main">
              <a:ext uri="{FF2B5EF4-FFF2-40B4-BE49-F238E27FC236}">
                <a16:creationId xmlns:a16="http://schemas.microsoft.com/office/drawing/2014/main" id="{37B0BE4B-278C-4FA1-A982-AD3AE677EB8D}"/>
              </a:ext>
            </a:extLst>
          </p:cNvPr>
          <p:cNvSpPr>
            <a:spLocks xmlns:a="http://schemas.openxmlformats.org/drawingml/2006/main" noGrp="1"/>
          </p:cNvSpPr>
          <p:nvPr/>
        </p:nvSpPr>
        <p:spPr>
          <a:xfrm xmlns:a="http://schemas.openxmlformats.org/drawingml/2006/main">
            <a:off x="609600" y="32480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DB6251EA-A621-4834-A1D6-2593D8813393}"/>
              </a:ext>
            </a:extLst>
          </p:cNvPr>
          <p:cNvSpPr>
            <a:spLocks xmlns:a="http://schemas.openxmlformats.org/drawingml/2006/main" noGrp="1"/>
          </p:cNvSpPr>
          <p:nvPr/>
        </p:nvSpPr>
        <p:spPr>
          <a:xfrm xmlns:a="http://schemas.openxmlformats.org/drawingml/2006/main">
            <a:off x="609600" y="3352800"/>
            <a:ext cx="23431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No pyproject.toml</a:t>
            </a:r>
          </a:p>
        </p:txBody>
      </p:sp>
      <p:sp>
        <p:nvSpPr>
          <p:cNvPr id="12" name="text">
            <a:extLst xmlns:a="http://schemas.openxmlformats.org/drawingml/2006/main">
              <a:ext uri="{FF2B5EF4-FFF2-40B4-BE49-F238E27FC236}">
                <a16:creationId xmlns:a16="http://schemas.microsoft.com/office/drawing/2014/main" id="{2559028E-7A62-451E-8C96-1FA6FC11C257}"/>
              </a:ext>
            </a:extLst>
          </p:cNvPr>
          <p:cNvSpPr>
            <a:spLocks xmlns:a="http://schemas.openxmlformats.org/drawingml/2006/main" noGrp="1"/>
          </p:cNvSpPr>
          <p:nvPr/>
        </p:nvSpPr>
        <p:spPr>
          <a:xfrm xmlns:a="http://schemas.openxmlformats.org/drawingml/2006/main">
            <a:off x="3162300" y="3352800"/>
            <a:ext cx="3952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Wrong folder</a:t>
            </a:r>
          </a:p>
        </p:txBody>
      </p:sp>
      <p:sp>
        <p:nvSpPr>
          <p:cNvPr id="13" name="text">
            <a:extLst xmlns:a="http://schemas.openxmlformats.org/drawingml/2006/main">
              <a:ext uri="{FF2B5EF4-FFF2-40B4-BE49-F238E27FC236}">
                <a16:creationId xmlns:a16="http://schemas.microsoft.com/office/drawing/2014/main" id="{070CEEC6-C8C8-4558-B947-842AD7F960C5}"/>
              </a:ext>
            </a:extLst>
          </p:cNvPr>
          <p:cNvSpPr>
            <a:spLocks xmlns:a="http://schemas.openxmlformats.org/drawingml/2006/main" noGrp="1"/>
          </p:cNvSpPr>
          <p:nvPr/>
        </p:nvSpPr>
        <p:spPr>
          <a:xfrm xmlns:a="http://schemas.openxmlformats.org/drawingml/2006/main">
            <a:off x="7324725" y="3352800"/>
            <a:ext cx="40481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cd into the cloned project root</a:t>
            </a:r>
          </a:p>
        </p:txBody>
      </p:sp>
      <p:sp>
        <p:nvSpPr>
          <p:cNvPr id="14" name="shape">
            <a:extLst xmlns:a="http://schemas.openxmlformats.org/drawingml/2006/main">
              <a:ext uri="{FF2B5EF4-FFF2-40B4-BE49-F238E27FC236}">
                <a16:creationId xmlns:a16="http://schemas.microsoft.com/office/drawing/2014/main" id="{67EFFD2E-83C3-4C90-990C-3DCFEAD4914D}"/>
              </a:ext>
            </a:extLst>
          </p:cNvPr>
          <p:cNvSpPr>
            <a:spLocks xmlns:a="http://schemas.openxmlformats.org/drawingml/2006/main" noGrp="1"/>
          </p:cNvSpPr>
          <p:nvPr/>
        </p:nvSpPr>
        <p:spPr>
          <a:xfrm xmlns:a="http://schemas.openxmlformats.org/drawingml/2006/main">
            <a:off x="609600" y="392430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F172FDE6-9C1D-4DC5-8FFF-45F71888F857}"/>
              </a:ext>
            </a:extLst>
          </p:cNvPr>
          <p:cNvSpPr>
            <a:spLocks xmlns:a="http://schemas.openxmlformats.org/drawingml/2006/main" noGrp="1"/>
          </p:cNvSpPr>
          <p:nvPr/>
        </p:nvSpPr>
        <p:spPr>
          <a:xfrm xmlns:a="http://schemas.openxmlformats.org/drawingml/2006/main">
            <a:off x="609600" y="4029075"/>
            <a:ext cx="23431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Package download fails</a:t>
            </a:r>
          </a:p>
        </p:txBody>
      </p:sp>
      <p:sp>
        <p:nvSpPr>
          <p:cNvPr id="16" name="text">
            <a:extLst xmlns:a="http://schemas.openxmlformats.org/drawingml/2006/main">
              <a:ext uri="{FF2B5EF4-FFF2-40B4-BE49-F238E27FC236}">
                <a16:creationId xmlns:a16="http://schemas.microsoft.com/office/drawing/2014/main" id="{6013AF32-B790-41CD-8FBC-43F3E875110F}"/>
              </a:ext>
            </a:extLst>
          </p:cNvPr>
          <p:cNvSpPr>
            <a:spLocks xmlns:a="http://schemas.openxmlformats.org/drawingml/2006/main" noGrp="1"/>
          </p:cNvSpPr>
          <p:nvPr/>
        </p:nvSpPr>
        <p:spPr>
          <a:xfrm xmlns:a="http://schemas.openxmlformats.org/drawingml/2006/main">
            <a:off x="3162300" y="4029075"/>
            <a:ext cx="3952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Network or access</a:t>
            </a:r>
          </a:p>
        </p:txBody>
      </p:sp>
      <p:sp>
        <p:nvSpPr>
          <p:cNvPr id="17" name="text">
            <a:extLst xmlns:a="http://schemas.openxmlformats.org/drawingml/2006/main">
              <a:ext uri="{FF2B5EF4-FFF2-40B4-BE49-F238E27FC236}">
                <a16:creationId xmlns:a16="http://schemas.microsoft.com/office/drawing/2014/main" id="{B96C2EA6-392A-4B80-B619-BE4A9D62C25F}"/>
              </a:ext>
            </a:extLst>
          </p:cNvPr>
          <p:cNvSpPr>
            <a:spLocks xmlns:a="http://schemas.openxmlformats.org/drawingml/2006/main" noGrp="1"/>
          </p:cNvSpPr>
          <p:nvPr/>
        </p:nvSpPr>
        <p:spPr>
          <a:xfrm xmlns:a="http://schemas.openxmlformats.org/drawingml/2006/main">
            <a:off x="7324725" y="4029075"/>
            <a:ext cx="40481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Resolve approved access; use prepared pair</a:t>
            </a:r>
          </a:p>
        </p:txBody>
      </p:sp>
      <p:sp>
        <p:nvSpPr>
          <p:cNvPr id="18" name="shape">
            <a:extLst xmlns:a="http://schemas.openxmlformats.org/drawingml/2006/main">
              <a:ext uri="{FF2B5EF4-FFF2-40B4-BE49-F238E27FC236}">
                <a16:creationId xmlns:a16="http://schemas.microsoft.com/office/drawing/2014/main" id="{5EF2211C-4178-4B22-B537-38ECA84C0F6C}"/>
              </a:ext>
            </a:extLst>
          </p:cNvPr>
          <p:cNvSpPr>
            <a:spLocks xmlns:a="http://schemas.openxmlformats.org/drawingml/2006/main" noGrp="1"/>
          </p:cNvSpPr>
          <p:nvPr/>
        </p:nvSpPr>
        <p:spPr>
          <a:xfrm xmlns:a="http://schemas.openxmlformats.org/drawingml/2006/main">
            <a:off x="609600" y="46005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36A05659-5E17-44C6-AD09-52C0DC286756}"/>
              </a:ext>
            </a:extLst>
          </p:cNvPr>
          <p:cNvSpPr>
            <a:spLocks xmlns:a="http://schemas.openxmlformats.org/drawingml/2006/main" noGrp="1"/>
          </p:cNvSpPr>
          <p:nvPr/>
        </p:nvSpPr>
        <p:spPr>
          <a:xfrm xmlns:a="http://schemas.openxmlformats.org/drawingml/2006/main">
            <a:off x="609600" y="4705350"/>
            <a:ext cx="23431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Address already in use</a:t>
            </a:r>
          </a:p>
        </p:txBody>
      </p:sp>
      <p:sp>
        <p:nvSpPr>
          <p:cNvPr id="20" name="text">
            <a:extLst xmlns:a="http://schemas.openxmlformats.org/drawingml/2006/main">
              <a:ext uri="{FF2B5EF4-FFF2-40B4-BE49-F238E27FC236}">
                <a16:creationId xmlns:a16="http://schemas.microsoft.com/office/drawing/2014/main" id="{9B1018CB-B604-4105-88E8-F929B36055FE}"/>
              </a:ext>
            </a:extLst>
          </p:cNvPr>
          <p:cNvSpPr>
            <a:spLocks xmlns:a="http://schemas.openxmlformats.org/drawingml/2006/main" noGrp="1"/>
          </p:cNvSpPr>
          <p:nvPr/>
        </p:nvSpPr>
        <p:spPr>
          <a:xfrm xmlns:a="http://schemas.openxmlformats.org/drawingml/2006/main">
            <a:off x="3162300" y="4705350"/>
            <a:ext cx="3952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Local port</a:t>
            </a:r>
          </a:p>
        </p:txBody>
      </p:sp>
      <p:sp>
        <p:nvSpPr>
          <p:cNvPr id="21" name="text">
            <a:extLst xmlns:a="http://schemas.openxmlformats.org/drawingml/2006/main">
              <a:ext uri="{FF2B5EF4-FFF2-40B4-BE49-F238E27FC236}">
                <a16:creationId xmlns:a16="http://schemas.microsoft.com/office/drawing/2014/main" id="{29A05B9C-B4B9-4EDC-A36C-9A4542B7FE57}"/>
              </a:ext>
            </a:extLst>
          </p:cNvPr>
          <p:cNvSpPr>
            <a:spLocks xmlns:a="http://schemas.openxmlformats.org/drawingml/2006/main" noGrp="1"/>
          </p:cNvSpPr>
          <p:nvPr/>
        </p:nvSpPr>
        <p:spPr>
          <a:xfrm xmlns:a="http://schemas.openxmlformats.org/drawingml/2006/main">
            <a:off x="7324725" y="4705350"/>
            <a:ext cx="40481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Use web --port 8788 and that URL</a:t>
            </a:r>
          </a:p>
        </p:txBody>
      </p:sp>
      <p:sp>
        <p:nvSpPr>
          <p:cNvPr id="22" name="shape">
            <a:extLst xmlns:a="http://schemas.openxmlformats.org/drawingml/2006/main">
              <a:ext uri="{FF2B5EF4-FFF2-40B4-BE49-F238E27FC236}">
                <a16:creationId xmlns:a16="http://schemas.microsoft.com/office/drawing/2014/main" id="{3583D816-A3FC-4E9B-A430-F2200FD81330}"/>
              </a:ext>
            </a:extLst>
          </p:cNvPr>
          <p:cNvSpPr>
            <a:spLocks xmlns:a="http://schemas.openxmlformats.org/drawingml/2006/main" noGrp="1"/>
          </p:cNvSpPr>
          <p:nvPr/>
        </p:nvSpPr>
        <p:spPr>
          <a:xfrm xmlns:a="http://schemas.openxmlformats.org/drawingml/2006/main">
            <a:off x="609600" y="52768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23" name="text">
            <a:extLst xmlns:a="http://schemas.openxmlformats.org/drawingml/2006/main">
              <a:ext uri="{FF2B5EF4-FFF2-40B4-BE49-F238E27FC236}">
                <a16:creationId xmlns:a16="http://schemas.microsoft.com/office/drawing/2014/main" id="{60290AE1-E3C3-41C1-9241-E6C2EE69A44D}"/>
              </a:ext>
            </a:extLst>
          </p:cNvPr>
          <p:cNvSpPr>
            <a:spLocks xmlns:a="http://schemas.openxmlformats.org/drawingml/2006/main" noGrp="1"/>
          </p:cNvSpPr>
          <p:nvPr/>
        </p:nvSpPr>
        <p:spPr>
          <a:xfrm xmlns:a="http://schemas.openxmlformats.org/drawingml/2006/main">
            <a:off x="609600" y="5381625"/>
            <a:ext cx="23431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Browser cannot connect</a:t>
            </a:r>
          </a:p>
        </p:txBody>
      </p:sp>
      <p:sp>
        <p:nvSpPr>
          <p:cNvPr id="24" name="text">
            <a:extLst xmlns:a="http://schemas.openxmlformats.org/drawingml/2006/main">
              <a:ext uri="{FF2B5EF4-FFF2-40B4-BE49-F238E27FC236}">
                <a16:creationId xmlns:a16="http://schemas.microsoft.com/office/drawing/2014/main" id="{5F1CCCB5-C69B-4CD6-ACD7-F6FF8BCC09A4}"/>
              </a:ext>
            </a:extLst>
          </p:cNvPr>
          <p:cNvSpPr>
            <a:spLocks xmlns:a="http://schemas.openxmlformats.org/drawingml/2006/main" noGrp="1"/>
          </p:cNvSpPr>
          <p:nvPr/>
        </p:nvSpPr>
        <p:spPr>
          <a:xfrm xmlns:a="http://schemas.openxmlformats.org/drawingml/2006/main">
            <a:off x="3162300" y="5381625"/>
            <a:ext cx="3952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Server stopped / wrong URL</a:t>
            </a:r>
          </a:p>
        </p:txBody>
      </p:sp>
      <p:sp>
        <p:nvSpPr>
          <p:cNvPr id="25" name="text">
            <a:extLst xmlns:a="http://schemas.openxmlformats.org/drawingml/2006/main">
              <a:ext uri="{FF2B5EF4-FFF2-40B4-BE49-F238E27FC236}">
                <a16:creationId xmlns:a16="http://schemas.microsoft.com/office/drawing/2014/main" id="{760292E1-DF21-40D0-83A0-5283B3279E00}"/>
              </a:ext>
            </a:extLst>
          </p:cNvPr>
          <p:cNvSpPr>
            <a:spLocks xmlns:a="http://schemas.openxmlformats.org/drawingml/2006/main" noGrp="1"/>
          </p:cNvSpPr>
          <p:nvPr/>
        </p:nvSpPr>
        <p:spPr>
          <a:xfrm xmlns:a="http://schemas.openxmlformats.org/drawingml/2006/main">
            <a:off x="7324725" y="5381625"/>
            <a:ext cx="40481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Start server; verify the terminal message</a:t>
            </a:r>
          </a:p>
        </p:txBody>
      </p:sp>
      <p:sp>
        <p:nvSpPr>
          <p:cNvPr id="26" name="shape">
            <a:extLst xmlns:a="http://schemas.openxmlformats.org/drawingml/2006/main">
              <a:ext uri="{FF2B5EF4-FFF2-40B4-BE49-F238E27FC236}">
                <a16:creationId xmlns:a16="http://schemas.microsoft.com/office/drawing/2014/main" id="{48B1D354-193C-4228-884F-A97260A4C1FB}"/>
              </a:ext>
            </a:extLst>
          </p:cNvPr>
          <p:cNvSpPr>
            <a:spLocks xmlns:a="http://schemas.openxmlformats.org/drawingml/2006/main" noGrp="1"/>
          </p:cNvSpPr>
          <p:nvPr/>
        </p:nvSpPr>
        <p:spPr>
          <a:xfrm xmlns:a="http://schemas.openxmlformats.org/drawingml/2006/main">
            <a:off x="609600" y="59531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27" name="shape">
            <a:extLst xmlns:a="http://schemas.openxmlformats.org/drawingml/2006/main">
              <a:ext uri="{FF2B5EF4-FFF2-40B4-BE49-F238E27FC236}">
                <a16:creationId xmlns:a16="http://schemas.microsoft.com/office/drawing/2014/main" id="{8426A25B-39FE-4190-AE52-8CD426E4DF59}"/>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28" name="text">
            <a:extLst xmlns:a="http://schemas.openxmlformats.org/drawingml/2006/main">
              <a:ext uri="{FF2B5EF4-FFF2-40B4-BE49-F238E27FC236}">
                <a16:creationId xmlns:a16="http://schemas.microsoft.com/office/drawing/2014/main" id="{6AEF30E1-AA1F-4125-B95F-BE256559288E}"/>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29" name="text">
            <a:extLst xmlns:a="http://schemas.openxmlformats.org/drawingml/2006/main">
              <a:ext uri="{FF2B5EF4-FFF2-40B4-BE49-F238E27FC236}">
                <a16:creationId xmlns:a16="http://schemas.microsoft.com/office/drawing/2014/main" id="{AA98B4A8-2A78-46C3-B91C-ED237E5132F4}"/>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91</a:t>
            </a:r>
          </a:p>
        </p:txBody>
      </p:sp>
    </p:spTree>
    <p:extLst>
      <p:ext uri="{BB962C8B-B14F-4D97-AF65-F5344CB8AC3E}">
        <p14:creationId xmlns:p14="http://schemas.microsoft.com/office/powerpoint/2010/main" val="232757484"/>
      </p:ext>
    </p:extLst>
  </p:cSld>
</p:sld>
</file>

<file path=ppt/slides/slide92.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26" name="text">
            <a:extLst xmlns:a="http://schemas.openxmlformats.org/drawingml/2006/main">
              <a:ext uri="{FF2B5EF4-FFF2-40B4-BE49-F238E27FC236}">
                <a16:creationId xmlns:a16="http://schemas.microsoft.com/office/drawing/2014/main" id="{C2B95150-BB8C-4410-83C2-791CE05F6486}"/>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FACILITATOR REFERENCE</a:t>
            </a:r>
          </a:p>
        </p:txBody>
      </p:sp>
      <p:sp>
        <p:nvSpPr>
          <p:cNvPr id="2" name="text">
            <a:extLst xmlns:a="http://schemas.openxmlformats.org/drawingml/2006/main">
              <a:ext uri="{FF2B5EF4-FFF2-40B4-BE49-F238E27FC236}">
                <a16:creationId xmlns:a16="http://schemas.microsoft.com/office/drawing/2014/main" id="{DCD404E9-7845-4926-8EAB-40678801FC1D}"/>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Live setup: diagnose the right layer.</a:t>
            </a:r>
          </a:p>
        </p:txBody>
      </p:sp>
      <p:sp>
        <p:nvSpPr>
          <p:cNvPr id="3" name="text">
            <a:extLst xmlns:a="http://schemas.openxmlformats.org/drawingml/2006/main">
              <a:ext uri="{FF2B5EF4-FFF2-40B4-BE49-F238E27FC236}">
                <a16:creationId xmlns:a16="http://schemas.microsoft.com/office/drawing/2014/main" id="{5CB1F05E-564F-4E0B-BDB9-BEB624BE46E7}"/>
              </a:ext>
            </a:extLst>
          </p:cNvPr>
          <p:cNvSpPr>
            <a:spLocks xmlns:a="http://schemas.openxmlformats.org/drawingml/2006/main" noGrp="1"/>
          </p:cNvSpPr>
          <p:nvPr/>
        </p:nvSpPr>
        <p:spPr>
          <a:xfrm xmlns:a="http://schemas.openxmlformats.org/drawingml/2006/main">
            <a:off x="609600" y="2095500"/>
            <a:ext cx="2343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Symptom</a:t>
            </a:r>
          </a:p>
        </p:txBody>
      </p:sp>
      <p:sp>
        <p:nvSpPr>
          <p:cNvPr id="4" name="text">
            <a:extLst xmlns:a="http://schemas.openxmlformats.org/drawingml/2006/main">
              <a:ext uri="{FF2B5EF4-FFF2-40B4-BE49-F238E27FC236}">
                <a16:creationId xmlns:a16="http://schemas.microsoft.com/office/drawing/2014/main" id="{D7462E4A-A57A-4CB8-8A8C-59D3053E52A9}"/>
              </a:ext>
            </a:extLst>
          </p:cNvPr>
          <p:cNvSpPr>
            <a:spLocks xmlns:a="http://schemas.openxmlformats.org/drawingml/2006/main" noGrp="1"/>
          </p:cNvSpPr>
          <p:nvPr/>
        </p:nvSpPr>
        <p:spPr>
          <a:xfrm xmlns:a="http://schemas.openxmlformats.org/drawingml/2006/main">
            <a:off x="3162300" y="2095500"/>
            <a:ext cx="3952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Likely cause</a:t>
            </a:r>
          </a:p>
        </p:txBody>
      </p:sp>
      <p:sp>
        <p:nvSpPr>
          <p:cNvPr id="5" name="text">
            <a:extLst xmlns:a="http://schemas.openxmlformats.org/drawingml/2006/main">
              <a:ext uri="{FF2B5EF4-FFF2-40B4-BE49-F238E27FC236}">
                <a16:creationId xmlns:a16="http://schemas.microsoft.com/office/drawing/2014/main" id="{9BDAFC1D-F7BF-4773-8099-E7DD8CE66790}"/>
              </a:ext>
            </a:extLst>
          </p:cNvPr>
          <p:cNvSpPr>
            <a:spLocks xmlns:a="http://schemas.openxmlformats.org/drawingml/2006/main" noGrp="1"/>
          </p:cNvSpPr>
          <p:nvPr/>
        </p:nvSpPr>
        <p:spPr>
          <a:xfrm xmlns:a="http://schemas.openxmlformats.org/drawingml/2006/main">
            <a:off x="7324725" y="2095500"/>
            <a:ext cx="4048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Next check</a:t>
            </a:r>
          </a:p>
        </p:txBody>
      </p:sp>
      <p:sp>
        <p:nvSpPr>
          <p:cNvPr id="6" name="shape">
            <a:extLst xmlns:a="http://schemas.openxmlformats.org/drawingml/2006/main">
              <a:ext uri="{FF2B5EF4-FFF2-40B4-BE49-F238E27FC236}">
                <a16:creationId xmlns:a16="http://schemas.microsoft.com/office/drawing/2014/main" id="{19B0D317-64F1-40A7-AC07-C65B7D6ED3CC}"/>
              </a:ext>
            </a:extLst>
          </p:cNvPr>
          <p:cNvSpPr>
            <a:spLocks xmlns:a="http://schemas.openxmlformats.org/drawingml/2006/main" noGrp="1"/>
          </p:cNvSpPr>
          <p:nvPr/>
        </p:nvSpPr>
        <p:spPr>
          <a:xfrm xmlns:a="http://schemas.openxmlformats.org/drawingml/2006/main">
            <a:off x="609600" y="25050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3A6856E5-8DB2-4F46-AA10-80C683C9449B}"/>
              </a:ext>
            </a:extLst>
          </p:cNvPr>
          <p:cNvSpPr>
            <a:spLocks xmlns:a="http://schemas.openxmlformats.org/drawingml/2006/main" noGrp="1"/>
          </p:cNvSpPr>
          <p:nvPr/>
        </p:nvSpPr>
        <p:spPr>
          <a:xfrm xmlns:a="http://schemas.openxmlformats.org/drawingml/2006/main">
            <a:off x="609600" y="2676525"/>
            <a:ext cx="23431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Key rejected</a:t>
            </a:r>
          </a:p>
        </p:txBody>
      </p:sp>
      <p:sp>
        <p:nvSpPr>
          <p:cNvPr id="8" name="text">
            <a:extLst xmlns:a="http://schemas.openxmlformats.org/drawingml/2006/main">
              <a:ext uri="{FF2B5EF4-FFF2-40B4-BE49-F238E27FC236}">
                <a16:creationId xmlns:a16="http://schemas.microsoft.com/office/drawing/2014/main" id="{5696D951-C9F0-41AB-A158-D425456D4703}"/>
              </a:ext>
            </a:extLst>
          </p:cNvPr>
          <p:cNvSpPr>
            <a:spLocks xmlns:a="http://schemas.openxmlformats.org/drawingml/2006/main" noGrp="1"/>
          </p:cNvSpPr>
          <p:nvPr/>
        </p:nvSpPr>
        <p:spPr>
          <a:xfrm xmlns:a="http://schemas.openxmlformats.org/drawingml/2006/main">
            <a:off x="3162300" y="2676525"/>
            <a:ext cx="3952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Credential or API restrictions</a:t>
            </a:r>
          </a:p>
        </p:txBody>
      </p:sp>
      <p:sp>
        <p:nvSpPr>
          <p:cNvPr id="9" name="text">
            <a:extLst xmlns:a="http://schemas.openxmlformats.org/drawingml/2006/main">
              <a:ext uri="{FF2B5EF4-FFF2-40B4-BE49-F238E27FC236}">
                <a16:creationId xmlns:a16="http://schemas.microsoft.com/office/drawing/2014/main" id="{4A088B42-F75D-469F-AAB2-1EDDBB3D064E}"/>
              </a:ext>
            </a:extLst>
          </p:cNvPr>
          <p:cNvSpPr>
            <a:spLocks xmlns:a="http://schemas.openxmlformats.org/drawingml/2006/main" noGrp="1"/>
          </p:cNvSpPr>
          <p:nvPr/>
        </p:nvSpPr>
        <p:spPr>
          <a:xfrm xmlns:a="http://schemas.openxmlformats.org/drawingml/2006/main">
            <a:off x="7324725" y="2676525"/>
            <a:ext cx="4048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Update local .env and restart</a:t>
            </a:r>
          </a:p>
        </p:txBody>
      </p:sp>
      <p:sp>
        <p:nvSpPr>
          <p:cNvPr id="10" name="shape">
            <a:extLst xmlns:a="http://schemas.openxmlformats.org/drawingml/2006/main">
              <a:ext uri="{FF2B5EF4-FFF2-40B4-BE49-F238E27FC236}">
                <a16:creationId xmlns:a16="http://schemas.microsoft.com/office/drawing/2014/main" id="{E4FCD189-F109-4B33-A3CD-6D9EC9E20157}"/>
              </a:ext>
            </a:extLst>
          </p:cNvPr>
          <p:cNvSpPr>
            <a:spLocks xmlns:a="http://schemas.openxmlformats.org/drawingml/2006/main" noGrp="1"/>
          </p:cNvSpPr>
          <p:nvPr/>
        </p:nvSpPr>
        <p:spPr>
          <a:xfrm xmlns:a="http://schemas.openxmlformats.org/drawingml/2006/main">
            <a:off x="609600" y="33623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DA8039AC-EBE5-49E9-AEB7-9158949B2D07}"/>
              </a:ext>
            </a:extLst>
          </p:cNvPr>
          <p:cNvSpPr>
            <a:spLocks xmlns:a="http://schemas.openxmlformats.org/drawingml/2006/main" noGrp="1"/>
          </p:cNvSpPr>
          <p:nvPr/>
        </p:nvSpPr>
        <p:spPr>
          <a:xfrm xmlns:a="http://schemas.openxmlformats.org/drawingml/2006/main">
            <a:off x="609600" y="3467100"/>
            <a:ext cx="23431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Quota / 429</a:t>
            </a:r>
          </a:p>
        </p:txBody>
      </p:sp>
      <p:sp>
        <p:nvSpPr>
          <p:cNvPr id="12" name="text">
            <a:extLst xmlns:a="http://schemas.openxmlformats.org/drawingml/2006/main">
              <a:ext uri="{FF2B5EF4-FFF2-40B4-BE49-F238E27FC236}">
                <a16:creationId xmlns:a16="http://schemas.microsoft.com/office/drawing/2014/main" id="{E8364605-8526-410C-B9D0-DA9F8E7BBE9C}"/>
              </a:ext>
            </a:extLst>
          </p:cNvPr>
          <p:cNvSpPr>
            <a:spLocks xmlns:a="http://schemas.openxmlformats.org/drawingml/2006/main" noGrp="1"/>
          </p:cNvSpPr>
          <p:nvPr/>
        </p:nvSpPr>
        <p:spPr>
          <a:xfrm xmlns:a="http://schemas.openxmlformats.org/drawingml/2006/main">
            <a:off x="3162300" y="3467100"/>
            <a:ext cx="3952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Project or model limit</a:t>
            </a:r>
          </a:p>
        </p:txBody>
      </p:sp>
      <p:sp>
        <p:nvSpPr>
          <p:cNvPr id="13" name="text">
            <a:extLst xmlns:a="http://schemas.openxmlformats.org/drawingml/2006/main">
              <a:ext uri="{FF2B5EF4-FFF2-40B4-BE49-F238E27FC236}">
                <a16:creationId xmlns:a16="http://schemas.microsoft.com/office/drawing/2014/main" id="{12717CEB-D1AA-4D5F-8980-98E29479992A}"/>
              </a:ext>
            </a:extLst>
          </p:cNvPr>
          <p:cNvSpPr>
            <a:spLocks xmlns:a="http://schemas.openxmlformats.org/drawingml/2006/main" noGrp="1"/>
          </p:cNvSpPr>
          <p:nvPr/>
        </p:nvSpPr>
        <p:spPr>
          <a:xfrm xmlns:a="http://schemas.openxmlformats.org/drawingml/2006/main">
            <a:off x="7324725" y="3467100"/>
            <a:ext cx="4048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Check AI Studio; stagger requests</a:t>
            </a:r>
          </a:p>
        </p:txBody>
      </p:sp>
      <p:sp>
        <p:nvSpPr>
          <p:cNvPr id="14" name="shape">
            <a:extLst xmlns:a="http://schemas.openxmlformats.org/drawingml/2006/main">
              <a:ext uri="{FF2B5EF4-FFF2-40B4-BE49-F238E27FC236}">
                <a16:creationId xmlns:a16="http://schemas.microsoft.com/office/drawing/2014/main" id="{FB49AE87-9EDE-4BA1-9A6B-5FDC5839A36B}"/>
              </a:ext>
            </a:extLst>
          </p:cNvPr>
          <p:cNvSpPr>
            <a:spLocks xmlns:a="http://schemas.openxmlformats.org/drawingml/2006/main" noGrp="1"/>
          </p:cNvSpPr>
          <p:nvPr/>
        </p:nvSpPr>
        <p:spPr>
          <a:xfrm xmlns:a="http://schemas.openxmlformats.org/drawingml/2006/main">
            <a:off x="609600" y="415290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A9392271-0959-4022-8108-0DC834BF32F4}"/>
              </a:ext>
            </a:extLst>
          </p:cNvPr>
          <p:cNvSpPr>
            <a:spLocks xmlns:a="http://schemas.openxmlformats.org/drawingml/2006/main" noGrp="1"/>
          </p:cNvSpPr>
          <p:nvPr/>
        </p:nvSpPr>
        <p:spPr>
          <a:xfrm xmlns:a="http://schemas.openxmlformats.org/drawingml/2006/main">
            <a:off x="609600" y="4257675"/>
            <a:ext cx="23431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Model unavailable</a:t>
            </a:r>
          </a:p>
        </p:txBody>
      </p:sp>
      <p:sp>
        <p:nvSpPr>
          <p:cNvPr id="16" name="text">
            <a:extLst xmlns:a="http://schemas.openxmlformats.org/drawingml/2006/main">
              <a:ext uri="{FF2B5EF4-FFF2-40B4-BE49-F238E27FC236}">
                <a16:creationId xmlns:a16="http://schemas.microsoft.com/office/drawing/2014/main" id="{F358DB9B-3ADD-4FB0-9059-BEA008796950}"/>
              </a:ext>
            </a:extLst>
          </p:cNvPr>
          <p:cNvSpPr>
            <a:spLocks xmlns:a="http://schemas.openxmlformats.org/drawingml/2006/main" noGrp="1"/>
          </p:cNvSpPr>
          <p:nvPr/>
        </p:nvSpPr>
        <p:spPr>
          <a:xfrm xmlns:a="http://schemas.openxmlformats.org/drawingml/2006/main">
            <a:off x="3162300" y="4257675"/>
            <a:ext cx="3952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Wrong or unavailable model ID</a:t>
            </a:r>
          </a:p>
        </p:txBody>
      </p:sp>
      <p:sp>
        <p:nvSpPr>
          <p:cNvPr id="17" name="text">
            <a:extLst xmlns:a="http://schemas.openxmlformats.org/drawingml/2006/main">
              <a:ext uri="{FF2B5EF4-FFF2-40B4-BE49-F238E27FC236}">
                <a16:creationId xmlns:a16="http://schemas.microsoft.com/office/drawing/2014/main" id="{09DD8BDD-D811-4F2D-87A2-F63ACEFDAE8B}"/>
              </a:ext>
            </a:extLst>
          </p:cNvPr>
          <p:cNvSpPr>
            <a:spLocks xmlns:a="http://schemas.openxmlformats.org/drawingml/2006/main" noGrp="1"/>
          </p:cNvSpPr>
          <p:nvPr/>
        </p:nvSpPr>
        <p:spPr>
          <a:xfrm xmlns:a="http://schemas.openxmlformats.org/drawingml/2006/main">
            <a:off x="7324725" y="4257675"/>
            <a:ext cx="4048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Use an approved listed model</a:t>
            </a:r>
          </a:p>
        </p:txBody>
      </p:sp>
      <p:sp>
        <p:nvSpPr>
          <p:cNvPr id="18" name="shape">
            <a:extLst xmlns:a="http://schemas.openxmlformats.org/drawingml/2006/main">
              <a:ext uri="{FF2B5EF4-FFF2-40B4-BE49-F238E27FC236}">
                <a16:creationId xmlns:a16="http://schemas.microsoft.com/office/drawing/2014/main" id="{13C0445A-B672-4817-9278-227C827229DA}"/>
              </a:ext>
            </a:extLst>
          </p:cNvPr>
          <p:cNvSpPr>
            <a:spLocks xmlns:a="http://schemas.openxmlformats.org/drawingml/2006/main" noGrp="1"/>
          </p:cNvSpPr>
          <p:nvPr/>
        </p:nvSpPr>
        <p:spPr>
          <a:xfrm xmlns:a="http://schemas.openxmlformats.org/drawingml/2006/main">
            <a:off x="609600" y="49434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B40E8670-5C66-41CB-942B-5DB723CFD9F5}"/>
              </a:ext>
            </a:extLst>
          </p:cNvPr>
          <p:cNvSpPr>
            <a:spLocks xmlns:a="http://schemas.openxmlformats.org/drawingml/2006/main" noGrp="1"/>
          </p:cNvSpPr>
          <p:nvPr/>
        </p:nvSpPr>
        <p:spPr>
          <a:xfrm xmlns:a="http://schemas.openxmlformats.org/drawingml/2006/main">
            <a:off x="609600" y="5048250"/>
            <a:ext cx="23431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No final tool answer</a:t>
            </a:r>
          </a:p>
        </p:txBody>
      </p:sp>
      <p:sp>
        <p:nvSpPr>
          <p:cNvPr id="20" name="text">
            <a:extLst xmlns:a="http://schemas.openxmlformats.org/drawingml/2006/main">
              <a:ext uri="{FF2B5EF4-FFF2-40B4-BE49-F238E27FC236}">
                <a16:creationId xmlns:a16="http://schemas.microsoft.com/office/drawing/2014/main" id="{AE9C95CE-8131-437A-8BF9-84A1AAA5CBE2}"/>
              </a:ext>
            </a:extLst>
          </p:cNvPr>
          <p:cNvSpPr>
            <a:spLocks xmlns:a="http://schemas.openxmlformats.org/drawingml/2006/main" noGrp="1"/>
          </p:cNvSpPr>
          <p:nvPr/>
        </p:nvSpPr>
        <p:spPr>
          <a:xfrm xmlns:a="http://schemas.openxmlformats.org/drawingml/2006/main">
            <a:off x="3162300" y="5048250"/>
            <a:ext cx="3952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Model contract not completed</a:t>
            </a:r>
          </a:p>
        </p:txBody>
      </p:sp>
      <p:sp>
        <p:nvSpPr>
          <p:cNvPr id="21" name="text">
            <a:extLst xmlns:a="http://schemas.openxmlformats.org/drawingml/2006/main">
              <a:ext uri="{FF2B5EF4-FFF2-40B4-BE49-F238E27FC236}">
                <a16:creationId xmlns:a16="http://schemas.microsoft.com/office/drawing/2014/main" id="{A3C52AA6-2ED8-480A-825F-AD561D388C39}"/>
              </a:ext>
            </a:extLst>
          </p:cNvPr>
          <p:cNvSpPr>
            <a:spLocks xmlns:a="http://schemas.openxmlformats.org/drawingml/2006/main" noGrp="1"/>
          </p:cNvSpPr>
          <p:nvPr/>
        </p:nvSpPr>
        <p:spPr>
          <a:xfrm xmlns:a="http://schemas.openxmlformats.org/drawingml/2006/main">
            <a:off x="7324725" y="5048250"/>
            <a:ext cx="4048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Inspect trace and retry deliberately</a:t>
            </a:r>
          </a:p>
        </p:txBody>
      </p:sp>
      <p:sp>
        <p:nvSpPr>
          <p:cNvPr id="22" name="shape">
            <a:extLst xmlns:a="http://schemas.openxmlformats.org/drawingml/2006/main">
              <a:ext uri="{FF2B5EF4-FFF2-40B4-BE49-F238E27FC236}">
                <a16:creationId xmlns:a16="http://schemas.microsoft.com/office/drawing/2014/main" id="{66120DBE-9C68-4410-B172-0F9990597EE4}"/>
              </a:ext>
            </a:extLst>
          </p:cNvPr>
          <p:cNvSpPr>
            <a:spLocks xmlns:a="http://schemas.openxmlformats.org/drawingml/2006/main" noGrp="1"/>
          </p:cNvSpPr>
          <p:nvPr/>
        </p:nvSpPr>
        <p:spPr>
          <a:xfrm xmlns:a="http://schemas.openxmlformats.org/drawingml/2006/main">
            <a:off x="609600" y="57340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23" name="shape">
            <a:extLst xmlns:a="http://schemas.openxmlformats.org/drawingml/2006/main">
              <a:ext uri="{FF2B5EF4-FFF2-40B4-BE49-F238E27FC236}">
                <a16:creationId xmlns:a16="http://schemas.microsoft.com/office/drawing/2014/main" id="{921E18B5-072E-4B21-B681-FE0EE69D0116}"/>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669735AF-D567-494A-AF49-A5EA049344DE}"/>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25" name="text">
            <a:extLst xmlns:a="http://schemas.openxmlformats.org/drawingml/2006/main">
              <a:ext uri="{FF2B5EF4-FFF2-40B4-BE49-F238E27FC236}">
                <a16:creationId xmlns:a16="http://schemas.microsoft.com/office/drawing/2014/main" id="{BCCFDAE5-07CE-4EDD-94BE-D988A0A14610}"/>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92</a:t>
            </a:r>
          </a:p>
        </p:txBody>
      </p:sp>
    </p:spTree>
    <p:extLst>
      <p:ext uri="{BB962C8B-B14F-4D97-AF65-F5344CB8AC3E}">
        <p14:creationId xmlns:p14="http://schemas.microsoft.com/office/powerpoint/2010/main" val="1059287349"/>
      </p:ext>
    </p:extLst>
  </p:cSld>
</p:sld>
</file>

<file path=ppt/slides/slide93.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5A9CDD14-66A4-4D0A-9F1E-51A7DA0AFD4D}"/>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FACILITATOR REFERENCE</a:t>
            </a:r>
          </a:p>
        </p:txBody>
      </p:sp>
      <p:sp>
        <p:nvSpPr>
          <p:cNvPr id="2" name="text">
            <a:extLst xmlns:a="http://schemas.openxmlformats.org/drawingml/2006/main">
              <a:ext uri="{FF2B5EF4-FFF2-40B4-BE49-F238E27FC236}">
                <a16:creationId xmlns:a16="http://schemas.microsoft.com/office/drawing/2014/main" id="{8E0B83CE-4282-4683-A0DC-8C6C36D21EF5}"/>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Stop safely and preserve today’s work.</a:t>
            </a:r>
          </a:p>
        </p:txBody>
      </p:sp>
      <p:sp>
        <p:nvSpPr>
          <p:cNvPr id="3" name="shape">
            <a:extLst xmlns:a="http://schemas.openxmlformats.org/drawingml/2006/main">
              <a:ext uri="{FF2B5EF4-FFF2-40B4-BE49-F238E27FC236}">
                <a16:creationId xmlns:a16="http://schemas.microsoft.com/office/drawing/2014/main" id="{A7F847EF-FDFE-4DBE-9935-35706B1701E3}"/>
              </a:ext>
            </a:extLst>
          </p:cNvPr>
          <p:cNvSpPr>
            <a:spLocks xmlns:a="http://schemas.openxmlformats.org/drawingml/2006/main" noGrp="1"/>
          </p:cNvSpPr>
          <p:nvPr/>
        </p:nvSpPr>
        <p:spPr>
          <a:xfrm xmlns:a="http://schemas.openxmlformats.org/drawingml/2006/main">
            <a:off x="609600" y="2143125"/>
            <a:ext cx="10972800" cy="2190750"/>
          </a:xfrm>
          <a:prstGeom xmlns:a="http://schemas.openxmlformats.org/drawingml/2006/main" prst="rect">
            <a:avLst/>
          </a:prstGeom>
          <a:solidFill xmlns:a="http://schemas.openxmlformats.org/drawingml/2006/main">
            <a:srgbClr val="102735"/>
          </a:solidFill>
          <a:ln xmlns:a="http://schemas.openxmlformats.org/drawingml/2006/main" w="0">
            <a:noFill/>
          </a:ln>
        </p:spPr>
      </p:sp>
      <p:sp>
        <p:nvSpPr>
          <p:cNvPr id="4" name="text">
            <a:extLst xmlns:a="http://schemas.openxmlformats.org/drawingml/2006/main">
              <a:ext uri="{FF2B5EF4-FFF2-40B4-BE49-F238E27FC236}">
                <a16:creationId xmlns:a16="http://schemas.microsoft.com/office/drawing/2014/main" id="{2CFE6F78-DA08-4EE9-B173-DB8A0D6D352E}"/>
              </a:ext>
            </a:extLst>
          </p:cNvPr>
          <p:cNvSpPr>
            <a:spLocks xmlns:a="http://schemas.openxmlformats.org/drawingml/2006/main" noGrp="1"/>
          </p:cNvSpPr>
          <p:nvPr/>
        </p:nvSpPr>
        <p:spPr>
          <a:xfrm xmlns:a="http://schemas.openxmlformats.org/drawingml/2006/main">
            <a:off x="857250" y="2333625"/>
            <a:ext cx="104775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 Stop the running server in its terminal:</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Ctrl+C</a:t>
            </a:r>
          </a:p>
          <a:p xmlns:a="http://schemas.openxmlformats.org/drawingml/2006/main">
            <a:r>
              <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 Restart later from the project folder:</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uv run agentforge-jarvis web</a:t>
            </a:r>
          </a:p>
        </p:txBody>
      </p:sp>
      <p:sp>
        <p:nvSpPr>
          <p:cNvPr id="5" name="text">
            <a:extLst xmlns:a="http://schemas.openxmlformats.org/drawingml/2006/main">
              <a:ext uri="{FF2B5EF4-FFF2-40B4-BE49-F238E27FC236}">
                <a16:creationId xmlns:a16="http://schemas.microsoft.com/office/drawing/2014/main" id="{5C1F52B9-A163-4D3A-A078-C93DCEA51A6C}"/>
              </a:ext>
            </a:extLst>
          </p:cNvPr>
          <p:cNvSpPr>
            <a:spLocks xmlns:a="http://schemas.openxmlformats.org/drawingml/2006/main" noGrp="1"/>
          </p:cNvSpPr>
          <p:nvPr/>
        </p:nvSpPr>
        <p:spPr>
          <a:xfrm xmlns:a="http://schemas.openxmlformats.org/drawingml/2006/main">
            <a:off x="609600" y="57912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Keep the same local team ID and the .agentforge data directory.</a:t>
            </a:r>
          </a:p>
        </p:txBody>
      </p:sp>
      <p:sp>
        <p:nvSpPr>
          <p:cNvPr id="6" name="shape">
            <a:extLst xmlns:a="http://schemas.openxmlformats.org/drawingml/2006/main">
              <a:ext uri="{FF2B5EF4-FFF2-40B4-BE49-F238E27FC236}">
                <a16:creationId xmlns:a16="http://schemas.microsoft.com/office/drawing/2014/main" id="{C10798FD-4C50-4AEC-92F1-CE127E85973C}"/>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C561DDCA-4694-407E-A904-5461A8A9C8FA}"/>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8" name="text">
            <a:extLst xmlns:a="http://schemas.openxmlformats.org/drawingml/2006/main">
              <a:ext uri="{FF2B5EF4-FFF2-40B4-BE49-F238E27FC236}">
                <a16:creationId xmlns:a16="http://schemas.microsoft.com/office/drawing/2014/main" id="{584CB86B-8184-44DB-A2D7-2A5905CBC5FB}"/>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93</a:t>
            </a:r>
          </a:p>
        </p:txBody>
      </p:sp>
    </p:spTree>
    <p:extLst>
      <p:ext uri="{BB962C8B-B14F-4D97-AF65-F5344CB8AC3E}">
        <p14:creationId xmlns:p14="http://schemas.microsoft.com/office/powerpoint/2010/main" val="209192572"/>
      </p:ext>
    </p:extLst>
  </p:cSld>
</p:sld>
</file>

<file path=ppt/slides/slide94.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6" name="text">
            <a:extLst xmlns:a="http://schemas.openxmlformats.org/drawingml/2006/main">
              <a:ext uri="{FF2B5EF4-FFF2-40B4-BE49-F238E27FC236}">
                <a16:creationId xmlns:a16="http://schemas.microsoft.com/office/drawing/2014/main" id="{82AC3256-DE65-4565-974D-07BF749DE160}"/>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FACILITATOR REFERENCE</a:t>
            </a:r>
          </a:p>
        </p:txBody>
      </p:sp>
      <p:sp>
        <p:nvSpPr>
          <p:cNvPr id="2" name="text">
            <a:extLst xmlns:a="http://schemas.openxmlformats.org/drawingml/2006/main">
              <a:ext uri="{FF2B5EF4-FFF2-40B4-BE49-F238E27FC236}">
                <a16:creationId xmlns:a16="http://schemas.microsoft.com/office/drawing/2014/main" id="{0E701FF9-A6BA-40ED-9226-70632070B25A}"/>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Arthi: publish the prepared project folder.</a:t>
            </a:r>
          </a:p>
        </p:txBody>
      </p:sp>
      <p:sp>
        <p:nvSpPr>
          <p:cNvPr id="3" name="flow-node">
            <a:extLst xmlns:a="http://schemas.openxmlformats.org/drawingml/2006/main">
              <a:ext uri="{FF2B5EF4-FFF2-40B4-BE49-F238E27FC236}">
                <a16:creationId xmlns:a16="http://schemas.microsoft.com/office/drawing/2014/main" id="{2FD6528E-E4FF-4B0F-BC8E-48D72758E074}"/>
              </a:ext>
            </a:extLst>
          </p:cNvPr>
          <p:cNvSpPr>
            <a:spLocks xmlns:a="http://schemas.openxmlformats.org/drawingml/2006/main" noGrp="1"/>
          </p:cNvSpPr>
          <p:nvPr/>
        </p:nvSpPr>
        <p:spPr>
          <a:xfrm xmlns:a="http://schemas.openxmlformats.org/drawingml/2006/main">
            <a:off x="609600" y="2857500"/>
            <a:ext cx="1965960"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Inspect ignored files</a:t>
            </a:r>
          </a:p>
        </p:txBody>
      </p:sp>
      <p:sp>
        <p:nvSpPr>
          <p:cNvPr id="4" name="flow-node">
            <a:extLst xmlns:a="http://schemas.openxmlformats.org/drawingml/2006/main">
              <a:ext uri="{FF2B5EF4-FFF2-40B4-BE49-F238E27FC236}">
                <a16:creationId xmlns:a16="http://schemas.microsoft.com/office/drawing/2014/main" id="{A74CA153-FBBA-4F54-9FF2-41BA589FBD0E}"/>
              </a:ext>
            </a:extLst>
          </p:cNvPr>
          <p:cNvSpPr>
            <a:spLocks xmlns:a="http://schemas.openxmlformats.org/drawingml/2006/main" noGrp="1"/>
          </p:cNvSpPr>
          <p:nvPr/>
        </p:nvSpPr>
        <p:spPr>
          <a:xfrm xmlns:a="http://schemas.openxmlformats.org/drawingml/2006/main">
            <a:off x="2861310" y="2857500"/>
            <a:ext cx="1965960"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Create empty GitHub repo</a:t>
            </a:r>
          </a:p>
        </p:txBody>
      </p:sp>
      <p:sp>
        <p:nvSpPr>
          <p:cNvPr id="5" name="flow-node">
            <a:extLst xmlns:a="http://schemas.openxmlformats.org/drawingml/2006/main">
              <a:ext uri="{FF2B5EF4-FFF2-40B4-BE49-F238E27FC236}">
                <a16:creationId xmlns:a16="http://schemas.microsoft.com/office/drawing/2014/main" id="{88007F89-01C4-40EA-9AC8-452D90BD5957}"/>
              </a:ext>
            </a:extLst>
          </p:cNvPr>
          <p:cNvSpPr>
            <a:spLocks xmlns:a="http://schemas.openxmlformats.org/drawingml/2006/main" noGrp="1"/>
          </p:cNvSpPr>
          <p:nvPr/>
        </p:nvSpPr>
        <p:spPr>
          <a:xfrm xmlns:a="http://schemas.openxmlformats.org/drawingml/2006/main">
            <a:off x="5113020" y="2857500"/>
            <a:ext cx="1965960"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Commit local source</a:t>
            </a:r>
          </a:p>
        </p:txBody>
      </p:sp>
      <p:sp>
        <p:nvSpPr>
          <p:cNvPr id="6" name="flow-node">
            <a:extLst xmlns:a="http://schemas.openxmlformats.org/drawingml/2006/main">
              <a:ext uri="{FF2B5EF4-FFF2-40B4-BE49-F238E27FC236}">
                <a16:creationId xmlns:a16="http://schemas.microsoft.com/office/drawing/2014/main" id="{DBCACB15-1805-4459-B03F-88A68102674C}"/>
              </a:ext>
            </a:extLst>
          </p:cNvPr>
          <p:cNvSpPr>
            <a:spLocks xmlns:a="http://schemas.openxmlformats.org/drawingml/2006/main" noGrp="1"/>
          </p:cNvSpPr>
          <p:nvPr/>
        </p:nvSpPr>
        <p:spPr>
          <a:xfrm xmlns:a="http://schemas.openxmlformats.org/drawingml/2006/main">
            <a:off x="7364730" y="2857500"/>
            <a:ext cx="1965960"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Push to that repo</a:t>
            </a:r>
          </a:p>
        </p:txBody>
      </p:sp>
      <p:sp>
        <p:nvSpPr>
          <p:cNvPr id="7" name="flow-node">
            <a:extLst xmlns:a="http://schemas.openxmlformats.org/drawingml/2006/main">
              <a:ext uri="{FF2B5EF4-FFF2-40B4-BE49-F238E27FC236}">
                <a16:creationId xmlns:a16="http://schemas.microsoft.com/office/drawing/2014/main" id="{C024D4BA-87DF-4234-B94F-5FD86F042BEC}"/>
              </a:ext>
            </a:extLst>
          </p:cNvPr>
          <p:cNvSpPr>
            <a:spLocks xmlns:a="http://schemas.openxmlformats.org/drawingml/2006/main" noGrp="1"/>
          </p:cNvSpPr>
          <p:nvPr/>
        </p:nvSpPr>
        <p:spPr>
          <a:xfrm xmlns:a="http://schemas.openxmlformats.org/drawingml/2006/main">
            <a:off x="9616440" y="2857500"/>
            <a:ext cx="1965960"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Test a fresh clone</a:t>
            </a:r>
          </a:p>
        </p:txBody>
      </p:sp>
      <p:cxnSp>
        <p:nvCxnSpPr>
          <p:cNvPr id="23" name=""/>
          <p:cNvCxnSpPr>
            <a:stCxn xmlns:a="http://schemas.openxmlformats.org/drawingml/2006/main" id="3" idx="3"/>
            <a:endCxn xmlns:a="http://schemas.openxmlformats.org/drawingml/2006/main" id="4" idx="1"/>
          </p:cNvCxnSpPr>
          <p:nvPr/>
        </p:nvCxnSpPr>
        <p:spPr>
          <a:xfrm xmlns:a="http://schemas.openxmlformats.org/drawingml/2006/main">
            <a:off x="2575560"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4" name=""/>
          <p:cNvCxnSpPr>
            <a:stCxn xmlns:a="http://schemas.openxmlformats.org/drawingml/2006/main" id="4" idx="3"/>
            <a:endCxn xmlns:a="http://schemas.openxmlformats.org/drawingml/2006/main" id="5" idx="1"/>
          </p:cNvCxnSpPr>
          <p:nvPr/>
        </p:nvCxnSpPr>
        <p:spPr>
          <a:xfrm xmlns:a="http://schemas.openxmlformats.org/drawingml/2006/main">
            <a:off x="4827270"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5" name=""/>
          <p:cNvCxnSpPr>
            <a:stCxn xmlns:a="http://schemas.openxmlformats.org/drawingml/2006/main" id="5" idx="3"/>
            <a:endCxn xmlns:a="http://schemas.openxmlformats.org/drawingml/2006/main" id="6" idx="1"/>
          </p:cNvCxnSpPr>
          <p:nvPr/>
        </p:nvCxnSpPr>
        <p:spPr>
          <a:xfrm xmlns:a="http://schemas.openxmlformats.org/drawingml/2006/main">
            <a:off x="7078980"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6" name=""/>
          <p:cNvCxnSpPr>
            <a:stCxn xmlns:a="http://schemas.openxmlformats.org/drawingml/2006/main" id="6" idx="3"/>
            <a:endCxn xmlns:a="http://schemas.openxmlformats.org/drawingml/2006/main" id="7" idx="1"/>
          </p:cNvCxnSpPr>
          <p:nvPr/>
        </p:nvCxnSpPr>
        <p:spPr>
          <a:xfrm xmlns:a="http://schemas.openxmlformats.org/drawingml/2006/main">
            <a:off x="9330690"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sp>
        <p:nvSpPr>
          <p:cNvPr id="12" name="text">
            <a:extLst xmlns:a="http://schemas.openxmlformats.org/drawingml/2006/main">
              <a:ext uri="{FF2B5EF4-FFF2-40B4-BE49-F238E27FC236}">
                <a16:creationId xmlns:a16="http://schemas.microsoft.com/office/drawing/2014/main" id="{07C78CE2-4B68-4619-AA9E-05EDD6D51093}"/>
              </a:ext>
            </a:extLst>
          </p:cNvPr>
          <p:cNvSpPr>
            <a:spLocks xmlns:a="http://schemas.openxmlformats.org/drawingml/2006/main" noGrp="1"/>
          </p:cNvSpPr>
          <p:nvPr/>
        </p:nvSpPr>
        <p:spPr>
          <a:xfrm xmlns:a="http://schemas.openxmlformats.org/drawingml/2006/main">
            <a:off x="609600" y="50673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DFBF"/>
                </a:solidFill>
                <a:latin typeface="Aptos"/>
                <a:ea typeface="Aptos"/>
                <a:cs typeface="Aptos"/>
              </a:defRPr>
            </a:pPr>
            <a:r>
              <a:rPr sz="1800" b="0">
                <a:solidFill>
                  <a:srgbClr val="61DFBF"/>
                </a:solidFill>
                <a:latin typeface="Aptos"/>
                <a:ea typeface="Aptos"/>
                <a:cs typeface="Aptos"/>
              </a:rPr>
              <a:t>Use workshop/PUBLISHING.md. Publish only the agentforge-jarvis project.</a:t>
            </a:r>
          </a:p>
        </p:txBody>
      </p:sp>
      <p:sp>
        <p:nvSpPr>
          <p:cNvPr id="13" name="shape">
            <a:extLst xmlns:a="http://schemas.openxmlformats.org/drawingml/2006/main">
              <a:ext uri="{FF2B5EF4-FFF2-40B4-BE49-F238E27FC236}">
                <a16:creationId xmlns:a16="http://schemas.microsoft.com/office/drawing/2014/main" id="{FEDD48A9-95BF-497E-ADBA-974227D6FAC3}"/>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80529331-45BE-407E-BBC2-0CFDB173F6E6}"/>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15" name="text">
            <a:extLst xmlns:a="http://schemas.openxmlformats.org/drawingml/2006/main">
              <a:ext uri="{FF2B5EF4-FFF2-40B4-BE49-F238E27FC236}">
                <a16:creationId xmlns:a16="http://schemas.microsoft.com/office/drawing/2014/main" id="{4BD83DB2-979C-48F8-B756-B295670F04EC}"/>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94</a:t>
            </a:r>
          </a:p>
        </p:txBody>
      </p:sp>
    </p:spTree>
    <p:extLst>
      <p:ext uri="{BB962C8B-B14F-4D97-AF65-F5344CB8AC3E}">
        <p14:creationId xmlns:p14="http://schemas.microsoft.com/office/powerpoint/2010/main" val="178102387"/>
      </p:ext>
    </p:extLst>
  </p:cSld>
</p:sld>
</file>

<file path=ppt/slides/slide95.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3B3EFAA9-9C4F-4A21-8D47-736306EEA7D5}"/>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FACILITATOR REFERENCE</a:t>
            </a:r>
          </a:p>
        </p:txBody>
      </p:sp>
      <p:sp>
        <p:nvSpPr>
          <p:cNvPr id="2" name="text">
            <a:extLst xmlns:a="http://schemas.openxmlformats.org/drawingml/2006/main">
              <a:ext uri="{FF2B5EF4-FFF2-40B4-BE49-F238E27FC236}">
                <a16:creationId xmlns:a16="http://schemas.microsoft.com/office/drawing/2014/main" id="{E8CAE5BB-0B4A-40A5-9309-A030DF0F4566}"/>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Test the same path the team will use.</a:t>
            </a:r>
          </a:p>
        </p:txBody>
      </p:sp>
      <p:sp>
        <p:nvSpPr>
          <p:cNvPr id="3" name="shape">
            <a:extLst xmlns:a="http://schemas.openxmlformats.org/drawingml/2006/main">
              <a:ext uri="{FF2B5EF4-FFF2-40B4-BE49-F238E27FC236}">
                <a16:creationId xmlns:a16="http://schemas.microsoft.com/office/drawing/2014/main" id="{A0AD50A4-062B-49FD-97E4-ED9A43017AD7}"/>
              </a:ext>
            </a:extLst>
          </p:cNvPr>
          <p:cNvSpPr>
            <a:spLocks xmlns:a="http://schemas.openxmlformats.org/drawingml/2006/main" noGrp="1"/>
          </p:cNvSpPr>
          <p:nvPr/>
        </p:nvSpPr>
        <p:spPr>
          <a:xfrm xmlns:a="http://schemas.openxmlformats.org/drawingml/2006/main">
            <a:off x="609600" y="2143125"/>
            <a:ext cx="10972800" cy="2790825"/>
          </a:xfrm>
          <a:prstGeom xmlns:a="http://schemas.openxmlformats.org/drawingml/2006/main" prst="rect">
            <a:avLst/>
          </a:prstGeom>
          <a:solidFill xmlns:a="http://schemas.openxmlformats.org/drawingml/2006/main">
            <a:srgbClr val="102735"/>
          </a:solidFill>
          <a:ln xmlns:a="http://schemas.openxmlformats.org/drawingml/2006/main" w="0">
            <a:noFill/>
          </a:ln>
        </p:spPr>
      </p:sp>
      <p:sp>
        <p:nvSpPr>
          <p:cNvPr id="4" name="text">
            <a:extLst xmlns:a="http://schemas.openxmlformats.org/drawingml/2006/main">
              <a:ext uri="{FF2B5EF4-FFF2-40B4-BE49-F238E27FC236}">
                <a16:creationId xmlns:a16="http://schemas.microsoft.com/office/drawing/2014/main" id="{5CA4BDA4-2F5F-4F53-A448-5955D00147AA}"/>
              </a:ext>
            </a:extLst>
          </p:cNvPr>
          <p:cNvSpPr>
            <a:spLocks xmlns:a="http://schemas.openxmlformats.org/drawingml/2006/main" noGrp="1"/>
          </p:cNvSpPr>
          <p:nvPr/>
        </p:nvSpPr>
        <p:spPr>
          <a:xfrm xmlns:a="http://schemas.openxmlformats.org/drawingml/2006/main">
            <a:off x="857250" y="2333625"/>
            <a:ext cx="10477500" cy="2466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 After cloning the published repository:</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cd agentforge-jarvis</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uv sync --frozen</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uv run pytest -q</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 Configure .env using LIVE_QUICKSTART.md first.</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uv run agentforge-jarvis doctor</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uv run python workshop/first_agent_live.py</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uv run agentforge-jarvis web</a:t>
            </a:r>
          </a:p>
        </p:txBody>
      </p:sp>
      <p:sp>
        <p:nvSpPr>
          <p:cNvPr id="5" name="text">
            <a:extLst xmlns:a="http://schemas.openxmlformats.org/drawingml/2006/main">
              <a:ext uri="{FF2B5EF4-FFF2-40B4-BE49-F238E27FC236}">
                <a16:creationId xmlns:a16="http://schemas.microsoft.com/office/drawing/2014/main" id="{4027863E-3249-4607-8327-B3765B34632A}"/>
              </a:ext>
            </a:extLst>
          </p:cNvPr>
          <p:cNvSpPr>
            <a:spLocks xmlns:a="http://schemas.openxmlformats.org/drawingml/2006/main" noGrp="1"/>
          </p:cNvSpPr>
          <p:nvPr/>
        </p:nvSpPr>
        <p:spPr>
          <a:xfrm xmlns:a="http://schemas.openxmlformats.org/drawingml/2006/main">
            <a:off x="609600" y="57912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Verify access from a participant account if the repository is private.</a:t>
            </a:r>
          </a:p>
        </p:txBody>
      </p:sp>
      <p:sp>
        <p:nvSpPr>
          <p:cNvPr id="6" name="shape">
            <a:extLst xmlns:a="http://schemas.openxmlformats.org/drawingml/2006/main">
              <a:ext uri="{FF2B5EF4-FFF2-40B4-BE49-F238E27FC236}">
                <a16:creationId xmlns:a16="http://schemas.microsoft.com/office/drawing/2014/main" id="{6BCF89FD-B0D3-43CF-A1CB-CECAEB356EEE}"/>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45E64989-AF9C-4960-8908-2F065069974C}"/>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8" name="text">
            <a:extLst xmlns:a="http://schemas.openxmlformats.org/drawingml/2006/main">
              <a:ext uri="{FF2B5EF4-FFF2-40B4-BE49-F238E27FC236}">
                <a16:creationId xmlns:a16="http://schemas.microsoft.com/office/drawing/2014/main" id="{FC1FA975-52FA-4699-83FA-A3B1A2FBAA01}"/>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95</a:t>
            </a:r>
          </a:p>
        </p:txBody>
      </p:sp>
    </p:spTree>
    <p:extLst>
      <p:ext uri="{BB962C8B-B14F-4D97-AF65-F5344CB8AC3E}">
        <p14:creationId xmlns:p14="http://schemas.microsoft.com/office/powerpoint/2010/main" val="1089803915"/>
      </p:ext>
    </p:extLst>
  </p:cSld>
</p:sld>
</file>

<file path=ppt/slides/slide96.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6ADD9944-AD58-4180-AEBF-035BF15EA99A}"/>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FACILITATOR REFERENCE</a:t>
            </a:r>
          </a:p>
        </p:txBody>
      </p:sp>
      <p:sp>
        <p:nvSpPr>
          <p:cNvPr id="2" name="text">
            <a:extLst xmlns:a="http://schemas.openxmlformats.org/drawingml/2006/main">
              <a:ext uri="{FF2B5EF4-FFF2-40B4-BE49-F238E27FC236}">
                <a16:creationId xmlns:a16="http://schemas.microsoft.com/office/drawing/2014/main" id="{D28C28D4-88E8-4B63-AB53-B8C9B45F3F9F}"/>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An explicit fallback keeps the lesson honest.</a:t>
            </a:r>
          </a:p>
        </p:txBody>
      </p:sp>
      <p:sp>
        <p:nvSpPr>
          <p:cNvPr id="3" name="shape">
            <a:extLst xmlns:a="http://schemas.openxmlformats.org/drawingml/2006/main">
              <a:ext uri="{FF2B5EF4-FFF2-40B4-BE49-F238E27FC236}">
                <a16:creationId xmlns:a16="http://schemas.microsoft.com/office/drawing/2014/main" id="{1EC6B37C-B925-48E3-99CA-0180A8A7873D}"/>
              </a:ext>
            </a:extLst>
          </p:cNvPr>
          <p:cNvSpPr>
            <a:spLocks xmlns:a="http://schemas.openxmlformats.org/drawingml/2006/main" noGrp="1"/>
          </p:cNvSpPr>
          <p:nvPr/>
        </p:nvSpPr>
        <p:spPr>
          <a:xfrm xmlns:a="http://schemas.openxmlformats.org/drawingml/2006/main">
            <a:off x="609600" y="2143125"/>
            <a:ext cx="10972800" cy="2200275"/>
          </a:xfrm>
          <a:prstGeom xmlns:a="http://schemas.openxmlformats.org/drawingml/2006/main" prst="rect">
            <a:avLst/>
          </a:prstGeom>
          <a:solidFill xmlns:a="http://schemas.openxmlformats.org/drawingml/2006/main">
            <a:srgbClr val="102735"/>
          </a:solidFill>
          <a:ln xmlns:a="http://schemas.openxmlformats.org/drawingml/2006/main" w="0">
            <a:noFill/>
          </a:ln>
        </p:spPr>
      </p:sp>
      <p:sp>
        <p:nvSpPr>
          <p:cNvPr id="4" name="text">
            <a:extLst xmlns:a="http://schemas.openxmlformats.org/drawingml/2006/main">
              <a:ext uri="{FF2B5EF4-FFF2-40B4-BE49-F238E27FC236}">
                <a16:creationId xmlns:a16="http://schemas.microsoft.com/office/drawing/2014/main" id="{6A9623D5-DBAE-4E4D-A022-88E7CA49D0B1}"/>
              </a:ext>
            </a:extLst>
          </p:cNvPr>
          <p:cNvSpPr>
            <a:spLocks xmlns:a="http://schemas.openxmlformats.org/drawingml/2006/main" noGrp="1"/>
          </p:cNvSpPr>
          <p:nvPr/>
        </p:nvSpPr>
        <p:spPr>
          <a:xfrm xmlns:a="http://schemas.openxmlformats.org/drawingml/2006/main">
            <a:off x="857250" y="2333625"/>
            <a:ext cx="10477500" cy="187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 macOS shell, only if Arthi switches the exercise:</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export AGENTFORGE_PROVIDER=rehearsal</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uv run agentforge-jarvis web</a:t>
            </a:r>
          </a:p>
          <a:p xmlns:a="http://schemas.openxmlformats.org/drawingml/2006/main">
            <a:r>
              <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 Windows PowerShell:</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$env:AGENTFORGE_PROVIDER="rehearsal"</a:t>
            </a:r>
          </a:p>
        </p:txBody>
      </p:sp>
      <p:sp>
        <p:nvSpPr>
          <p:cNvPr id="5" name="text">
            <a:extLst xmlns:a="http://schemas.openxmlformats.org/drawingml/2006/main">
              <a:ext uri="{FF2B5EF4-FFF2-40B4-BE49-F238E27FC236}">
                <a16:creationId xmlns:a16="http://schemas.microsoft.com/office/drawing/2014/main" id="{68DA379E-FB64-4E2F-91C0-625D5CE7B248}"/>
              </a:ext>
            </a:extLst>
          </p:cNvPr>
          <p:cNvSpPr>
            <a:spLocks xmlns:a="http://schemas.openxmlformats.org/drawingml/2006/main" noGrp="1"/>
          </p:cNvSpPr>
          <p:nvPr/>
        </p:nvSpPr>
        <p:spPr>
          <a:xfrm xmlns:a="http://schemas.openxmlformats.org/drawingml/2006/main">
            <a:off x="609600" y="57912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Stop and restart the server. Label this run as rehearsal.</a:t>
            </a:r>
          </a:p>
        </p:txBody>
      </p:sp>
      <p:sp>
        <p:nvSpPr>
          <p:cNvPr id="6" name="shape">
            <a:extLst xmlns:a="http://schemas.openxmlformats.org/drawingml/2006/main">
              <a:ext uri="{FF2B5EF4-FFF2-40B4-BE49-F238E27FC236}">
                <a16:creationId xmlns:a16="http://schemas.microsoft.com/office/drawing/2014/main" id="{76056232-5427-4FF0-8003-27035F29D658}"/>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2E073803-64B0-494E-980C-CA86E3903FD7}"/>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8" name="text">
            <a:extLst xmlns:a="http://schemas.openxmlformats.org/drawingml/2006/main">
              <a:ext uri="{FF2B5EF4-FFF2-40B4-BE49-F238E27FC236}">
                <a16:creationId xmlns:a16="http://schemas.microsoft.com/office/drawing/2014/main" id="{53237500-CE21-4D8D-BC09-EF5C0E00283D}"/>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96</a:t>
            </a:r>
          </a:p>
        </p:txBody>
      </p:sp>
    </p:spTree>
    <p:extLst>
      <p:ext uri="{BB962C8B-B14F-4D97-AF65-F5344CB8AC3E}">
        <p14:creationId xmlns:p14="http://schemas.microsoft.com/office/powerpoint/2010/main" val="131234459"/>
      </p:ext>
    </p:extLst>
  </p:cSld>
</p:sld>
</file>

<file path=ppt/slides/slide97.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34" name="text">
            <a:extLst xmlns:a="http://schemas.openxmlformats.org/drawingml/2006/main">
              <a:ext uri="{FF2B5EF4-FFF2-40B4-BE49-F238E27FC236}">
                <a16:creationId xmlns:a16="http://schemas.microsoft.com/office/drawing/2014/main" id="{FC66EFCF-7BC2-4F6A-8032-3C4FF8DA31B9}"/>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FACILITATOR REFERENCE</a:t>
            </a:r>
          </a:p>
        </p:txBody>
      </p:sp>
      <p:sp>
        <p:nvSpPr>
          <p:cNvPr id="2" name="text">
            <a:extLst xmlns:a="http://schemas.openxmlformats.org/drawingml/2006/main">
              <a:ext uri="{FF2B5EF4-FFF2-40B4-BE49-F238E27FC236}">
                <a16:creationId xmlns:a16="http://schemas.microsoft.com/office/drawing/2014/main" id="{1DB736DB-58DF-4E79-8D73-9D21AE3BC630}"/>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Translate the jargon into everyday language.</a:t>
            </a:r>
          </a:p>
        </p:txBody>
      </p:sp>
      <p:sp>
        <p:nvSpPr>
          <p:cNvPr id="3" name="text">
            <a:extLst xmlns:a="http://schemas.openxmlformats.org/drawingml/2006/main">
              <a:ext uri="{FF2B5EF4-FFF2-40B4-BE49-F238E27FC236}">
                <a16:creationId xmlns:a16="http://schemas.microsoft.com/office/drawing/2014/main" id="{CBFE082A-0376-4C33-805B-6298B91FF183}"/>
              </a:ext>
            </a:extLst>
          </p:cNvPr>
          <p:cNvSpPr>
            <a:spLocks xmlns:a="http://schemas.openxmlformats.org/drawingml/2006/main" noGrp="1"/>
          </p:cNvSpPr>
          <p:nvPr/>
        </p:nvSpPr>
        <p:spPr>
          <a:xfrm xmlns:a="http://schemas.openxmlformats.org/drawingml/2006/main">
            <a:off x="609600" y="2095500"/>
            <a:ext cx="2343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Term</a:t>
            </a:r>
          </a:p>
        </p:txBody>
      </p:sp>
      <p:sp>
        <p:nvSpPr>
          <p:cNvPr id="4" name="text">
            <a:extLst xmlns:a="http://schemas.openxmlformats.org/drawingml/2006/main">
              <a:ext uri="{FF2B5EF4-FFF2-40B4-BE49-F238E27FC236}">
                <a16:creationId xmlns:a16="http://schemas.microsoft.com/office/drawing/2014/main" id="{192F1712-1EEC-4A52-ABD4-23C3B08FF8C1}"/>
              </a:ext>
            </a:extLst>
          </p:cNvPr>
          <p:cNvSpPr>
            <a:spLocks xmlns:a="http://schemas.openxmlformats.org/drawingml/2006/main" noGrp="1"/>
          </p:cNvSpPr>
          <p:nvPr/>
        </p:nvSpPr>
        <p:spPr>
          <a:xfrm xmlns:a="http://schemas.openxmlformats.org/drawingml/2006/main">
            <a:off x="3162300" y="2095500"/>
            <a:ext cx="3952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Plain meaning</a:t>
            </a:r>
          </a:p>
        </p:txBody>
      </p:sp>
      <p:sp>
        <p:nvSpPr>
          <p:cNvPr id="5" name="text">
            <a:extLst xmlns:a="http://schemas.openxmlformats.org/drawingml/2006/main">
              <a:ext uri="{FF2B5EF4-FFF2-40B4-BE49-F238E27FC236}">
                <a16:creationId xmlns:a16="http://schemas.microsoft.com/office/drawing/2014/main" id="{ADD070B2-831E-4564-A7FF-AEEEF25A2894}"/>
              </a:ext>
            </a:extLst>
          </p:cNvPr>
          <p:cNvSpPr>
            <a:spLocks xmlns:a="http://schemas.openxmlformats.org/drawingml/2006/main" noGrp="1"/>
          </p:cNvSpPr>
          <p:nvPr/>
        </p:nvSpPr>
        <p:spPr>
          <a:xfrm xmlns:a="http://schemas.openxmlformats.org/drawingml/2006/main">
            <a:off x="7324725" y="2095500"/>
            <a:ext cx="4048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Our example</a:t>
            </a:r>
          </a:p>
        </p:txBody>
      </p:sp>
      <p:sp>
        <p:nvSpPr>
          <p:cNvPr id="6" name="shape">
            <a:extLst xmlns:a="http://schemas.openxmlformats.org/drawingml/2006/main">
              <a:ext uri="{FF2B5EF4-FFF2-40B4-BE49-F238E27FC236}">
                <a16:creationId xmlns:a16="http://schemas.microsoft.com/office/drawing/2014/main" id="{9511CE78-0824-4251-90F0-D92BD9690439}"/>
              </a:ext>
            </a:extLst>
          </p:cNvPr>
          <p:cNvSpPr>
            <a:spLocks xmlns:a="http://schemas.openxmlformats.org/drawingml/2006/main" noGrp="1"/>
          </p:cNvSpPr>
          <p:nvPr/>
        </p:nvSpPr>
        <p:spPr>
          <a:xfrm xmlns:a="http://schemas.openxmlformats.org/drawingml/2006/main">
            <a:off x="609600" y="25050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64D6F395-0670-4335-AC15-3700F4458B36}"/>
              </a:ext>
            </a:extLst>
          </p:cNvPr>
          <p:cNvSpPr>
            <a:spLocks xmlns:a="http://schemas.openxmlformats.org/drawingml/2006/main" noGrp="1"/>
          </p:cNvSpPr>
          <p:nvPr/>
        </p:nvSpPr>
        <p:spPr>
          <a:xfrm xmlns:a="http://schemas.openxmlformats.org/drawingml/2006/main">
            <a:off x="609600" y="2676525"/>
            <a:ext cx="2343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Agent</a:t>
            </a:r>
          </a:p>
        </p:txBody>
      </p:sp>
      <p:sp>
        <p:nvSpPr>
          <p:cNvPr id="8" name="text">
            <a:extLst xmlns:a="http://schemas.openxmlformats.org/drawingml/2006/main">
              <a:ext uri="{FF2B5EF4-FFF2-40B4-BE49-F238E27FC236}">
                <a16:creationId xmlns:a16="http://schemas.microsoft.com/office/drawing/2014/main" id="{8321AC78-E2A2-443C-940D-E983A55FE294}"/>
              </a:ext>
            </a:extLst>
          </p:cNvPr>
          <p:cNvSpPr>
            <a:spLocks xmlns:a="http://schemas.openxmlformats.org/drawingml/2006/main" noGrp="1"/>
          </p:cNvSpPr>
          <p:nvPr/>
        </p:nvSpPr>
        <p:spPr>
          <a:xfrm xmlns:a="http://schemas.openxmlformats.org/drawingml/2006/main">
            <a:off x="3162300" y="2676525"/>
            <a:ext cx="3952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A goal-led software helper with tools</a:t>
            </a:r>
          </a:p>
        </p:txBody>
      </p:sp>
      <p:sp>
        <p:nvSpPr>
          <p:cNvPr id="9" name="text">
            <a:extLst xmlns:a="http://schemas.openxmlformats.org/drawingml/2006/main">
              <a:ext uri="{FF2B5EF4-FFF2-40B4-BE49-F238E27FC236}">
                <a16:creationId xmlns:a16="http://schemas.microsoft.com/office/drawing/2014/main" id="{3491DF0C-CC95-4C6B-8B28-0F5D57CF0329}"/>
              </a:ext>
            </a:extLst>
          </p:cNvPr>
          <p:cNvSpPr>
            <a:spLocks xmlns:a="http://schemas.openxmlformats.org/drawingml/2006/main" noGrp="1"/>
          </p:cNvSpPr>
          <p:nvPr/>
        </p:nvSpPr>
        <p:spPr>
          <a:xfrm xmlns:a="http://schemas.openxmlformats.org/drawingml/2006/main">
            <a:off x="7324725" y="2676525"/>
            <a:ext cx="404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LEDGER checks launch cash</a:t>
            </a:r>
          </a:p>
        </p:txBody>
      </p:sp>
      <p:sp>
        <p:nvSpPr>
          <p:cNvPr id="10" name="shape">
            <a:extLst xmlns:a="http://schemas.openxmlformats.org/drawingml/2006/main">
              <a:ext uri="{FF2B5EF4-FFF2-40B4-BE49-F238E27FC236}">
                <a16:creationId xmlns:a16="http://schemas.microsoft.com/office/drawing/2014/main" id="{4C1F64D2-223A-4E93-9BF1-22E022E80C03}"/>
              </a:ext>
            </a:extLst>
          </p:cNvPr>
          <p:cNvSpPr>
            <a:spLocks xmlns:a="http://schemas.openxmlformats.org/drawingml/2006/main" noGrp="1"/>
          </p:cNvSpPr>
          <p:nvPr/>
        </p:nvSpPr>
        <p:spPr>
          <a:xfrm xmlns:a="http://schemas.openxmlformats.org/drawingml/2006/main">
            <a:off x="609600" y="31432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2A282B9E-D40B-43B0-B367-FE9A6A47F652}"/>
              </a:ext>
            </a:extLst>
          </p:cNvPr>
          <p:cNvSpPr>
            <a:spLocks xmlns:a="http://schemas.openxmlformats.org/drawingml/2006/main" noGrp="1"/>
          </p:cNvSpPr>
          <p:nvPr/>
        </p:nvSpPr>
        <p:spPr>
          <a:xfrm xmlns:a="http://schemas.openxmlformats.org/drawingml/2006/main">
            <a:off x="609600" y="3248025"/>
            <a:ext cx="2343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Tool</a:t>
            </a:r>
          </a:p>
        </p:txBody>
      </p:sp>
      <p:sp>
        <p:nvSpPr>
          <p:cNvPr id="12" name="text">
            <a:extLst xmlns:a="http://schemas.openxmlformats.org/drawingml/2006/main">
              <a:ext uri="{FF2B5EF4-FFF2-40B4-BE49-F238E27FC236}">
                <a16:creationId xmlns:a16="http://schemas.microsoft.com/office/drawing/2014/main" id="{D7F6EC8B-19CB-4C81-987D-853D9E35E4EB}"/>
              </a:ext>
            </a:extLst>
          </p:cNvPr>
          <p:cNvSpPr>
            <a:spLocks xmlns:a="http://schemas.openxmlformats.org/drawingml/2006/main" noGrp="1"/>
          </p:cNvSpPr>
          <p:nvPr/>
        </p:nvSpPr>
        <p:spPr>
          <a:xfrm xmlns:a="http://schemas.openxmlformats.org/drawingml/2006/main">
            <a:off x="3162300" y="3248025"/>
            <a:ext cx="3952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A named function it can call</a:t>
            </a:r>
          </a:p>
        </p:txBody>
      </p:sp>
      <p:sp>
        <p:nvSpPr>
          <p:cNvPr id="13" name="text">
            <a:extLst xmlns:a="http://schemas.openxmlformats.org/drawingml/2006/main">
              <a:ext uri="{FF2B5EF4-FFF2-40B4-BE49-F238E27FC236}">
                <a16:creationId xmlns:a16="http://schemas.microsoft.com/office/drawing/2014/main" id="{F533B1CC-0C42-47B9-AEED-A086FE2CB9E1}"/>
              </a:ext>
            </a:extLst>
          </p:cNvPr>
          <p:cNvSpPr>
            <a:spLocks xmlns:a="http://schemas.openxmlformats.org/drawingml/2006/main" noGrp="1"/>
          </p:cNvSpPr>
          <p:nvPr/>
        </p:nvSpPr>
        <p:spPr>
          <a:xfrm xmlns:a="http://schemas.openxmlformats.org/drawingml/2006/main">
            <a:off x="7324725" y="3248025"/>
            <a:ext cx="404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model_finances</a:t>
            </a:r>
          </a:p>
        </p:txBody>
      </p:sp>
      <p:sp>
        <p:nvSpPr>
          <p:cNvPr id="14" name="shape">
            <a:extLst xmlns:a="http://schemas.openxmlformats.org/drawingml/2006/main">
              <a:ext uri="{FF2B5EF4-FFF2-40B4-BE49-F238E27FC236}">
                <a16:creationId xmlns:a16="http://schemas.microsoft.com/office/drawing/2014/main" id="{9E103F30-28DE-40DF-9557-7777D78EC0DB}"/>
              </a:ext>
            </a:extLst>
          </p:cNvPr>
          <p:cNvSpPr>
            <a:spLocks xmlns:a="http://schemas.openxmlformats.org/drawingml/2006/main" noGrp="1"/>
          </p:cNvSpPr>
          <p:nvPr/>
        </p:nvSpPr>
        <p:spPr>
          <a:xfrm xmlns:a="http://schemas.openxmlformats.org/drawingml/2006/main">
            <a:off x="609600" y="37147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5BC5AE55-7BFC-408C-AE6A-A91E38E77B33}"/>
              </a:ext>
            </a:extLst>
          </p:cNvPr>
          <p:cNvSpPr>
            <a:spLocks xmlns:a="http://schemas.openxmlformats.org/drawingml/2006/main" noGrp="1"/>
          </p:cNvSpPr>
          <p:nvPr/>
        </p:nvSpPr>
        <p:spPr>
          <a:xfrm xmlns:a="http://schemas.openxmlformats.org/drawingml/2006/main">
            <a:off x="609600" y="3819525"/>
            <a:ext cx="2343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State</a:t>
            </a:r>
          </a:p>
        </p:txBody>
      </p:sp>
      <p:sp>
        <p:nvSpPr>
          <p:cNvPr id="16" name="text">
            <a:extLst xmlns:a="http://schemas.openxmlformats.org/drawingml/2006/main">
              <a:ext uri="{FF2B5EF4-FFF2-40B4-BE49-F238E27FC236}">
                <a16:creationId xmlns:a16="http://schemas.microsoft.com/office/drawing/2014/main" id="{C6AE4B51-ABA4-405F-9E1E-732C68A62184}"/>
              </a:ext>
            </a:extLst>
          </p:cNvPr>
          <p:cNvSpPr>
            <a:spLocks xmlns:a="http://schemas.openxmlformats.org/drawingml/2006/main" noGrp="1"/>
          </p:cNvSpPr>
          <p:nvPr/>
        </p:nvSpPr>
        <p:spPr>
          <a:xfrm xmlns:a="http://schemas.openxmlformats.org/drawingml/2006/main">
            <a:off x="3162300" y="3819525"/>
            <a:ext cx="3952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The current job’s shared clipboard</a:t>
            </a:r>
          </a:p>
        </p:txBody>
      </p:sp>
      <p:sp>
        <p:nvSpPr>
          <p:cNvPr id="17" name="text">
            <a:extLst xmlns:a="http://schemas.openxmlformats.org/drawingml/2006/main">
              <a:ext uri="{FF2B5EF4-FFF2-40B4-BE49-F238E27FC236}">
                <a16:creationId xmlns:a16="http://schemas.microsoft.com/office/drawing/2014/main" id="{96977F9C-9B61-495D-A98C-46D1FFD6880E}"/>
              </a:ext>
            </a:extLst>
          </p:cNvPr>
          <p:cNvSpPr>
            <a:spLocks xmlns:a="http://schemas.openxmlformats.org/drawingml/2006/main" noGrp="1"/>
          </p:cNvSpPr>
          <p:nvPr/>
        </p:nvSpPr>
        <p:spPr>
          <a:xfrm xmlns:a="http://schemas.openxmlformats.org/drawingml/2006/main">
            <a:off x="7324725" y="3819525"/>
            <a:ext cx="404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Facts + specialist reports</a:t>
            </a:r>
          </a:p>
        </p:txBody>
      </p:sp>
      <p:sp>
        <p:nvSpPr>
          <p:cNvPr id="18" name="shape">
            <a:extLst xmlns:a="http://schemas.openxmlformats.org/drawingml/2006/main">
              <a:ext uri="{FF2B5EF4-FFF2-40B4-BE49-F238E27FC236}">
                <a16:creationId xmlns:a16="http://schemas.microsoft.com/office/drawing/2014/main" id="{E720DFBC-E044-404B-8B2B-6E9B879044C5}"/>
              </a:ext>
            </a:extLst>
          </p:cNvPr>
          <p:cNvSpPr>
            <a:spLocks xmlns:a="http://schemas.openxmlformats.org/drawingml/2006/main" noGrp="1"/>
          </p:cNvSpPr>
          <p:nvPr/>
        </p:nvSpPr>
        <p:spPr>
          <a:xfrm xmlns:a="http://schemas.openxmlformats.org/drawingml/2006/main">
            <a:off x="609600" y="42862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240E47A6-2A6D-481B-B23D-39BD84013167}"/>
              </a:ext>
            </a:extLst>
          </p:cNvPr>
          <p:cNvSpPr>
            <a:spLocks xmlns:a="http://schemas.openxmlformats.org/drawingml/2006/main" noGrp="1"/>
          </p:cNvSpPr>
          <p:nvPr/>
        </p:nvSpPr>
        <p:spPr>
          <a:xfrm xmlns:a="http://schemas.openxmlformats.org/drawingml/2006/main">
            <a:off x="609600" y="4391025"/>
            <a:ext cx="2343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Memory</a:t>
            </a:r>
          </a:p>
        </p:txBody>
      </p:sp>
      <p:sp>
        <p:nvSpPr>
          <p:cNvPr id="20" name="text">
            <a:extLst xmlns:a="http://schemas.openxmlformats.org/drawingml/2006/main">
              <a:ext uri="{FF2B5EF4-FFF2-40B4-BE49-F238E27FC236}">
                <a16:creationId xmlns:a16="http://schemas.microsoft.com/office/drawing/2014/main" id="{88121542-1673-4304-B548-F9636D1DBA9D}"/>
              </a:ext>
            </a:extLst>
          </p:cNvPr>
          <p:cNvSpPr>
            <a:spLocks xmlns:a="http://schemas.openxmlformats.org/drawingml/2006/main" noGrp="1"/>
          </p:cNvSpPr>
          <p:nvPr/>
        </p:nvSpPr>
        <p:spPr>
          <a:xfrm xmlns:a="http://schemas.openxmlformats.org/drawingml/2006/main">
            <a:off x="3162300" y="4391025"/>
            <a:ext cx="3952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Saved information for later</a:t>
            </a:r>
          </a:p>
        </p:txBody>
      </p:sp>
      <p:sp>
        <p:nvSpPr>
          <p:cNvPr id="21" name="text">
            <a:extLst xmlns:a="http://schemas.openxmlformats.org/drawingml/2006/main">
              <a:ext uri="{FF2B5EF4-FFF2-40B4-BE49-F238E27FC236}">
                <a16:creationId xmlns:a16="http://schemas.microsoft.com/office/drawing/2014/main" id="{5934396F-28F3-4414-B18A-A2A81B958539}"/>
              </a:ext>
            </a:extLst>
          </p:cNvPr>
          <p:cNvSpPr>
            <a:spLocks xmlns:a="http://schemas.openxmlformats.org/drawingml/2006/main" noGrp="1"/>
          </p:cNvSpPr>
          <p:nvPr/>
        </p:nvSpPr>
        <p:spPr>
          <a:xfrm xmlns:a="http://schemas.openxmlformats.org/drawingml/2006/main">
            <a:off x="7324725" y="4391025"/>
            <a:ext cx="404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Packaging-review note</a:t>
            </a:r>
          </a:p>
        </p:txBody>
      </p:sp>
      <p:sp>
        <p:nvSpPr>
          <p:cNvPr id="22" name="shape">
            <a:extLst xmlns:a="http://schemas.openxmlformats.org/drawingml/2006/main">
              <a:ext uri="{FF2B5EF4-FFF2-40B4-BE49-F238E27FC236}">
                <a16:creationId xmlns:a16="http://schemas.microsoft.com/office/drawing/2014/main" id="{D06BD5AC-A482-4D75-8E2F-06FADD7E8A92}"/>
              </a:ext>
            </a:extLst>
          </p:cNvPr>
          <p:cNvSpPr>
            <a:spLocks xmlns:a="http://schemas.openxmlformats.org/drawingml/2006/main" noGrp="1"/>
          </p:cNvSpPr>
          <p:nvPr/>
        </p:nvSpPr>
        <p:spPr>
          <a:xfrm xmlns:a="http://schemas.openxmlformats.org/drawingml/2006/main">
            <a:off x="609600" y="48577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23" name="text">
            <a:extLst xmlns:a="http://schemas.openxmlformats.org/drawingml/2006/main">
              <a:ext uri="{FF2B5EF4-FFF2-40B4-BE49-F238E27FC236}">
                <a16:creationId xmlns:a16="http://schemas.microsoft.com/office/drawing/2014/main" id="{E55708C7-2382-47F3-AC1C-97B0E01943F5}"/>
              </a:ext>
            </a:extLst>
          </p:cNvPr>
          <p:cNvSpPr>
            <a:spLocks xmlns:a="http://schemas.openxmlformats.org/drawingml/2006/main" noGrp="1"/>
          </p:cNvSpPr>
          <p:nvPr/>
        </p:nvSpPr>
        <p:spPr>
          <a:xfrm xmlns:a="http://schemas.openxmlformats.org/drawingml/2006/main">
            <a:off x="609600" y="4962525"/>
            <a:ext cx="2343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Schema</a:t>
            </a:r>
          </a:p>
        </p:txBody>
      </p:sp>
      <p:sp>
        <p:nvSpPr>
          <p:cNvPr id="24" name="text">
            <a:extLst xmlns:a="http://schemas.openxmlformats.org/drawingml/2006/main">
              <a:ext uri="{FF2B5EF4-FFF2-40B4-BE49-F238E27FC236}">
                <a16:creationId xmlns:a16="http://schemas.microsoft.com/office/drawing/2014/main" id="{EB504C70-DAA4-4D9C-8F53-B960527D4F2D}"/>
              </a:ext>
            </a:extLst>
          </p:cNvPr>
          <p:cNvSpPr>
            <a:spLocks xmlns:a="http://schemas.openxmlformats.org/drawingml/2006/main" noGrp="1"/>
          </p:cNvSpPr>
          <p:nvPr/>
        </p:nvSpPr>
        <p:spPr>
          <a:xfrm xmlns:a="http://schemas.openxmlformats.org/drawingml/2006/main">
            <a:off x="3162300" y="4962525"/>
            <a:ext cx="3952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The required form and allowed fields</a:t>
            </a:r>
          </a:p>
        </p:txBody>
      </p:sp>
      <p:sp>
        <p:nvSpPr>
          <p:cNvPr id="25" name="text">
            <a:extLst xmlns:a="http://schemas.openxmlformats.org/drawingml/2006/main">
              <a:ext uri="{FF2B5EF4-FFF2-40B4-BE49-F238E27FC236}">
                <a16:creationId xmlns:a16="http://schemas.microsoft.com/office/drawing/2014/main" id="{D9A74170-792C-468C-B648-69354079F14A}"/>
              </a:ext>
            </a:extLst>
          </p:cNvPr>
          <p:cNvSpPr>
            <a:spLocks xmlns:a="http://schemas.openxmlformats.org/drawingml/2006/main" noGrp="1"/>
          </p:cNvSpPr>
          <p:nvPr/>
        </p:nvSpPr>
        <p:spPr>
          <a:xfrm xmlns:a="http://schemas.openxmlformats.org/drawingml/2006/main">
            <a:off x="7324725" y="4962525"/>
            <a:ext cx="404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Validated scenario JSON</a:t>
            </a:r>
          </a:p>
        </p:txBody>
      </p:sp>
      <p:sp>
        <p:nvSpPr>
          <p:cNvPr id="26" name="shape">
            <a:extLst xmlns:a="http://schemas.openxmlformats.org/drawingml/2006/main">
              <a:ext uri="{FF2B5EF4-FFF2-40B4-BE49-F238E27FC236}">
                <a16:creationId xmlns:a16="http://schemas.microsoft.com/office/drawing/2014/main" id="{9E782ECE-21AE-4D74-94E9-8AE1E3487CF8}"/>
              </a:ext>
            </a:extLst>
          </p:cNvPr>
          <p:cNvSpPr>
            <a:spLocks xmlns:a="http://schemas.openxmlformats.org/drawingml/2006/main" noGrp="1"/>
          </p:cNvSpPr>
          <p:nvPr/>
        </p:nvSpPr>
        <p:spPr>
          <a:xfrm xmlns:a="http://schemas.openxmlformats.org/drawingml/2006/main">
            <a:off x="609600" y="54292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27" name="text">
            <a:extLst xmlns:a="http://schemas.openxmlformats.org/drawingml/2006/main">
              <a:ext uri="{FF2B5EF4-FFF2-40B4-BE49-F238E27FC236}">
                <a16:creationId xmlns:a16="http://schemas.microsoft.com/office/drawing/2014/main" id="{1AF69219-2079-483A-86C3-07C4BB7AB356}"/>
              </a:ext>
            </a:extLst>
          </p:cNvPr>
          <p:cNvSpPr>
            <a:spLocks xmlns:a="http://schemas.openxmlformats.org/drawingml/2006/main" noGrp="1"/>
          </p:cNvSpPr>
          <p:nvPr/>
        </p:nvSpPr>
        <p:spPr>
          <a:xfrm xmlns:a="http://schemas.openxmlformats.org/drawingml/2006/main">
            <a:off x="609600" y="5534025"/>
            <a:ext cx="2343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Orchestration</a:t>
            </a:r>
          </a:p>
        </p:txBody>
      </p:sp>
      <p:sp>
        <p:nvSpPr>
          <p:cNvPr id="28" name="text">
            <a:extLst xmlns:a="http://schemas.openxmlformats.org/drawingml/2006/main">
              <a:ext uri="{FF2B5EF4-FFF2-40B4-BE49-F238E27FC236}">
                <a16:creationId xmlns:a16="http://schemas.microsoft.com/office/drawing/2014/main" id="{E572745B-07C5-431E-A5E5-EF07BE05BF4C}"/>
              </a:ext>
            </a:extLst>
          </p:cNvPr>
          <p:cNvSpPr>
            <a:spLocks xmlns:a="http://schemas.openxmlformats.org/drawingml/2006/main" noGrp="1"/>
          </p:cNvSpPr>
          <p:nvPr/>
        </p:nvSpPr>
        <p:spPr>
          <a:xfrm xmlns:a="http://schemas.openxmlformats.org/drawingml/2006/main">
            <a:off x="3162300" y="5534025"/>
            <a:ext cx="3952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The order and hand-offs</a:t>
            </a:r>
          </a:p>
        </p:txBody>
      </p:sp>
      <p:sp>
        <p:nvSpPr>
          <p:cNvPr id="29" name="text">
            <a:extLst xmlns:a="http://schemas.openxmlformats.org/drawingml/2006/main">
              <a:ext uri="{FF2B5EF4-FFF2-40B4-BE49-F238E27FC236}">
                <a16:creationId xmlns:a16="http://schemas.microsoft.com/office/drawing/2014/main" id="{DB6E6FCD-FA60-4C61-89DC-90396FA40F40}"/>
              </a:ext>
            </a:extLst>
          </p:cNvPr>
          <p:cNvSpPr>
            <a:spLocks xmlns:a="http://schemas.openxmlformats.org/drawingml/2006/main" noGrp="1"/>
          </p:cNvSpPr>
          <p:nvPr/>
        </p:nvSpPr>
        <p:spPr>
          <a:xfrm xmlns:a="http://schemas.openxmlformats.org/drawingml/2006/main">
            <a:off x="7324725" y="5534025"/>
            <a:ext cx="404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PRISM → team → JARVIS</a:t>
            </a:r>
          </a:p>
        </p:txBody>
      </p:sp>
      <p:sp>
        <p:nvSpPr>
          <p:cNvPr id="30" name="shape">
            <a:extLst xmlns:a="http://schemas.openxmlformats.org/drawingml/2006/main">
              <a:ext uri="{FF2B5EF4-FFF2-40B4-BE49-F238E27FC236}">
                <a16:creationId xmlns:a16="http://schemas.microsoft.com/office/drawing/2014/main" id="{97BE1462-F989-484C-BE25-724F50E7A914}"/>
              </a:ext>
            </a:extLst>
          </p:cNvPr>
          <p:cNvSpPr>
            <a:spLocks xmlns:a="http://schemas.openxmlformats.org/drawingml/2006/main" noGrp="1"/>
          </p:cNvSpPr>
          <p:nvPr/>
        </p:nvSpPr>
        <p:spPr>
          <a:xfrm xmlns:a="http://schemas.openxmlformats.org/drawingml/2006/main">
            <a:off x="609600" y="60007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31" name="shape">
            <a:extLst xmlns:a="http://schemas.openxmlformats.org/drawingml/2006/main">
              <a:ext uri="{FF2B5EF4-FFF2-40B4-BE49-F238E27FC236}">
                <a16:creationId xmlns:a16="http://schemas.microsoft.com/office/drawing/2014/main" id="{C6D4BDD1-3140-4A35-AF6D-81E77971AA33}"/>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32" name="text">
            <a:extLst xmlns:a="http://schemas.openxmlformats.org/drawingml/2006/main">
              <a:ext uri="{FF2B5EF4-FFF2-40B4-BE49-F238E27FC236}">
                <a16:creationId xmlns:a16="http://schemas.microsoft.com/office/drawing/2014/main" id="{750E17CD-D731-4828-86B3-C38FA7577486}"/>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33" name="text">
            <a:extLst xmlns:a="http://schemas.openxmlformats.org/drawingml/2006/main">
              <a:ext uri="{FF2B5EF4-FFF2-40B4-BE49-F238E27FC236}">
                <a16:creationId xmlns:a16="http://schemas.microsoft.com/office/drawing/2014/main" id="{D95C9D1A-B8B4-4AEF-AF90-F5C99E0BBB61}"/>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97</a:t>
            </a:r>
          </a:p>
        </p:txBody>
      </p:sp>
    </p:spTree>
    <p:extLst>
      <p:ext uri="{BB962C8B-B14F-4D97-AF65-F5344CB8AC3E}">
        <p14:creationId xmlns:p14="http://schemas.microsoft.com/office/powerpoint/2010/main" val="1439726373"/>
      </p:ext>
    </p:extLst>
  </p:cSld>
</p:sld>
</file>

<file path=ppt/slides/slide98.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25" name="text">
            <a:extLst xmlns:a="http://schemas.openxmlformats.org/drawingml/2006/main">
              <a:ext uri="{FF2B5EF4-FFF2-40B4-BE49-F238E27FC236}">
                <a16:creationId xmlns:a16="http://schemas.microsoft.com/office/drawing/2014/main" id="{757B2D73-4D1B-403D-9DD7-93BF80EBC10B}"/>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FACILITATOR REFERENCE</a:t>
            </a:r>
          </a:p>
        </p:txBody>
      </p:sp>
      <p:sp>
        <p:nvSpPr>
          <p:cNvPr id="2" name="text">
            <a:extLst xmlns:a="http://schemas.openxmlformats.org/drawingml/2006/main">
              <a:ext uri="{FF2B5EF4-FFF2-40B4-BE49-F238E27FC236}">
                <a16:creationId xmlns:a16="http://schemas.microsoft.com/office/drawing/2014/main" id="{CA2B7E05-254D-4363-B82C-B449495C0DF5}"/>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Your workshop files and source references.</a:t>
            </a:r>
          </a:p>
        </p:txBody>
      </p:sp>
      <p:sp>
        <p:nvSpPr>
          <p:cNvPr id="3" name="text">
            <a:extLst xmlns:a="http://schemas.openxmlformats.org/drawingml/2006/main">
              <a:ext uri="{FF2B5EF4-FFF2-40B4-BE49-F238E27FC236}">
                <a16:creationId xmlns:a16="http://schemas.microsoft.com/office/drawing/2014/main" id="{1D39461C-5355-4854-8F93-2B7A4CF80889}"/>
              </a:ext>
            </a:extLst>
          </p:cNvPr>
          <p:cNvSpPr>
            <a:spLocks xmlns:a="http://schemas.openxmlformats.org/drawingml/2006/main" noGrp="1"/>
          </p:cNvSpPr>
          <p:nvPr/>
        </p:nvSpPr>
        <p:spPr>
          <a:xfrm xmlns:a="http://schemas.openxmlformats.org/drawingml/2006/main">
            <a:off x="609600" y="2200275"/>
            <a:ext cx="5410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Participant setup</a:t>
            </a:r>
          </a:p>
        </p:txBody>
      </p:sp>
      <p:sp>
        <p:nvSpPr>
          <p:cNvPr id="4" name="text">
            <a:extLst xmlns:a="http://schemas.openxmlformats.org/drawingml/2006/main">
              <a:ext uri="{FF2B5EF4-FFF2-40B4-BE49-F238E27FC236}">
                <a16:creationId xmlns:a16="http://schemas.microsoft.com/office/drawing/2014/main" id="{6F695F69-A2F6-4316-91EC-535BA739051F}"/>
              </a:ext>
            </a:extLst>
          </p:cNvPr>
          <p:cNvSpPr>
            <a:spLocks xmlns:a="http://schemas.openxmlformats.org/drawingml/2006/main" noGrp="1"/>
          </p:cNvSpPr>
          <p:nvPr/>
        </p:nvSpPr>
        <p:spPr>
          <a:xfrm xmlns:a="http://schemas.openxmlformats.org/drawingml/2006/main">
            <a:off x="6229350" y="2200275"/>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workshop/LIVE_QUICKSTART.md</a:t>
            </a:r>
          </a:p>
        </p:txBody>
      </p:sp>
      <p:sp>
        <p:nvSpPr>
          <p:cNvPr id="5" name="shape">
            <a:extLst xmlns:a="http://schemas.openxmlformats.org/drawingml/2006/main">
              <a:ext uri="{FF2B5EF4-FFF2-40B4-BE49-F238E27FC236}">
                <a16:creationId xmlns:a16="http://schemas.microsoft.com/office/drawing/2014/main" id="{81DEB955-2699-43B8-8C0D-21A42A9CF89A}"/>
              </a:ext>
            </a:extLst>
          </p:cNvPr>
          <p:cNvSpPr>
            <a:spLocks xmlns:a="http://schemas.openxmlformats.org/drawingml/2006/main" noGrp="1"/>
          </p:cNvSpPr>
          <p:nvPr/>
        </p:nvSpPr>
        <p:spPr>
          <a:xfrm xmlns:a="http://schemas.openxmlformats.org/drawingml/2006/main">
            <a:off x="609600" y="26860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2CC1D2D5-73F2-48A7-B0DD-3A63C3B68364}"/>
              </a:ext>
            </a:extLst>
          </p:cNvPr>
          <p:cNvSpPr>
            <a:spLocks xmlns:a="http://schemas.openxmlformats.org/drawingml/2006/main" noGrp="1"/>
          </p:cNvSpPr>
          <p:nvPr/>
        </p:nvSpPr>
        <p:spPr>
          <a:xfrm xmlns:a="http://schemas.openxmlformats.org/drawingml/2006/main">
            <a:off x="609600" y="2790825"/>
            <a:ext cx="5410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Full teaching script</a:t>
            </a:r>
          </a:p>
        </p:txBody>
      </p:sp>
      <p:sp>
        <p:nvSpPr>
          <p:cNvPr id="7" name="text">
            <a:extLst xmlns:a="http://schemas.openxmlformats.org/drawingml/2006/main">
              <a:ext uri="{FF2B5EF4-FFF2-40B4-BE49-F238E27FC236}">
                <a16:creationId xmlns:a16="http://schemas.microsoft.com/office/drawing/2014/main" id="{6A1EABBC-F024-4A5D-A8A8-6B62DC30CD1D}"/>
              </a:ext>
            </a:extLst>
          </p:cNvPr>
          <p:cNvSpPr>
            <a:spLocks xmlns:a="http://schemas.openxmlformats.org/drawingml/2006/main" noGrp="1"/>
          </p:cNvSpPr>
          <p:nvPr/>
        </p:nvSpPr>
        <p:spPr>
          <a:xfrm xmlns:a="http://schemas.openxmlformats.org/drawingml/2006/main">
            <a:off x="6229350" y="2790825"/>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workshop/MAIN_FACILITATOR_GUIDE.md</a:t>
            </a:r>
          </a:p>
        </p:txBody>
      </p:sp>
      <p:sp>
        <p:nvSpPr>
          <p:cNvPr id="8" name="shape">
            <a:extLst xmlns:a="http://schemas.openxmlformats.org/drawingml/2006/main">
              <a:ext uri="{FF2B5EF4-FFF2-40B4-BE49-F238E27FC236}">
                <a16:creationId xmlns:a16="http://schemas.microsoft.com/office/drawing/2014/main" id="{E11F45C6-CD80-4AC1-9B10-9613A2D0A820}"/>
              </a:ext>
            </a:extLst>
          </p:cNvPr>
          <p:cNvSpPr>
            <a:spLocks xmlns:a="http://schemas.openxmlformats.org/drawingml/2006/main" noGrp="1"/>
          </p:cNvSpPr>
          <p:nvPr/>
        </p:nvSpPr>
        <p:spPr>
          <a:xfrm xmlns:a="http://schemas.openxmlformats.org/drawingml/2006/main">
            <a:off x="609600" y="327660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DCEE9435-58F7-49F7-A0E9-EEE339C52134}"/>
              </a:ext>
            </a:extLst>
          </p:cNvPr>
          <p:cNvSpPr>
            <a:spLocks xmlns:a="http://schemas.openxmlformats.org/drawingml/2006/main" noGrp="1"/>
          </p:cNvSpPr>
          <p:nvPr/>
        </p:nvSpPr>
        <p:spPr>
          <a:xfrm xmlns:a="http://schemas.openxmlformats.org/drawingml/2006/main">
            <a:off x="609600" y="3381375"/>
            <a:ext cx="5410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Activities and evidence forms</a:t>
            </a:r>
          </a:p>
        </p:txBody>
      </p:sp>
      <p:sp>
        <p:nvSpPr>
          <p:cNvPr id="10" name="text">
            <a:extLst xmlns:a="http://schemas.openxmlformats.org/drawingml/2006/main">
              <a:ext uri="{FF2B5EF4-FFF2-40B4-BE49-F238E27FC236}">
                <a16:creationId xmlns:a16="http://schemas.microsoft.com/office/drawing/2014/main" id="{B68EE91E-E3B8-4B9E-A030-9C653F71ABC1}"/>
              </a:ext>
            </a:extLst>
          </p:cNvPr>
          <p:cNvSpPr>
            <a:spLocks xmlns:a="http://schemas.openxmlformats.org/drawingml/2006/main" noGrp="1"/>
          </p:cNvSpPr>
          <p:nvPr/>
        </p:nvSpPr>
        <p:spPr>
          <a:xfrm xmlns:a="http://schemas.openxmlformats.org/drawingml/2006/main">
            <a:off x="6229350" y="3381375"/>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workshop/TEAM_WORKBOOK.md</a:t>
            </a:r>
          </a:p>
        </p:txBody>
      </p:sp>
      <p:sp>
        <p:nvSpPr>
          <p:cNvPr id="11" name="shape">
            <a:extLst xmlns:a="http://schemas.openxmlformats.org/drawingml/2006/main">
              <a:ext uri="{FF2B5EF4-FFF2-40B4-BE49-F238E27FC236}">
                <a16:creationId xmlns:a16="http://schemas.microsoft.com/office/drawing/2014/main" id="{98D243F5-23AA-45CC-B179-82F21A6D8EC8}"/>
              </a:ext>
            </a:extLst>
          </p:cNvPr>
          <p:cNvSpPr>
            <a:spLocks xmlns:a="http://schemas.openxmlformats.org/drawingml/2006/main" noGrp="1"/>
          </p:cNvSpPr>
          <p:nvPr/>
        </p:nvSpPr>
        <p:spPr>
          <a:xfrm xmlns:a="http://schemas.openxmlformats.org/drawingml/2006/main">
            <a:off x="609600" y="38671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ECEE723B-02BC-47F6-A9CE-03DFA52C4BF9}"/>
              </a:ext>
            </a:extLst>
          </p:cNvPr>
          <p:cNvSpPr>
            <a:spLocks xmlns:a="http://schemas.openxmlformats.org/drawingml/2006/main" noGrp="1"/>
          </p:cNvSpPr>
          <p:nvPr/>
        </p:nvSpPr>
        <p:spPr>
          <a:xfrm xmlns:a="http://schemas.openxmlformats.org/drawingml/2006/main">
            <a:off x="609600" y="3971925"/>
            <a:ext cx="5410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Operations and hosting</a:t>
            </a:r>
          </a:p>
        </p:txBody>
      </p:sp>
      <p:sp>
        <p:nvSpPr>
          <p:cNvPr id="13" name="text">
            <a:extLst xmlns:a="http://schemas.openxmlformats.org/drawingml/2006/main">
              <a:ext uri="{FF2B5EF4-FFF2-40B4-BE49-F238E27FC236}">
                <a16:creationId xmlns:a16="http://schemas.microsoft.com/office/drawing/2014/main" id="{8A24986D-0514-4567-96E2-0C811537D353}"/>
              </a:ext>
            </a:extLst>
          </p:cNvPr>
          <p:cNvSpPr>
            <a:spLocks xmlns:a="http://schemas.openxmlformats.org/drawingml/2006/main" noGrp="1"/>
          </p:cNvSpPr>
          <p:nvPr/>
        </p:nvSpPr>
        <p:spPr>
          <a:xfrm xmlns:a="http://schemas.openxmlformats.org/drawingml/2006/main">
            <a:off x="6229350" y="3971925"/>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deploy/README.md</a:t>
            </a:r>
          </a:p>
        </p:txBody>
      </p:sp>
      <p:sp>
        <p:nvSpPr>
          <p:cNvPr id="14" name="shape">
            <a:extLst xmlns:a="http://schemas.openxmlformats.org/drawingml/2006/main">
              <a:ext uri="{FF2B5EF4-FFF2-40B4-BE49-F238E27FC236}">
                <a16:creationId xmlns:a16="http://schemas.microsoft.com/office/drawing/2014/main" id="{40F8E3E4-23D4-403B-9BF4-50429FE3A5AB}"/>
              </a:ext>
            </a:extLst>
          </p:cNvPr>
          <p:cNvSpPr>
            <a:spLocks xmlns:a="http://schemas.openxmlformats.org/drawingml/2006/main" noGrp="1"/>
          </p:cNvSpPr>
          <p:nvPr/>
        </p:nvSpPr>
        <p:spPr>
          <a:xfrm xmlns:a="http://schemas.openxmlformats.org/drawingml/2006/main">
            <a:off x="609600" y="445770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A2467274-BDE5-4787-936F-D85CF6A3EC3A}"/>
              </a:ext>
            </a:extLst>
          </p:cNvPr>
          <p:cNvSpPr>
            <a:spLocks xmlns:a="http://schemas.openxmlformats.org/drawingml/2006/main" noGrp="1"/>
          </p:cNvSpPr>
          <p:nvPr/>
        </p:nvSpPr>
        <p:spPr>
          <a:xfrm xmlns:a="http://schemas.openxmlformats.org/drawingml/2006/main">
            <a:off x="609600" y="4562475"/>
            <a:ext cx="5410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Gemini / LangChain docs</a:t>
            </a:r>
          </a:p>
        </p:txBody>
      </p:sp>
      <p:sp>
        <p:nvSpPr>
          <p:cNvPr id="16" name="text">
            <a:extLst xmlns:a="http://schemas.openxmlformats.org/drawingml/2006/main">
              <a:ext uri="{FF2B5EF4-FFF2-40B4-BE49-F238E27FC236}">
                <a16:creationId xmlns:a16="http://schemas.microsoft.com/office/drawing/2014/main" id="{E39BF792-18E1-4405-8169-2CD4848CC116}"/>
              </a:ext>
            </a:extLst>
          </p:cNvPr>
          <p:cNvSpPr>
            <a:spLocks xmlns:a="http://schemas.openxmlformats.org/drawingml/2006/main" noGrp="1"/>
          </p:cNvSpPr>
          <p:nvPr/>
        </p:nvSpPr>
        <p:spPr>
          <a:xfrm xmlns:a="http://schemas.openxmlformats.org/drawingml/2006/main">
            <a:off x="6229350" y="4562475"/>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Official links in speaker notes</a:t>
            </a:r>
          </a:p>
        </p:txBody>
      </p:sp>
      <p:sp>
        <p:nvSpPr>
          <p:cNvPr id="17" name="shape">
            <a:extLst xmlns:a="http://schemas.openxmlformats.org/drawingml/2006/main">
              <a:ext uri="{FF2B5EF4-FFF2-40B4-BE49-F238E27FC236}">
                <a16:creationId xmlns:a16="http://schemas.microsoft.com/office/drawing/2014/main" id="{F687C1C0-8FB7-462A-BB44-FF50388E869C}"/>
              </a:ext>
            </a:extLst>
          </p:cNvPr>
          <p:cNvSpPr>
            <a:spLocks xmlns:a="http://schemas.openxmlformats.org/drawingml/2006/main" noGrp="1"/>
          </p:cNvSpPr>
          <p:nvPr/>
        </p:nvSpPr>
        <p:spPr>
          <a:xfrm xmlns:a="http://schemas.openxmlformats.org/drawingml/2006/main">
            <a:off x="609600" y="50482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676158D9-9ECA-424A-ABDC-9C38744384CE}"/>
              </a:ext>
            </a:extLst>
          </p:cNvPr>
          <p:cNvSpPr>
            <a:spLocks xmlns:a="http://schemas.openxmlformats.org/drawingml/2006/main" noGrp="1"/>
          </p:cNvSpPr>
          <p:nvPr/>
        </p:nvSpPr>
        <p:spPr>
          <a:xfrm xmlns:a="http://schemas.openxmlformats.org/drawingml/2006/main">
            <a:off x="609600" y="5153025"/>
            <a:ext cx="5410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Application and acceptance results</a:t>
            </a:r>
          </a:p>
        </p:txBody>
      </p:sp>
      <p:sp>
        <p:nvSpPr>
          <p:cNvPr id="19" name="text">
            <a:extLst xmlns:a="http://schemas.openxmlformats.org/drawingml/2006/main">
              <a:ext uri="{FF2B5EF4-FFF2-40B4-BE49-F238E27FC236}">
                <a16:creationId xmlns:a16="http://schemas.microsoft.com/office/drawing/2014/main" id="{1726EA3E-BF36-4E5B-A830-76D4452B1800}"/>
              </a:ext>
            </a:extLst>
          </p:cNvPr>
          <p:cNvSpPr>
            <a:spLocks xmlns:a="http://schemas.openxmlformats.org/drawingml/2006/main" noGrp="1"/>
          </p:cNvSpPr>
          <p:nvPr/>
        </p:nvSpPr>
        <p:spPr>
          <a:xfrm xmlns:a="http://schemas.openxmlformats.org/drawingml/2006/main">
            <a:off x="6229350" y="5153025"/>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src/ and examples/live-verification.json</a:t>
            </a:r>
          </a:p>
        </p:txBody>
      </p:sp>
      <p:sp>
        <p:nvSpPr>
          <p:cNvPr id="20" name="shape">
            <a:extLst xmlns:a="http://schemas.openxmlformats.org/drawingml/2006/main">
              <a:ext uri="{FF2B5EF4-FFF2-40B4-BE49-F238E27FC236}">
                <a16:creationId xmlns:a16="http://schemas.microsoft.com/office/drawing/2014/main" id="{3336B1E0-F09D-42B2-A62A-D551E41B64A3}"/>
              </a:ext>
            </a:extLst>
          </p:cNvPr>
          <p:cNvSpPr>
            <a:spLocks xmlns:a="http://schemas.openxmlformats.org/drawingml/2006/main" noGrp="1"/>
          </p:cNvSpPr>
          <p:nvPr/>
        </p:nvSpPr>
        <p:spPr>
          <a:xfrm xmlns:a="http://schemas.openxmlformats.org/drawingml/2006/main">
            <a:off x="609600" y="563880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BD799EA3-051A-40CE-8C73-F990F8BC33EC}"/>
              </a:ext>
            </a:extLst>
          </p:cNvPr>
          <p:cNvSpPr>
            <a:spLocks xmlns:a="http://schemas.openxmlformats.org/drawingml/2006/main" noGrp="1"/>
          </p:cNvSpPr>
          <p:nvPr/>
        </p:nvSpPr>
        <p:spPr>
          <a:xfrm xmlns:a="http://schemas.openxmlformats.org/drawingml/2006/main">
            <a:off x="609600" y="58388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Use this main deck for the live workshop; the old deck is the rehearsal fallback.</a:t>
            </a:r>
          </a:p>
        </p:txBody>
      </p:sp>
      <p:sp>
        <p:nvSpPr>
          <p:cNvPr id="22" name="shape">
            <a:extLst xmlns:a="http://schemas.openxmlformats.org/drawingml/2006/main">
              <a:ext uri="{FF2B5EF4-FFF2-40B4-BE49-F238E27FC236}">
                <a16:creationId xmlns:a16="http://schemas.microsoft.com/office/drawing/2014/main" id="{9C326E5C-D2E3-4ED4-9FAA-EE5F24DD4C23}"/>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23" name="text">
            <a:extLst xmlns:a="http://schemas.openxmlformats.org/drawingml/2006/main">
              <a:ext uri="{FF2B5EF4-FFF2-40B4-BE49-F238E27FC236}">
                <a16:creationId xmlns:a16="http://schemas.microsoft.com/office/drawing/2014/main" id="{A574ED3E-5EAB-4888-9719-1409957A7EDE}"/>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24" name="text">
            <a:extLst xmlns:a="http://schemas.openxmlformats.org/drawingml/2006/main">
              <a:ext uri="{FF2B5EF4-FFF2-40B4-BE49-F238E27FC236}">
                <a16:creationId xmlns:a16="http://schemas.microsoft.com/office/drawing/2014/main" id="{F756BE79-4292-4794-A64F-6C2F90E56006}"/>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98</a:t>
            </a:r>
          </a:p>
        </p:txBody>
      </p:sp>
    </p:spTree>
    <p:extLst>
      <p:ext uri="{BB962C8B-B14F-4D97-AF65-F5344CB8AC3E}">
        <p14:creationId xmlns:p14="http://schemas.microsoft.com/office/powerpoint/2010/main" val="4444120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2026-09-03T05:27:42.6880000Z</dcterms:created>
  <dcterms:modified xsi:type="dcterms:W3CDTF">2026-09-03T05:27:42.6880000Z</dcterms:modified>
</coreProperties>
</file>